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1191112d-f87f-6be9-d5f9-d63666272866}">
          <p14:sldIdLst>
            <p14:sldId id="256"/>
          </p14:sldIdLst>
        </p14:section>
        <p14:section name="How the Pipeline Gets Into AWS" id="{f78fb745-84d1-03d4-9695-e91afe0e1c3f}">
          <p14:sldIdLst>
            <p14:sldId id="257"/>
            <p14:sldId id="258"/>
            <p14:sldId id="259"/>
            <p14:sldId id="260"/>
            <p14:sldId id="261"/>
            <p14:sldId id="262"/>
            <p14:sldId id="263"/>
            <p14:sldId id="264"/>
            <p14:sldId id="265"/>
            <p14:sldId id="266"/>
            <p14:sldId id="267"/>
            <p14:sldId id="268"/>
            <p14:sldId id="269"/>
            <p14:sldId id="270"/>
          </p14:sldIdLst>
        </p14:section>
        <p14:section name="Your New Pipelines Explained" id="{9b203b05-7cca-0f1f-ed71-d730e59b04a1}">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WS2 DNS Pipelines Explained" id="{d73f684e-0aad-fb83-8361-c3b299cfbaa7}">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Three Ways Into AWS" id="{3c69ae12-8acd-ea9d-7239-374e38df7982}">
          <p14:sldIdLst>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2" type="body" hasCustomPrompt="1"/>
          </p:nvPr>
        </p:nvSpPr>
        <p:spPr>
          <a:xfrm>
            <a:off x="731520" y="5943600"/>
            <a:ext cx="10698480"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rtlCol="0"/>
          <a:lstStyle>
            <a:lvl1pPr algn="l" indent="0" marL="0">
              <a:buNone/>
              <a:defRPr lang="en-US" sz="1400" b="1" spc="200" kern="0" dirty="0">
                <a:solidFill>
                  <a:schemeClr val="accent4"/>
                </a:solidFill>
              </a:defRPr>
            </a:lvl1pPr>
          </a:lstStyle>
          <a:p>
            <a:pPr algn="l" indent="0" marL="0">
              <a:buNone/>
            </a:pP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LOW STEP">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rtlCol="0"/>
          <a:lstStyle>
            <a:lvl1pPr algn="l" indent="0" marL="0">
              <a:buNone/>
              <a:defRPr lang="en-US" sz="1100" b="1" spc="150" kern="0" dirty="0">
                <a:solidFill>
                  <a:schemeClr val="tx2"/>
                </a:solidFill>
              </a:defRPr>
            </a:lvl1pPr>
          </a:lstStyle>
          <a:p>
            <a:pPr algn="l" indent="0" marL="0">
              <a:buNone/>
            </a:pP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rtlCol="0"/>
          <a:lstStyle>
            <a:lvl1pPr algn="r" indent="0" marL="0">
              <a:buNone/>
              <a:defRPr lang="en-US" sz="1600" b="1" dirty="0">
                <a:solidFill>
                  <a:schemeClr val="accent1"/>
                </a:solidFill>
              </a:defRPr>
            </a:lvl1pPr>
          </a:lstStyle>
          <a:p>
            <a:pPr algn="r" indent="0" marL="0">
              <a:buNone/>
            </a:pP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rtlCol="0"/>
          <a:lstStyle>
            <a:lvl1pPr algn="l" indent="0" marL="0">
              <a:buNone/>
              <a:defRPr lang="en-US" sz="1300" dirty="0">
                <a:solidFill>
                  <a:schemeClr val="tx2"/>
                </a:solidFill>
              </a:defRPr>
            </a:lvl1pPr>
          </a:lstStyle>
          <a:p>
            <a:pPr algn="l" indent="0" marL="0">
              <a:buNone/>
            </a:pPr>
            <a:endParaRPr lang="en-US" sz="1300" dirty="0"/>
          </a:p>
        </p:txBody>
      </p:sp>
      <p:sp>
        <p:nvSpPr>
          <p:cNvPr id="6" name="Text 0"/>
          <p:cNvSpPr/>
          <p:nvPr>
            <p:ph idx="104" type="body" hasCustomPrompt="1"/>
          </p:nvPr>
        </p:nvSpPr>
        <p:spPr>
          <a:xfrm>
            <a:off x="548640" y="5321808"/>
            <a:ext cx="11091672" cy="384048"/>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7" name="Text 0"/>
          <p:cNvSpPr/>
          <p:nvPr>
            <p:ph idx="105" type="body" hasCustomPrompt="1"/>
          </p:nvPr>
        </p:nvSpPr>
        <p:spPr>
          <a:xfrm>
            <a:off x="548640" y="5742432"/>
            <a:ext cx="11091672" cy="841248"/>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4.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4.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4.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4.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4.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4.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4.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4.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4.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4.xml"/><Relationship Id="rId3"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GitHub to AWS, Step by Step</a:t>
            </a: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lIns="0" tIns="0" rIns="0" bIns="0" rtlCol="0" anchor="t"/>
          <a:lstStyle/>
          <a:p>
            <a:pPr algn="l" indent="0" marL="0">
              <a:buNone/>
            </a:pPr>
            <a:r>
              <a:rPr lang="en-US" sz="2000" dirty="0">
                <a:solidFill>
                  <a:schemeClr val="bg2"/>
                </a:solidFill>
              </a:rPr>
              <a:t>Every step-through flow from the four explainer pages, in the order they were made</a:t>
            </a:r>
            <a:endParaRPr lang="en-US" sz="2000" dirty="0"/>
          </a:p>
        </p:txBody>
      </p:sp>
      <p:sp>
        <p:nvSpPr>
          <p:cNvPr id="4" name="Text 0"/>
          <p:cNvSpPr/>
          <p:nvPr>
            <p:ph idx="102" type="body" hasCustomPrompt="1"/>
          </p:nvPr>
        </p:nvSpPr>
        <p:spPr>
          <a:xfrm>
            <a:off x="731520" y="5943600"/>
            <a:ext cx="10698480" cy="365760"/>
          </a:xfrm>
          <a:prstGeom prst="rect">
            <a:avLst/>
          </a:prstGeom>
          <a:noFill/>
          <a:ln/>
        </p:spPr>
        <p:txBody>
          <a:bodyPr wrap="square" lIns="0" tIns="0" rIns="0" bIns="0" rtlCol="0" anchor="t"/>
          <a:lstStyle/>
          <a:p>
            <a:pPr algn="l" indent="0" marL="0">
              <a:buNone/>
            </a:pPr>
            <a:r>
              <a:rPr lang="en-US" sz="1400" dirty="0">
                <a:solidFill>
                  <a:schemeClr val="accent6"/>
                </a:solidFill>
              </a:rPr>
              <a:t>15 flows · 88 steps · click or press → to move through each flow</a:t>
            </a:r>
            <a:endParaRPr lang="en-US" sz="1400" dirty="0"/>
          </a:p>
        </p:txBody>
      </p:sp>
      <p:sp>
        <p:nvSpPr>
          <p:cNvPr id="5" name="Motif GitHub"/>
          <p:cNvSpPr txBox="1"/>
          <p:nvPr/>
        </p:nvSpPr>
        <p:spPr>
          <a:xfrm>
            <a:off x="73152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GitHub</a:t>
            </a:r>
            <a:endParaRPr lang="en-US" sz="1800" dirty="0"/>
          </a:p>
        </p:txBody>
      </p:sp>
      <p:sp>
        <p:nvSpPr>
          <p:cNvPr id="6" name="Motif arrow 1"/>
          <p:cNvSpPr/>
          <p:nvPr/>
        </p:nvSpPr>
        <p:spPr>
          <a:xfrm>
            <a:off x="3182112" y="1280160"/>
            <a:ext cx="658368" cy="0"/>
          </a:xfrm>
          <a:prstGeom prst="line">
            <a:avLst/>
          </a:prstGeom>
          <a:noFill/>
          <a:ln w="25400">
            <a:solidFill>
              <a:schemeClr val="accent4"/>
            </a:solidFill>
            <a:prstDash val="solid"/>
            <a:tailEnd type="triangle"/>
          </a:ln>
        </p:spPr>
      </p:sp>
      <p:sp>
        <p:nvSpPr>
          <p:cNvPr id="7" name="Motif IMS Root"/>
          <p:cNvSpPr txBox="1"/>
          <p:nvPr/>
        </p:nvSpPr>
        <p:spPr>
          <a:xfrm>
            <a:off x="384048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IMS Root</a:t>
            </a:r>
            <a:endParaRPr lang="en-US" sz="1800" dirty="0"/>
          </a:p>
        </p:txBody>
      </p:sp>
      <p:sp>
        <p:nvSpPr>
          <p:cNvPr id="8" name="Motif arrow 2"/>
          <p:cNvSpPr/>
          <p:nvPr/>
        </p:nvSpPr>
        <p:spPr>
          <a:xfrm>
            <a:off x="6291072" y="1280160"/>
            <a:ext cx="658368" cy="0"/>
          </a:xfrm>
          <a:prstGeom prst="line">
            <a:avLst/>
          </a:prstGeom>
          <a:noFill/>
          <a:ln w="25400">
            <a:solidFill>
              <a:schemeClr val="accent4"/>
            </a:solidFill>
            <a:prstDash val="solid"/>
            <a:tailEnd type="triangle"/>
          </a:ln>
        </p:spPr>
      </p:sp>
      <p:sp>
        <p:nvSpPr>
          <p:cNvPr id="9" name="Motif Network account"/>
          <p:cNvSpPr txBox="1"/>
          <p:nvPr/>
        </p:nvSpPr>
        <p:spPr>
          <a:xfrm>
            <a:off x="694944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Network account</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1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How the Pipeline Gets Into AWS</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New pipeline · Old pipeline</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Picture key: signed note = GitHub’s OIDC token · reception copy = the iamr role in IMS Root · master key = AWSControlTowerExecution</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1</a:t>
            </a:r>
            <a:endParaRPr lang="en-US" sz="22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1: You start the run">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 the Actions tab you choose </a:t>
            </a:r>
            <a:pPr algn="l" indent="0" marL="0">
              <a:buNone/>
            </a:pPr>
            <a:r>
              <a:rPr lang="en-US" sz="1500" b="1" dirty="0">
                <a:solidFill>
                  <a:schemeClr val="tx1"/>
                </a:solidFill>
              </a:rPr>
              <a:t>Run workflow</a:t>
            </a:r>
            <a:pPr algn="l" indent="0" marL="0">
              <a:buNone/>
            </a:pPr>
            <a:r>
              <a:rPr lang="en-US" sz="1500" dirty="0">
                <a:solidFill>
                  <a:schemeClr val="tx1"/>
                </a:solidFill>
              </a:rPr>
              <a:t> and pick </a:t>
            </a:r>
            <a:pPr algn="l" indent="0" marL="0">
              <a:buNone/>
            </a:pPr>
            <a:r>
              <a:rPr lang="en-US" sz="1500" b="1" dirty="0">
                <a:solidFill>
                  <a:schemeClr val="tx1"/>
                </a:solidFill>
              </a:rPr>
              <a:t>NETWORK</a:t>
            </a:r>
            <a:pPr algn="l" indent="0" marL="0">
              <a:buNone/>
            </a:pPr>
            <a:r>
              <a:rPr lang="en-US" sz="1500" dirty="0">
                <a:solidFill>
                  <a:schemeClr val="tx1"/>
                </a:solidFill>
              </a:rPr>
              <a:t>. Nothing has touched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2: The pipeline works out the badg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pipeline works out the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Pick the roles</a:t>
            </a:r>
            <a:pPr algn="l" indent="0" marL="0">
              <a:buNone/>
            </a:pPr>
            <a:r>
              <a:rPr lang="en-US" sz="1500" dirty="0">
                <a:solidFill>
                  <a:schemeClr val="tx1"/>
                </a:solidFill>
              </a:rPr>
              <a:t> step turns NETWORK into a badge name,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and an account number, </a:t>
            </a:r>
            <a:pPr algn="l" indent="0" marL="0">
              <a:buNone/>
            </a:pPr>
            <a:r>
              <a:rPr lang="en-US" sz="1500" dirty="0">
                <a:solidFill>
                  <a:schemeClr val="tx1"/>
                </a:solidFill>
                <a:latin typeface="Consolas" pitchFamily="34" charset="0"/>
                <a:ea typeface="Consolas" pitchFamily="34" charset="-122"/>
                <a:cs typeface="Consolas" pitchFamily="34" charset="-120"/>
              </a:rPr>
              <a:t>584477831165</a:t>
            </a:r>
            <a:pPr algn="l" indent="0" marL="0">
              <a:buNone/>
            </a:pPr>
            <a:r>
              <a:rPr lang="en-US" sz="1500" dirty="0">
                <a:solidFill>
                  <a:schemeClr val="tx1"/>
                </a:solidFill>
              </a:rPr>
              <a:t>. It is plain text in the file. No GitHub secret is involved.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3: GitHub writes a signed not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writes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next step asks GitHub for a short note about this run, and GitHub signs it so AWS can tell it is genuine. This is what </a:t>
            </a:r>
            <a:pPr algn="l" indent="0" marL="0">
              <a:buNone/>
            </a:pPr>
            <a:r>
              <a:rPr lang="en-US" sz="1500" b="1" dirty="0">
                <a:solidFill>
                  <a:schemeClr val="tx1"/>
                </a:solidFill>
              </a:rPr>
              <a:t>OIDC</a:t>
            </a:r>
            <a:pPr algn="l" indent="0" marL="0">
              <a:buNone/>
            </a:pPr>
            <a:r>
              <a:rPr lang="en-US" sz="1500" dirty="0">
                <a:solidFill>
                  <a:schemeClr val="tx1"/>
                </a:solidFill>
              </a:rPr>
              <a:t> means. The line </a:t>
            </a:r>
            <a:pPr algn="l" indent="0" marL="0">
              <a:buNone/>
            </a:pPr>
            <a:r>
              <a:rPr lang="en-US" sz="1500" dirty="0">
                <a:solidFill>
                  <a:schemeClr val="tx1"/>
                </a:solidFill>
                <a:latin typeface="Consolas" pitchFamily="34" charset="0"/>
                <a:ea typeface="Consolas" pitchFamily="34" charset="-122"/>
                <a:cs typeface="Consolas" pitchFamily="34" charset="-120"/>
              </a:rPr>
              <a:t>id-token: write</a:t>
            </a:r>
            <a:pPr algn="l" indent="0" marL="0">
              <a:buNone/>
            </a:pPr>
            <a:r>
              <a:rPr lang="en-US" sz="1500" dirty="0">
                <a:solidFill>
                  <a:schemeClr val="tx1"/>
                </a:solidFill>
              </a:rPr>
              <a:t> at the top of the file allows the run to ask for the note.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4: Hop 1: check in at IMS Root">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Hop 1: check in at IMS Root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Sign in to IMS Root</a:t>
            </a:r>
            <a:pPr algn="l" indent="0" marL="0">
              <a:buNone/>
            </a:pPr>
            <a:r>
              <a:rPr lang="en-US" sz="1500" dirty="0">
                <a:solidFill>
                  <a:schemeClr val="tx1"/>
                </a:solidFill>
              </a:rPr>
              <a:t> step hands the note to AWS and asks for the reception copy of the badge, in IMS Root. AWS reads that badge’s door list: the note must come from your GitHub, and from AWS-Landing-Zone or ims-app-identity. It does, so the run gets the reception badge for one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5: Hop 2: swap it for the network badg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Hop 2: swap it for the network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Switch to the deploy role</a:t>
            </a:r>
            <a:pPr algn="l" indent="0" marL="0">
              <a:buNone/>
            </a:pPr>
            <a:r>
              <a:rPr lang="en-US" sz="1500" dirty="0">
                <a:solidFill>
                  <a:schemeClr val="tx1"/>
                </a:solidFill>
              </a:rPr>
              <a:t> step hands in the reception badge and asks for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in network prd. AWS checks two things: the reception badge is allowed to make exactly this swap, and the network badge’s door list accepts the reception badge. The run now holds the network badge for one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6: The work happens in network prd">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work happens in network prd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AWS command after this (drift check, change set, deploy) runs as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in 584477831165, and Control Tower’s safety rules apply to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7: Each box on the run page repeats both hops">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Each box on the run page repeats both hops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box (Prepare, Drift check, Change set, Deploy) starts on a fresh computer, so each one checks in at IMS Root and swaps again. After an hour the badges stop working on their own, and no account badge is kept in a GitHub secret.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You choose </a:t>
            </a:r>
            <a:pPr algn="l" indent="0" marL="0">
              <a:buNone/>
            </a:pPr>
            <a:r>
              <a:rPr lang="en-US" sz="1500" b="1" dirty="0">
                <a:solidFill>
                  <a:schemeClr val="tx1"/>
                </a:solidFill>
              </a:rPr>
              <a:t>Run workflow</a:t>
            </a:r>
            <a:pPr algn="l" indent="0" marL="0">
              <a:buNone/>
            </a:pPr>
            <a:r>
              <a:rPr lang="en-US" sz="1500" dirty="0">
                <a:solidFill>
                  <a:schemeClr val="tx1"/>
                </a:solidFill>
              </a:rPr>
              <a:t> and pick </a:t>
            </a:r>
            <a:pPr algn="l" indent="0" marL="0">
              <a:buNone/>
            </a:pPr>
            <a:r>
              <a:rPr lang="en-US" sz="1500" b="1" dirty="0">
                <a:solidFill>
                  <a:schemeClr val="tx1"/>
                </a:solidFill>
              </a:rPr>
              <a:t>NETWORK</a:t>
            </a:r>
            <a:pPr algn="l" indent="0" marL="0">
              <a:buNone/>
            </a:pPr>
            <a:r>
              <a:rPr lang="en-US" sz="1500" dirty="0">
                <a:solidFill>
                  <a:schemeClr val="tx1"/>
                </a:solidFill>
              </a:rPr>
              <a:t> from 18 accounts. Nothing has touched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2: The pipeline looks up a secre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pipeline looks up a secret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NETWORK maps to the name of a GitHub secret, </a:t>
            </a:r>
            <a:pPr algn="l" indent="0" marL="0">
              <a:buNone/>
            </a:pPr>
            <a:r>
              <a:rPr lang="en-US" sz="1500" dirty="0">
                <a:solidFill>
                  <a:schemeClr val="tx1"/>
                </a:solidFill>
                <a:latin typeface="Consolas" pitchFamily="34" charset="0"/>
                <a:ea typeface="Consolas" pitchFamily="34" charset="-122"/>
                <a:cs typeface="Consolas" pitchFamily="34" charset="-120"/>
              </a:rPr>
              <a:t>NETWORK_SERVICES_ROLE</a:t>
            </a:r>
            <a:pPr algn="l" indent="0" marL="0">
              <a:buNone/>
            </a:pPr>
            <a:r>
              <a:rPr lang="en-US" sz="1500" dirty="0">
                <a:solidFill>
                  <a:schemeClr val="tx1"/>
                </a:solidFill>
              </a:rPr>
              <a:t>. The value inside that secret is </a:t>
            </a:r>
            <a:pPr algn="l" indent="0" marL="0">
              <a:buNone/>
            </a:pPr>
            <a:r>
              <a:rPr lang="en-US" sz="1500" dirty="0">
                <a:solidFill>
                  <a:schemeClr val="tx1"/>
                </a:solidFill>
                <a:latin typeface="Consolas" pitchFamily="34" charset="0"/>
                <a:ea typeface="Consolas" pitchFamily="34" charset="-122"/>
                <a:cs typeface="Consolas" pitchFamily="34" charset="-120"/>
              </a:rPr>
              <a:t>arn:aws:iam::584477831165:role/AWSControlTowerExecution</a:t>
            </a:r>
            <a:pPr algn="l"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3: GitHub writes a signed not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writes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Same as the new pipeline: the run asks GitHub for a signed note saying which repo and branch it comes from.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4: One hop, straight to the master ke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One hop, straight to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Configure AWS credentials</a:t>
            </a:r>
            <a:pPr algn="l" indent="0" marL="0">
              <a:buNone/>
            </a:pPr>
            <a:r>
              <a:rPr lang="en-US" sz="1500" dirty="0">
                <a:solidFill>
                  <a:schemeClr val="tx1"/>
                </a:solidFill>
              </a:rPr>
              <a:t> step hands the note to AWS and asks for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in network prd. Someone added your repo to that key’s door list, so AWS says yes.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5: The work runs with the master ke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work runs with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AWS command runs as Control Tower’s own master key: it can do everything, and Control Tower’s safety rules make an exception for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6: Why the client wants it gon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Why the client wants it gone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Control Tower owns this key and can rewrite its door list when the landing zone is updated, which would break the pipeline without warning. The door list also lets in any repo of the </a:t>
            </a:r>
            <a:pPr algn="l" indent="0" marL="0">
              <a:buNone/>
            </a:pPr>
            <a:r>
              <a:rPr lang="en-US" sz="1500" dirty="0">
                <a:solidFill>
                  <a:schemeClr val="tx1"/>
                </a:solidFill>
                <a:latin typeface="Consolas" pitchFamily="34" charset="0"/>
                <a:ea typeface="Consolas" pitchFamily="34" charset="-122"/>
                <a:cs typeface="Consolas" pitchFamily="34" charset="-120"/>
              </a:rPr>
              <a:t>tescoims</a:t>
            </a:r>
            <a:pPr algn="l" indent="0" marL="0">
              <a:buNone/>
            </a:pPr>
            <a:r>
              <a:rPr lang="en-US" sz="1500" dirty="0">
                <a:solidFill>
                  <a:schemeClr val="tx1"/>
                </a:solidFill>
              </a:rPr>
              <a:t> organisation on github.com, from any branch.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2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Your New Pipelines Explained</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CloudFormation pipeline · Trust store pipeline: a manual run and a pull request check</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Both pipelines sign in the new way: IMS Root first, then the network account.</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2</a:t>
            </a:r>
            <a:endParaRPr lang="en-US" sz="22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the repo’s Actions tab, pick </a:t>
            </a:r>
            <a:pPr algn="l" indent="0" marL="0">
              <a:buNone/>
            </a:pPr>
            <a:r>
              <a:rPr lang="en-US" sz="1500" b="1" dirty="0">
                <a:solidFill>
                  <a:schemeClr val="tx1"/>
                </a:solidFill>
              </a:rPr>
              <a:t>CloudFormation Stack using S3 as required</a:t>
            </a:r>
            <a:pPr algn="l" indent="0" marL="0">
              <a:buNone/>
            </a:pPr>
            <a:r>
              <a:rPr lang="en-US" sz="1500" dirty="0">
                <a:solidFill>
                  <a:schemeClr val="tx1"/>
                </a:solidFill>
              </a:rPr>
              <a:t>, click </a:t>
            </a:r>
            <a:pPr algn="l" indent="0" marL="0">
              <a:buNone/>
            </a:pPr>
            <a:r>
              <a:rPr lang="en-US" sz="1500" b="1" dirty="0">
                <a:solidFill>
                  <a:schemeClr val="tx1"/>
                </a:solidFill>
              </a:rPr>
              <a:t>Run workflow</a:t>
            </a:r>
            <a:pPr algn="l" indent="0" marL="0">
              <a:buNone/>
            </a:pPr>
            <a:r>
              <a:rPr lang="en-US" sz="1500" dirty="0">
                <a:solidFill>
                  <a:schemeClr val="tx1"/>
                </a:solidFill>
              </a:rPr>
              <a:t> and fill in the form, including </a:t>
            </a:r>
            <a:pPr algn="l" indent="0" marL="0">
              <a:buNone/>
            </a:pPr>
            <a:r>
              <a:rPr lang="en-US" sz="1500" b="1" dirty="0">
                <a:solidFill>
                  <a:schemeClr val="tx1"/>
                </a:solidFill>
              </a:rPr>
              <a:t>Deploy</a:t>
            </a:r>
            <a:pPr algn="l" indent="0" marL="0">
              <a:buNone/>
            </a:pPr>
            <a:r>
              <a:rPr lang="en-US" sz="1500" dirty="0">
                <a:solidFill>
                  <a:schemeClr val="tx1"/>
                </a:solidFill>
              </a:rPr>
              <a:t> and </a:t>
            </a:r>
            <a:pPr algn="l" indent="0" marL="0">
              <a:buNone/>
            </a:pPr>
            <a:r>
              <a:rPr lang="en-US" sz="1500" b="1" dirty="0">
                <a:solidFill>
                  <a:schemeClr val="tx1"/>
                </a:solidFill>
              </a:rPr>
              <a:t>Remove manual changes</a:t>
            </a:r>
            <a:pPr algn="l" indent="0" marL="0">
              <a:buNone/>
            </a:pPr>
            <a:r>
              <a:rPr lang="en-US" sz="1500" dirty="0">
                <a:solidFill>
                  <a:schemeClr val="tx1"/>
                </a:solidFill>
              </a:rPr>
              <a:t> (both no unless you change them). The run gets a title made from your answers: 🚀 when Deploy = yes, 📝 when it is no.</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2: Prepare works out the roles">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works out the roles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starts on a fresh GitHub computer and copies your repo. It turns the account you picked into two role names: one in IMS Root and one in the network account. No secret is involved.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3: Prepare finds your files">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finds your files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looks in </a:t>
            </a:r>
            <a:pPr algn="l" indent="0" marL="0">
              <a:buNone/>
            </a:pPr>
            <a:r>
              <a:rPr lang="en-US" sz="1500" dirty="0">
                <a:solidFill>
                  <a:schemeClr val="tx1"/>
                </a:solidFill>
                <a:latin typeface="Consolas" pitchFamily="34" charset="0"/>
                <a:ea typeface="Consolas" pitchFamily="34" charset="-122"/>
                <a:cs typeface="Consolas" pitchFamily="34" charset="-120"/>
              </a:rPr>
              <a:t>cloudformation/&lt;folder&gt;/</a:t>
            </a:r>
            <a:pPr algn="l" indent="0" marL="0">
              <a:buNone/>
            </a:pPr>
            <a:r>
              <a:rPr lang="en-US" sz="1500" dirty="0">
                <a:solidFill>
                  <a:schemeClr val="tx1"/>
                </a:solidFill>
              </a:rPr>
              <a:t> for the template and </a:t>
            </a:r>
            <a:pPr algn="l" indent="0" marL="0">
              <a:buNone/>
            </a:pPr>
            <a:r>
              <a:rPr lang="en-US" sz="1500" dirty="0">
                <a:solidFill>
                  <a:schemeClr val="tx1"/>
                </a:solidFill>
                <a:latin typeface="Consolas" pitchFamily="34" charset="0"/>
                <a:ea typeface="Consolas" pitchFamily="34" charset="-122"/>
                <a:cs typeface="Consolas" pitchFamily="34" charset="-120"/>
              </a:rPr>
              <a:t>params.json</a:t>
            </a:r>
            <a:pPr algn="l" indent="0" marL="0">
              <a:buNone/>
            </a:pPr>
            <a:r>
              <a:rPr lang="en-US" sz="1500" dirty="0">
                <a:solidFill>
                  <a:schemeClr val="tx1"/>
                </a:solidFill>
              </a:rPr>
              <a:t>, and checks the stack name. A template over 51,200 bytes will go through S3 later.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4: Prepare signs in through IMS Roo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signs in through IMS Root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Two steps: GitHub’s signed note gets the run into IMS Root, then it swaps that role for the deploy role in network prd. The keys last an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5: Prepare checks the account and the stack">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checks the account and the stack</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makes sure AWS signed it in to the account you picked, then asks CloudFormation about the stack: new → create, existing and settled → drift report, then update, broken or busy → stop with a clear message.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6: Drift check: information onl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Drift check: information only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signs in again and asks CloudFormation whether anyone changed the stack’s resources by hand. If so, it lists them as a warning, but the run never stops here: it always carries on to the change set. For a new stack this box is grey.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7: Change set: a large template goes to S3">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a large template goes to S3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when the template is over 51,200 bytes. The third box signs in with the separate S3 role (still a secret), uploads the template with a short-lived link, and keeps a read link for CloudFormation.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8: Change set: create i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create it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box signs in to the network account, checks the template, works out the parameters, and asks CloudFormation for a change set. For an existing stack the change set is drift-aware: it is compared with the live resources, not only the last template. Nothing changes in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9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9: Change set: what will chang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what will change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log lists the manual changes that executing would remove (put back to the template), then the template changes it would apply, before → after, with warnings for replacements and removals. With Deploy = no the run ends here: review the change set from the summary’s console link and execute it yourself.</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10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0: Deploy: execute and follow">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Deploy: execute and follow</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with Deploy = yes and something to change. If the change set would remove manual changes, this box goes ahead only when </a:t>
            </a:r>
            <a:pPr algn="l" indent="0" marL="0">
              <a:buNone/>
            </a:pPr>
            <a:r>
              <a:rPr lang="en-US" sz="1500" b="1" dirty="0">
                <a:solidFill>
                  <a:schemeClr val="tx1"/>
                </a:solidFill>
              </a:rPr>
              <a:t>Remove manual changes</a:t>
            </a:r>
            <a:pPr algn="l" indent="0" marL="0">
              <a:buNone/>
            </a:pPr>
            <a:r>
              <a:rPr lang="en-US" sz="1500" dirty="0">
                <a:solidFill>
                  <a:schemeClr val="tx1"/>
                </a:solidFill>
              </a:rPr>
              <a:t> = yes; otherwise it stops before executing. Then it executes the change set and prints the stack’s events every 15 seconds until CloudFormation finishes.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11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1: The resul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result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Green boxes and a ✅ Deployed notice, or a red box saying what failed and what to do. If an update fails, CloudFormation puts the stack back as it was. The Summary page keeps the plan, the drift report, the change list and every stack event.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Trust store</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(branch main). Pick the environment, and Apply: </a:t>
            </a:r>
            <a:pPr algn="l" indent="0" marL="0">
              <a:buNone/>
            </a:pPr>
            <a:r>
              <a:rPr lang="en-US" sz="1500" b="1" dirty="0">
                <a:solidFill>
                  <a:schemeClr val="tx1"/>
                </a:solidFill>
              </a:rPr>
              <a:t>no</a:t>
            </a:r>
            <a:pPr algn="l" indent="0" marL="0">
              <a:buNone/>
            </a:pPr>
            <a:r>
              <a:rPr lang="en-US" sz="1500" dirty="0">
                <a:solidFill>
                  <a:schemeClr val="tx1"/>
                </a:solidFill>
              </a:rPr>
              <a:t> to only compare, </a:t>
            </a:r>
            <a:pPr algn="l" indent="0" marL="0">
              <a:buNone/>
            </a:pPr>
            <a:r>
              <a:rPr lang="en-US" sz="1500" b="1" dirty="0">
                <a:solidFill>
                  <a:schemeClr val="tx1"/>
                </a:solidFill>
              </a:rPr>
              <a:t>yes</a:t>
            </a:r>
            <a:pPr algn="l" indent="0" marL="0">
              <a:buNone/>
            </a:pPr>
            <a:r>
              <a:rPr lang="en-US" sz="1500" dirty="0">
                <a:solidFill>
                  <a:schemeClr val="tx1"/>
                </a:solidFill>
              </a:rPr>
              <a:t> to put the file live.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2: Validate picks the ro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picks the role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works out the network account and the role for that environment, and writes a 🧭 Plan table from </a:t>
            </a:r>
            <a:pPr algn="l" indent="0" marL="0">
              <a:buNone/>
            </a:pPr>
            <a:r>
              <a:rPr lang="en-US" sz="1500" dirty="0">
                <a:solidFill>
                  <a:schemeClr val="tx1"/>
                </a:solidFill>
                <a:latin typeface="Consolas" pitchFamily="34" charset="0"/>
                <a:ea typeface="Consolas" pitchFamily="34" charset="-122"/>
                <a:cs typeface="Consolas" pitchFamily="34" charset="-120"/>
              </a:rPr>
              <a:t>truststore.json</a:t>
            </a:r>
            <a:pPr algn="l" indent="0" marL="0">
              <a:buNone/>
            </a:pPr>
            <a:r>
              <a:rPr lang="en-US" sz="1500" dirty="0">
                <a:solidFill>
                  <a:schemeClr val="tx1"/>
                </a:solidFill>
              </a:rPr>
              <a:t>, the file that says which trust store and which S3 file belong to the environment.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3: Validate checks the PEM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the PEM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runs the team’s </a:t>
            </a:r>
            <a:pPr algn="l" indent="0" marL="0">
              <a:buNone/>
            </a:pPr>
            <a:r>
              <a:rPr lang="en-US" sz="1500" dirty="0">
                <a:solidFill>
                  <a:schemeClr val="tx1"/>
                </a:solidFill>
                <a:latin typeface="Consolas" pitchFamily="34" charset="0"/>
                <a:ea typeface="Consolas" pitchFamily="34" charset="-122"/>
                <a:cs typeface="Consolas" pitchFamily="34" charset="-120"/>
              </a:rPr>
              <a:t>validate-truststore.sh</a:t>
            </a:r>
            <a:pPr algn="l" indent="0" marL="0">
              <a:buNone/>
            </a:pPr>
            <a:r>
              <a:rPr lang="en-US" sz="1500" dirty="0">
                <a:solidFill>
                  <a:schemeClr val="tx1"/>
                </a:solidFill>
              </a:rPr>
              <a:t> as before, then </a:t>
            </a:r>
            <a:pPr algn="l" indent="0" marL="0">
              <a:buNone/>
            </a:pPr>
            <a:r>
              <a:rPr lang="en-US" sz="1500" dirty="0">
                <a:solidFill>
                  <a:schemeClr val="tx1"/>
                </a:solidFill>
                <a:latin typeface="Consolas" pitchFamily="34" charset="0"/>
                <a:ea typeface="Consolas" pitchFamily="34" charset="-122"/>
                <a:cs typeface="Consolas" pitchFamily="34" charset="-120"/>
              </a:rPr>
              <a:t>truststore_update.py</a:t>
            </a:r>
            <a:pPr algn="l" indent="0" marL="0">
              <a:buNone/>
            </a:pPr>
            <a:r>
              <a:rPr lang="en-US" sz="1500" dirty="0">
                <a:solidFill>
                  <a:schemeClr val="tx1"/>
                </a:solidFill>
              </a:rPr>
              <a:t> checks the file against CloudFront’s rules: real CA certificates, allowed key types, at most 25 certificates, and so on. No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4: Validate checks truststore.jso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truststore.json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value must be filled in, and </a:t>
            </a:r>
            <a:pPr algn="l" indent="0" marL="0">
              <a:buNone/>
            </a:pPr>
            <a:r>
              <a:rPr lang="en-US" sz="1500" dirty="0">
                <a:solidFill>
                  <a:schemeClr val="tx1"/>
                </a:solidFill>
                <a:latin typeface="Consolas" pitchFamily="34" charset="0"/>
                <a:ea typeface="Consolas" pitchFamily="34" charset="-122"/>
                <a:cs typeface="Consolas" pitchFamily="34" charset="-120"/>
              </a:rPr>
              <a:t>account_id</a:t>
            </a:r>
            <a:pPr algn="l" indent="0" marL="0">
              <a:buNone/>
            </a:pPr>
            <a:r>
              <a:rPr lang="en-US" sz="1500" dirty="0">
                <a:solidFill>
                  <a:schemeClr val="tx1"/>
                </a:solidFill>
              </a:rPr>
              <a:t> must be the account this environment signs in to. A wrong account stops the run 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5: Compare signs i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signs 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is the first one allowed to ask GitHub for a signed note. It checks in at IMS Root and swaps for the network account’s deploy role.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6: Compare: your file against S3">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your file against S3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script reads the trust store and downloads the file it was built from, then lists the certificates added, removed, replaced and unchanged. It changes nothing. With Apply = no the run ends 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7: Apply: upload and updat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upload and update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with Apply = yes and something to apply. The third box signs in, saves the current S3 file, uploads yours (and reads it back), points the trust store at the new version, and waits until CloudFront says it is active.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8: Apply keeps the old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keeps the old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Even if something failed, the previous S3 file is kept as a download on the run page (an artifact), so you can always put it back.</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1: You open a pull reques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open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a branch, change an environment’s </a:t>
            </a:r>
            <a:pPr algn="l" indent="0" marL="0">
              <a:buNone/>
            </a:pPr>
            <a:r>
              <a:rPr lang="en-US" sz="1500" dirty="0">
                <a:solidFill>
                  <a:schemeClr val="tx1"/>
                </a:solidFill>
                <a:latin typeface="Consolas" pitchFamily="34" charset="0"/>
                <a:ea typeface="Consolas" pitchFamily="34" charset="-122"/>
                <a:cs typeface="Consolas" pitchFamily="34" charset="-120"/>
              </a:rPr>
              <a:t>truststore.pem</a:t>
            </a:r>
            <a:pPr algn="l" indent="0" marL="0">
              <a:buNone/>
            </a:pPr>
            <a:r>
              <a:rPr lang="en-US" sz="1500" dirty="0">
                <a:solidFill>
                  <a:schemeClr val="tx1"/>
                </a:solidFill>
              </a:rPr>
              <a:t> (for example, add a partner’s CA certificate) and open a pull request to main. The check starts by itself.</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2: Validate finds what changed">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finds what changed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compares your branch with main to see which environments’ files changed. If only the workflow or a script changed, it checks every environment.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3: Validate checks each changed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each changed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same checks as a manual run, plus a list of the certificates your pull request adds and removes compared with main. Problems show up on the exact lines of the file in the pull request.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4: Compare and Apply are skipped">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and Apply are skipped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They only run for Run workflow, so on a pull request their boxes are grey. A pull request can’t even ask GitHub for a signed note: the workflow gives that permission only to Compare and Apply.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3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WS2 DNS Pipelines Explained</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The Export and Apply loop · Export: one zone, all zones · Apply: preview only, with approval</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Both pipelines still sign in the old way, straight to Control Tower’s master key (checked on 31 October 2026).</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3</a:t>
            </a:r>
            <a:endParaRPr lang="en-US" sz="220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1: The live zon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live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 Route 53 hosted zone holds the live DNS records.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2: Export: live records into a pull request">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live records into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Export copies the zone’s live records into a JSON file, one per zone, and opens a pull request.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3: Review, edit and merg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Review, edit and merge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team reviews the file, changes records if needed, and merges it into main. The file on main is the records you want.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4: Apply: main back to the live zon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main back to the live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Apply compares the file on main with the live zone, shows a preview, waits for approval outside sandbox, then makes the zone match.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1: You start the run">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WS2 - DNS Records Export (batch)</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Type the account (for example </a:t>
            </a:r>
            <a:pPr algn="l" indent="0" marL="0">
              <a:buNone/>
            </a:pPr>
            <a:r>
              <a:rPr lang="en-US" sz="1500" dirty="0">
                <a:solidFill>
                  <a:schemeClr val="tx1"/>
                </a:solidFill>
                <a:latin typeface="Consolas" pitchFamily="34" charset="0"/>
                <a:ea typeface="Consolas" pitchFamily="34" charset="-122"/>
                <a:cs typeface="Consolas" pitchFamily="34" charset="-120"/>
              </a:rPr>
              <a:t>network-prod</a:t>
            </a:r>
            <a:pPr algn="l" indent="0" marL="0">
              <a:buNone/>
            </a:pPr>
            <a:r>
              <a:rPr lang="en-US" sz="1500" dirty="0">
                <a:solidFill>
                  <a:schemeClr val="tx1"/>
                </a:solidFill>
              </a:rPr>
              <a:t>) and name one zone: its hosted zone ID, or its stack_id, its name, or the stack that created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2: The account is checked">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account is checked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reads </a:t>
            </a:r>
            <a:pPr algn="l" indent="0" marL="0">
              <a:buNone/>
            </a:pPr>
            <a:r>
              <a:rPr lang="en-US" sz="1500" dirty="0">
                <a:solidFill>
                  <a:schemeClr val="tx1"/>
                </a:solidFill>
                <a:latin typeface="Consolas" pitchFamily="34" charset="0"/>
                <a:ea typeface="Consolas" pitchFamily="34" charset="-122"/>
                <a:cs typeface="Consolas" pitchFamily="34" charset="-120"/>
              </a:rPr>
              <a:t>config/_accounts-registry.yaml</a:t>
            </a:r>
            <a:pPr algn="l" indent="0" marL="0">
              <a:buNone/>
            </a:pPr>
            <a:r>
              <a:rPr lang="en-US" sz="1500" dirty="0">
                <a:solidFill>
                  <a:schemeClr val="tx1"/>
                </a:solidFill>
              </a:rPr>
              <a:t> from your repo. An account name that isn’t listed stops the run, and the error lists the valid names. No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3: The zone ID is looked up">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zone ID is looked up</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Because you gave a zone ID, the second box signs in (the old way) and asks Route 53 for the zone’s name. It turns the name into the stack_id that the file will be named after.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4: List zones signs in">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List zones signs 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third box looks up the role for your account in </a:t>
            </a:r>
            <a:pPr algn="l" indent="0" marL="0">
              <a:buNone/>
            </a:pPr>
            <a:r>
              <a:rPr lang="en-US" sz="1500" dirty="0">
                <a:solidFill>
                  <a:schemeClr val="tx1"/>
                </a:solidFill>
                <a:latin typeface="Consolas" pitchFamily="34" charset="0"/>
                <a:ea typeface="Consolas" pitchFamily="34" charset="-122"/>
                <a:cs typeface="Consolas" pitchFamily="34" charset="-120"/>
              </a:rPr>
              <a:t>DEPLOY_ROLE_ARNS_JSON</a:t>
            </a:r>
            <a:pPr algn="l" indent="0" marL="0">
              <a:buNone/>
            </a:pPr>
            <a:r>
              <a:rPr lang="en-US" sz="1500" dirty="0">
                <a:solidFill>
                  <a:schemeClr val="tx1"/>
                </a:solidFill>
              </a:rPr>
              <a:t> and signs straight in to that account, in one step.</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5: List zones picks the zon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List zones picks the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lists every zone in the account, gives each one a stack_id, and picks yours. The choice goes to the next box as a small file (an artifact).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6: Export signs in again">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signs in again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One zone needs no approval, so the approval box is grey. The Export box signs in once more and checks that it really got into the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7: The live records become a JSON fil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live records become a JSON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latin typeface="Consolas" pitchFamily="34" charset="0"/>
                <a:ea typeface="Consolas" pitchFamily="34" charset="-122"/>
                <a:cs typeface="Consolas" pitchFamily="34" charset="-120"/>
              </a:rPr>
              <a:t>dns_records_export.py</a:t>
            </a:r>
            <a:pPr algn="l" indent="0" marL="0">
              <a:buNone/>
            </a:pPr>
            <a:r>
              <a:rPr lang="en-US" sz="1500" dirty="0">
                <a:solidFill>
                  <a:schemeClr val="tx1"/>
                </a:solidFill>
              </a:rPr>
              <a:t> reads the zone’s live records and writes </a:t>
            </a:r>
            <a:pPr algn="l" indent="0" marL="0">
              <a:buNone/>
            </a:pPr>
            <a:r>
              <a:rPr lang="en-US" sz="1500" dirty="0">
                <a:solidFill>
                  <a:schemeClr val="tx1"/>
                </a:solidFill>
                <a:latin typeface="Consolas" pitchFamily="34" charset="0"/>
                <a:ea typeface="Consolas" pitchFamily="34" charset="-122"/>
                <a:cs typeface="Consolas" pitchFamily="34" charset="-120"/>
              </a:rPr>
              <a:t>config/accounts/&lt;account&gt;/networking/&lt;stack_id&gt;.json</a:t>
            </a:r>
            <a:pPr algn="l" indent="0" marL="0">
              <a:buNone/>
            </a:pPr>
            <a:r>
              <a:rPr lang="en-US" sz="1500" dirty="0">
                <a:solidFill>
                  <a:schemeClr val="tx1"/>
                </a:solidFill>
              </a:rPr>
              <a:t>. ALIAS records, the SOA record and the zone’s own NS records are left out.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8: A branch and a pull request">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branch and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commits the file to a new branch and opens a pull request into main, so the team can review it. The files are also kept on the run page for 30 days.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9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9: What you do next">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What you do next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To change records, edit the file in the pull request and merge it. Then run the Apply pipeline for the same zone to put the change live.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1: You leave the zone empty">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leave the zone empty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Type only the account. With no stack_id and no zone ID, the pipeline exports every zone in that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2: “All” mod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“All” mode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After the account check, the second box sees that neither field is filled in and switches to all mode. It doesn’t need AWS for that.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3: Every zone gets a nam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Every zone gets a name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List zones signs in and names every zone. A public and a private zone with the same name (split-horizon) get </a:t>
            </a:r>
            <a:pPr algn="l" indent="0" marL="0">
              <a:buNone/>
            </a:pPr>
            <a:r>
              <a:rPr lang="en-US" sz="1500" dirty="0">
                <a:solidFill>
                  <a:schemeClr val="tx1"/>
                </a:solidFill>
              </a:rPr>
              <a:t>code class="nw"&gt;-public</a:t>
            </a:r>
            <a:pPr algn="l" indent="0" marL="0">
              <a:buNone/>
            </a:pPr>
            <a:r>
              <a:rPr lang="en-US" sz="1500" dirty="0">
                <a:solidFill>
                  <a:schemeClr val="tx1"/>
                </a:solidFill>
              </a:rPr>
              <a:t> and </a:t>
            </a:r>
            <a:pPr algn="l" indent="0" marL="0">
              <a:buNone/>
            </a:pPr>
            <a:r>
              <a:rPr lang="en-US" sz="1500" dirty="0">
                <a:solidFill>
                  <a:schemeClr val="tx1"/>
                </a:solidFill>
              </a:rPr>
              <a:t>code class="nw"&gt;-private</a:t>
            </a:r>
            <a:pPr algn="l" indent="0" marL="0">
              <a:buNone/>
            </a:pPr>
            <a:r>
              <a:rPr lang="en-US" sz="1500" dirty="0">
                <a:solidFill>
                  <a:schemeClr val="tx1"/>
                </a:solidFill>
              </a:rPr>
              <a:t> endings, so both are exported.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4: Someone approves">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Someone approves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For any account except sandbox, the approval box waits for a reviewer of the </a:t>
            </a:r>
            <a:pPr algn="l" indent="0" marL="0">
              <a:buNone/>
            </a:pPr>
            <a:r>
              <a:rPr lang="en-US" sz="1500" dirty="0">
                <a:solidFill>
                  <a:schemeClr val="tx1"/>
                </a:solidFill>
                <a:latin typeface="Consolas" pitchFamily="34" charset="0"/>
                <a:ea typeface="Consolas" pitchFamily="34" charset="-122"/>
                <a:cs typeface="Consolas" pitchFamily="34" charset="-120"/>
              </a:rPr>
              <a:t>production</a:t>
            </a:r>
            <a:pPr algn="l" indent="0" marL="0">
              <a:buNone/>
            </a:pPr>
            <a:r>
              <a:rPr lang="en-US" sz="1500" dirty="0">
                <a:solidFill>
                  <a:schemeClr val="tx1"/>
                </a:solidFill>
              </a:rPr>
              <a:t> environment. They should read the zone list in the List zones log first.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5: Export runs for every zon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runs for every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Once approved, Export writes one file per zone, counts the exported, skipped and failed zones, and opens one pull request with all of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1: You start the run">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WS2 -- DNS Records Apply (Gated / Audited)</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Type the account and name one zone. Leave both tick boxes empty: this run only previews.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2: The account and the zone are checked">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account and the zone are checked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checks the account against the registry, signs in the old way, and works out the zone. With no zone named, it stops: one zone per run.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3: Preview">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Preview</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signs in again and runs </a:t>
            </a:r>
            <a:pPr algn="l" indent="0" marL="0">
              <a:buNone/>
            </a:pPr>
            <a:r>
              <a:rPr lang="en-US" sz="1500" dirty="0">
                <a:solidFill>
                  <a:schemeClr val="tx1"/>
                </a:solidFill>
                <a:latin typeface="Consolas" pitchFamily="34" charset="0"/>
                <a:ea typeface="Consolas" pitchFamily="34" charset="-122"/>
                <a:cs typeface="Consolas" pitchFamily="34" charset="-120"/>
              </a:rPr>
              <a:t>dns_records_apply.py</a:t>
            </a:r>
            <a:pPr algn="l" indent="0" marL="0">
              <a:buNone/>
            </a:pPr>
            <a:r>
              <a:rPr lang="en-US" sz="1500" dirty="0">
                <a:solidFill>
                  <a:schemeClr val="tx1"/>
                </a:solidFill>
              </a:rPr>
              <a:t> without </a:t>
            </a:r>
            <a:pPr algn="l" indent="0" marL="0">
              <a:buNone/>
            </a:pPr>
            <a:r>
              <a:rPr lang="en-US" sz="1500" dirty="0">
                <a:solidFill>
                  <a:schemeClr val="tx1"/>
                </a:solidFill>
                <a:latin typeface="Consolas" pitchFamily="34" charset="0"/>
                <a:ea typeface="Consolas" pitchFamily="34" charset="-122"/>
                <a:cs typeface="Consolas" pitchFamily="34" charset="-120"/>
              </a:rPr>
              <a:t>--execute</a:t>
            </a:r>
            <a:pPr algn="l" indent="0" marL="0">
              <a:buNone/>
            </a:pPr>
            <a:r>
              <a:rPr lang="en-US" sz="1500" dirty="0">
                <a:solidFill>
                  <a:schemeClr val="tx1"/>
                </a:solidFill>
              </a:rPr>
              <a:t>: it compares the JSON file on the branch you ran with the live zone and prints every change it would make. Nothing changes.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4: The run end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run ends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Approval and Apply are grey, because execute_changes wasn’t ticked. The preview is on the Summary page.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1: You tick execute_chang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tick execute_changes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same form, with </a:t>
            </a:r>
            <a:pPr algn="l" indent="0" marL="0">
              <a:buNone/>
            </a:pPr>
            <a:r>
              <a:rPr lang="en-US" sz="1500" b="1" dirty="0">
                <a:solidFill>
                  <a:schemeClr val="tx1"/>
                </a:solidFill>
              </a:rPr>
              <a:t>execute_changes</a:t>
            </a:r>
            <a:pPr algn="l" indent="0" marL="0">
              <a:buNone/>
            </a:pPr>
            <a:r>
              <a:rPr lang="en-US" sz="1500" dirty="0">
                <a:solidFill>
                  <a:schemeClr val="tx1"/>
                </a:solidFill>
              </a:rPr>
              <a:t> ticked. Tick </a:t>
            </a:r>
            <a:pPr algn="l" indent="0" marL="0">
              <a:buNone/>
            </a:pPr>
            <a:r>
              <a:rPr lang="en-US" sz="1500" b="1" dirty="0">
                <a:solidFill>
                  <a:schemeClr val="tx1"/>
                </a:solidFill>
              </a:rPr>
              <a:t>with_deletes</a:t>
            </a:r>
            <a:pPr algn="l" indent="0" marL="0">
              <a:buNone/>
            </a:pPr>
            <a:r>
              <a:rPr lang="en-US" sz="1500" dirty="0">
                <a:solidFill>
                  <a:schemeClr val="tx1"/>
                </a:solidFill>
              </a:rPr>
              <a:t> as well only if records you removed from the file should be deleted.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2: Checks and the preview firs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Checks and the preview first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two boxes run exactly as in a preview-only run, so the planned changes are on the Summary page before anyone approves.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3: Someone approv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Someone approves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For any account except sandbox, the run waits for a reviewer of the </a:t>
            </a:r>
            <a:pPr algn="l" indent="0" marL="0">
              <a:buNone/>
            </a:pPr>
            <a:r>
              <a:rPr lang="en-US" sz="1500" dirty="0">
                <a:solidFill>
                  <a:schemeClr val="tx1"/>
                </a:solidFill>
                <a:latin typeface="Consolas" pitchFamily="34" charset="0"/>
                <a:ea typeface="Consolas" pitchFamily="34" charset="-122"/>
                <a:cs typeface="Consolas" pitchFamily="34" charset="-120"/>
              </a:rPr>
              <a:t>production</a:t>
            </a:r>
            <a:pPr algn="l" indent="0" marL="0">
              <a:buNone/>
            </a:pPr>
            <a:r>
              <a:rPr lang="en-US" sz="1500" dirty="0">
                <a:solidFill>
                  <a:schemeClr val="tx1"/>
                </a:solidFill>
              </a:rPr>
              <a:t> environment. Sandbox goes straight on.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4: Apply">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last box signs in once more and runs the same script with </a:t>
            </a:r>
            <a:pPr algn="l" indent="0" marL="0">
              <a:buNone/>
            </a:pPr>
            <a:r>
              <a:rPr lang="en-US" sz="1500" dirty="0">
                <a:solidFill>
                  <a:schemeClr val="tx1"/>
                </a:solidFill>
                <a:latin typeface="Consolas" pitchFamily="34" charset="0"/>
                <a:ea typeface="Consolas" pitchFamily="34" charset="-122"/>
                <a:cs typeface="Consolas" pitchFamily="34" charset="-120"/>
              </a:rPr>
              <a:t>--execute</a:t>
            </a:r>
            <a:pPr algn="l" indent="0" marL="0">
              <a:buNone/>
            </a:pPr>
            <a:r>
              <a:rPr lang="en-US" sz="1500" dirty="0">
                <a:solidFill>
                  <a:schemeClr val="tx1"/>
                </a:solidFill>
              </a:rPr>
              <a:t>: Route 53 makes the changes (UPSERT, and DELETE if you allowed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5: The resul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result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APPLIED or FAILED goes on the Summary page with the script’s output. A failure turns the box red.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4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Three Ways Into AWS</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What all three share · Way 1 · Way 2 · Way 3 · What AWS recommends</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Picture key: building = AWS account · badge = role · guest list = trust policy · rooms = permissions · building rules = guardrails</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4</a:t>
            </a:r>
            <a:endParaRPr lang="en-US" sz="220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1: GitHub gives a signed note">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gives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run gets a fresh signed note from GitHub, for this run only.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69</a:t>
            </a:fld>
            <a:endParaRPr lang="en-US"/>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2: AWS checks it">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AWS checks it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AWS checks the note against the guest list of one badge.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70</a:t>
            </a:fld>
            <a:endParaRPr lang="en-US"/>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3: A temporary badge">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temporary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If the note passes, AWS hands over a temporary badge. It expires on its own, and no password is stored anywhere.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71</a:t>
            </a:fld>
            <a:endParaRPr lang="en-US"/>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1: A run starts">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run gets a fresh signed note from GitHub. The note says which repo and branch the run comes from. Nothing like a password is stored.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72</a:t>
            </a:fld>
            <a:endParaRPr lang="en-US"/>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2: A secret names the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secret names the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 secret in GitHub holds the full name of the badge to ask for. 17 of your 19 old role secrets name the same badge: the master key.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73</a:t>
            </a:fld>
            <a:endParaRPr lang="en-US"/>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3: The note is checked against the guest list">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note is checked against the guest list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prd network account compares the note with the master key’s guest list. The list lets in the Landing-Zone repo, but also any repo in the github.com </a:t>
            </a:r>
            <a:pPr algn="l" indent="0" marL="0">
              <a:buNone/>
            </a:pPr>
            <a:r>
              <a:rPr lang="en-US" sz="1500" dirty="0">
                <a:solidFill>
                  <a:schemeClr val="tx1"/>
                </a:solidFill>
                <a:latin typeface="Consolas" pitchFamily="34" charset="0"/>
                <a:ea typeface="Consolas" pitchFamily="34" charset="-122"/>
                <a:cs typeface="Consolas" pitchFamily="34" charset="-120"/>
              </a:rPr>
              <a:t>tescoims</a:t>
            </a:r>
            <a:pPr algn="l" indent="0" marL="0">
              <a:buNone/>
            </a:pPr>
            <a:r>
              <a:rPr lang="en-US" sz="1500" dirty="0">
                <a:solidFill>
                  <a:schemeClr val="tx1"/>
                </a:solidFill>
              </a:rPr>
              <a:t> org, on any branch.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74</a:t>
            </a:fld>
            <a:endParaRPr lang="en-US"/>
          </a:p>
        </p:txBody>
      </p:sp>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4: The run gets the master key">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run gets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badge it receives is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Control Tower’s own key for setting up every account. GitHub was added to this key’s guest list so that pipelines could use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75</a:t>
            </a:fld>
            <a:endParaRPr lang="en-US"/>
          </a:p>
        </p:txBody>
      </p:sp>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5: The building rules let it through">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let it through</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organization’s safety rules (guardrails) are written with an exception for this key. A mistake made with it is not stopped by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76</a:t>
            </a:fld>
            <a:endParaRPr lang="en-US"/>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6: It can open every room">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master key is full admin. A run holding it can change anything in the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77</a:t>
            </a:fld>
            <a:endParaRPr lang="en-US"/>
          </a:p>
        </p:txBody>
      </p:sp>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1: A run starts and reads a list">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 and reads a list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Like Way 1, the run gets a signed note from GitHub. One secret, </a:t>
            </a:r>
            <a:pPr algn="l" indent="0" marL="0">
              <a:buNone/>
            </a:pPr>
            <a:r>
              <a:rPr lang="en-US" sz="1500" dirty="0">
                <a:solidFill>
                  <a:schemeClr val="tx1"/>
                </a:solidFill>
                <a:latin typeface="Consolas" pitchFamily="34" charset="0"/>
                <a:ea typeface="Consolas" pitchFamily="34" charset="-122"/>
                <a:cs typeface="Consolas" pitchFamily="34" charset="-120"/>
              </a:rPr>
              <a:t>DEPLOY_ROLE_ARNS_JSON</a:t>
            </a:r>
            <a:pPr algn="l" indent="0" marL="0">
              <a:buNone/>
            </a:pPr>
            <a:r>
              <a:rPr lang="en-US" sz="1500" dirty="0">
                <a:solidFill>
                  <a:schemeClr val="tx1"/>
                </a:solidFill>
              </a:rPr>
              <a:t>, holds a list: for each account name, the full name of a badge. The run picks the line for the account you typed.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78</a:t>
            </a:fld>
            <a:endParaRPr lang="en-US"/>
          </a:p>
        </p:txBody>
      </p:sp>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2: Straight to that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Straight to that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shows the note at that account’s door and gets the badge in one step. The check on 31 October showed which badge that is: both entries, sandbox and network-prod, name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Control Tower’s master key.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79</a:t>
            </a:fld>
            <a:endParaRPr lang="en-US"/>
          </a:p>
        </p:txBody>
      </p:sp>
    </p:spTree>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3: The building rules let it through">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let it through</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As in Way 1, the organization’s safety rules make an exception for this key. A mistake made with it is not stopped by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80</a:t>
            </a:fld>
            <a:endParaRPr lang="en-US"/>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4: It can open every room">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master key is full admin, so Export and Apply can change anything in both accounts, not only DNS records.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81</a:t>
            </a:fld>
            <a:endParaRPr lang="en-US"/>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1: A run starts, with nothing stored">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 with nothing stored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run gets its signed note from GitHub. It works out the badge name from the account name, so no secret is needed.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82</a:t>
            </a:fld>
            <a:endParaRPr lang="en-US"/>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2: Head office checks the not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Head office checks the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run goes to the head office account first (IMS Root). The guest list there decides who may come in: for the prd network, only 2 named repos; for the other badges, any repo in the 13 company GitHub orgs.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83</a:t>
            </a:fld>
            <a:endParaRPr lang="en-US"/>
          </a:p>
        </p:txBody>
      </p:sp>
    </p:spTree>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3: It gets a reception pas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gets a reception pass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This pass is good for one thing only: swapping it for the badge with the same name in one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84</a:t>
            </a:fld>
            <a:endParaRPr lang="en-US"/>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4: It swaps the pass for a pipeline badg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swaps the pass for a pipeline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the network account the pass becomes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a badge made for pipelines. After this swap the run has at most 1 hour of access, and AWS doesn’t allow longer for a swap like this.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85</a:t>
            </a:fld>
            <a:endParaRPr lang="en-US"/>
          </a:p>
        </p:txBody>
      </p:sp>
    </p:spTree>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5: The building rules apply">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apply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This badge is not Control Tower’s master key, so the organization’s safety rules apply to everything it does.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86</a:t>
            </a:fld>
            <a:endParaRPr lang="en-US"/>
          </a:p>
        </p:txBody>
      </p:sp>
    </p:spTree>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6: It can still open every room">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still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pipeline badge is full admin, so it can still change anything in the account. The building rules are what limit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87</a:t>
            </a:fld>
            <a:endParaRPr lang="en-US"/>
          </a:p>
        </p:txBody>
      </p: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7: The one thing AWS would question">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one thing AWS would question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reception desk sits in head office, where the organization’s safety rules don’t apply. AWS says to keep head office for running the organization only. The risk today is small, because a pass can only be swapped for one badge.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88</a:t>
            </a:fld>
            <a:endParaRPr lang="en-US"/>
          </a:p>
        </p:txBody>
      </p:sp>
    </p:spTree>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1: The same two steps as Way 3">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same two steps as Way 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AWS’s own GitHub example uses the same shape: a pass in one central account, then a badge in each target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89</a:t>
            </a:fld>
            <a:endParaRPr lang="en-US"/>
          </a:p>
        </p:txBody>
      </p:sp>
    </p:spTree>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2: Reception outside head offic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Reception outside head office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difference: the reception desk is in an ordinary account, where the organization’s safety rules apply. Head office is kept for running the organization only.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90</a:t>
            </a:fld>
            <a:endParaRPr lang="en-US"/>
          </a:p>
        </p:txBody>
      </p:sp>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3: A guest list with exact name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guest list with exact names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named repos get in, and for production only runs from the production environment, which can require someone’s approval. Since February 2026 AWS can also check the repo’s permanent ID in GitHub’s note.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91</a:t>
            </a:fld>
            <a:endParaRPr lang="en-US"/>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4: Only the rooms it need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Only the rooms it needs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badge opens only what its pipeline needs. A DNS pipeline gets the DNS rooms, not the whole building.</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92</a:t>
            </a:fld>
            <a:endParaRPr lang="en-US"/>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5: The rules apply at every step">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rules apply at every step</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Both the pass and the badge sit in accounts where the organization’s safety rules apply.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93</a:t>
            </a:fld>
            <a:endParaRPr lang="en-US"/>
          </a:p>
        </p:txBody>
      </p:sp>
    </p:spTree>
  </p:cSld>
  <p:clrMapOvr>
    <a:masterClrMapping/>
  </p:clrMapOvr>
  <p:transition spd="med">
    <p:fade/>
  </p:transition>
</p:sld>
</file>

<file path=ppt/theme/theme1.xml><?xml version="1.0" encoding="utf-8"?>
<a:theme xmlns:a="http://schemas.openxmlformats.org/drawingml/2006/main" name="GitHub to AWS flows">
  <a:themeElements>
    <a:clrScheme name="GitHub to AWS flows">
      <a:dk1>
        <a:srgbClr val="17202C"/>
      </a:dk1>
      <a:lt1>
        <a:srgbClr val="FFFFFF"/>
      </a:lt1>
      <a:dk2>
        <a:srgbClr val="566273"/>
      </a:dk2>
      <a:lt2>
        <a:srgbClr val="F1F3F6"/>
      </a:lt2>
      <a:accent1>
        <a:srgbClr val="A35C00"/>
      </a:accent1>
      <a:accent2>
        <a:srgbClr val="0D6E5B"/>
      </a:accent2>
      <a:accent3>
        <a:srgbClr val="A8372A"/>
      </a:accent3>
      <a:accent4>
        <a:srgbClr val="F1AE45"/>
      </a:accent4>
      <a:accent5>
        <a:srgbClr val="DCE1E8"/>
      </a:accent5>
      <a:accent6>
        <a:srgbClr val="A6B0BE"/>
      </a:accent6>
      <a:hlink>
        <a:srgbClr val="1C4FB0"/>
      </a:hlink>
      <a:folHlink>
        <a:srgbClr val="566273"/>
      </a:folHlink>
    </a:clrScheme>
    <a:fontScheme name="GitHub to AWS flow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to AWS, Step by Step</dc:title>
  <dc:subject>PptxGenJS Presentation</dc:subject>
  <dc:creator>PptxGenJS</dc:creator>
  <cp:lastModifiedBy>PptxGenJS</cp:lastModifiedBy>
  <cp:revision>1</cp:revision>
  <dcterms:created xsi:type="dcterms:W3CDTF">2026-10-31T13:36:30Z</dcterms:created>
  <dcterms:modified xsi:type="dcterms:W3CDTF">2026-10-31T13:36:30Z</dcterms:modified>
</cp:coreProperties>
</file>