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935bd623-5158-6ef8-f542-8dca0e686f4a}">
          <p14:sldIdLst>
            <p14:sldId id="256"/>
          </p14:sldIdLst>
        </p14:section>
        <p14:section name="How the Pipeline Gets Into AWS" id="{83387f4e-f9e8-8d91-289e-cfa4e254752e}">
          <p14:sldIdLst>
            <p14:sldId id="257"/>
            <p14:sldId id="258"/>
            <p14:sldId id="259"/>
            <p14:sldId id="260"/>
            <p14:sldId id="261"/>
            <p14:sldId id="262"/>
            <p14:sldId id="263"/>
            <p14:sldId id="264"/>
            <p14:sldId id="265"/>
            <p14:sldId id="266"/>
            <p14:sldId id="267"/>
            <p14:sldId id="268"/>
            <p14:sldId id="269"/>
            <p14:sldId id="270"/>
          </p14:sldIdLst>
        </p14:section>
        <p14:section name="Your New Pipelines Explained" id="{6cfab4c2-834b-345c-33b6-525e9072e10e}">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WS2 DNS Pipelines Explained" id="{40057d63-99ef-a5e6-47b3-a15a925e8dbb}">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Three Ways Into AWS" id="{10dca8fb-d40e-bc11-c902-567799bf6275}">
          <p14:sldIdLst>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rtlCol="0"/>
          <a:lstStyle>
            <a:lvl1pPr algn="l" indent="0" marL="0">
              <a:buNone/>
              <a:defRPr lang="en-US" sz="1400" b="1" spc="200" kern="0" dirty="0">
                <a:solidFill>
                  <a:schemeClr val="accent4"/>
                </a:solidFill>
              </a:defRPr>
            </a:lvl1pPr>
          </a:lstStyle>
          <a:p>
            <a:pPr algn="l" indent="0" marL="0">
              <a:buNone/>
            </a:pP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LOW STEP">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rtlCol="0"/>
          <a:lstStyle>
            <a:lvl1pPr algn="l" indent="0" marL="0">
              <a:buNone/>
              <a:defRPr lang="en-US" sz="1100" b="1" spc="150" kern="0" dirty="0">
                <a:solidFill>
                  <a:schemeClr val="tx2"/>
                </a:solidFill>
              </a:defRPr>
            </a:lvl1pPr>
          </a:lstStyle>
          <a:p>
            <a:pPr algn="l" indent="0" marL="0">
              <a:buNone/>
            </a:pP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rtlCol="0"/>
          <a:lstStyle>
            <a:lvl1pPr algn="r" indent="0" marL="0">
              <a:buNone/>
              <a:defRPr lang="en-US" sz="1600" b="1" dirty="0">
                <a:solidFill>
                  <a:schemeClr val="accent1"/>
                </a:solidFill>
              </a:defRPr>
            </a:lvl1pPr>
          </a:lstStyle>
          <a:p>
            <a:pPr algn="r" indent="0" marL="0">
              <a:buNone/>
            </a:pP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rtlCol="0"/>
          <a:lstStyle>
            <a:lvl1pPr algn="l" indent="0" marL="0">
              <a:buNone/>
              <a:defRPr lang="en-US" sz="1300" dirty="0">
                <a:solidFill>
                  <a:schemeClr val="tx2"/>
                </a:solidFill>
              </a:defRPr>
            </a:lvl1pPr>
          </a:lstStyle>
          <a:p>
            <a:pPr algn="l" indent="0" marL="0">
              <a:buNone/>
            </a:pPr>
            <a:endParaRPr lang="en-US" sz="1300" dirty="0"/>
          </a:p>
        </p:txBody>
      </p:sp>
      <p:sp>
        <p:nvSpPr>
          <p:cNvPr id="6" name="Text 0"/>
          <p:cNvSpPr/>
          <p:nvPr>
            <p:ph idx="104" type="body" hasCustomPrompt="1"/>
          </p:nvPr>
        </p:nvSpPr>
        <p:spPr>
          <a:xfrm>
            <a:off x="548640" y="5321808"/>
            <a:ext cx="11091672" cy="384048"/>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7" name="Text 0"/>
          <p:cNvSpPr/>
          <p:nvPr>
            <p:ph idx="105" type="body" hasCustomPrompt="1"/>
          </p:nvPr>
        </p:nvSpPr>
        <p:spPr>
          <a:xfrm>
            <a:off x="548640" y="5742432"/>
            <a:ext cx="11091672" cy="841248"/>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4.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4.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4.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4.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4.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4.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4.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4.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4.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4.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4.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4.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4.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4.xml"/><Relationship Id="rId3"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GitHub to AWS, Step by Step</a:t>
            </a: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lIns="0" tIns="0" rIns="0" bIns="0" rtlCol="0" anchor="t"/>
          <a:lstStyle/>
          <a:p>
            <a:pPr algn="l" indent="0" marL="0">
              <a:buNone/>
            </a:pPr>
            <a:r>
              <a:rPr lang="en-US" sz="2000" dirty="0">
                <a:solidFill>
                  <a:schemeClr val="bg2"/>
                </a:solidFill>
              </a:rPr>
              <a:t>Every step-through flow from the four explainer pages, in the order they were made</a:t>
            </a:r>
            <a:endParaRPr lang="en-US" sz="2000" dirty="0"/>
          </a:p>
        </p:txBody>
      </p:sp>
      <p:sp>
        <p:nvSpPr>
          <p:cNvPr id="4" name="Text 0"/>
          <p:cNvSpPr/>
          <p:nvPr>
            <p:ph idx="102" type="body" hasCustomPrompt="1"/>
          </p:nvPr>
        </p:nvSpPr>
        <p:spPr>
          <a:xfrm>
            <a:off x="731520" y="5943600"/>
            <a:ext cx="10698480" cy="365760"/>
          </a:xfrm>
          <a:prstGeom prst="rect">
            <a:avLst/>
          </a:prstGeom>
          <a:noFill/>
          <a:ln/>
        </p:spPr>
        <p:txBody>
          <a:bodyPr wrap="square" lIns="0" tIns="0" rIns="0" bIns="0" rtlCol="0" anchor="t"/>
          <a:lstStyle/>
          <a:p>
            <a:pPr algn="l" indent="0" marL="0">
              <a:buNone/>
            </a:pPr>
            <a:r>
              <a:rPr lang="en-US" sz="1400" dirty="0">
                <a:solidFill>
                  <a:schemeClr val="accent6"/>
                </a:solidFill>
              </a:rPr>
              <a:t>15 flows · 88 steps · click or press → to move through each flow</a:t>
            </a:r>
            <a:endParaRPr lang="en-US" sz="1400" dirty="0"/>
          </a:p>
        </p:txBody>
      </p:sp>
      <p:sp>
        <p:nvSpPr>
          <p:cNvPr id="5" name="Motif GitHub"/>
          <p:cNvSpPr txBox="1"/>
          <p:nvPr/>
        </p:nvSpPr>
        <p:spPr>
          <a:xfrm>
            <a:off x="73152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GitHub</a:t>
            </a:r>
            <a:endParaRPr lang="en-US" sz="1800" dirty="0"/>
          </a:p>
        </p:txBody>
      </p:sp>
      <p:sp>
        <p:nvSpPr>
          <p:cNvPr id="6" name="Motif arrow 1"/>
          <p:cNvSpPr/>
          <p:nvPr/>
        </p:nvSpPr>
        <p:spPr>
          <a:xfrm>
            <a:off x="3182112" y="1280160"/>
            <a:ext cx="658368" cy="0"/>
          </a:xfrm>
          <a:prstGeom prst="line">
            <a:avLst/>
          </a:prstGeom>
          <a:noFill/>
          <a:ln w="25400">
            <a:solidFill>
              <a:schemeClr val="accent4"/>
            </a:solidFill>
            <a:prstDash val="solid"/>
            <a:tailEnd type="triangle"/>
          </a:ln>
        </p:spPr>
      </p:sp>
      <p:sp>
        <p:nvSpPr>
          <p:cNvPr id="7" name="Motif IMS Root"/>
          <p:cNvSpPr txBox="1"/>
          <p:nvPr/>
        </p:nvSpPr>
        <p:spPr>
          <a:xfrm>
            <a:off x="384048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IMS Root</a:t>
            </a:r>
            <a:endParaRPr lang="en-US" sz="1800" dirty="0"/>
          </a:p>
        </p:txBody>
      </p:sp>
      <p:sp>
        <p:nvSpPr>
          <p:cNvPr id="8" name="Motif arrow 2"/>
          <p:cNvSpPr/>
          <p:nvPr/>
        </p:nvSpPr>
        <p:spPr>
          <a:xfrm>
            <a:off x="6291072" y="1280160"/>
            <a:ext cx="658368" cy="0"/>
          </a:xfrm>
          <a:prstGeom prst="line">
            <a:avLst/>
          </a:prstGeom>
          <a:noFill/>
          <a:ln w="25400">
            <a:solidFill>
              <a:schemeClr val="accent4"/>
            </a:solidFill>
            <a:prstDash val="solid"/>
            <a:tailEnd type="triangle"/>
          </a:ln>
        </p:spPr>
      </p:sp>
      <p:sp>
        <p:nvSpPr>
          <p:cNvPr id="9" name="Motif Network account"/>
          <p:cNvSpPr txBox="1"/>
          <p:nvPr/>
        </p:nvSpPr>
        <p:spPr>
          <a:xfrm>
            <a:off x="6949440" y="914400"/>
            <a:ext cx="2377440" cy="731520"/>
          </a:xfrm>
          <a:prstGeom prst="roundRect">
            <a:avLst>
              <a:gd name="adj" fmla="val 15000"/>
            </a:avLst>
          </a:prstGeom>
          <a:solidFill>
            <a:schemeClr val="tx1"/>
          </a:solidFill>
          <a:ln w="19050">
            <a:solidFill>
              <a:schemeClr val="accent4"/>
            </a:solidFill>
          </a:ln>
        </p:spPr>
        <p:txBody>
          <a:bodyPr wrap="square" rtlCol="0" anchor="ctr"/>
          <a:lstStyle/>
          <a:p>
            <a:pPr algn="ctr" indent="0" marL="0">
              <a:buNone/>
            </a:pPr>
            <a:r>
              <a:rPr lang="en-US" sz="1800" b="1" dirty="0">
                <a:solidFill>
                  <a:schemeClr val="bg1"/>
                </a:solidFill>
              </a:rPr>
              <a:t>Network account</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1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How the Pipeline Gets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New pipeline · Old pipeline</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signed note = GitHub’s OIDC token · reception copy = the iamr role in IMS Root · master key = AWSControlTowerExecution</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1</a:t>
            </a:r>
            <a:endParaRPr lang="en-US" sz="22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1: You start the run">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 the Actions tab 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2: The pipeline works out the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works out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Pick the roles</a:t>
            </a:r>
            <a:pPr algn="l" indent="0" marL="0">
              <a:buNone/>
            </a:pPr>
            <a:r>
              <a:rPr lang="en-US" sz="1500" dirty="0">
                <a:solidFill>
                  <a:schemeClr val="tx1"/>
                </a:solidFill>
              </a:rPr>
              <a:t> step turns NETWORK into a badge name,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and an account number, </a:t>
            </a:r>
            <a:pPr algn="l" indent="0" marL="0">
              <a:buNone/>
            </a:pPr>
            <a:r>
              <a:rPr lang="en-US" sz="1500" dirty="0">
                <a:solidFill>
                  <a:schemeClr val="tx1"/>
                </a:solidFill>
                <a:latin typeface="Consolas" pitchFamily="34" charset="0"/>
                <a:ea typeface="Consolas" pitchFamily="34" charset="-122"/>
                <a:cs typeface="Consolas" pitchFamily="34" charset="-120"/>
              </a:rPr>
              <a:t>584477831165</a:t>
            </a:r>
            <a:pPr algn="l" indent="0" marL="0">
              <a:buNone/>
            </a:pPr>
            <a:r>
              <a:rPr lang="en-US" sz="1500" dirty="0">
                <a:solidFill>
                  <a:schemeClr val="tx1"/>
                </a:solidFill>
              </a:rPr>
              <a:t>. It is plain text in the file. No GitHub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3: GitHub writes a signed not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next step asks GitHub for a short note about this run, and GitHub signs it so AWS can tell it is genuine. This is what </a:t>
            </a:r>
            <a:pPr algn="l" indent="0" marL="0">
              <a:buNone/>
            </a:pPr>
            <a:r>
              <a:rPr lang="en-US" sz="1500" b="1" dirty="0">
                <a:solidFill>
                  <a:schemeClr val="tx1"/>
                </a:solidFill>
              </a:rPr>
              <a:t>OIDC</a:t>
            </a:r>
            <a:pPr algn="l" indent="0" marL="0">
              <a:buNone/>
            </a:pPr>
            <a:r>
              <a:rPr lang="en-US" sz="1500" dirty="0">
                <a:solidFill>
                  <a:schemeClr val="tx1"/>
                </a:solidFill>
              </a:rPr>
              <a:t> means. The line </a:t>
            </a:r>
            <a:pPr algn="l" indent="0" marL="0">
              <a:buNone/>
            </a:pPr>
            <a:r>
              <a:rPr lang="en-US" sz="1500" dirty="0">
                <a:solidFill>
                  <a:schemeClr val="tx1"/>
                </a:solidFill>
                <a:latin typeface="Consolas" pitchFamily="34" charset="0"/>
                <a:ea typeface="Consolas" pitchFamily="34" charset="-122"/>
                <a:cs typeface="Consolas" pitchFamily="34" charset="-120"/>
              </a:rPr>
              <a:t>id-token: write</a:t>
            </a:r>
            <a:pPr algn="l" indent="0" marL="0">
              <a:buNone/>
            </a:pPr>
            <a:r>
              <a:rPr lang="en-US" sz="1500" dirty="0">
                <a:solidFill>
                  <a:schemeClr val="tx1"/>
                </a:solidFill>
              </a:rPr>
              <a:t> at the top of the file allows the run to ask for the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4: Hop 1: check in at IMS Root">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1: check in at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Sign in to IMS Root</a:t>
            </a:r>
            <a:pPr algn="l" indent="0" marL="0">
              <a:buNone/>
            </a:pPr>
            <a:r>
              <a:rPr lang="en-US" sz="1500" dirty="0">
                <a:solidFill>
                  <a:schemeClr val="tx1"/>
                </a:solidFill>
              </a:rPr>
              <a:t> step hands the note to AWS and asks for the reception copy of the badge, in IMS Root. AWS reads that badge’s door list: the note must come from your GitHub, and from AWS-Landing-Zone or ims-app-identity. It does, so the run gets the reception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5: Hop 2: swap it for the network badge">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Hop 2: swap it for the network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Switch to the deploy role</a:t>
            </a:r>
            <a:pPr algn="l" indent="0" marL="0">
              <a:buNone/>
            </a:pPr>
            <a:r>
              <a:rPr lang="en-US" sz="1500" dirty="0">
                <a:solidFill>
                  <a:schemeClr val="tx1"/>
                </a:solidFill>
              </a:rPr>
              <a:t> step hands in the reception badge and asks for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network prd. AWS checks two things: the reception badge is allowed to make exactly this swap, and the network badge’s door list accepts the reception badge. The run now holds the network badge for one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6: The work happens in network prd">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happens in network prd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after this (drift check, change set, deploy) runs as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in 584477831165, and Control Tower’s safety rules apply to it. The run log shows where it signed in: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New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of the converted CloudFormation pipeline for NETWORK, signing in through IMS Root.</a:t>
            </a:r>
            <a:endParaRPr lang="en-US" sz="1300" dirty="0"/>
          </a:p>
        </p:txBody>
      </p:sp>
      <p:pic>
        <p:nvPicPr>
          <p:cNvPr id="6" name="Diagram" descr="New pipeline: one run, step 7: Each box on the run page repeats both hops">    </p:cNvPr>
          <p:cNvPicPr>
            <a:picLocks noChangeAspect="1"/>
          </p:cNvPicPr>
          <p:nvPr/>
        </p:nvPicPr>
        <p:blipFill>
          <a:blip r:embed="rId1"/>
          <a:stretch>
            <a:fillRect/>
          </a:stretch>
        </p:blipFill>
        <p:spPr>
          <a:xfrm>
            <a:off x="1174606" y="1463040"/>
            <a:ext cx="9839739"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Each box on the run page repeats both hops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box (Prepare, Drift check, Change set, Deploy) starts on a fresh computer, so each one checks in at IMS Root and swaps again. After an hour the badges stop working on their own, and no account badge is kept in a GitHub secret.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You choose </a:t>
            </a:r>
            <a:pPr algn="l" indent="0" marL="0">
              <a:buNone/>
            </a:pPr>
            <a:r>
              <a:rPr lang="en-US" sz="1500" b="1" dirty="0">
                <a:solidFill>
                  <a:schemeClr val="tx1"/>
                </a:solidFill>
              </a:rPr>
              <a:t>Run workflow</a:t>
            </a:r>
            <a:pPr algn="l" indent="0" marL="0">
              <a:buNone/>
            </a:pPr>
            <a:r>
              <a:rPr lang="en-US" sz="1500" dirty="0">
                <a:solidFill>
                  <a:schemeClr val="tx1"/>
                </a:solidFill>
              </a:rPr>
              <a:t> and pick </a:t>
            </a:r>
            <a:pPr algn="l" indent="0" marL="0">
              <a:buNone/>
            </a:pPr>
            <a:r>
              <a:rPr lang="en-US" sz="1500" b="1" dirty="0">
                <a:solidFill>
                  <a:schemeClr val="tx1"/>
                </a:solidFill>
              </a:rPr>
              <a:t>NETWORK</a:t>
            </a:r>
            <a:pPr algn="l" indent="0" marL="0">
              <a:buNone/>
            </a:pPr>
            <a:r>
              <a:rPr lang="en-US" sz="1500" dirty="0">
                <a:solidFill>
                  <a:schemeClr val="tx1"/>
                </a:solidFill>
              </a:rPr>
              <a:t> from 18 accounts. Nothing has touched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2: The pipeline looks up a secre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pipeline looks up a secret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NETWORK maps to the name of a GitHub secret, </a:t>
            </a:r>
            <a:pPr algn="l" indent="0" marL="0">
              <a:buNone/>
            </a:pPr>
            <a:r>
              <a:rPr lang="en-US" sz="1500" dirty="0">
                <a:solidFill>
                  <a:schemeClr val="tx1"/>
                </a:solidFill>
                <a:latin typeface="Consolas" pitchFamily="34" charset="0"/>
                <a:ea typeface="Consolas" pitchFamily="34" charset="-122"/>
                <a:cs typeface="Consolas" pitchFamily="34" charset="-120"/>
              </a:rPr>
              <a:t>NETWORK_SERVICES_ROLE</a:t>
            </a:r>
            <a:pPr algn="l" indent="0" marL="0">
              <a:buNone/>
            </a:pPr>
            <a:r>
              <a:rPr lang="en-US" sz="1500" dirty="0">
                <a:solidFill>
                  <a:schemeClr val="tx1"/>
                </a:solidFill>
              </a:rPr>
              <a:t>. The value inside that secret is </a:t>
            </a:r>
            <a:pPr algn="l" indent="0" marL="0">
              <a:buNone/>
            </a:pPr>
            <a:r>
              <a:rPr lang="en-US" sz="1500" dirty="0">
                <a:solidFill>
                  <a:schemeClr val="tx1"/>
                </a:solidFill>
                <a:latin typeface="Consolas" pitchFamily="34" charset="0"/>
                <a:ea typeface="Consolas" pitchFamily="34" charset="-122"/>
                <a:cs typeface="Consolas" pitchFamily="34" charset="-120"/>
              </a:rPr>
              <a:t>arn:aws:iam::584477831165:role/AWSControlTowerExecution</a:t>
            </a:r>
            <a:pPr algn="l"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3: GitHub writes a signed no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writes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Same as the new pipeline: the run asks GitHub for a signed note saying which repo and branch it comes from.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4: One hop, straight to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One hop, straight to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a:t>
            </a:r>
            <a:pPr algn="l" indent="0" marL="0">
              <a:buNone/>
            </a:pPr>
            <a:r>
              <a:rPr lang="en-US" sz="1500" b="1" dirty="0">
                <a:solidFill>
                  <a:schemeClr val="tx1"/>
                </a:solidFill>
              </a:rPr>
              <a:t>Configure AWS credentials</a:t>
            </a:r>
            <a:pPr algn="l" indent="0" marL="0">
              <a:buNone/>
            </a:pPr>
            <a:r>
              <a:rPr lang="en-US" sz="1500" dirty="0">
                <a:solidFill>
                  <a:schemeClr val="tx1"/>
                </a:solidFill>
              </a:rPr>
              <a:t> step hands the note to AWS and asks for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in network prd. Someone added your repo to that key’s door list, so AWS says yes.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5: The work runs with the master ke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work runs with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AWS command runs as Control Tower’s own master key: it can do everything, and Control Tower’s safety rules make an exception for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HOW THE PIPELINE GETS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Old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same run in the old pipeline, signing in with Control Tower’s master key.</a:t>
            </a:r>
            <a:endParaRPr lang="en-US" sz="1300" dirty="0"/>
          </a:p>
        </p:txBody>
      </p:sp>
      <p:pic>
        <p:nvPicPr>
          <p:cNvPr id="6" name="Diagram" descr="Old pipeline: one run, step 6: Why the client wants it gon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Why the client wants it gone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Control Tower owns this key and can rewrite its door list when the landing zone is updated, which would break the pipeline without warning. The door list also lets in any repo of the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organisation on github.com, from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2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Your New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CloudFormation pipeline · Trust store pipeline: a manual run and a pull request check</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sign in the new way: IMS Root first, then the network account.</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2</a:t>
            </a:r>
            <a:endParaRPr lang="en-US" sz="22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repo’s </a:t>
            </a:r>
            <a:pPr algn="l" indent="0" marL="0">
              <a:buNone/>
            </a:pPr>
            <a:r>
              <a:rPr lang="en-US" sz="1500" b="1" dirty="0">
                <a:solidFill>
                  <a:schemeClr val="tx1"/>
                </a:solidFill>
              </a:rPr>
              <a:t>Actions</a:t>
            </a:r>
            <a:pPr algn="l" indent="0" marL="0">
              <a:buNone/>
            </a:pPr>
            <a:r>
              <a:rPr lang="en-US" sz="1500" dirty="0">
                <a:solidFill>
                  <a:schemeClr val="tx1"/>
                </a:solidFill>
              </a:rPr>
              <a:t> tab, pick </a:t>
            </a:r>
            <a:pPr algn="l" indent="0" marL="0">
              <a:buNone/>
            </a:pPr>
            <a:r>
              <a:rPr lang="en-US" sz="1500" b="1" dirty="0">
                <a:solidFill>
                  <a:schemeClr val="tx1"/>
                </a:solidFill>
              </a:rPr>
              <a:t>CloudFormation Stack using S3 as required</a:t>
            </a:r>
            <a:pPr algn="l" indent="0" marL="0">
              <a:buNone/>
            </a:pPr>
            <a:r>
              <a:rPr lang="en-US" sz="1500" dirty="0">
                <a:solidFill>
                  <a:schemeClr val="tx1"/>
                </a:solidFill>
              </a:rPr>
              <a:t>, click </a:t>
            </a:r>
            <a:pPr algn="l" indent="0" marL="0">
              <a:buNone/>
            </a:pPr>
            <a:r>
              <a:rPr lang="en-US" sz="1500" b="1" dirty="0">
                <a:solidFill>
                  <a:schemeClr val="tx1"/>
                </a:solidFill>
              </a:rPr>
              <a:t>Run workflow</a:t>
            </a:r>
            <a:pPr algn="l" indent="0" marL="0">
              <a:buNone/>
            </a:pPr>
            <a:r>
              <a:rPr lang="en-US" sz="1500" dirty="0">
                <a:solidFill>
                  <a:schemeClr val="tx1"/>
                </a:solidFill>
              </a:rPr>
              <a:t> and fill in the form. The run gets a title made from your answers: 🚀 when Deploy = yes, 📝 when it is no.</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2: Prepare works out the ro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works out the roles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starts on a fresh GitHub computer and copies your repo. It turns the account you picked into two role names: one in IMS Root and one in the network account. No secret is involved.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3: Prepare finds your files">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finds your files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looks in </a:t>
            </a:r>
            <a:pPr algn="l" indent="0" marL="0">
              <a:buNone/>
            </a:pPr>
            <a:r>
              <a:rPr lang="en-US" sz="1500" dirty="0">
                <a:solidFill>
                  <a:schemeClr val="tx1"/>
                </a:solidFill>
                <a:latin typeface="Consolas" pitchFamily="34" charset="0"/>
                <a:ea typeface="Consolas" pitchFamily="34" charset="-122"/>
                <a:cs typeface="Consolas" pitchFamily="34" charset="-120"/>
              </a:rPr>
              <a:t>cloudformation/&lt;folder&gt;/</a:t>
            </a:r>
            <a:pPr algn="l" indent="0" marL="0">
              <a:buNone/>
            </a:pPr>
            <a:r>
              <a:rPr lang="en-US" sz="1500" dirty="0">
                <a:solidFill>
                  <a:schemeClr val="tx1"/>
                </a:solidFill>
              </a:rPr>
              <a:t> for the template and </a:t>
            </a:r>
            <a:pPr algn="l" indent="0" marL="0">
              <a:buNone/>
            </a:pPr>
            <a:r>
              <a:rPr lang="en-US" sz="1500" dirty="0">
                <a:solidFill>
                  <a:schemeClr val="tx1"/>
                </a:solidFill>
                <a:latin typeface="Consolas" pitchFamily="34" charset="0"/>
                <a:ea typeface="Consolas" pitchFamily="34" charset="-122"/>
                <a:cs typeface="Consolas" pitchFamily="34" charset="-120"/>
              </a:rPr>
              <a:t>params.json</a:t>
            </a:r>
            <a:pPr algn="l" indent="0" marL="0">
              <a:buNone/>
            </a:pPr>
            <a:r>
              <a:rPr lang="en-US" sz="1500" dirty="0">
                <a:solidFill>
                  <a:schemeClr val="tx1"/>
                </a:solidFill>
              </a:rPr>
              <a:t>, and checks the stack name. A template over 51,200 bytes will go through S3 later.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4: Prepare signs in through IMS Roo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signs in through IMS Root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Two steps: GitHub’s signed note gets the run into IMS Root, then it swaps that role for the deploy role in network prd. The keys last an hour.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5: Prepare checks the account and the stack">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Prepare checks the account and the stack</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makes sure AWS signed it in to the account you picked, then asks CloudFormation about the stack: new → create, existing and settled → update, broken or busy → stop with a clear message. The log shows the plan (example):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6: Drift check (existing stacks only)">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Drift check (existing stacks only)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asks CloudFormation whether anyone changed the stack’s resources by hand. If so, it lists them and stops the run before any change set exists. For a new stack this box is grey.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7: Change set: a large template goes to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a large template goes to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when the template is over 51,200 bytes. The third box signs in with the separate S3 role (still a secret), uploads the template with a short-lived link, and keeps a read link for CloudFormation.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8: Change set: create i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create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box signs in to the network account, checks the template, works out the parameters, and asks CloudFormation for a change set: a preview of exactly what would change. Nothing changes in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9: Change set: what will chang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Change set: what will change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log lists every resource and property that would change, before → after, and warns about replacements and removals. With Deploy = no the run ends here: open the console link from the summary, review, and execute it yourself.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10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0: Deploy: execute and follow">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Deploy: execute and follow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Deploy = yes and something to change. The fourth box signs in once more, executes the change set, and prints the stack’s events every 15 seconds until CloudFormation finishes.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CloudFormation pipeline: one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11 of 11</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One run for NETWORK (network prd). Top row: the boxes on the run page. Bottom row: what each box touches in AWS.</a:t>
            </a:r>
            <a:endParaRPr lang="en-US" sz="1300" dirty="0"/>
          </a:p>
        </p:txBody>
      </p:sp>
      <p:pic>
        <p:nvPicPr>
          <p:cNvPr id="6" name="Diagram" descr="CloudFormation pipeline: one run, step 11: The resul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Green boxes and a ✅ Deployed notice, or a red box saying what failed and what to do. If an update fails, CloudFormation puts the stack back as it was. The Summary page keeps the plan, the drift check, the change list and every stack event.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1: You start the ru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Trust store</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(branch main). Pick the environment, and Apply: </a:t>
            </a:r>
            <a:pPr algn="l" indent="0" marL="0">
              <a:buNone/>
            </a:pPr>
            <a:r>
              <a:rPr lang="en-US" sz="1500" b="1" dirty="0">
                <a:solidFill>
                  <a:schemeClr val="tx1"/>
                </a:solidFill>
              </a:rPr>
              <a:t>no</a:t>
            </a:r>
            <a:pPr algn="l" indent="0" marL="0">
              <a:buNone/>
            </a:pPr>
            <a:r>
              <a:rPr lang="en-US" sz="1500" dirty="0">
                <a:solidFill>
                  <a:schemeClr val="tx1"/>
                </a:solidFill>
              </a:rPr>
              <a:t> to only compare, </a:t>
            </a:r>
            <a:pPr algn="l" indent="0" marL="0">
              <a:buNone/>
            </a:pPr>
            <a:r>
              <a:rPr lang="en-US" sz="1500" b="1" dirty="0">
                <a:solidFill>
                  <a:schemeClr val="tx1"/>
                </a:solidFill>
              </a:rPr>
              <a:t>yes</a:t>
            </a:r>
            <a:pPr algn="l" indent="0" marL="0">
              <a:buNone/>
            </a:pPr>
            <a:r>
              <a:rPr lang="en-US" sz="1500" dirty="0">
                <a:solidFill>
                  <a:schemeClr val="tx1"/>
                </a:solidFill>
              </a:rPr>
              <a:t> to put the file live.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2: Validate picks the ro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picks the role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works out the network account and the role for that environment, and writes a 🧭 Plan table from </a:t>
            </a:r>
            <a:pPr algn="l" indent="0" marL="0">
              <a:buNone/>
            </a:pPr>
            <a:r>
              <a:rPr lang="en-US" sz="1500" dirty="0">
                <a:solidFill>
                  <a:schemeClr val="tx1"/>
                </a:solidFill>
                <a:latin typeface="Consolas" pitchFamily="34" charset="0"/>
                <a:ea typeface="Consolas" pitchFamily="34" charset="-122"/>
                <a:cs typeface="Consolas" pitchFamily="34" charset="-120"/>
              </a:rPr>
              <a:t>truststore.json</a:t>
            </a:r>
            <a:pPr algn="l" indent="0" marL="0">
              <a:buNone/>
            </a:pPr>
            <a:r>
              <a:rPr lang="en-US" sz="1500" dirty="0">
                <a:solidFill>
                  <a:schemeClr val="tx1"/>
                </a:solidFill>
              </a:rPr>
              <a:t>, the file that says which trust store and which S3 file belong to the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3: Validate checks the PEM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the PEM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runs the team’s </a:t>
            </a:r>
            <a:pPr algn="l" indent="0" marL="0">
              <a:buNone/>
            </a:pPr>
            <a:r>
              <a:rPr lang="en-US" sz="1500" dirty="0">
                <a:solidFill>
                  <a:schemeClr val="tx1"/>
                </a:solidFill>
                <a:latin typeface="Consolas" pitchFamily="34" charset="0"/>
                <a:ea typeface="Consolas" pitchFamily="34" charset="-122"/>
                <a:cs typeface="Consolas" pitchFamily="34" charset="-120"/>
              </a:rPr>
              <a:t>validate-truststore.sh</a:t>
            </a:r>
            <a:pPr algn="l" indent="0" marL="0">
              <a:buNone/>
            </a:pPr>
            <a:r>
              <a:rPr lang="en-US" sz="1500" dirty="0">
                <a:solidFill>
                  <a:schemeClr val="tx1"/>
                </a:solidFill>
              </a:rPr>
              <a:t> as before, then </a:t>
            </a:r>
            <a:pPr algn="l" indent="0" marL="0">
              <a:buNone/>
            </a:pPr>
            <a:r>
              <a:rPr lang="en-US" sz="1500" dirty="0">
                <a:solidFill>
                  <a:schemeClr val="tx1"/>
                </a:solidFill>
                <a:latin typeface="Consolas" pitchFamily="34" charset="0"/>
                <a:ea typeface="Consolas" pitchFamily="34" charset="-122"/>
                <a:cs typeface="Consolas" pitchFamily="34" charset="-120"/>
              </a:rPr>
              <a:t>truststore_update.py</a:t>
            </a:r>
            <a:pPr algn="l" indent="0" marL="0">
              <a:buNone/>
            </a:pPr>
            <a:r>
              <a:rPr lang="en-US" sz="1500" dirty="0">
                <a:solidFill>
                  <a:schemeClr val="tx1"/>
                </a:solidFill>
              </a:rPr>
              <a:t> checks the file against CloudFront’s rules: real CA certificates, allowed key types, at most 25 certificates, and so on.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4: Validate checks truststore.jso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truststore.json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value must be filled in, and </a:t>
            </a:r>
            <a:pPr algn="l" indent="0" marL="0">
              <a:buNone/>
            </a:pPr>
            <a:r>
              <a:rPr lang="en-US" sz="1500" dirty="0">
                <a:solidFill>
                  <a:schemeClr val="tx1"/>
                </a:solidFill>
                <a:latin typeface="Consolas" pitchFamily="34" charset="0"/>
                <a:ea typeface="Consolas" pitchFamily="34" charset="-122"/>
                <a:cs typeface="Consolas" pitchFamily="34" charset="-120"/>
              </a:rPr>
              <a:t>account_id</a:t>
            </a:r>
            <a:pPr algn="l" indent="0" marL="0">
              <a:buNone/>
            </a:pPr>
            <a:r>
              <a:rPr lang="en-US" sz="1500" dirty="0">
                <a:solidFill>
                  <a:schemeClr val="tx1"/>
                </a:solidFill>
              </a:rPr>
              <a:t> must be the account this environment signs in to. A wrong account stops the run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5: Compare signs in">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is the first one allowed to ask GitHub for a signed note. It checks in at IMS Root and swaps for the network account’s deploy role.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6: Compare: your file against S3">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your file against S3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script reads the trust store and downloads the file it was built from, then lists the certificates added, removed, replaced and unchanged. It changes nothing. With Apply = no the run ends 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7: Apply: upload and updat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upload and update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with Apply = yes and something to apply. The third box signs in, saves the current S3 file, uploads yours (and reads it back), points the trust store at the new version, and waits until CloudFront says it is active.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manual run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8</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manual run for prd with Apply = yes. ppe and tst work the same way, with their own role and account.</a:t>
            </a:r>
            <a:endParaRPr lang="en-US" sz="1300" dirty="0"/>
          </a:p>
        </p:txBody>
      </p:sp>
      <p:pic>
        <p:nvPicPr>
          <p:cNvPr id="6" name="Diagram" descr="Trust store pipeline: a manual run, step 8: Apply keeps the ol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keeps the old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Even if something failed, the previous S3 file is kept as a download on the run page (an artifact), so you can always put it back.</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1: You open a pull request">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open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a branch, change an environment’s </a:t>
            </a:r>
            <a:pPr algn="l" indent="0" marL="0">
              <a:buNone/>
            </a:pPr>
            <a:r>
              <a:rPr lang="en-US" sz="1500" dirty="0">
                <a:solidFill>
                  <a:schemeClr val="tx1"/>
                </a:solidFill>
                <a:latin typeface="Consolas" pitchFamily="34" charset="0"/>
                <a:ea typeface="Consolas" pitchFamily="34" charset="-122"/>
                <a:cs typeface="Consolas" pitchFamily="34" charset="-120"/>
              </a:rPr>
              <a:t>truststore.pem</a:t>
            </a:r>
            <a:pPr algn="l" indent="0" marL="0">
              <a:buNone/>
            </a:pPr>
            <a:r>
              <a:rPr lang="en-US" sz="1500" dirty="0">
                <a:solidFill>
                  <a:schemeClr val="tx1"/>
                </a:solidFill>
              </a:rPr>
              <a:t> (for example, add a partner’s CA certificate) and open a pull request to main. The check starts by itself.</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2: Validate finds what chang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finds what changed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compares your branch with main to see which environments’ files changed. If only the workflow or a script changed, it checks every environment.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3: Validate checks each changed file">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Validate checks each changed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checks as a manual run, plus a list of the certificates your pull request adds and removes compared with main. Problems show up on the exact lines of the file in the pull request. Real output for a file with one new CA:</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YOUR NEW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Trust store pipeline: a pull request check</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pull request check: only the Validate box runs, and nothing touches AWS.</a:t>
            </a:r>
            <a:endParaRPr lang="en-US" sz="1300" dirty="0"/>
          </a:p>
        </p:txBody>
      </p:sp>
      <p:pic>
        <p:nvPicPr>
          <p:cNvPr id="6" name="Diagram" descr="Trust store pipeline: a pull request check, step 4: Compare and Apply are skipped">    </p:cNvPr>
          <p:cNvPicPr>
            <a:picLocks noChangeAspect="1"/>
          </p:cNvPicPr>
          <p:nvPr/>
        </p:nvPicPr>
        <p:blipFill>
          <a:blip r:embed="rId1"/>
          <a:stretch>
            <a:fillRect/>
          </a:stretch>
        </p:blipFill>
        <p:spPr>
          <a:xfrm>
            <a:off x="1162694" y="1463040"/>
            <a:ext cx="9863564"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Compare and Apply are skipped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They only run for Run workflow, so on a pull request their boxes are grey. A pull request can’t even ask GitHub for a signed note: the workflow gives that permission only to Compare and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3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WS2 DNS Pipelines Explained</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The Export and Apply loop · Export: one zone, all zones · Apply: preview only, with approval</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Both pipelines still sign in the old way, straight to Control Tower’s master key (checked on 31 October 2026).</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3</a:t>
            </a:r>
            <a:endParaRPr lang="en-US" sz="2200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1: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Route 53 hosted zone holds the live DNS records.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2: Export: live records into a pull request">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live records into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Export copies the zone’s live records into a JSON file, one per zone, and opens a pull request.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3: Review, edit and merg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Review, edit and merge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team reviews the file, changes records if needed, and merges it into main. The file on main is the records you want.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The Export and Apply loop</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How the two WS2 pipelines work together: live records into Git, and back again.</a:t>
            </a:r>
            <a:endParaRPr lang="en-US" sz="1300" dirty="0"/>
          </a:p>
        </p:txBody>
      </p:sp>
      <p:pic>
        <p:nvPicPr>
          <p:cNvPr id="6" name="Diagram" descr="The Export and Apply loop, step 4: Apply: main back to the live zone">    </p:cNvPr>
          <p:cNvPicPr>
            <a:picLocks noChangeAspect="1"/>
          </p:cNvPicPr>
          <p:nvPr/>
        </p:nvPicPr>
        <p:blipFill>
          <a:blip r:embed="rId1"/>
          <a:stretch>
            <a:fillRect/>
          </a:stretch>
        </p:blipFill>
        <p:spPr>
          <a:xfrm>
            <a:off x="548640" y="1882866"/>
            <a:ext cx="11091672" cy="28636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 main back to the live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Apply compares the file on main with the live zone, shows a preview, waits for approval outside sandbox, then makes the zone match.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1: You start the ru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Export (batch)</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(for example </a:t>
            </a:r>
            <a:pPr algn="l" indent="0" marL="0">
              <a:buNone/>
            </a:pPr>
            <a:r>
              <a:rPr lang="en-US" sz="1500" dirty="0">
                <a:solidFill>
                  <a:schemeClr val="tx1"/>
                </a:solidFill>
                <a:latin typeface="Consolas" pitchFamily="34" charset="0"/>
                <a:ea typeface="Consolas" pitchFamily="34" charset="-122"/>
                <a:cs typeface="Consolas" pitchFamily="34" charset="-120"/>
              </a:rPr>
              <a:t>network-prod</a:t>
            </a:r>
            <a:pPr algn="l" indent="0" marL="0">
              <a:buNone/>
            </a:pPr>
            <a:r>
              <a:rPr lang="en-US" sz="1500" dirty="0">
                <a:solidFill>
                  <a:schemeClr val="tx1"/>
                </a:solidFill>
              </a:rPr>
              <a:t>) and name one zone: its hosted zone ID, or its stack_id, its name, or the stack that created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2: The account is checked">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is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reads </a:t>
            </a:r>
            <a:pPr algn="l" indent="0" marL="0">
              <a:buNone/>
            </a:pPr>
            <a:r>
              <a:rPr lang="en-US" sz="1500" dirty="0">
                <a:solidFill>
                  <a:schemeClr val="tx1"/>
                </a:solidFill>
                <a:latin typeface="Consolas" pitchFamily="34" charset="0"/>
                <a:ea typeface="Consolas" pitchFamily="34" charset="-122"/>
                <a:cs typeface="Consolas" pitchFamily="34" charset="-120"/>
              </a:rPr>
              <a:t>config/_accounts-registry.yaml</a:t>
            </a:r>
            <a:pPr algn="l" indent="0" marL="0">
              <a:buNone/>
            </a:pPr>
            <a:r>
              <a:rPr lang="en-US" sz="1500" dirty="0">
                <a:solidFill>
                  <a:schemeClr val="tx1"/>
                </a:solidFill>
              </a:rPr>
              <a:t> from your repo. An account name that isn’t listed stops the run, and the error lists the valid names. No AWS yet.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3: The zone ID is looked up">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zone ID is looked up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Because you gave a zone ID, the second box signs in (the old way) and asks Route 53 for the zone’s name. It turns the name into the stack_id that the file will be named after.</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4: List zones signs i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signs 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third box looks up the role for your account in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and signs straight in to that account, in one step.</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5: List zones picks the zon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List zones picks the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lists every zone in the account, gives each one a stack_id, and picks yours. The choice goes to the next box as a small file (an artifact).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6: Export signs in again">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signs in again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One zone needs no approval, so the approval box is grey. The Export box signs in once more and checks that it really got into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7: The live records become a JSON fil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live records become a JSON file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latin typeface="Consolas" pitchFamily="34" charset="0"/>
                <a:ea typeface="Consolas" pitchFamily="34" charset="-122"/>
                <a:cs typeface="Consolas" pitchFamily="34" charset="-120"/>
              </a:rPr>
              <a:t>dns_records_export.py</a:t>
            </a:r>
            <a:pPr algn="l" indent="0" marL="0">
              <a:buNone/>
            </a:pPr>
            <a:r>
              <a:rPr lang="en-US" sz="1500" dirty="0">
                <a:solidFill>
                  <a:schemeClr val="tx1"/>
                </a:solidFill>
              </a:rPr>
              <a:t> reads the zone’s live records and writes </a:t>
            </a:r>
            <a:pPr algn="l" indent="0" marL="0">
              <a:buNone/>
            </a:pPr>
            <a:r>
              <a:rPr lang="en-US" sz="1500" dirty="0">
                <a:solidFill>
                  <a:schemeClr val="tx1"/>
                </a:solidFill>
                <a:latin typeface="Consolas" pitchFamily="34" charset="0"/>
                <a:ea typeface="Consolas" pitchFamily="34" charset="-122"/>
                <a:cs typeface="Consolas" pitchFamily="34" charset="-120"/>
              </a:rPr>
              <a:t>config/accounts/&lt;account&gt;/networking/&lt;stack_id&gt;.json</a:t>
            </a:r>
            <a:pPr algn="l" indent="0" marL="0">
              <a:buNone/>
            </a:pPr>
            <a:r>
              <a:rPr lang="en-US" sz="1500" dirty="0">
                <a:solidFill>
                  <a:schemeClr val="tx1"/>
                </a:solidFill>
              </a:rPr>
              <a:t>. ALIAS records, the SOA record and the zone’s own NS records are left out.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8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8: A branch and a pull request">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branch and a pull request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commits the file to a new branch and opens a pull request into main, so the team can review it. The files are also kept on the run page for 30 days.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one zone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9 of 9</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one zone, named by its hosted zone ID. Top: GitHub and your repo. Bottom: the AWS account you typed.</a:t>
            </a:r>
            <a:endParaRPr lang="en-US" sz="1300" dirty="0"/>
          </a:p>
        </p:txBody>
      </p:sp>
      <p:pic>
        <p:nvPicPr>
          <p:cNvPr id="6" name="Diagram" descr="Export: one zone, step 9: What you do next">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What you do next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To change records, edit the file in the pull request and merge it. Then run the Apply pipeline for the same zone to put the change live. The run’s Summary says the same: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1: You leave the zone empty">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leave the zone empty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Type only the account. With no stack_id and no zone ID, the pipeline exports every zone in that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2: “All” mod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“All” mode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After the account check, the second box sees that neither field is filled in and switches to all mode. It doesn’t need AWS for that.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3: Every zone gets a nam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Every zone gets a name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List zones signs in and names every zone. A public and a private zone with the same name (split-horizon) get </a:t>
            </a:r>
            <a:pPr algn="l" indent="0" marL="0">
              <a:buNone/>
            </a:pPr>
            <a:r>
              <a:rPr lang="en-US" sz="1500" dirty="0">
                <a:solidFill>
                  <a:schemeClr val="tx1"/>
                </a:solidFill>
              </a:rPr>
              <a:t>code class="nw"&gt;-public</a:t>
            </a:r>
            <a:pPr algn="l" indent="0" marL="0">
              <a:buNone/>
            </a:pPr>
            <a:r>
              <a:rPr lang="en-US" sz="1500" dirty="0">
                <a:solidFill>
                  <a:schemeClr val="tx1"/>
                </a:solidFill>
              </a:rPr>
              <a:t> and </a:t>
            </a:r>
            <a:pPr algn="l" indent="0" marL="0">
              <a:buNone/>
            </a:pPr>
            <a:r>
              <a:rPr lang="en-US" sz="1500" dirty="0">
                <a:solidFill>
                  <a:schemeClr val="tx1"/>
                </a:solidFill>
              </a:rPr>
              <a:t>code class="nw"&gt;-private</a:t>
            </a:r>
            <a:pPr algn="l" indent="0" marL="0">
              <a:buNone/>
            </a:pPr>
            <a:r>
              <a:rPr lang="en-US" sz="1500" dirty="0">
                <a:solidFill>
                  <a:schemeClr val="tx1"/>
                </a:solidFill>
              </a:rPr>
              <a:t> endings, so both are exported.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4: Someone approves">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approval box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They should read the zone list in the List zones log first.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Export: all zones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Exporting every zone of an account other than sandbox: the approval box waits for a reviewer.</a:t>
            </a:r>
            <a:endParaRPr lang="en-US" sz="1300" dirty="0"/>
          </a:p>
        </p:txBody>
      </p:sp>
      <p:pic>
        <p:nvPicPr>
          <p:cNvPr id="6" name="Diagram" descr="Export: all zones, step 5: Export runs for every zone">    </p:cNvPr>
          <p:cNvPicPr>
            <a:picLocks noChangeAspect="1"/>
          </p:cNvPicPr>
          <p:nvPr/>
        </p:nvPicPr>
        <p:blipFill>
          <a:blip r:embed="rId1"/>
          <a:stretch>
            <a:fillRect/>
          </a:stretch>
        </p:blipFill>
        <p:spPr>
          <a:xfrm>
            <a:off x="1751563" y="1463040"/>
            <a:ext cx="868582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Export runs for every zone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Once approved, Export writes one file per zone, counts the exported, skipped and failed zones, and opens one pull request with all of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1: You start the run">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start the run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Actions tab → </a:t>
            </a:r>
            <a:pPr algn="l" indent="0" marL="0">
              <a:buNone/>
            </a:pPr>
            <a:r>
              <a:rPr lang="en-US" sz="1500" b="1" dirty="0">
                <a:solidFill>
                  <a:schemeClr val="tx1"/>
                </a:solidFill>
              </a:rPr>
              <a:t>WS2 -- DNS Records Apply (Gated / Audited)</a:t>
            </a:r>
            <a:pPr algn="l" indent="0" marL="0">
              <a:buNone/>
            </a:pPr>
            <a:r>
              <a:rPr lang="en-US" sz="1500" dirty="0">
                <a:solidFill>
                  <a:schemeClr val="tx1"/>
                </a:solidFill>
              </a:rPr>
              <a:t> → </a:t>
            </a:r>
            <a:pPr algn="l" indent="0" marL="0">
              <a:buNone/>
            </a:pPr>
            <a:r>
              <a:rPr lang="en-US" sz="1500" b="1" dirty="0">
                <a:solidFill>
                  <a:schemeClr val="tx1"/>
                </a:solidFill>
              </a:rPr>
              <a:t>Run workflow</a:t>
            </a:r>
            <a:pPr algn="l" indent="0" marL="0">
              <a:buNone/>
            </a:pPr>
            <a:r>
              <a:rPr lang="en-US" sz="1500" dirty="0">
                <a:solidFill>
                  <a:schemeClr val="tx1"/>
                </a:solidFill>
              </a:rPr>
              <a:t>. Type the account and name one zone. Leave both tick boxes empty: this run only previews.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59</a:t>
            </a:fld>
            <a:endParaRPr lang="en-US"/>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2: The account and the zone are checked">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account and the zone are checked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box checks the account against the registry, signs in the old way, and works out the zone. With no zone named, it stops: one zone per run.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3: Preview">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Preview</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second box signs in again and runs </a:t>
            </a:r>
            <a:pPr algn="l" indent="0" marL="0">
              <a:buNone/>
            </a:pPr>
            <a:r>
              <a:rPr lang="en-US" sz="1500" dirty="0">
                <a:solidFill>
                  <a:schemeClr val="tx1"/>
                </a:solidFill>
                <a:latin typeface="Consolas" pitchFamily="34" charset="0"/>
                <a:ea typeface="Consolas" pitchFamily="34" charset="-122"/>
                <a:cs typeface="Consolas" pitchFamily="34" charset="-120"/>
              </a:rPr>
              <a:t>dns_records_apply.py</a:t>
            </a:r>
            <a:pPr algn="l" indent="0" marL="0">
              <a:buNone/>
            </a:pPr>
            <a:r>
              <a:rPr lang="en-US" sz="1500" dirty="0">
                <a:solidFill>
                  <a:schemeClr val="tx1"/>
                </a:solidFill>
              </a:rPr>
              <a:t> without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it compares the JSON file on the branch you ran with the live zone and prints every change it would make. Nothing changes.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preview only</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preview-only run: nothing in Route 53 changes.</a:t>
            </a:r>
            <a:endParaRPr lang="en-US" sz="1300" dirty="0"/>
          </a:p>
        </p:txBody>
      </p:sp>
      <p:pic>
        <p:nvPicPr>
          <p:cNvPr id="6" name="Diagram" descr="Apply: preview only, step 4: The run end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ends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Approval and Apply are grey, because execute_changes wasn’t ticked. The preview is on the Summary page.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1: You tick execute_chang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You tick execute_changes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same form, with </a:t>
            </a:r>
            <a:pPr algn="l" indent="0" marL="0">
              <a:buNone/>
            </a:pPr>
            <a:r>
              <a:rPr lang="en-US" sz="1500" b="1" dirty="0">
                <a:solidFill>
                  <a:schemeClr val="tx1"/>
                </a:solidFill>
              </a:rPr>
              <a:t>execute_changes</a:t>
            </a:r>
            <a:pPr algn="l" indent="0" marL="0">
              <a:buNone/>
            </a:pPr>
            <a:r>
              <a:rPr lang="en-US" sz="1500" dirty="0">
                <a:solidFill>
                  <a:schemeClr val="tx1"/>
                </a:solidFill>
              </a:rPr>
              <a:t> ticked. Tick </a:t>
            </a:r>
            <a:pPr algn="l" indent="0" marL="0">
              <a:buNone/>
            </a:pPr>
            <a:r>
              <a:rPr lang="en-US" sz="1500" b="1" dirty="0">
                <a:solidFill>
                  <a:schemeClr val="tx1"/>
                </a:solidFill>
              </a:rPr>
              <a:t>with_deletes</a:t>
            </a:r>
            <a:pPr algn="l" indent="0" marL="0">
              <a:buNone/>
            </a:pPr>
            <a:r>
              <a:rPr lang="en-US" sz="1500" dirty="0">
                <a:solidFill>
                  <a:schemeClr val="tx1"/>
                </a:solidFill>
              </a:rPr>
              <a:t> as well only if records you removed from the file should be deleted.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2: Checks and the preview firs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Checks and the preview first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first two boxes run exactly as in a preview-only run, so the planned changes are on the Summary page before anyone approves.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3: Someone approves">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Someone approves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For any account except sandbox, the run waits for a reviewer of the </a:t>
            </a:r>
            <a:pPr algn="l" indent="0" marL="0">
              <a:buNone/>
            </a:pPr>
            <a:r>
              <a:rPr lang="en-US" sz="1500" dirty="0">
                <a:solidFill>
                  <a:schemeClr val="tx1"/>
                </a:solidFill>
                <a:latin typeface="Consolas" pitchFamily="34" charset="0"/>
                <a:ea typeface="Consolas" pitchFamily="34" charset="-122"/>
                <a:cs typeface="Consolas" pitchFamily="34" charset="-120"/>
              </a:rPr>
              <a:t>production</a:t>
            </a:r>
            <a:pPr algn="l" indent="0" marL="0">
              <a:buNone/>
            </a:pPr>
            <a:r>
              <a:rPr lang="en-US" sz="1500" dirty="0">
                <a:solidFill>
                  <a:schemeClr val="tx1"/>
                </a:solidFill>
              </a:rPr>
              <a:t> environment. Sandbox goes straight on.</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4: Apply">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last box signs in once more and runs the same script with </a:t>
            </a:r>
            <a:pPr algn="l" indent="0" marL="0">
              <a:buNone/>
            </a:pPr>
            <a:r>
              <a:rPr lang="en-US" sz="1500" dirty="0">
                <a:solidFill>
                  <a:schemeClr val="tx1"/>
                </a:solidFill>
                <a:latin typeface="Consolas" pitchFamily="34" charset="0"/>
                <a:ea typeface="Consolas" pitchFamily="34" charset="-122"/>
                <a:cs typeface="Consolas" pitchFamily="34" charset="-120"/>
              </a:rPr>
              <a:t>--execute</a:t>
            </a:r>
            <a:pPr algn="l" indent="0" marL="0">
              <a:buNone/>
            </a:pPr>
            <a:r>
              <a:rPr lang="en-US" sz="1500" dirty="0">
                <a:solidFill>
                  <a:schemeClr val="tx1"/>
                </a:solidFill>
              </a:rPr>
              <a:t>: Route 53 makes the changes (UPSERT, and DELETE if you allowed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WS2 DNS PIPELINES EXPLAINED</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Apply: with approval</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 run with execute_changes ticked: preview, approval, then the change batch.</a:t>
            </a:r>
            <a:endParaRPr lang="en-US" sz="1300" dirty="0"/>
          </a:p>
        </p:txBody>
      </p:sp>
      <p:pic>
        <p:nvPicPr>
          <p:cNvPr id="6" name="Diagram" descr="Apply: with approval, step 5: The result">    </p:cNvPr>
          <p:cNvPicPr>
            <a:picLocks noChangeAspect="1"/>
          </p:cNvPicPr>
          <p:nvPr/>
        </p:nvPicPr>
        <p:blipFill>
          <a:blip r:embed="rId1"/>
          <a:stretch>
            <a:fillRect/>
          </a:stretch>
        </p:blipFill>
        <p:spPr>
          <a:xfrm>
            <a:off x="1742284" y="1463040"/>
            <a:ext cx="8704385"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result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APPLIED or FAILED goes on the Summary page with the script’s output. A failure turns the box 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731520" y="1783080"/>
            <a:ext cx="7680960" cy="365760"/>
          </a:xfrm>
          <a:prstGeom prst="rect">
            <a:avLst/>
          </a:prstGeom>
          <a:noFill/>
          <a:ln/>
        </p:spPr>
        <p:txBody>
          <a:bodyPr wrap="square" lIns="0" tIns="0" rIns="0" bIns="0" rtlCol="0" anchor="t"/>
          <a:lstStyle/>
          <a:p>
            <a:pPr algn="l" indent="0" marL="0">
              <a:buNone/>
            </a:pPr>
            <a:r>
              <a:rPr lang="en-US" sz="1400" b="1" spc="200" kern="0" dirty="0">
                <a:solidFill>
                  <a:schemeClr val="accent4"/>
                </a:solidFill>
              </a:rPr>
              <a:t>PART 4 OF 4</a:t>
            </a:r>
            <a:endParaRPr lang="en-US" sz="1400" dirty="0"/>
          </a:p>
        </p:txBody>
      </p:sp>
      <p:sp>
        <p:nvSpPr>
          <p:cNvPr id="3" name="Text 0"/>
          <p:cNvSpPr/>
          <p:nvPr>
            <p:ph idx="101" type="title" hasCustomPrompt="1"/>
          </p:nvPr>
        </p:nvSpPr>
        <p:spPr>
          <a:xfrm>
            <a:off x="731520" y="2240280"/>
            <a:ext cx="7680960" cy="1143000"/>
          </a:xfrm>
          <a:prstGeom prst="rect">
            <a:avLst/>
          </a:prstGeom>
          <a:noFill/>
          <a:ln/>
        </p:spPr>
        <p:txBody>
          <a:bodyPr wrap="square" lIns="0" tIns="0" rIns="0" bIns="0" rtlCol="0" anchor="t"/>
          <a:lstStyle/>
          <a:p>
            <a:pPr algn="l" indent="0" marL="0">
              <a:buNone/>
            </a:pPr>
            <a:r>
              <a:rPr lang="en-US" sz="4000" b="1" dirty="0">
                <a:solidFill>
                  <a:schemeClr val="bg1"/>
                </a:solidFill>
              </a:rPr>
              <a:t>Three Ways Into AWS</a:t>
            </a:r>
            <a:endParaRPr lang="en-US" sz="4000" dirty="0"/>
          </a:p>
        </p:txBody>
      </p:sp>
      <p:sp>
        <p:nvSpPr>
          <p:cNvPr id="4" name="Text 0"/>
          <p:cNvSpPr/>
          <p:nvPr>
            <p:ph idx="102" type="body" hasCustomPrompt="1"/>
          </p:nvPr>
        </p:nvSpPr>
        <p:spPr>
          <a:xfrm>
            <a:off x="731520" y="3520440"/>
            <a:ext cx="7680960" cy="1097280"/>
          </a:xfrm>
          <a:prstGeom prst="rect">
            <a:avLst/>
          </a:prstGeom>
          <a:noFill/>
          <a:ln/>
        </p:spPr>
        <p:txBody>
          <a:bodyPr wrap="square" lIns="0" tIns="0" rIns="0" bIns="0" rtlCol="0" anchor="t"/>
          <a:lstStyle/>
          <a:p>
            <a:pPr algn="l" indent="0" marL="0">
              <a:buNone/>
            </a:pPr>
            <a:r>
              <a:rPr lang="en-US" sz="2000" dirty="0">
                <a:solidFill>
                  <a:schemeClr val="bg2"/>
                </a:solidFill>
              </a:rPr>
              <a:t>What all three share · Way 1 · Way 2 · Way 3 · What AWS recommends</a:t>
            </a:r>
            <a:endParaRPr lang="en-US" sz="2000" dirty="0"/>
          </a:p>
        </p:txBody>
      </p:sp>
      <p:sp>
        <p:nvSpPr>
          <p:cNvPr id="5" name="Text 0"/>
          <p:cNvSpPr/>
          <p:nvPr>
            <p:ph idx="103" type="body" hasCustomPrompt="1"/>
          </p:nvPr>
        </p:nvSpPr>
        <p:spPr>
          <a:xfrm>
            <a:off x="731520" y="5120640"/>
            <a:ext cx="10698480" cy="822960"/>
          </a:xfrm>
          <a:prstGeom prst="rect">
            <a:avLst/>
          </a:prstGeom>
          <a:noFill/>
          <a:ln/>
        </p:spPr>
        <p:txBody>
          <a:bodyPr wrap="square" lIns="0" tIns="0" rIns="0" bIns="0" rtlCol="0" anchor="t"/>
          <a:lstStyle/>
          <a:p>
            <a:pPr algn="l" indent="0" marL="0">
              <a:buNone/>
            </a:pPr>
            <a:r>
              <a:rPr lang="en-US" sz="1400" dirty="0">
                <a:solidFill>
                  <a:schemeClr val="accent6"/>
                </a:solidFill>
              </a:rPr>
              <a:t>Picture key: building = AWS account · badge = role · guest list = trust policy · rooms = permissions · building rules = guardrails</a:t>
            </a:r>
            <a:endParaRPr lang="en-US" sz="1400" dirty="0"/>
          </a:p>
        </p:txBody>
      </p:sp>
      <p:sp>
        <p:nvSpPr>
          <p:cNvPr id="6" name="Part number"/>
          <p:cNvSpPr txBox="1"/>
          <p:nvPr/>
        </p:nvSpPr>
        <p:spPr>
          <a:xfrm>
            <a:off x="8595360" y="1097280"/>
            <a:ext cx="3044952" cy="3291840"/>
          </a:xfrm>
          <a:prstGeom prst="rect">
            <a:avLst/>
          </a:prstGeom>
          <a:noFill/>
          <a:ln/>
        </p:spPr>
        <p:txBody>
          <a:bodyPr wrap="square" lIns="0" tIns="0" rIns="0" bIns="0" rtlCol="0" anchor="t"/>
          <a:lstStyle/>
          <a:p>
            <a:pPr algn="r" indent="0" marL="0">
              <a:buNone/>
            </a:pPr>
            <a:r>
              <a:rPr lang="en-US" sz="22000" b="1" dirty="0">
                <a:solidFill>
                  <a:schemeClr val="accent4"/>
                </a:solidFill>
              </a:rPr>
              <a:t>4</a:t>
            </a:r>
            <a:endParaRPr lang="en-US" sz="22000" dirty="0"/>
          </a:p>
        </p:txBody>
      </p:sp>
    </p:spTree>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1: GitHub gives a signed not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GitHub gives a signed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run gets a fresh signed note from GitHub, for this run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2: AWS checks it">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AWS checks it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 checks the note against the guest list of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all three ways share</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3</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The part all three ways share: a signed note in, a temporary badge out.</a:t>
            </a:r>
            <a:endParaRPr lang="en-US" sz="1300" dirty="0"/>
          </a:p>
        </p:txBody>
      </p:sp>
      <p:pic>
        <p:nvPicPr>
          <p:cNvPr id="6" name="Diagram" descr="What all three ways share, step 3: A temporary badge">    </p:cNvPr>
          <p:cNvPicPr>
            <a:picLocks noChangeAspect="1"/>
          </p:cNvPicPr>
          <p:nvPr/>
        </p:nvPicPr>
        <p:blipFill>
          <a:blip r:embed="rId1"/>
          <a:stretch>
            <a:fillRect/>
          </a:stretch>
        </p:blipFill>
        <p:spPr>
          <a:xfrm>
            <a:off x="548640" y="2397116"/>
            <a:ext cx="11091672" cy="1835168"/>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temporary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If the note passes, AWS hands over a temporary badge. It expires on its own, and no password is stored anywhere.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1: A run starts">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Every run gets a fresh signed note from GitHub. The note says which repo and branch the run comes from. Nothing like a password is stored.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2: A secret names the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secret names the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 secret in GitHub holds the full name of the badge to ask for. 17 of your 19 old role secrets name the same badge: the master key.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3: The note is checked against the guest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note is checked against the guest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prd network account compares the note with the master key’s guest list. The list lets in the Landing-Zone repo, but also any repo in the github.com </a:t>
            </a:r>
            <a:pPr algn="l" indent="0" marL="0">
              <a:buNone/>
            </a:pPr>
            <a:r>
              <a:rPr lang="en-US" sz="1500" dirty="0">
                <a:solidFill>
                  <a:schemeClr val="tx1"/>
                </a:solidFill>
                <a:latin typeface="Consolas" pitchFamily="34" charset="0"/>
                <a:ea typeface="Consolas" pitchFamily="34" charset="-122"/>
                <a:cs typeface="Consolas" pitchFamily="34" charset="-120"/>
              </a:rPr>
              <a:t>tescoims</a:t>
            </a:r>
            <a:pPr algn="l" indent="0" marL="0">
              <a:buNone/>
            </a:pPr>
            <a:r>
              <a:rPr lang="en-US" sz="1500" dirty="0">
                <a:solidFill>
                  <a:schemeClr val="tx1"/>
                </a:solidFill>
              </a:rPr>
              <a:t> org, on any branch.</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4: The run gets the master key">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run gets the master key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badge it receives is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Control Tower’s own key for setting up every account. GitHub was added to this key’s guest list so that pipelines could use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75</a:t>
            </a:fld>
            <a:endParaRPr lang="en-US"/>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5: The building rules let it through">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let it through</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organization’s safety rules (guardrails) are written with an exception for this key. A mistake made with it is not stopped by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76</a:t>
            </a:fld>
            <a:endParaRPr lang="en-US"/>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1 · Old secrets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6</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1 in the prd network account, as the old pipelines use it.</a:t>
            </a:r>
            <a:endParaRPr lang="en-US" sz="1300" dirty="0"/>
          </a:p>
        </p:txBody>
      </p:sp>
      <p:pic>
        <p:nvPicPr>
          <p:cNvPr id="6" name="Diagram" descr="Way 1 · Old secrets, step 6: It can open every room">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master key is full admin. A run holding it can change anything in the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77</a:t>
            </a:fld>
            <a:endParaRPr lang="en-US"/>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1: A run starts and reads a list">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and reads a list</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Like Way 1, the run gets a signed note from GitHub. One secret, </a:t>
            </a:r>
            <a:pPr algn="l" indent="0" marL="0">
              <a:buNone/>
            </a:pPr>
            <a:r>
              <a:rPr lang="en-US" sz="1500" dirty="0">
                <a:solidFill>
                  <a:schemeClr val="tx1"/>
                </a:solidFill>
                <a:latin typeface="Consolas" pitchFamily="34" charset="0"/>
                <a:ea typeface="Consolas" pitchFamily="34" charset="-122"/>
                <a:cs typeface="Consolas" pitchFamily="34" charset="-120"/>
              </a:rPr>
              <a:t>DEPLOY_ROLE_ARNS_JSON</a:t>
            </a:r>
            <a:pPr algn="l" indent="0" marL="0">
              <a:buNone/>
            </a:pPr>
            <a:r>
              <a:rPr lang="en-US" sz="1500" dirty="0">
                <a:solidFill>
                  <a:schemeClr val="tx1"/>
                </a:solidFill>
              </a:rPr>
              <a:t>, holds a list: for each account name, the full name of a badge. The run picks the line for the account you typed.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78</a:t>
            </a:fld>
            <a:endParaRPr lang="en-US"/>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2: Straight to that badge">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Straight to that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It shows the note at that account’s door and gets the badge in one step. The check on 31 October showed which badge that is: both entries, sandbox and network-prod, name </a:t>
            </a:r>
            <a:pPr algn="l" indent="0" marL="0">
              <a:buNone/>
            </a:pPr>
            <a:r>
              <a:rPr lang="en-US" sz="1500" dirty="0">
                <a:solidFill>
                  <a:schemeClr val="tx1"/>
                </a:solidFill>
                <a:latin typeface="Consolas" pitchFamily="34" charset="0"/>
                <a:ea typeface="Consolas" pitchFamily="34" charset="-122"/>
                <a:cs typeface="Consolas" pitchFamily="34" charset="-120"/>
              </a:rPr>
              <a:t>AWSControlTowerExecution</a:t>
            </a:r>
            <a:pPr algn="l" indent="0" marL="0">
              <a:buNone/>
            </a:pPr>
            <a:r>
              <a:rPr lang="en-US" sz="1500" dirty="0">
                <a:solidFill>
                  <a:schemeClr val="tx1"/>
                </a:solidFill>
              </a:rPr>
              <a:t>, Control Tower’s master key.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79</a:t>
            </a:fld>
            <a:endParaRPr lang="en-US"/>
          </a:p>
        </p:txBody>
      </p:sp>
    </p:spTree>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3: The building rules let it through">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let it through</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As in Way 1, the organization’s safety rules make an exception for this key. A mistake made with it is not stopped by them.</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80</a:t>
            </a:fld>
            <a:endParaRPr lang="en-US"/>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2 · WS2 list</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4</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2, as the WS2 DNS pipelines use it. Checked on 31 October 2026: both list entries are the master key.</a:t>
            </a:r>
            <a:endParaRPr lang="en-US" sz="1300" dirty="0"/>
          </a:p>
        </p:txBody>
      </p:sp>
      <p:pic>
        <p:nvPicPr>
          <p:cNvPr id="6" name="Diagram" descr="Way 2 · WS2 list, step 4: It can open every room">    </p:cNvPr>
          <p:cNvPicPr>
            <a:picLocks noChangeAspect="1"/>
          </p:cNvPicPr>
          <p:nvPr/>
        </p:nvPicPr>
        <p:blipFill>
          <a:blip r:embed="rId1"/>
          <a:stretch>
            <a:fillRect/>
          </a:stretch>
        </p:blipFill>
        <p:spPr>
          <a:xfrm>
            <a:off x="1617935" y="1463040"/>
            <a:ext cx="8953081"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master key is full admin, so Export and Apply can change anything in both accounts, not only DNS records.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81</a:t>
            </a:fld>
            <a:endParaRPr lang="en-US"/>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1: A run starts, with nothing stored">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run starts, with nothing stored</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gets its signed note from GitHub. It works out the badge name from the account name, so no secret is needed.</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82</a:t>
            </a:fld>
            <a:endParaRPr lang="en-US"/>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2: Head office checks the not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Head office checks the note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run goes to the head office account first (IMS Root). The guest list there decides who may come in: for the prd network, only 2 named repos; for the other badges, any repo in the 13 company GitHub orgs.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83</a:t>
            </a:fld>
            <a:endParaRPr lang="en-US"/>
          </a:p>
        </p:txBody>
      </p:sp>
    </p:spTree>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3: It gets a reception pas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gets a reception pass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pass is good for one thing only: swapping it for the badge with the same name in one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84</a:t>
            </a:fld>
            <a:endParaRPr lang="en-US"/>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4: It swaps the pass for a pipeline badg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swaps the pass for a pipeline badge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In the network account the pass becomes </a:t>
            </a:r>
            <a:pPr algn="l" indent="0" marL="0">
              <a:buNone/>
            </a:pPr>
            <a:r>
              <a:rPr lang="en-US" sz="1500" dirty="0">
                <a:solidFill>
                  <a:schemeClr val="tx1"/>
                </a:solidFill>
                <a:latin typeface="Consolas" pitchFamily="34" charset="0"/>
                <a:ea typeface="Consolas" pitchFamily="34" charset="-122"/>
                <a:cs typeface="Consolas" pitchFamily="34" charset="-120"/>
              </a:rPr>
              <a:t>iamr-net-prd-deploy</a:t>
            </a:r>
            <a:pPr algn="l" indent="0" marL="0">
              <a:buNone/>
            </a:pPr>
            <a:r>
              <a:rPr lang="en-US" sz="1500" dirty="0">
                <a:solidFill>
                  <a:schemeClr val="tx1"/>
                </a:solidFill>
              </a:rPr>
              <a:t>, a badge made for pipelines. After this swap the run has at most 1 hour of access, and AWS doesn’t allow longer for a swap like this.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85</a:t>
            </a:fld>
            <a:endParaRPr lang="en-US"/>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5: The building rules apply">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building rules apply</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This badge is not Control Tower’s master key, so the organization’s safety rules apply to everything it does.</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86</a:t>
            </a:fld>
            <a:endParaRPr lang="en-US"/>
          </a:p>
        </p:txBody>
      </p:sp>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6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6: It can still open every room">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It can still open every room</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pipeline badge is full admin, so it can still change anything in the account. The building rules are what limit it.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87</a:t>
            </a:fld>
            <a:endParaRPr lang="en-US"/>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Way 3 · New IMS sign-in</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7 of 7</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Way 3, the new IMS sign-in your converted pipelines use.</a:t>
            </a:r>
            <a:endParaRPr lang="en-US" sz="1300" dirty="0"/>
          </a:p>
        </p:txBody>
      </p:sp>
      <p:pic>
        <p:nvPicPr>
          <p:cNvPr id="6" name="Diagram" descr="Way 3 · New IMS sign-in, step 7: The one thing AWS would question">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one thing AWS would question</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reception desk sits in head office, where the organization’s safety rules don’t apply. AWS says to keep head office for running the organization only. The risk today is small, because a pass can only be swapped for one badge.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88</a:t>
            </a:fld>
            <a:endParaRPr lang="en-US"/>
          </a:p>
        </p:txBody>
      </p:sp>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1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1: The same two steps as Way 3">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same two steps as Way 3</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AWS’s own GitHub example uses the same shape: a pass in one central account, then a badge in each target account.</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89</a:t>
            </a:fld>
            <a:endParaRPr lang="en-US"/>
          </a:p>
        </p:txBody>
      </p:sp>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2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2: Reception outside head office">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Reception outside head office</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The difference: the reception desk is in an ordinary account, where the organization’s safety rules apply. Head office is kept for running the organization only.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90</a:t>
            </a:fld>
            <a:endParaRPr lang="en-US"/>
          </a:p>
        </p:txBody>
      </p:sp>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3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3: A guest list with exact name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A guest list with exact names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Only named repos get in, and for production only runs from the production environment, which can require someone’s approval. Since February 2026 AWS can also check the repo’s permanent ID in GitHub’s note.</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91</a:t>
            </a:fld>
            <a:endParaRPr lang="en-US"/>
          </a:p>
        </p:txBody>
      </p:sp>
    </p:spTree>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4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4: Only the rooms it needs">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Only the rooms it needs</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Each badge opens only what its pipeline needs. A DNS pipeline gets the DNS rooms, not the whole building.</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92</a:t>
            </a:fld>
            <a:endParaRPr lang="en-US"/>
          </a:p>
        </p:txBody>
      </p:sp>
    </p:spTree>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595360" cy="274320"/>
          </a:xfrm>
          <a:prstGeom prst="rect">
            <a:avLst/>
          </a:prstGeom>
          <a:noFill/>
          <a:ln/>
        </p:spPr>
        <p:txBody>
          <a:bodyPr wrap="square" lIns="0" tIns="0" rIns="0" bIns="0" rtlCol="0" anchor="t"/>
          <a:lstStyle/>
          <a:p>
            <a:pPr algn="l" indent="0" marL="0">
              <a:buNone/>
            </a:pPr>
            <a:r>
              <a:rPr lang="en-US" sz="1100" b="1" spc="150" kern="0" dirty="0">
                <a:solidFill>
                  <a:schemeClr val="tx2"/>
                </a:solidFill>
              </a:rPr>
              <a:t>THREE WAYS INTO AWS</a:t>
            </a:r>
            <a:endParaRPr lang="en-US" sz="1100" dirty="0"/>
          </a:p>
        </p:txBody>
      </p:sp>
      <p:sp>
        <p:nvSpPr>
          <p:cNvPr id="3" name="Text 0"/>
          <p:cNvSpPr/>
          <p:nvPr>
            <p:ph idx="101" type="title" hasCustomPrompt="1"/>
          </p:nvPr>
        </p:nvSpPr>
        <p:spPr>
          <a:xfrm>
            <a:off x="548640" y="548640"/>
            <a:ext cx="8595360" cy="502920"/>
          </a:xfrm>
          <a:prstGeom prst="rect">
            <a:avLst/>
          </a:prstGeom>
          <a:noFill/>
          <a:ln/>
        </p:spPr>
        <p:txBody>
          <a:bodyPr wrap="square" lIns="0" tIns="0" rIns="0" bIns="0" rtlCol="0" anchor="t"/>
          <a:lstStyle/>
          <a:p>
            <a:pPr algn="l" indent="0" marL="0">
              <a:buNone/>
            </a:pPr>
            <a:r>
              <a:rPr lang="en-US" sz="2800" b="1" dirty="0">
                <a:solidFill>
                  <a:schemeClr val="tx1"/>
                </a:solidFill>
              </a:rPr>
              <a:t>What AWS recommends</a:t>
            </a:r>
            <a:endParaRPr lang="en-US" sz="2800" dirty="0"/>
          </a:p>
        </p:txBody>
      </p:sp>
      <p:sp>
        <p:nvSpPr>
          <p:cNvPr id="4" name="Text 0"/>
          <p:cNvSpPr/>
          <p:nvPr>
            <p:ph idx="102" type="body" hasCustomPrompt="1"/>
          </p:nvPr>
        </p:nvSpPr>
        <p:spPr>
          <a:xfrm>
            <a:off x="9326880" y="621792"/>
            <a:ext cx="2313432" cy="365760"/>
          </a:xfrm>
          <a:prstGeom prst="rect">
            <a:avLst/>
          </a:prstGeom>
          <a:noFill/>
          <a:ln/>
        </p:spPr>
        <p:txBody>
          <a:bodyPr wrap="square" lIns="0" tIns="0" rIns="0" bIns="0" rtlCol="0" anchor="t"/>
          <a:lstStyle/>
          <a:p>
            <a:pPr algn="r" indent="0" marL="0">
              <a:buNone/>
            </a:pPr>
            <a:r>
              <a:rPr lang="en-US" sz="1600" b="1" dirty="0">
                <a:solidFill>
                  <a:schemeClr val="accent1"/>
                </a:solidFill>
              </a:rPr>
              <a:t>Step 5 of 5</a:t>
            </a:r>
            <a:endParaRPr lang="en-US" sz="1600" dirty="0"/>
          </a:p>
        </p:txBody>
      </p:sp>
      <p:sp>
        <p:nvSpPr>
          <p:cNvPr id="5" name="Text 0"/>
          <p:cNvSpPr/>
          <p:nvPr>
            <p:ph idx="103" type="body" hasCustomPrompt="1"/>
          </p:nvPr>
        </p:nvSpPr>
        <p:spPr>
          <a:xfrm>
            <a:off x="548640" y="1069848"/>
            <a:ext cx="11091672" cy="292608"/>
          </a:xfrm>
          <a:prstGeom prst="rect">
            <a:avLst/>
          </a:prstGeom>
          <a:noFill/>
          <a:ln/>
        </p:spPr>
        <p:txBody>
          <a:bodyPr wrap="square" lIns="0" tIns="0" rIns="0" bIns="0" rtlCol="0" anchor="t"/>
          <a:lstStyle/>
          <a:p>
            <a:pPr algn="l" indent="0" marL="0">
              <a:buNone/>
            </a:pPr>
            <a:r>
              <a:rPr lang="en-US" sz="1300" dirty="0">
                <a:solidFill>
                  <a:schemeClr val="tx2"/>
                </a:solidFill>
              </a:rPr>
              <a:t>AWS’s advice, drawn the same way: keep Way 3’s two steps and fix three things.</a:t>
            </a:r>
            <a:endParaRPr lang="en-US" sz="1300" dirty="0"/>
          </a:p>
        </p:txBody>
      </p:sp>
      <p:pic>
        <p:nvPicPr>
          <p:cNvPr id="6" name="Diagram" descr="What AWS recommends, step 5: The rules apply at every step">    </p:cNvPr>
          <p:cNvPicPr>
            <a:picLocks noChangeAspect="1"/>
          </p:cNvPicPr>
          <p:nvPr/>
        </p:nvPicPr>
        <p:blipFill>
          <a:blip r:embed="rId1"/>
          <a:stretch>
            <a:fillRect/>
          </a:stretch>
        </p:blipFill>
        <p:spPr>
          <a:xfrm>
            <a:off x="1770005" y="1463040"/>
            <a:ext cx="8648943" cy="3703320"/>
          </a:xfrm>
          <a:prstGeom prst="rect">
            <a:avLst/>
          </a:prstGeom>
        </p:spPr>
      </p:pic>
      <p:sp>
        <p:nvSpPr>
          <p:cNvPr id="7" name="Text 0"/>
          <p:cNvSpPr/>
          <p:nvPr>
            <p:ph idx="104" type="body" hasCustomPrompt="1"/>
          </p:nvPr>
        </p:nvSpPr>
        <p:spPr>
          <a:xfrm>
            <a:off x="548640" y="5321808"/>
            <a:ext cx="11091672" cy="384048"/>
          </a:xfrm>
          <a:prstGeom prst="rect">
            <a:avLst/>
          </a:prstGeom>
          <a:noFill/>
          <a:ln/>
        </p:spPr>
        <p:txBody>
          <a:bodyPr wrap="square" lIns="0" tIns="0" rIns="0" bIns="0" rtlCol="0" anchor="t"/>
          <a:lstStyle/>
          <a:p>
            <a:pPr algn="l" indent="0" marL="0">
              <a:buNone/>
            </a:pPr>
            <a:r>
              <a:rPr lang="en-US" sz="2000" b="1" dirty="0">
                <a:solidFill>
                  <a:schemeClr val="tx1"/>
                </a:solidFill>
              </a:rPr>
              <a:t>The rules apply at every step</a:t>
            </a:r>
            <a:endParaRPr lang="en-US" sz="2000" dirty="0"/>
          </a:p>
        </p:txBody>
      </p:sp>
      <p:sp>
        <p:nvSpPr>
          <p:cNvPr id="8" name="Text 0"/>
          <p:cNvSpPr/>
          <p:nvPr>
            <p:ph idx="105" type="body" hasCustomPrompt="1"/>
          </p:nvPr>
        </p:nvSpPr>
        <p:spPr>
          <a:xfrm>
            <a:off x="548640" y="5742432"/>
            <a:ext cx="11091672" cy="841248"/>
          </a:xfrm>
          <a:prstGeom prst="rect">
            <a:avLst/>
          </a:prstGeom>
          <a:noFill/>
          <a:ln/>
        </p:spPr>
        <p:txBody>
          <a:bodyPr wrap="square" lIns="0" tIns="0" rIns="0" bIns="0" rtlCol="0" anchor="t"/>
          <a:lstStyle/>
          <a:p>
            <a:pPr algn="l" indent="0" marL="0">
              <a:buNone/>
            </a:pPr>
            <a:r>
              <a:rPr lang="en-US" sz="1500" dirty="0">
                <a:solidFill>
                  <a:schemeClr val="tx1"/>
                </a:solidFill>
              </a:rPr>
              <a:t>Both the pass and the badge sit in accounts where the organization’s safety rules apply.</a:t>
            </a:r>
            <a:endParaRPr lang="en-US" sz="1500" dirty="0"/>
          </a:p>
        </p:txBody>
      </p:sp>
      <p:sp>
        <p:nvSpPr>
          <p:cNvPr id="25" name="Slide Number Placeholder 0"/>
          <p:cNvSpPr>
            <a:spLocks noGrp="1"/>
          </p:cNvSpPr>
          <p:nvPr>
            <p:ph type="sldNum" sz="quarter" idx="4294967295"/>
          </p:nvPr>
        </p:nvSpPr>
        <p:spPr>
          <a:xfrm>
            <a:off x="11183112" y="649224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93</a:t>
            </a:fld>
            <a:endParaRPr lang="en-US"/>
          </a:p>
        </p:txBody>
      </p:sp>
    </p:spTree>
  </p:cSld>
  <p:clrMapOvr>
    <a:masterClrMapping/>
  </p:clrMapOvr>
  <p:transition spd="med">
    <p:fade/>
  </p:transition>
</p:sld>
</file>

<file path=ppt/theme/theme1.xml><?xml version="1.0" encoding="utf-8"?>
<a:theme xmlns:a="http://schemas.openxmlformats.org/drawingml/2006/main" name="GitHub to AWS flows">
  <a:themeElements>
    <a:clrScheme name="GitHub to AWS flows">
      <a:dk1>
        <a:srgbClr val="17202C"/>
      </a:dk1>
      <a:lt1>
        <a:srgbClr val="FFFFFF"/>
      </a:lt1>
      <a:dk2>
        <a:srgbClr val="566273"/>
      </a:dk2>
      <a:lt2>
        <a:srgbClr val="F1F3F6"/>
      </a:lt2>
      <a:accent1>
        <a:srgbClr val="A35C00"/>
      </a:accent1>
      <a:accent2>
        <a:srgbClr val="0D6E5B"/>
      </a:accent2>
      <a:accent3>
        <a:srgbClr val="A8372A"/>
      </a:accent3>
      <a:accent4>
        <a:srgbClr val="F1AE45"/>
      </a:accent4>
      <a:accent5>
        <a:srgbClr val="DCE1E8"/>
      </a:accent5>
      <a:accent6>
        <a:srgbClr val="A6B0BE"/>
      </a:accent6>
      <a:hlink>
        <a:srgbClr val="1C4FB0"/>
      </a:hlink>
      <a:folHlink>
        <a:srgbClr val="566273"/>
      </a:folHlink>
    </a:clrScheme>
    <a:fontScheme name="GitHub to AWS flow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to AWS, Step by Step</dc:title>
  <dc:subject>PptxGenJS Presentation</dc:subject>
  <dc:creator>PptxGenJS</dc:creator>
  <cp:lastModifiedBy>PptxGenJS</cp:lastModifiedBy>
  <cp:revision>1</cp:revision>
  <dcterms:created xsi:type="dcterms:W3CDTF">2026-10-31T10:48:31Z</dcterms:created>
  <dcterms:modified xsi:type="dcterms:W3CDTF">2026-10-31T10:48:31Z</dcterms:modified>
</cp:coreProperties>
</file>