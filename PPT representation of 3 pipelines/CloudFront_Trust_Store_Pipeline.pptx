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1e1157c-8c4a-c7d3-4ec7-bbfe7f51cb7d}">
          <p14:sldIdLst>
            <p14:sldId id="256"/>
            <p14:sldId id="257"/>
          </p14:sldIdLst>
        </p14:section>
        <p14:section name="How it works" id="{5747150f-f0eb-8b96-8205-1b78dfeaa7c2}">
          <p14:sldIdLst>
            <p14:sldId id="258"/>
            <p14:sldId id="259"/>
          </p14:sldIdLst>
        </p14:section>
        <p14:section name="Key features" id="{1f82c9a5-e27b-37af-6da1-8d6d84d8aede}">
          <p14:sldIdLst>
            <p14:sldId id="260"/>
            <p14:sldId id="261"/>
            <p14:sldId id="262"/>
            <p14:sldId id="263"/>
          </p14:sldIdLst>
        </p14:section>
        <p14:section name="What’s next" id="{3d6046ab-6da2-8080-86be-e5560cd4d587}">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 the pipeline we now use for every request to add or remove a certificate in the CloudFront mTLS trust stores — how it is built, how a run flows, and why it is safe. Three stages: validate, compare, and apply only when someone chooses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CloudFront’s mTLS APIs only accept clients whose certificate was issued by a CA in the trust store — think of a guest list at reception. We get regular requests to add or remove certificates in tst, ppe and prd. One wrong entry can lock out a partner, or keep access open that should have been closed, so every change needs the four things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to right: the certificate bundles live in Git, one per environment, and change only through a Pull Request. The pipeline checks the bundle out, signs in to the chosen environment’s AWS account with a short-lived OIDC role (no stored keys), reads the current bundle from S3 and, on Apply, uploads a new versioned file and points the CloudFront trust store at it. CloudFront’s mTLS APIs then accept only clients whose certificate comes from a CA in the trust store. Full path in Git: cloudformation/deamon/ims-app-identity-main/ims-app-identity-main/truststore/&lt;env&gt;/truststore.pem. Region choice (eu-west-1 or us-east-1) is where the S3 bundle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Start: pick the environment (tst, ppe or prd), the region where the S3 bundle lives, and Apply, which is ‘no’ by default. Validate: the team’s validator script and a certificate check run on the bundle in Git, unfinished settings stop the run, and the AWS account must match the trust store. Compare: every certificate in Git and in the current S3 bundle is fingerprinted and the differences are listed in the run summary. Apply = no ends there, with nothing changed. Apply = yes uploads a new versioned bundle, updates the trust store and waits until CloudFront reports it Active. Only one run per environment can happen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pipeline. Both bundles — the proposal in Git and the current bundle in S3 — are split into individual certificates and each one is fingerprinted with SHA-256, so matching is exact and does not depend on how the file is laid out. The report in the run summary lists an inventory (totals, duplicates, CA and non-CA), every certificate now in S3 with its name, issuer and expiry and whether Git has it, every certificate in Git and whether S3 already has it, the extras that would be removed, and a final count of additions and removals. It also flags duplicates and any certificate OpenSSL cannot read. The remarks name the environment — ‘prod’ for prd (shown here), ‘tst’ and ‘ppe’ for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parts of the run summary from a real prd run with Apply = no. Top: the comparison table — every certificate in the Git bundle, its SHA-256 fingerprint, the matching certificate in production and the remark. Bottom: the validation step — every certificate in the bundle with its status, expiry date and days left, plus a file-format check. Nothing was changed by this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runs only when someone picks Apply = yes, and only after validation and comparison have passed in the same run. It re-checks the AWS account, uploads the Git bundle to S3 as a new file named after the run (earlier files are never overwritten), updates the trust store using CloudFront’s ETag version check, then polls every 15 seconds until CloudFront reports the trust store Active, failing loudly if it reports failed or takes more than 30 minutes. To undo: revert the Git change and run again, or point the trust store back at the previous bundle file, which is still in S3.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reasons it works well. Worth saying how we use it: with Apply = yes the change goes in straight after the comparison in the same run, so our practice is always a review-only run first (Apply = no), read the report, then run again with Apply = yes — especially for prd.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Ideas, not commitments — useful to hear which matter most to the client. Expiry alerts reuse the expiry dates the report already reads. A scheduled review-only run would surface any difference between Git and S3 early. An approver step for prd adds a second pair of eyes before Apply = yes. And the settings are per environment, so another trust store or environment is a small addition.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6675120" cy="155448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endParaRPr lang="en-US" sz="4600" dirty="0"/>
          </a:p>
        </p:txBody>
      </p:sp>
      <p:sp>
        <p:nvSpPr>
          <p:cNvPr id="3" name="Text 0"/>
          <p:cNvSpPr/>
          <p:nvPr>
            <p:ph idx="101" type="body" hasCustomPrompt="1"/>
          </p:nvPr>
        </p:nvSpPr>
        <p:spPr>
          <a:xfrm>
            <a:off x="548640" y="3291840"/>
            <a:ext cx="6492240" cy="1005840"/>
          </a:xfrm>
          <a:prstGeom prst="rect">
            <a:avLst/>
          </a:prstGeom>
          <a:noFill/>
          <a:ln/>
        </p:spPr>
        <p:txBody>
          <a:bodyPr wrap="square" rtlCol="0"/>
          <a:lstStyle>
            <a:lvl1pPr indent="0" marL="0">
              <a:buNone/>
              <a:defRPr lang="en-US" sz="2000" dirty="0">
                <a:solidFill>
                  <a:schemeClr val="accent6"/>
                </a:solidFill>
              </a:defRPr>
            </a:lvl1pPr>
          </a:lstStyle>
          <a:p>
            <a:pPr indent="0" marL="0">
              <a:buNone/>
            </a:pPr>
            <a:endParaRPr lang="en-US" sz="2000" dirty="0"/>
          </a:p>
        </p:txBody>
      </p:sp>
      <p:sp>
        <p:nvSpPr>
          <p:cNvPr id="4" name="Text 0"/>
          <p:cNvSpPr/>
          <p:nvPr>
            <p:ph idx="102" type="body" hasCustomPrompt="1"/>
          </p:nvPr>
        </p:nvSpPr>
        <p:spPr>
          <a:xfrm>
            <a:off x="548640" y="5257800"/>
            <a:ext cx="6492240" cy="411480"/>
          </a:xfrm>
          <a:prstGeom prst="rect">
            <a:avLst/>
          </a:prstGeom>
          <a:noFill/>
          <a:ln/>
        </p:spPr>
        <p:txBody>
          <a:bodyPr wrap="square" rtlCol="0"/>
          <a:lstStyle>
            <a:lvl1pPr indent="0" marL="0">
              <a:buNone/>
              <a:defRPr lang="en-US" sz="1400" dirty="0">
                <a:solidFill>
                  <a:schemeClr val="bg2"/>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144000" cy="713232"/>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rtlCol="0"/>
          <a:lstStyle>
            <a:lvl1pPr indent="0" marL="0">
              <a:buNone/>
              <a:defRPr lang="en-US" sz="1500" dirty="0">
                <a:solidFill>
                  <a:schemeClr val="tx2"/>
                </a:solidFill>
              </a:defRPr>
            </a:lvl1pPr>
          </a:lstStyle>
          <a:p>
            <a:pPr indent="0" marL="0">
              <a:buNone/>
            </a:pPr>
            <a:endParaRPr lang="en-US" sz="1500" dirty="0"/>
          </a:p>
        </p:txBody>
      </p:sp>
      <p:sp>
        <p:nvSpPr>
          <p:cNvPr id="4" name="Text 0"/>
          <p:cNvSpPr/>
          <p:nvPr/>
        </p:nvSpPr>
        <p:spPr>
          <a:xfrm>
            <a:off x="548640" y="6473952"/>
            <a:ext cx="6400800" cy="274320"/>
          </a:xfrm>
          <a:prstGeom prst="rect">
            <a:avLst/>
          </a:prstGeom>
          <a:noFill/>
          <a:ln/>
        </p:spPr>
        <p:txBody>
          <a:bodyPr wrap="square" lIns="0" tIns="0" rIns="0" bIns="0" rtlCol="0" anchor="t"/>
          <a:lstStyle/>
          <a:p>
            <a:pPr indent="0" marL="0">
              <a:buNone/>
            </a:pPr>
            <a:r>
              <a:rPr lang="en-US" sz="1000" dirty="0">
                <a:solidFill>
                  <a:schemeClr val="tx2"/>
                </a:solidFill>
              </a:rPr>
              <a:t>CloudFront trust store pipeline  ·  October 2026</a:t>
            </a:r>
            <a:endParaRPr lang="en-US" sz="1000" dirty="0"/>
          </a:p>
        </p:txBody>
      </p:sp>
      <p:sp>
        <p:nvSpPr>
          <p:cNvPr id="25" name="Slide Number Placeholder 0"/>
          <p:cNvSpPr>
            <a:spLocks noGrp="1"/>
          </p:cNvSpPr>
          <p:nvPr>
            <p:ph type="sldNum" sz="quarter" idx="4294967295"/>
          </p:nvPr>
        </p:nvSpPr>
        <p:spPr>
          <a:xfrm>
            <a:off x="11000232" y="647395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144000" cy="713232"/>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rtlCol="0"/>
          <a:lstStyle>
            <a:lvl1pPr indent="0" marL="0">
              <a:buNone/>
              <a:defRPr lang="en-US" sz="1500" dirty="0">
                <a:solidFill>
                  <a:schemeClr val="accent6"/>
                </a:solidFill>
              </a:defRPr>
            </a:lvl1pPr>
          </a:lstStyle>
          <a:p>
            <a:pPr indent="0" marL="0">
              <a:buNone/>
            </a:pPr>
            <a:endParaRPr lang="en-US" sz="1500" dirty="0"/>
          </a:p>
        </p:txBody>
      </p:sp>
      <p:sp>
        <p:nvSpPr>
          <p:cNvPr id="4" name="Text 0"/>
          <p:cNvSpPr/>
          <p:nvPr/>
        </p:nvSpPr>
        <p:spPr>
          <a:xfrm>
            <a:off x="548640" y="6473952"/>
            <a:ext cx="6400800" cy="274320"/>
          </a:xfrm>
          <a:prstGeom prst="rect">
            <a:avLst/>
          </a:prstGeom>
          <a:noFill/>
          <a:ln/>
        </p:spPr>
        <p:txBody>
          <a:bodyPr wrap="square" lIns="0" tIns="0" rIns="0" bIns="0" rtlCol="0" anchor="t"/>
          <a:lstStyle/>
          <a:p>
            <a:pPr indent="0" marL="0">
              <a:buNone/>
            </a:pPr>
            <a:r>
              <a:rPr lang="en-US" sz="1000" dirty="0">
                <a:solidFill>
                  <a:schemeClr val="bg2"/>
                </a:solidFill>
              </a:rPr>
              <a:t>CloudFront trust store pipeline  ·  October 2026</a:t>
            </a:r>
            <a:endParaRPr lang="en-US" sz="1000" dirty="0"/>
          </a:p>
        </p:txBody>
      </p:sp>
      <p:sp>
        <p:nvSpPr>
          <p:cNvPr id="25" name="Slide Number Placeholder 0"/>
          <p:cNvSpPr>
            <a:spLocks noGrp="1"/>
          </p:cNvSpPr>
          <p:nvPr>
            <p:ph type="sldNum" sz="quarter" idx="4294967295"/>
          </p:nvPr>
        </p:nvSpPr>
        <p:spPr>
          <a:xfrm>
            <a:off x="11000232" y="647395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0232" y="647395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slideLayout" Target="../slideLayouts/slideLayout3.xml"/><Relationship Id="rId1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slideLayout" Target="../slideLayouts/slideLayout3.xml"/><Relationship Id="rId1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slideLayout" Target="../slideLayouts/slideLayout3.xml"/><Relationship Id="rId1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3.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3.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4.xml"/><Relationship Id="rId7"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6675120" cy="1554480"/>
          </a:xfrm>
          <a:prstGeom prst="rect">
            <a:avLst/>
          </a:prstGeom>
          <a:noFill/>
          <a:ln/>
        </p:spPr>
        <p:txBody>
          <a:bodyPr wrap="square" lIns="0" tIns="0" rIns="0" bIns="0" rtlCol="0" anchor="b"/>
          <a:lstStyle/>
          <a:p>
            <a:pPr algn="l" indent="0" marL="0">
              <a:buNone/>
            </a:pPr>
            <a:r>
              <a:rPr lang="en-US" sz="4600" b="1" dirty="0">
                <a:solidFill>
                  <a:schemeClr val="bg1"/>
                </a:solidFill>
              </a:rPr>
              <a:t>CloudFront trust store pipeline</a:t>
            </a:r>
            <a:endParaRPr lang="en-US" sz="4600" dirty="0"/>
          </a:p>
        </p:txBody>
      </p:sp>
      <p:sp>
        <p:nvSpPr>
          <p:cNvPr id="3" name="Text 0"/>
          <p:cNvSpPr/>
          <p:nvPr>
            <p:ph idx="101" type="body" hasCustomPrompt="1"/>
          </p:nvPr>
        </p:nvSpPr>
        <p:spPr>
          <a:xfrm>
            <a:off x="548640" y="3291840"/>
            <a:ext cx="6492240" cy="1005840"/>
          </a:xfrm>
          <a:prstGeom prst="rect">
            <a:avLst/>
          </a:prstGeom>
          <a:noFill/>
          <a:ln/>
        </p:spPr>
        <p:txBody>
          <a:bodyPr wrap="square" lIns="0" tIns="0" rIns="0" bIns="0" rtlCol="0" anchor="t"/>
          <a:lstStyle/>
          <a:p>
            <a:pPr indent="0" marL="0">
              <a:buNone/>
            </a:pPr>
            <a:r>
              <a:rPr lang="en-US" sz="2000" dirty="0">
                <a:solidFill>
                  <a:schemeClr val="accent6"/>
                </a:solidFill>
              </a:rPr>
              <a:t>How we add and remove client certificates — validated, compared certificate by certificate, and applied only when we choose</a:t>
            </a:r>
            <a:endParaRPr lang="en-US" sz="2000" dirty="0"/>
          </a:p>
        </p:txBody>
      </p:sp>
      <p:sp>
        <p:nvSpPr>
          <p:cNvPr id="4" name="Text 0"/>
          <p:cNvSpPr/>
          <p:nvPr>
            <p:ph idx="102" type="body" hasCustomPrompt="1"/>
          </p:nvPr>
        </p:nvSpPr>
        <p:spPr>
          <a:xfrm>
            <a:off x="548640" y="5257800"/>
            <a:ext cx="6492240" cy="411480"/>
          </a:xfrm>
          <a:prstGeom prst="rect">
            <a:avLst/>
          </a:prstGeom>
          <a:noFill/>
          <a:ln/>
        </p:spPr>
        <p:txBody>
          <a:bodyPr wrap="square" lIns="0" tIns="0" rIns="0" bIns="0" rtlCol="0" anchor="t"/>
          <a:lstStyle/>
          <a:p>
            <a:pPr indent="0" marL="0">
              <a:buNone/>
            </a:pPr>
            <a:r>
              <a:rPr lang="en-US" sz="1400" dirty="0">
                <a:solidFill>
                  <a:schemeClr val="bg2"/>
                </a:solidFill>
              </a:rPr>
              <a:t>Kunal Shrivastava  ·  Platform Engineering  ·  October 2026</a:t>
            </a:r>
            <a:endParaRPr lang="en-US" sz="1400" dirty="0"/>
          </a:p>
        </p:txBody>
      </p:sp>
      <p:sp>
        <p:nvSpPr>
          <p:cNvPr id="5" name="Text 3"/>
          <p:cNvSpPr txBox="1"/>
          <p:nvPr/>
        </p:nvSpPr>
        <p:spPr>
          <a:xfrm>
            <a:off x="7726680" y="1481328"/>
            <a:ext cx="3913632" cy="274320"/>
          </a:xfrm>
          <a:prstGeom prst="rect">
            <a:avLst/>
          </a:prstGeom>
          <a:noFill/>
          <a:ln/>
        </p:spPr>
        <p:txBody>
          <a:bodyPr wrap="square" lIns="0" tIns="0" rIns="0" bIns="0" rtlCol="0" anchor="t"/>
          <a:lstStyle/>
          <a:p>
            <a:pPr indent="0" marL="0">
              <a:buNone/>
            </a:pPr>
            <a:r>
              <a:rPr lang="en-US" sz="1100" b="1" spc="200" kern="0" dirty="0">
                <a:solidFill>
                  <a:schemeClr val="accent6"/>
                </a:solidFill>
              </a:rPr>
              <a:t>THREE STAGES</a:t>
            </a:r>
            <a:endParaRPr lang="en-US" sz="1100" dirty="0"/>
          </a:p>
        </p:txBody>
      </p:sp>
      <p:sp>
        <p:nvSpPr>
          <p:cNvPr id="6" name="1 · Validate"/>
          <p:cNvSpPr/>
          <p:nvPr/>
        </p:nvSpPr>
        <p:spPr>
          <a:xfrm>
            <a:off x="7726680" y="1874520"/>
            <a:ext cx="3913632" cy="914400"/>
          </a:xfrm>
          <a:prstGeom prst="roundRect">
            <a:avLst>
              <a:gd name="adj" fmla="val 14000"/>
            </a:avLst>
          </a:prstGeom>
          <a:solidFill>
            <a:schemeClr val="accent1"/>
          </a:solidFill>
          <a:ln/>
        </p:spPr>
      </p:sp>
      <p:sp>
        <p:nvSpPr>
          <p:cNvPr id="7" name="Shape 5"/>
          <p:cNvSpPr/>
          <p:nvPr/>
        </p:nvSpPr>
        <p:spPr>
          <a:xfrm>
            <a:off x="7936992" y="2057400"/>
            <a:ext cx="548640" cy="548640"/>
          </a:xfrm>
          <a:prstGeom prst="ellipse">
            <a:avLst/>
          </a:prstGeom>
          <a:solidFill>
            <a:schemeClr val="bg1">
              <a:alpha val="20000"/>
            </a:schemeClr>
          </a:solidFill>
          <a:ln/>
        </p:spPr>
      </p:sp>
      <p:pic>
        <p:nvPicPr>
          <p:cNvPr id="8" name="Image 0" descr="preencoded.png">    </p:cNvPr>
          <p:cNvPicPr>
            <a:picLocks noChangeAspect="1"/>
          </p:cNvPicPr>
          <p:nvPr/>
        </p:nvPicPr>
        <p:blipFill>
          <a:blip r:embed="rId1"/>
          <a:stretch>
            <a:fillRect/>
          </a:stretch>
        </p:blipFill>
        <p:spPr>
          <a:xfrm>
            <a:off x="8057693" y="2178101"/>
            <a:ext cx="307238" cy="307238"/>
          </a:xfrm>
          <a:prstGeom prst="rect">
            <a:avLst/>
          </a:prstGeom>
        </p:spPr>
      </p:pic>
      <p:sp>
        <p:nvSpPr>
          <p:cNvPr id="9" name="Text 6"/>
          <p:cNvSpPr txBox="1"/>
          <p:nvPr/>
        </p:nvSpPr>
        <p:spPr>
          <a:xfrm>
            <a:off x="8686800" y="2002536"/>
            <a:ext cx="2834640" cy="365760"/>
          </a:xfrm>
          <a:prstGeom prst="rect">
            <a:avLst/>
          </a:prstGeom>
          <a:noFill/>
          <a:ln/>
        </p:spPr>
        <p:txBody>
          <a:bodyPr wrap="square" lIns="0" tIns="0" rIns="0" bIns="0" rtlCol="0" anchor="ctr"/>
          <a:lstStyle/>
          <a:p>
            <a:pPr indent="0" marL="0">
              <a:buNone/>
            </a:pPr>
            <a:r>
              <a:rPr lang="en-US" sz="1800" b="1" dirty="0">
                <a:solidFill>
                  <a:schemeClr val="bg1"/>
                </a:solidFill>
              </a:rPr>
              <a:t>1 · Validate</a:t>
            </a:r>
            <a:endParaRPr lang="en-US" sz="1800" dirty="0"/>
          </a:p>
        </p:txBody>
      </p:sp>
      <p:sp>
        <p:nvSpPr>
          <p:cNvPr id="10" name="Text 7"/>
          <p:cNvSpPr txBox="1"/>
          <p:nvPr/>
        </p:nvSpPr>
        <p:spPr>
          <a:xfrm>
            <a:off x="8686800" y="2350008"/>
            <a:ext cx="2834640" cy="310896"/>
          </a:xfrm>
          <a:prstGeom prst="rect">
            <a:avLst/>
          </a:prstGeom>
          <a:noFill/>
          <a:ln/>
        </p:spPr>
        <p:txBody>
          <a:bodyPr wrap="square" lIns="0" tIns="0" rIns="0" bIns="0" rtlCol="0" anchor="t"/>
          <a:lstStyle/>
          <a:p>
            <a:pPr indent="0" marL="0">
              <a:buNone/>
            </a:pPr>
            <a:r>
              <a:rPr lang="en-US" sz="1300" dirty="0">
                <a:solidFill>
                  <a:schemeClr val="bg1"/>
                </a:solidFill>
              </a:rPr>
              <a:t>Checks the bundle before AWS is touched</a:t>
            </a:r>
            <a:endParaRPr lang="en-US" sz="1300" dirty="0"/>
          </a:p>
        </p:txBody>
      </p:sp>
      <p:sp>
        <p:nvSpPr>
          <p:cNvPr id="11" name="2 · Compare"/>
          <p:cNvSpPr/>
          <p:nvPr/>
        </p:nvSpPr>
        <p:spPr>
          <a:xfrm>
            <a:off x="7726680" y="2990088"/>
            <a:ext cx="3913632" cy="914400"/>
          </a:xfrm>
          <a:prstGeom prst="roundRect">
            <a:avLst>
              <a:gd name="adj" fmla="val 14000"/>
            </a:avLst>
          </a:prstGeom>
          <a:solidFill>
            <a:schemeClr val="accent1"/>
          </a:solidFill>
          <a:ln/>
        </p:spPr>
      </p:sp>
      <p:sp>
        <p:nvSpPr>
          <p:cNvPr id="12" name="Shape 9"/>
          <p:cNvSpPr/>
          <p:nvPr/>
        </p:nvSpPr>
        <p:spPr>
          <a:xfrm>
            <a:off x="7936992" y="3172968"/>
            <a:ext cx="548640" cy="548640"/>
          </a:xfrm>
          <a:prstGeom prst="ellipse">
            <a:avLst/>
          </a:prstGeom>
          <a:solidFill>
            <a:schemeClr val="bg1">
              <a:alpha val="20000"/>
            </a:schemeClr>
          </a:solidFill>
          <a:ln/>
        </p:spPr>
      </p:sp>
      <p:pic>
        <p:nvPicPr>
          <p:cNvPr id="13" name="Image 1" descr="preencoded.png">    </p:cNvPr>
          <p:cNvPicPr>
            <a:picLocks noChangeAspect="1"/>
          </p:cNvPicPr>
          <p:nvPr/>
        </p:nvPicPr>
        <p:blipFill>
          <a:blip r:embed="rId2"/>
          <a:stretch>
            <a:fillRect/>
          </a:stretch>
        </p:blipFill>
        <p:spPr>
          <a:xfrm>
            <a:off x="8057693" y="3293669"/>
            <a:ext cx="307238" cy="307238"/>
          </a:xfrm>
          <a:prstGeom prst="rect">
            <a:avLst/>
          </a:prstGeom>
        </p:spPr>
      </p:pic>
      <p:sp>
        <p:nvSpPr>
          <p:cNvPr id="14" name="Text 10"/>
          <p:cNvSpPr txBox="1"/>
          <p:nvPr/>
        </p:nvSpPr>
        <p:spPr>
          <a:xfrm>
            <a:off x="8686800" y="3118104"/>
            <a:ext cx="2834640" cy="365760"/>
          </a:xfrm>
          <a:prstGeom prst="rect">
            <a:avLst/>
          </a:prstGeom>
          <a:noFill/>
          <a:ln/>
        </p:spPr>
        <p:txBody>
          <a:bodyPr wrap="square" lIns="0" tIns="0" rIns="0" bIns="0" rtlCol="0" anchor="ctr"/>
          <a:lstStyle/>
          <a:p>
            <a:pPr indent="0" marL="0">
              <a:buNone/>
            </a:pPr>
            <a:r>
              <a:rPr lang="en-US" sz="1800" b="1" dirty="0">
                <a:solidFill>
                  <a:schemeClr val="bg1"/>
                </a:solidFill>
              </a:rPr>
              <a:t>2 · Compare</a:t>
            </a:r>
            <a:endParaRPr lang="en-US" sz="1800" dirty="0"/>
          </a:p>
        </p:txBody>
      </p:sp>
      <p:sp>
        <p:nvSpPr>
          <p:cNvPr id="15" name="Text 11"/>
          <p:cNvSpPr txBox="1"/>
          <p:nvPr/>
        </p:nvSpPr>
        <p:spPr>
          <a:xfrm>
            <a:off x="8686800" y="3465576"/>
            <a:ext cx="2834640" cy="310896"/>
          </a:xfrm>
          <a:prstGeom prst="rect">
            <a:avLst/>
          </a:prstGeom>
          <a:noFill/>
          <a:ln/>
        </p:spPr>
        <p:txBody>
          <a:bodyPr wrap="square" lIns="0" tIns="0" rIns="0" bIns="0" rtlCol="0" anchor="t"/>
          <a:lstStyle/>
          <a:p>
            <a:pPr indent="0" marL="0">
              <a:buNone/>
            </a:pPr>
            <a:r>
              <a:rPr lang="en-US" sz="1300" dirty="0">
                <a:solidFill>
                  <a:schemeClr val="bg1"/>
                </a:solidFill>
              </a:rPr>
              <a:t>Every certificate, Git vs S3</a:t>
            </a:r>
            <a:endParaRPr lang="en-US" sz="1300" dirty="0"/>
          </a:p>
        </p:txBody>
      </p:sp>
      <p:sp>
        <p:nvSpPr>
          <p:cNvPr id="16" name="3 · Apply"/>
          <p:cNvSpPr/>
          <p:nvPr/>
        </p:nvSpPr>
        <p:spPr>
          <a:xfrm>
            <a:off x="7726680" y="4105656"/>
            <a:ext cx="3913632" cy="914400"/>
          </a:xfrm>
          <a:prstGeom prst="roundRect">
            <a:avLst>
              <a:gd name="adj" fmla="val 14000"/>
            </a:avLst>
          </a:prstGeom>
          <a:solidFill>
            <a:schemeClr val="bg1">
              <a:alpha val="8000"/>
            </a:schemeClr>
          </a:solidFill>
          <a:ln w="19050">
            <a:solidFill>
              <a:schemeClr val="accent6"/>
            </a:solidFill>
            <a:prstDash val="dash"/>
          </a:ln>
        </p:spPr>
      </p:sp>
      <p:sp>
        <p:nvSpPr>
          <p:cNvPr id="17" name="Shape 13"/>
          <p:cNvSpPr/>
          <p:nvPr/>
        </p:nvSpPr>
        <p:spPr>
          <a:xfrm>
            <a:off x="7936992" y="4288536"/>
            <a:ext cx="548640" cy="548640"/>
          </a:xfrm>
          <a:prstGeom prst="ellipse">
            <a:avLst/>
          </a:prstGeom>
          <a:solidFill>
            <a:schemeClr val="bg1">
              <a:alpha val="20000"/>
            </a:schemeClr>
          </a:solidFill>
          <a:ln/>
        </p:spPr>
      </p:sp>
      <p:pic>
        <p:nvPicPr>
          <p:cNvPr id="18" name="Image 2" descr="preencoded.png">    </p:cNvPr>
          <p:cNvPicPr>
            <a:picLocks noChangeAspect="1"/>
          </p:cNvPicPr>
          <p:nvPr/>
        </p:nvPicPr>
        <p:blipFill>
          <a:blip r:embed="rId3"/>
          <a:stretch>
            <a:fillRect/>
          </a:stretch>
        </p:blipFill>
        <p:spPr>
          <a:xfrm>
            <a:off x="8057693" y="4409237"/>
            <a:ext cx="307238" cy="307238"/>
          </a:xfrm>
          <a:prstGeom prst="rect">
            <a:avLst/>
          </a:prstGeom>
        </p:spPr>
      </p:pic>
      <p:sp>
        <p:nvSpPr>
          <p:cNvPr id="19" name="Text 14"/>
          <p:cNvSpPr txBox="1"/>
          <p:nvPr/>
        </p:nvSpPr>
        <p:spPr>
          <a:xfrm>
            <a:off x="8686800" y="4233672"/>
            <a:ext cx="2834640" cy="365760"/>
          </a:xfrm>
          <a:prstGeom prst="rect">
            <a:avLst/>
          </a:prstGeom>
          <a:noFill/>
          <a:ln/>
        </p:spPr>
        <p:txBody>
          <a:bodyPr wrap="square" lIns="0" tIns="0" rIns="0" bIns="0" rtlCol="0" anchor="ctr"/>
          <a:lstStyle/>
          <a:p>
            <a:pPr indent="0" marL="0">
              <a:buNone/>
            </a:pPr>
            <a:r>
              <a:rPr lang="en-US" sz="1800" b="1" dirty="0">
                <a:solidFill>
                  <a:schemeClr val="bg1"/>
                </a:solidFill>
              </a:rPr>
              <a:t>3 · Apply</a:t>
            </a:r>
            <a:endParaRPr lang="en-US" sz="1800" dirty="0"/>
          </a:p>
        </p:txBody>
      </p:sp>
      <p:sp>
        <p:nvSpPr>
          <p:cNvPr id="20" name="Text 15"/>
          <p:cNvSpPr txBox="1"/>
          <p:nvPr/>
        </p:nvSpPr>
        <p:spPr>
          <a:xfrm>
            <a:off x="8686800" y="4581144"/>
            <a:ext cx="2834640" cy="310896"/>
          </a:xfrm>
          <a:prstGeom prst="rect">
            <a:avLst/>
          </a:prstGeom>
          <a:noFill/>
          <a:ln/>
        </p:spPr>
        <p:txBody>
          <a:bodyPr wrap="square" lIns="0" tIns="0" rIns="0" bIns="0" rtlCol="0" anchor="t"/>
          <a:lstStyle/>
          <a:p>
            <a:pPr indent="0" marL="0">
              <a:buNone/>
            </a:pPr>
            <a:r>
              <a:rPr lang="en-US" sz="1300" dirty="0">
                <a:solidFill>
                  <a:schemeClr val="bg1"/>
                </a:solidFill>
              </a:rPr>
              <a:t>Only when someone picks ‘yes’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144000" cy="713232"/>
          </a:xfrm>
          <a:prstGeom prst="rect">
            <a:avLst/>
          </a:prstGeom>
          <a:noFill/>
          <a:ln/>
        </p:spPr>
        <p:txBody>
          <a:bodyPr wrap="square" lIns="0" tIns="0" rIns="0" bIns="0" rtlCol="0" anchor="ctr"/>
          <a:lstStyle/>
          <a:p>
            <a:pPr algn="l" indent="0" marL="0">
              <a:buNone/>
            </a:pPr>
            <a:r>
              <a:rPr lang="en-US" sz="3400" b="1" dirty="0">
                <a:solidFill>
                  <a:schemeClr val="tx1"/>
                </a:solidFill>
              </a:rPr>
              <a:t>Why trust store changes need care</a:t>
            </a: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lIns="0" tIns="0" rIns="0" bIns="0" rtlCol="0" anchor="t"/>
          <a:lstStyle/>
          <a:p>
            <a:pPr indent="0" marL="0">
              <a:buNone/>
            </a:pPr>
            <a:r>
              <a:rPr lang="en-US" sz="1500" dirty="0">
                <a:solidFill>
                  <a:schemeClr val="tx2"/>
                </a:solidFill>
              </a:rPr>
              <a:t>CloudFront’s mTLS APIs let in only clients whose certificate comes from a CA in the trust store</a:t>
            </a:r>
            <a:endParaRPr lang="en-US" sz="1500" dirty="0"/>
          </a:p>
        </p:txBody>
      </p:sp>
      <p:sp>
        <p:nvSpPr>
          <p:cNvPr id="4" name="How it works"/>
          <p:cNvSpPr/>
          <p:nvPr/>
        </p:nvSpPr>
        <p:spPr>
          <a:xfrm>
            <a:off x="548640" y="1691640"/>
            <a:ext cx="5440680" cy="3611880"/>
          </a:xfrm>
          <a:prstGeom prst="roundRect">
            <a:avLst>
              <a:gd name="adj" fmla="val 3797"/>
            </a:avLst>
          </a:prstGeom>
          <a:solidFill>
            <a:schemeClr val="bg2"/>
          </a:solidFill>
          <a:ln/>
        </p:spPr>
      </p:sp>
      <p:sp>
        <p:nvSpPr>
          <p:cNvPr id="5" name="Text 3"/>
          <p:cNvSpPr txBox="1"/>
          <p:nvPr/>
        </p:nvSpPr>
        <p:spPr>
          <a:xfrm>
            <a:off x="777240" y="1856232"/>
            <a:ext cx="2743200" cy="256032"/>
          </a:xfrm>
          <a:prstGeom prst="rect">
            <a:avLst/>
          </a:prstGeom>
          <a:noFill/>
          <a:ln/>
        </p:spPr>
        <p:txBody>
          <a:bodyPr wrap="square" lIns="0" tIns="0" rIns="0" bIns="0" rtlCol="0" anchor="t"/>
          <a:lstStyle/>
          <a:p>
            <a:pPr indent="0" marL="0">
              <a:buNone/>
            </a:pPr>
            <a:r>
              <a:rPr lang="en-US" sz="1100" b="1" spc="150" kern="0" dirty="0">
                <a:solidFill>
                  <a:schemeClr val="tx2"/>
                </a:solidFill>
              </a:rPr>
              <a:t>HOW IT WORKS</a:t>
            </a:r>
            <a:endParaRPr lang="en-US" sz="1100" dirty="0"/>
          </a:p>
        </p:txBody>
      </p:sp>
      <p:sp>
        <p:nvSpPr>
          <p:cNvPr id="6" name="Client app"/>
          <p:cNvSpPr/>
          <p:nvPr/>
        </p:nvSpPr>
        <p:spPr>
          <a:xfrm>
            <a:off x="1257300" y="2240280"/>
            <a:ext cx="685800" cy="685800"/>
          </a:xfrm>
          <a:prstGeom prst="ellipse">
            <a:avLst/>
          </a:prstGeom>
          <a:solidFill>
            <a:schemeClr val="accent5"/>
          </a:solidFill>
          <a:ln/>
        </p:spPr>
      </p:sp>
      <p:pic>
        <p:nvPicPr>
          <p:cNvPr id="7" name="Image 0" descr="preencoded.png">    </p:cNvPr>
          <p:cNvPicPr>
            <a:picLocks noChangeAspect="1"/>
          </p:cNvPicPr>
          <p:nvPr/>
        </p:nvPicPr>
        <p:blipFill>
          <a:blip r:embed="rId1"/>
          <a:stretch>
            <a:fillRect/>
          </a:stretch>
        </p:blipFill>
        <p:spPr>
          <a:xfrm>
            <a:off x="1408176" y="2391156"/>
            <a:ext cx="384048" cy="384048"/>
          </a:xfrm>
          <a:prstGeom prst="rect">
            <a:avLst/>
          </a:prstGeom>
        </p:spPr>
      </p:pic>
      <p:sp>
        <p:nvSpPr>
          <p:cNvPr id="8" name="Text 5"/>
          <p:cNvSpPr txBox="1"/>
          <p:nvPr/>
        </p:nvSpPr>
        <p:spPr>
          <a:xfrm>
            <a:off x="777240" y="3017520"/>
            <a:ext cx="1645920" cy="274320"/>
          </a:xfrm>
          <a:prstGeom prst="rect">
            <a:avLst/>
          </a:prstGeom>
          <a:noFill/>
          <a:ln/>
        </p:spPr>
        <p:txBody>
          <a:bodyPr wrap="square" lIns="0" tIns="0" rIns="0" bIns="0" rtlCol="0" anchor="t"/>
          <a:lstStyle/>
          <a:p>
            <a:pPr algn="ctr" indent="0" marL="0">
              <a:buNone/>
            </a:pPr>
            <a:r>
              <a:rPr lang="en-US" sz="1400" b="1" dirty="0">
                <a:solidFill>
                  <a:schemeClr val="tx1"/>
                </a:solidFill>
              </a:rPr>
              <a:t>Client app</a:t>
            </a:r>
            <a:endParaRPr lang="en-US" sz="1400" dirty="0"/>
          </a:p>
        </p:txBody>
      </p:sp>
      <p:sp>
        <p:nvSpPr>
          <p:cNvPr id="9" name="Text 6"/>
          <p:cNvSpPr txBox="1"/>
          <p:nvPr/>
        </p:nvSpPr>
        <p:spPr>
          <a:xfrm>
            <a:off x="777240" y="3273552"/>
            <a:ext cx="1645920" cy="274320"/>
          </a:xfrm>
          <a:prstGeom prst="rect">
            <a:avLst/>
          </a:prstGeom>
          <a:noFill/>
          <a:ln/>
        </p:spPr>
        <p:txBody>
          <a:bodyPr wrap="square" lIns="0" tIns="0" rIns="0" bIns="0" rtlCol="0" anchor="t"/>
          <a:lstStyle/>
          <a:p>
            <a:pPr algn="ctr" indent="0" marL="0">
              <a:buNone/>
            </a:pPr>
            <a:r>
              <a:rPr lang="en-US" sz="1200" dirty="0">
                <a:solidFill>
                  <a:schemeClr val="tx2"/>
                </a:solidFill>
              </a:rPr>
              <a:t>shows its certificate</a:t>
            </a:r>
            <a:endParaRPr lang="en-US" sz="1200" dirty="0"/>
          </a:p>
        </p:txBody>
      </p:sp>
      <p:sp>
        <p:nvSpPr>
          <p:cNvPr id="10" name="CloudFront"/>
          <p:cNvSpPr/>
          <p:nvPr/>
        </p:nvSpPr>
        <p:spPr>
          <a:xfrm>
            <a:off x="2926080" y="2240280"/>
            <a:ext cx="685800" cy="685800"/>
          </a:xfrm>
          <a:prstGeom prst="ellipse">
            <a:avLst/>
          </a:prstGeom>
          <a:solidFill>
            <a:schemeClr val="accent5"/>
          </a:solidFill>
          <a:ln/>
        </p:spPr>
      </p:sp>
      <p:pic>
        <p:nvPicPr>
          <p:cNvPr id="11" name="Image 1" descr="preencoded.png">    </p:cNvPr>
          <p:cNvPicPr>
            <a:picLocks noChangeAspect="1"/>
          </p:cNvPicPr>
          <p:nvPr/>
        </p:nvPicPr>
        <p:blipFill>
          <a:blip r:embed="rId2"/>
          <a:stretch>
            <a:fillRect/>
          </a:stretch>
        </p:blipFill>
        <p:spPr>
          <a:xfrm>
            <a:off x="3076956" y="2391156"/>
            <a:ext cx="384048" cy="384048"/>
          </a:xfrm>
          <a:prstGeom prst="rect">
            <a:avLst/>
          </a:prstGeom>
        </p:spPr>
      </p:pic>
      <p:sp>
        <p:nvSpPr>
          <p:cNvPr id="12" name="Text 8"/>
          <p:cNvSpPr txBox="1"/>
          <p:nvPr/>
        </p:nvSpPr>
        <p:spPr>
          <a:xfrm>
            <a:off x="2446020" y="3017520"/>
            <a:ext cx="1645920" cy="274320"/>
          </a:xfrm>
          <a:prstGeom prst="rect">
            <a:avLst/>
          </a:prstGeom>
          <a:noFill/>
          <a:ln/>
        </p:spPr>
        <p:txBody>
          <a:bodyPr wrap="square" lIns="0" tIns="0" rIns="0" bIns="0" rtlCol="0" anchor="t"/>
          <a:lstStyle/>
          <a:p>
            <a:pPr algn="ctr" indent="0" marL="0">
              <a:buNone/>
            </a:pPr>
            <a:r>
              <a:rPr lang="en-US" sz="1400" b="1" dirty="0">
                <a:solidFill>
                  <a:schemeClr val="tx1"/>
                </a:solidFill>
              </a:rPr>
              <a:t>CloudFront</a:t>
            </a:r>
            <a:endParaRPr lang="en-US" sz="1400" dirty="0"/>
          </a:p>
        </p:txBody>
      </p:sp>
      <p:sp>
        <p:nvSpPr>
          <p:cNvPr id="13" name="Text 9"/>
          <p:cNvSpPr txBox="1"/>
          <p:nvPr/>
        </p:nvSpPr>
        <p:spPr>
          <a:xfrm>
            <a:off x="2446020" y="3273552"/>
            <a:ext cx="1645920" cy="274320"/>
          </a:xfrm>
          <a:prstGeom prst="rect">
            <a:avLst/>
          </a:prstGeom>
          <a:noFill/>
          <a:ln/>
        </p:spPr>
        <p:txBody>
          <a:bodyPr wrap="square" lIns="0" tIns="0" rIns="0" bIns="0" rtlCol="0" anchor="t"/>
          <a:lstStyle/>
          <a:p>
            <a:pPr algn="ctr" indent="0" marL="0">
              <a:buNone/>
            </a:pPr>
            <a:r>
              <a:rPr lang="en-US" sz="1200" dirty="0">
                <a:solidFill>
                  <a:schemeClr val="tx2"/>
                </a:solidFill>
              </a:rPr>
              <a:t>mTLS API</a:t>
            </a:r>
            <a:endParaRPr lang="en-US" sz="1200" dirty="0"/>
          </a:p>
        </p:txBody>
      </p:sp>
      <p:sp>
        <p:nvSpPr>
          <p:cNvPr id="14" name="Trust store"/>
          <p:cNvSpPr/>
          <p:nvPr/>
        </p:nvSpPr>
        <p:spPr>
          <a:xfrm>
            <a:off x="4594860" y="2240280"/>
            <a:ext cx="685800" cy="685800"/>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4745736" y="2391156"/>
            <a:ext cx="384048" cy="384048"/>
          </a:xfrm>
          <a:prstGeom prst="rect">
            <a:avLst/>
          </a:prstGeom>
        </p:spPr>
      </p:pic>
      <p:sp>
        <p:nvSpPr>
          <p:cNvPr id="16" name="Text 11"/>
          <p:cNvSpPr txBox="1"/>
          <p:nvPr/>
        </p:nvSpPr>
        <p:spPr>
          <a:xfrm>
            <a:off x="4114800" y="3017520"/>
            <a:ext cx="1645920" cy="274320"/>
          </a:xfrm>
          <a:prstGeom prst="rect">
            <a:avLst/>
          </a:prstGeom>
          <a:noFill/>
          <a:ln/>
        </p:spPr>
        <p:txBody>
          <a:bodyPr wrap="square" lIns="0" tIns="0" rIns="0" bIns="0" rtlCol="0" anchor="t"/>
          <a:lstStyle/>
          <a:p>
            <a:pPr algn="ctr" indent="0" marL="0">
              <a:buNone/>
            </a:pPr>
            <a:r>
              <a:rPr lang="en-US" sz="1400" b="1" dirty="0">
                <a:solidFill>
                  <a:schemeClr val="tx1"/>
                </a:solidFill>
              </a:rPr>
              <a:t>Trust store</a:t>
            </a:r>
            <a:endParaRPr lang="en-US" sz="1400" dirty="0"/>
          </a:p>
        </p:txBody>
      </p:sp>
      <p:sp>
        <p:nvSpPr>
          <p:cNvPr id="17" name="Text 12"/>
          <p:cNvSpPr txBox="1"/>
          <p:nvPr/>
        </p:nvSpPr>
        <p:spPr>
          <a:xfrm>
            <a:off x="4114800" y="3273552"/>
            <a:ext cx="1645920" cy="274320"/>
          </a:xfrm>
          <a:prstGeom prst="rect">
            <a:avLst/>
          </a:prstGeom>
          <a:noFill/>
          <a:ln/>
        </p:spPr>
        <p:txBody>
          <a:bodyPr wrap="square" lIns="0" tIns="0" rIns="0" bIns="0" rtlCol="0" anchor="t"/>
          <a:lstStyle/>
          <a:p>
            <a:pPr algn="ctr" indent="0" marL="0">
              <a:buNone/>
            </a:pPr>
            <a:r>
              <a:rPr lang="en-US" sz="1200" dirty="0">
                <a:solidFill>
                  <a:schemeClr val="tx2"/>
                </a:solidFill>
              </a:rPr>
              <a:t>the trusted CAs</a:t>
            </a:r>
            <a:endParaRPr lang="en-US" sz="1200" dirty="0"/>
          </a:p>
        </p:txBody>
      </p:sp>
      <p:sp>
        <p:nvSpPr>
          <p:cNvPr id="18" name="Shape 13"/>
          <p:cNvSpPr/>
          <p:nvPr/>
        </p:nvSpPr>
        <p:spPr>
          <a:xfrm>
            <a:off x="2016252" y="2583180"/>
            <a:ext cx="836676" cy="914"/>
          </a:xfrm>
          <a:prstGeom prst="line">
            <a:avLst/>
          </a:prstGeom>
          <a:noFill/>
          <a:ln w="22225">
            <a:solidFill>
              <a:schemeClr val="tx2"/>
            </a:solidFill>
            <a:prstDash val="solid"/>
            <a:tailEnd type="triangle"/>
          </a:ln>
        </p:spPr>
      </p:sp>
      <p:sp>
        <p:nvSpPr>
          <p:cNvPr id="19" name="Shape 14"/>
          <p:cNvSpPr/>
          <p:nvPr/>
        </p:nvSpPr>
        <p:spPr>
          <a:xfrm>
            <a:off x="3685032" y="2583180"/>
            <a:ext cx="836676" cy="914"/>
          </a:xfrm>
          <a:prstGeom prst="line">
            <a:avLst/>
          </a:prstGeom>
          <a:noFill/>
          <a:ln w="22225">
            <a:solidFill>
              <a:schemeClr val="tx2"/>
            </a:solidFill>
            <a:prstDash val="solid"/>
            <a:tailEnd type="triangle"/>
          </a:ln>
        </p:spPr>
      </p:sp>
      <p:sp>
        <p:nvSpPr>
          <p:cNvPr id="20" name="Text 15"/>
          <p:cNvSpPr txBox="1"/>
          <p:nvPr/>
        </p:nvSpPr>
        <p:spPr>
          <a:xfrm>
            <a:off x="3680460" y="2304288"/>
            <a:ext cx="914400" cy="228600"/>
          </a:xfrm>
          <a:prstGeom prst="rect">
            <a:avLst/>
          </a:prstGeom>
          <a:noFill/>
          <a:ln/>
        </p:spPr>
        <p:txBody>
          <a:bodyPr wrap="square" lIns="0" tIns="0" rIns="0" bIns="0" rtlCol="0" anchor="t"/>
          <a:lstStyle/>
          <a:p>
            <a:pPr algn="ctr" indent="0" marL="0">
              <a:buNone/>
            </a:pPr>
            <a:r>
              <a:rPr lang="en-US" sz="1100" i="1" dirty="0">
                <a:solidFill>
                  <a:schemeClr val="tx2"/>
                </a:solidFill>
              </a:rPr>
              <a:t>checks</a:t>
            </a:r>
            <a:endParaRPr lang="en-US" sz="1100" dirty="0"/>
          </a:p>
        </p:txBody>
      </p:sp>
      <p:sp>
        <p:nvSpPr>
          <p:cNvPr id="21" name="Trusted CA — let in"/>
          <p:cNvSpPr/>
          <p:nvPr/>
        </p:nvSpPr>
        <p:spPr>
          <a:xfrm>
            <a:off x="777240" y="3794760"/>
            <a:ext cx="2148840" cy="548640"/>
          </a:xfrm>
          <a:prstGeom prst="roundRect">
            <a:avLst>
              <a:gd name="adj" fmla="val 50000"/>
            </a:avLst>
          </a:prstGeom>
          <a:solidFill>
            <a:schemeClr val="accent1">
              <a:alpha val="12000"/>
            </a:schemeClr>
          </a:solidFill>
          <a:ln/>
        </p:spPr>
      </p:sp>
      <p:pic>
        <p:nvPicPr>
          <p:cNvPr id="22" name="Image 3" descr="preencoded.png">    </p:cNvPr>
          <p:cNvPicPr>
            <a:picLocks noChangeAspect="1"/>
          </p:cNvPicPr>
          <p:nvPr/>
        </p:nvPicPr>
        <p:blipFill>
          <a:blip r:embed="rId4"/>
          <a:stretch>
            <a:fillRect/>
          </a:stretch>
        </p:blipFill>
        <p:spPr>
          <a:xfrm>
            <a:off x="923544" y="3922776"/>
            <a:ext cx="292608" cy="292608"/>
          </a:xfrm>
          <a:prstGeom prst="rect">
            <a:avLst/>
          </a:prstGeom>
        </p:spPr>
      </p:pic>
      <p:sp>
        <p:nvSpPr>
          <p:cNvPr id="23" name="Text 17"/>
          <p:cNvSpPr txBox="1"/>
          <p:nvPr/>
        </p:nvSpPr>
        <p:spPr>
          <a:xfrm>
            <a:off x="1307592" y="3794760"/>
            <a:ext cx="1527048" cy="548640"/>
          </a:xfrm>
          <a:prstGeom prst="rect">
            <a:avLst/>
          </a:prstGeom>
          <a:noFill/>
          <a:ln/>
        </p:spPr>
        <p:txBody>
          <a:bodyPr wrap="square" lIns="0" tIns="0" rIns="0" bIns="0" rtlCol="0" anchor="ctr"/>
          <a:lstStyle/>
          <a:p>
            <a:pPr indent="0" marL="0">
              <a:buNone/>
            </a:pPr>
            <a:r>
              <a:rPr lang="en-US" sz="1300" dirty="0">
                <a:solidFill>
                  <a:schemeClr val="tx1"/>
                </a:solidFill>
              </a:rPr>
              <a:t>Trusted CA — let in</a:t>
            </a:r>
            <a:endParaRPr lang="en-US" sz="1300" dirty="0"/>
          </a:p>
        </p:txBody>
      </p:sp>
      <p:sp>
        <p:nvSpPr>
          <p:cNvPr id="24" name="Any other CA — turned away"/>
          <p:cNvSpPr/>
          <p:nvPr/>
        </p:nvSpPr>
        <p:spPr>
          <a:xfrm>
            <a:off x="3063240" y="3794760"/>
            <a:ext cx="2697480" cy="548640"/>
          </a:xfrm>
          <a:prstGeom prst="roundRect">
            <a:avLst>
              <a:gd name="adj" fmla="val 50000"/>
            </a:avLst>
          </a:prstGeom>
          <a:solidFill>
            <a:schemeClr val="accent3">
              <a:alpha val="10000"/>
            </a:schemeClr>
          </a:solidFill>
          <a:ln/>
        </p:spPr>
      </p:sp>
      <p:pic>
        <p:nvPicPr>
          <p:cNvPr id="25" name="Image 4" descr="preencoded.png">    </p:cNvPr>
          <p:cNvPicPr>
            <a:picLocks noChangeAspect="1"/>
          </p:cNvPicPr>
          <p:nvPr/>
        </p:nvPicPr>
        <p:blipFill>
          <a:blip r:embed="rId5"/>
          <a:stretch>
            <a:fillRect/>
          </a:stretch>
        </p:blipFill>
        <p:spPr>
          <a:xfrm>
            <a:off x="3209544" y="3922776"/>
            <a:ext cx="292608" cy="292608"/>
          </a:xfrm>
          <a:prstGeom prst="rect">
            <a:avLst/>
          </a:prstGeom>
        </p:spPr>
      </p:pic>
      <p:sp>
        <p:nvSpPr>
          <p:cNvPr id="26" name="Text 19"/>
          <p:cNvSpPr txBox="1"/>
          <p:nvPr/>
        </p:nvSpPr>
        <p:spPr>
          <a:xfrm>
            <a:off x="3593592" y="3794760"/>
            <a:ext cx="2075688" cy="548640"/>
          </a:xfrm>
          <a:prstGeom prst="rect">
            <a:avLst/>
          </a:prstGeom>
          <a:noFill/>
          <a:ln/>
        </p:spPr>
        <p:txBody>
          <a:bodyPr wrap="square" lIns="0" tIns="0" rIns="0" bIns="0" rtlCol="0" anchor="ctr"/>
          <a:lstStyle/>
          <a:p>
            <a:pPr indent="0" marL="0">
              <a:buNone/>
            </a:pPr>
            <a:r>
              <a:rPr lang="en-US" sz="1300" dirty="0">
                <a:solidFill>
                  <a:schemeClr val="tx1"/>
                </a:solidFill>
              </a:rPr>
              <a:t>Any other CA — turned away</a:t>
            </a:r>
            <a:endParaRPr lang="en-US" sz="1300" dirty="0"/>
          </a:p>
        </p:txBody>
      </p:sp>
      <p:pic>
        <p:nvPicPr>
          <p:cNvPr id="27" name="Image 5" descr="preencoded.png">    </p:cNvPr>
          <p:cNvPicPr>
            <a:picLocks noChangeAspect="1"/>
          </p:cNvPicPr>
          <p:nvPr/>
        </p:nvPicPr>
        <p:blipFill>
          <a:blip r:embed="rId6"/>
          <a:stretch>
            <a:fillRect/>
          </a:stretch>
        </p:blipFill>
        <p:spPr>
          <a:xfrm>
            <a:off x="777240" y="4572000"/>
            <a:ext cx="256032" cy="256032"/>
          </a:xfrm>
          <a:prstGeom prst="rect">
            <a:avLst/>
          </a:prstGeom>
        </p:spPr>
      </p:pic>
      <p:sp>
        <p:nvSpPr>
          <p:cNvPr id="28" name="Text 20"/>
          <p:cNvSpPr txBox="1"/>
          <p:nvPr/>
        </p:nvSpPr>
        <p:spPr>
          <a:xfrm>
            <a:off x="1143000" y="4535424"/>
            <a:ext cx="4663440" cy="640080"/>
          </a:xfrm>
          <a:prstGeom prst="rect">
            <a:avLst/>
          </a:prstGeom>
          <a:noFill/>
          <a:ln/>
        </p:spPr>
        <p:txBody>
          <a:bodyPr wrap="square" lIns="0" tIns="0" rIns="0" bIns="0" rtlCol="0" anchor="t"/>
          <a:lstStyle/>
          <a:p>
            <a:pPr indent="0" marL="0">
              <a:buNone/>
            </a:pPr>
            <a:r>
              <a:rPr lang="en-US" sz="1300" i="1" dirty="0">
                <a:solidFill>
                  <a:schemeClr val="tx2"/>
                </a:solidFill>
              </a:rPr>
              <a:t>Like a guest list at reception: a visitor gets in only if their badge comes from someone on the list.</a:t>
            </a:r>
            <a:endParaRPr lang="en-US" sz="1300" dirty="0"/>
          </a:p>
        </p:txBody>
      </p:sp>
      <p:sp>
        <p:nvSpPr>
          <p:cNvPr id="29" name="Every change needs"/>
          <p:cNvSpPr/>
          <p:nvPr/>
        </p:nvSpPr>
        <p:spPr>
          <a:xfrm>
            <a:off x="6199632" y="1691640"/>
            <a:ext cx="5440680" cy="3611880"/>
          </a:xfrm>
          <a:prstGeom prst="roundRect">
            <a:avLst>
              <a:gd name="adj" fmla="val 3797"/>
            </a:avLst>
          </a:prstGeom>
          <a:solidFill>
            <a:schemeClr val="accent1">
              <a:alpha val="7000"/>
            </a:schemeClr>
          </a:solidFill>
          <a:ln/>
        </p:spPr>
      </p:sp>
      <p:sp>
        <p:nvSpPr>
          <p:cNvPr id="30" name="Shape 22"/>
          <p:cNvSpPr/>
          <p:nvPr/>
        </p:nvSpPr>
        <p:spPr>
          <a:xfrm>
            <a:off x="6492240" y="1920240"/>
            <a:ext cx="548640" cy="548640"/>
          </a:xfrm>
          <a:prstGeom prst="ellipse">
            <a:avLst/>
          </a:prstGeom>
          <a:solidFill>
            <a:schemeClr val="accent1"/>
          </a:solidFill>
          <a:ln/>
        </p:spPr>
      </p:sp>
      <p:pic>
        <p:nvPicPr>
          <p:cNvPr id="31" name="Image 6" descr="preencoded.png">    </p:cNvPr>
          <p:cNvPicPr>
            <a:picLocks noChangeAspect="1"/>
          </p:cNvPicPr>
          <p:nvPr/>
        </p:nvPicPr>
        <p:blipFill>
          <a:blip r:embed="rId7"/>
          <a:stretch>
            <a:fillRect/>
          </a:stretch>
        </p:blipFill>
        <p:spPr>
          <a:xfrm>
            <a:off x="6612941" y="2040941"/>
            <a:ext cx="307238" cy="307238"/>
          </a:xfrm>
          <a:prstGeom prst="rect">
            <a:avLst/>
          </a:prstGeom>
        </p:spPr>
      </p:pic>
      <p:sp>
        <p:nvSpPr>
          <p:cNvPr id="32" name="Text 23"/>
          <p:cNvSpPr txBox="1"/>
          <p:nvPr/>
        </p:nvSpPr>
        <p:spPr>
          <a:xfrm>
            <a:off x="7178040" y="1920240"/>
            <a:ext cx="4206240" cy="548640"/>
          </a:xfrm>
          <a:prstGeom prst="rect">
            <a:avLst/>
          </a:prstGeom>
          <a:noFill/>
          <a:ln/>
        </p:spPr>
        <p:txBody>
          <a:bodyPr wrap="square" lIns="0" tIns="0" rIns="0" bIns="0" rtlCol="0" anchor="ctr"/>
          <a:lstStyle/>
          <a:p>
            <a:pPr indent="0" marL="0">
              <a:buNone/>
            </a:pPr>
            <a:r>
              <a:rPr lang="en-US" sz="2200" b="1" dirty="0">
                <a:solidFill>
                  <a:schemeClr val="tx1"/>
                </a:solidFill>
              </a:rPr>
              <a:t>Every change needs</a:t>
            </a:r>
            <a:endParaRPr lang="en-US" sz="2200" dirty="0"/>
          </a:p>
        </p:txBody>
      </p:sp>
      <p:pic>
        <p:nvPicPr>
          <p:cNvPr id="33" name="Image 7" descr="preencoded.png">    </p:cNvPr>
          <p:cNvPicPr>
            <a:picLocks noChangeAspect="1"/>
          </p:cNvPicPr>
          <p:nvPr/>
        </p:nvPicPr>
        <p:blipFill>
          <a:blip r:embed="rId8"/>
          <a:stretch>
            <a:fillRect/>
          </a:stretch>
        </p:blipFill>
        <p:spPr>
          <a:xfrm>
            <a:off x="6537960" y="2748280"/>
            <a:ext cx="256032" cy="256032"/>
          </a:xfrm>
          <a:prstGeom prst="rect">
            <a:avLst/>
          </a:prstGeom>
        </p:spPr>
      </p:pic>
      <p:sp>
        <p:nvSpPr>
          <p:cNvPr id="34" name="Text 24"/>
          <p:cNvSpPr txBox="1"/>
          <p:nvPr/>
        </p:nvSpPr>
        <p:spPr>
          <a:xfrm>
            <a:off x="6922008" y="2743200"/>
            <a:ext cx="4462272" cy="302768"/>
          </a:xfrm>
          <a:prstGeom prst="rect">
            <a:avLst/>
          </a:prstGeom>
          <a:noFill/>
          <a:ln/>
        </p:spPr>
        <p:txBody>
          <a:bodyPr wrap="square" lIns="0" tIns="0" rIns="0" bIns="0" rtlCol="0" anchor="t"/>
          <a:lstStyle/>
          <a:p>
            <a:pPr indent="0" marL="0">
              <a:buNone/>
            </a:pPr>
            <a:r>
              <a:rPr lang="en-US" sz="1600" dirty="0">
                <a:solidFill>
                  <a:schemeClr val="tx1"/>
                </a:solidFill>
              </a:rPr>
              <a:t>The right bundle for the right environment</a:t>
            </a:r>
            <a:endParaRPr lang="en-US" sz="1600" dirty="0"/>
          </a:p>
        </p:txBody>
      </p:sp>
      <p:pic>
        <p:nvPicPr>
          <p:cNvPr id="35" name="Image 8" descr="preencoded.png">    </p:cNvPr>
          <p:cNvPicPr>
            <a:picLocks noChangeAspect="1"/>
          </p:cNvPicPr>
          <p:nvPr/>
        </p:nvPicPr>
        <p:blipFill>
          <a:blip r:embed="rId9"/>
          <a:stretch>
            <a:fillRect/>
          </a:stretch>
        </p:blipFill>
        <p:spPr>
          <a:xfrm>
            <a:off x="6537960" y="3252216"/>
            <a:ext cx="256032" cy="256032"/>
          </a:xfrm>
          <a:prstGeom prst="rect">
            <a:avLst/>
          </a:prstGeom>
        </p:spPr>
      </p:pic>
      <p:sp>
        <p:nvSpPr>
          <p:cNvPr id="36" name="Text 25"/>
          <p:cNvSpPr txBox="1"/>
          <p:nvPr/>
        </p:nvSpPr>
        <p:spPr>
          <a:xfrm>
            <a:off x="6922008" y="3247136"/>
            <a:ext cx="4462272" cy="302768"/>
          </a:xfrm>
          <a:prstGeom prst="rect">
            <a:avLst/>
          </a:prstGeom>
          <a:noFill/>
          <a:ln/>
        </p:spPr>
        <p:txBody>
          <a:bodyPr wrap="square" lIns="0" tIns="0" rIns="0" bIns="0" rtlCol="0" anchor="t"/>
          <a:lstStyle/>
          <a:p>
            <a:pPr indent="0" marL="0">
              <a:buNone/>
            </a:pPr>
            <a:r>
              <a:rPr lang="en-US" sz="1600" dirty="0">
                <a:solidFill>
                  <a:schemeClr val="tx1"/>
                </a:solidFill>
              </a:rPr>
              <a:t>A check that the bundle is valid</a:t>
            </a:r>
            <a:endParaRPr lang="en-US" sz="1600" dirty="0"/>
          </a:p>
        </p:txBody>
      </p:sp>
      <p:pic>
        <p:nvPicPr>
          <p:cNvPr id="37" name="Image 9" descr="preencoded.png">    </p:cNvPr>
          <p:cNvPicPr>
            <a:picLocks noChangeAspect="1"/>
          </p:cNvPicPr>
          <p:nvPr/>
        </p:nvPicPr>
        <p:blipFill>
          <a:blip r:embed="rId10"/>
          <a:stretch>
            <a:fillRect/>
          </a:stretch>
        </p:blipFill>
        <p:spPr>
          <a:xfrm>
            <a:off x="6537960" y="3756152"/>
            <a:ext cx="256032" cy="256032"/>
          </a:xfrm>
          <a:prstGeom prst="rect">
            <a:avLst/>
          </a:prstGeom>
        </p:spPr>
      </p:pic>
      <p:sp>
        <p:nvSpPr>
          <p:cNvPr id="38" name="Text 26"/>
          <p:cNvSpPr txBox="1"/>
          <p:nvPr/>
        </p:nvSpPr>
        <p:spPr>
          <a:xfrm>
            <a:off x="6922008" y="3751072"/>
            <a:ext cx="4462272" cy="302768"/>
          </a:xfrm>
          <a:prstGeom prst="rect">
            <a:avLst/>
          </a:prstGeom>
          <a:noFill/>
          <a:ln/>
        </p:spPr>
        <p:txBody>
          <a:bodyPr wrap="square" lIns="0" tIns="0" rIns="0" bIns="0" rtlCol="0" anchor="t"/>
          <a:lstStyle/>
          <a:p>
            <a:pPr indent="0" marL="0">
              <a:buNone/>
            </a:pPr>
            <a:r>
              <a:rPr lang="en-US" sz="1600" dirty="0">
                <a:solidFill>
                  <a:schemeClr val="tx1"/>
                </a:solidFill>
              </a:rPr>
              <a:t>An exact list of what will be added or removed</a:t>
            </a:r>
            <a:endParaRPr lang="en-US" sz="1600" dirty="0"/>
          </a:p>
        </p:txBody>
      </p:sp>
      <p:pic>
        <p:nvPicPr>
          <p:cNvPr id="39" name="Image 10" descr="preencoded.png">    </p:cNvPr>
          <p:cNvPicPr>
            <a:picLocks noChangeAspect="1"/>
          </p:cNvPicPr>
          <p:nvPr/>
        </p:nvPicPr>
        <p:blipFill>
          <a:blip r:embed="rId11"/>
          <a:stretch>
            <a:fillRect/>
          </a:stretch>
        </p:blipFill>
        <p:spPr>
          <a:xfrm>
            <a:off x="6537960" y="4260088"/>
            <a:ext cx="256032" cy="256032"/>
          </a:xfrm>
          <a:prstGeom prst="rect">
            <a:avLst/>
          </a:prstGeom>
        </p:spPr>
      </p:pic>
      <p:sp>
        <p:nvSpPr>
          <p:cNvPr id="40" name="Text 27"/>
          <p:cNvSpPr txBox="1"/>
          <p:nvPr/>
        </p:nvSpPr>
        <p:spPr>
          <a:xfrm>
            <a:off x="6922008" y="4255008"/>
            <a:ext cx="4462272" cy="302768"/>
          </a:xfrm>
          <a:prstGeom prst="rect">
            <a:avLst/>
          </a:prstGeom>
          <a:noFill/>
          <a:ln/>
        </p:spPr>
        <p:txBody>
          <a:bodyPr wrap="square" lIns="0" tIns="0" rIns="0" bIns="0" rtlCol="0" anchor="t"/>
          <a:lstStyle/>
          <a:p>
            <a:pPr indent="0" marL="0">
              <a:buNone/>
            </a:pPr>
            <a:r>
              <a:rPr lang="en-US" sz="1600" dirty="0">
                <a:solidFill>
                  <a:schemeClr val="tx1"/>
                </a:solidFill>
              </a:rPr>
              <a:t>A safe way to apply it — and to undo it</a:t>
            </a:r>
            <a:endParaRPr lang="en-US" sz="1600" dirty="0"/>
          </a:p>
        </p:txBody>
      </p:sp>
      <p:sp>
        <p:nvSpPr>
          <p:cNvPr id="41" name="Takeaway"/>
          <p:cNvSpPr/>
          <p:nvPr/>
        </p:nvSpPr>
        <p:spPr>
          <a:xfrm>
            <a:off x="548640" y="5532120"/>
            <a:ext cx="11091672" cy="640080"/>
          </a:xfrm>
          <a:prstGeom prst="roundRect">
            <a:avLst>
              <a:gd name="adj" fmla="val 17143"/>
            </a:avLst>
          </a:prstGeom>
          <a:solidFill>
            <a:schemeClr val="tx1"/>
          </a:solidFill>
          <a:ln/>
        </p:spPr>
      </p:sp>
      <p:pic>
        <p:nvPicPr>
          <p:cNvPr id="42" name="Image 11" descr="preencoded.png">    </p:cNvPr>
          <p:cNvPicPr>
            <a:picLocks noChangeAspect="1"/>
          </p:cNvPicPr>
          <p:nvPr/>
        </p:nvPicPr>
        <p:blipFill>
          <a:blip r:embed="rId12"/>
          <a:stretch>
            <a:fillRect/>
          </a:stretch>
        </p:blipFill>
        <p:spPr>
          <a:xfrm>
            <a:off x="804672" y="5687568"/>
            <a:ext cx="329184" cy="329184"/>
          </a:xfrm>
          <a:prstGeom prst="rect">
            <a:avLst/>
          </a:prstGeom>
        </p:spPr>
      </p:pic>
      <p:sp>
        <p:nvSpPr>
          <p:cNvPr id="43" name="Text 29"/>
          <p:cNvSpPr txBox="1"/>
          <p:nvPr/>
        </p:nvSpPr>
        <p:spPr>
          <a:xfrm>
            <a:off x="1298448" y="5532120"/>
            <a:ext cx="10058400" cy="640080"/>
          </a:xfrm>
          <a:prstGeom prst="rect">
            <a:avLst/>
          </a:prstGeom>
          <a:noFill/>
          <a:ln/>
        </p:spPr>
        <p:txBody>
          <a:bodyPr wrap="square" lIns="0" tIns="0" rIns="0" bIns="0" rtlCol="0" anchor="ctr"/>
          <a:lstStyle/>
          <a:p>
            <a:pPr indent="0" marL="0">
              <a:buNone/>
            </a:pPr>
            <a:r>
              <a:rPr lang="en-US" sz="1700" b="1" dirty="0">
                <a:solidFill>
                  <a:schemeClr val="bg1"/>
                </a:solidFill>
              </a:rPr>
              <a:t>The pipeline builds all four into every run.</a:t>
            </a:r>
            <a:endParaRPr lang="en-US" sz="1700" dirty="0"/>
          </a:p>
        </p:txBody>
      </p:sp>
      <p:sp>
        <p:nvSpPr>
          <p:cNvPr id="25" name="Slide Number Placeholder 0"/>
          <p:cNvSpPr>
            <a:spLocks noGrp="1"/>
          </p:cNvSpPr>
          <p:nvPr>
            <p:ph type="sldNum" sz="quarter" idx="4294967295"/>
          </p:nvPr>
        </p:nvSpPr>
        <p:spPr>
          <a:xfrm>
            <a:off x="11000232" y="647395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144000" cy="713232"/>
          </a:xfrm>
          <a:prstGeom prst="rect">
            <a:avLst/>
          </a:prstGeom>
          <a:noFill/>
          <a:ln/>
        </p:spPr>
        <p:txBody>
          <a:bodyPr wrap="square" lIns="0" tIns="0" rIns="0" bIns="0" rtlCol="0" anchor="ctr"/>
          <a:lstStyle/>
          <a:p>
            <a:pPr algn="l" indent="0" marL="0">
              <a:buNone/>
            </a:pPr>
            <a:r>
              <a:rPr lang="en-US" sz="3400" b="1" dirty="0">
                <a:solidFill>
                  <a:schemeClr val="tx1"/>
                </a:solidFill>
              </a:rPr>
              <a:t>How it fits together</a:t>
            </a: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lIns="0" tIns="0" rIns="0" bIns="0" rtlCol="0" anchor="t"/>
          <a:lstStyle/>
          <a:p>
            <a:pPr indent="0" marL="0">
              <a:buNone/>
            </a:pPr>
            <a:r>
              <a:rPr lang="en-US" sz="1500" dirty="0">
                <a:solidFill>
                  <a:schemeClr val="tx2"/>
                </a:solidFill>
              </a:rPr>
              <a:t>Git holds the certificates, the pipeline checks and applies them, CloudFront enforces them</a:t>
            </a:r>
            <a:endParaRPr lang="en-US" sz="1500" dirty="0"/>
          </a:p>
        </p:txBody>
      </p:sp>
      <p:sp>
        <p:nvSpPr>
          <p:cNvPr id="4" name="Text 2"/>
          <p:cNvSpPr txBox="1"/>
          <p:nvPr/>
        </p:nvSpPr>
        <p:spPr>
          <a:xfrm>
            <a:off x="9811512" y="566928"/>
            <a:ext cx="1828800" cy="347472"/>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spc="150" kern="0" dirty="0">
                <a:solidFill>
                  <a:schemeClr val="bg1"/>
                </a:solidFill>
              </a:rPr>
              <a:t>TRUST STORE</a:t>
            </a:r>
            <a:endParaRPr lang="en-US" sz="1100" dirty="0"/>
          </a:p>
        </p:txBody>
      </p:sp>
      <p:sp>
        <p:nvSpPr>
          <p:cNvPr id="5" name="GitHub"/>
          <p:cNvSpPr/>
          <p:nvPr/>
        </p:nvSpPr>
        <p:spPr>
          <a:xfrm>
            <a:off x="548640" y="1691640"/>
            <a:ext cx="4206240" cy="2194560"/>
          </a:xfrm>
          <a:prstGeom prst="roundRect">
            <a:avLst>
              <a:gd name="adj" fmla="val 5000"/>
            </a:avLst>
          </a:prstGeom>
          <a:solidFill>
            <a:schemeClr val="accent2">
              <a:alpha val="5000"/>
            </a:schemeClr>
          </a:solidFill>
          <a:ln w="12700">
            <a:solidFill>
              <a:schemeClr val="accent2"/>
            </a:solidFill>
            <a:prstDash val="dash"/>
          </a:ln>
        </p:spPr>
      </p:sp>
      <p:sp>
        <p:nvSpPr>
          <p:cNvPr id="6" name="Text 4"/>
          <p:cNvSpPr txBox="1"/>
          <p:nvPr/>
        </p:nvSpPr>
        <p:spPr>
          <a:xfrm>
            <a:off x="713232" y="1773936"/>
            <a:ext cx="2743200" cy="256032"/>
          </a:xfrm>
          <a:prstGeom prst="rect">
            <a:avLst/>
          </a:prstGeom>
          <a:noFill/>
          <a:ln/>
        </p:spPr>
        <p:txBody>
          <a:bodyPr wrap="square" lIns="0" tIns="0" rIns="0" bIns="0" rtlCol="0" anchor="t"/>
          <a:lstStyle/>
          <a:p>
            <a:pPr indent="0" marL="0">
              <a:buNone/>
            </a:pPr>
            <a:r>
              <a:rPr lang="en-US" sz="1050" b="1" spc="150" kern="0" dirty="0">
                <a:solidFill>
                  <a:schemeClr val="accent2"/>
                </a:solidFill>
              </a:rPr>
              <a:t>GITHUB</a:t>
            </a:r>
            <a:endParaRPr lang="en-US" sz="1050" dirty="0"/>
          </a:p>
        </p:txBody>
      </p:sp>
      <p:sp>
        <p:nvSpPr>
          <p:cNvPr id="7" name="AWS account"/>
          <p:cNvSpPr/>
          <p:nvPr/>
        </p:nvSpPr>
        <p:spPr>
          <a:xfrm>
            <a:off x="5074920" y="1691640"/>
            <a:ext cx="6565392" cy="2194560"/>
          </a:xfrm>
          <a:prstGeom prst="roundRect">
            <a:avLst>
              <a:gd name="adj" fmla="val 5000"/>
            </a:avLst>
          </a:prstGeom>
          <a:solidFill>
            <a:schemeClr val="accent5">
              <a:alpha val="5000"/>
            </a:schemeClr>
          </a:solidFill>
          <a:ln w="12700">
            <a:solidFill>
              <a:schemeClr val="accent5"/>
            </a:solidFill>
            <a:prstDash val="dash"/>
          </a:ln>
        </p:spPr>
      </p:sp>
      <p:sp>
        <p:nvSpPr>
          <p:cNvPr id="8" name="Text 6"/>
          <p:cNvSpPr txBox="1"/>
          <p:nvPr/>
        </p:nvSpPr>
        <p:spPr>
          <a:xfrm>
            <a:off x="5239512" y="1773936"/>
            <a:ext cx="5943600" cy="256032"/>
          </a:xfrm>
          <a:prstGeom prst="rect">
            <a:avLst/>
          </a:prstGeom>
          <a:noFill/>
          <a:ln/>
        </p:spPr>
        <p:txBody>
          <a:bodyPr wrap="square" lIns="0" tIns="0" rIns="0" bIns="0" rtlCol="0" anchor="t"/>
          <a:lstStyle/>
          <a:p>
            <a:pPr indent="0" marL="0">
              <a:buNone/>
            </a:pPr>
            <a:r>
              <a:rPr lang="en-US" sz="1050" b="1" spc="150" kern="0" dirty="0">
                <a:solidFill>
                  <a:schemeClr val="accent5"/>
                </a:solidFill>
              </a:rPr>
              <a:t>AWS ACCOUNT FOR THE CHOSEN ENVIRONMENT</a:t>
            </a:r>
            <a:endParaRPr lang="en-US" sz="1050" dirty="0"/>
          </a:p>
        </p:txBody>
      </p:sp>
      <p:sp>
        <p:nvSpPr>
          <p:cNvPr id="9" name="Git repository"/>
          <p:cNvSpPr/>
          <p:nvPr/>
        </p:nvSpPr>
        <p:spPr>
          <a:xfrm>
            <a:off x="685800" y="2130552"/>
            <a:ext cx="1828800" cy="1554480"/>
          </a:xfrm>
          <a:prstGeom prst="roundRect">
            <a:avLst>
              <a:gd name="adj" fmla="val 5882"/>
            </a:avLst>
          </a:prstGeom>
          <a:solidFill>
            <a:schemeClr val="bg1"/>
          </a:solidFill>
          <a:ln w="15875">
            <a:solidFill>
              <a:schemeClr val="accent2"/>
            </a:solidFill>
            <a:prstDash val="solid"/>
          </a:ln>
        </p:spPr>
      </p:sp>
      <p:sp>
        <p:nvSpPr>
          <p:cNvPr id="10" name="Shape 8"/>
          <p:cNvSpPr/>
          <p:nvPr/>
        </p:nvSpPr>
        <p:spPr>
          <a:xfrm>
            <a:off x="813816" y="2258568"/>
            <a:ext cx="384048" cy="384048"/>
          </a:xfrm>
          <a:prstGeom prst="ellipse">
            <a:avLst/>
          </a:prstGeom>
          <a:solidFill>
            <a:schemeClr val="accent2"/>
          </a:solidFill>
          <a:ln/>
        </p:spPr>
      </p:sp>
      <p:pic>
        <p:nvPicPr>
          <p:cNvPr id="11" name="Image 0" descr="preencoded.png">    </p:cNvPr>
          <p:cNvPicPr>
            <a:picLocks noChangeAspect="1"/>
          </p:cNvPicPr>
          <p:nvPr/>
        </p:nvPicPr>
        <p:blipFill>
          <a:blip r:embed="rId1"/>
          <a:stretch>
            <a:fillRect/>
          </a:stretch>
        </p:blipFill>
        <p:spPr>
          <a:xfrm>
            <a:off x="898307" y="2343059"/>
            <a:ext cx="215067" cy="215067"/>
          </a:xfrm>
          <a:prstGeom prst="rect">
            <a:avLst/>
          </a:prstGeom>
        </p:spPr>
      </p:pic>
      <p:sp>
        <p:nvSpPr>
          <p:cNvPr id="12" name="Text 9"/>
          <p:cNvSpPr txBox="1"/>
          <p:nvPr/>
        </p:nvSpPr>
        <p:spPr>
          <a:xfrm>
            <a:off x="1289304" y="2258568"/>
            <a:ext cx="1115568" cy="384048"/>
          </a:xfrm>
          <a:prstGeom prst="rect">
            <a:avLst/>
          </a:prstGeom>
          <a:noFill/>
          <a:ln/>
        </p:spPr>
        <p:txBody>
          <a:bodyPr wrap="square" lIns="0" tIns="0" rIns="0" bIns="0" rtlCol="0" anchor="ctr"/>
          <a:lstStyle/>
          <a:p>
            <a:pPr indent="0" marL="0">
              <a:buNone/>
            </a:pPr>
            <a:r>
              <a:rPr lang="en-US" sz="1400" b="1" dirty="0">
                <a:solidFill>
                  <a:schemeClr val="tx1"/>
                </a:solidFill>
              </a:rPr>
              <a:t>Git repository</a:t>
            </a:r>
            <a:endParaRPr lang="en-US" sz="1400" dirty="0"/>
          </a:p>
        </p:txBody>
      </p:sp>
      <p:sp>
        <p:nvSpPr>
          <p:cNvPr id="13" name="Text 10"/>
          <p:cNvSpPr txBox="1"/>
          <p:nvPr/>
        </p:nvSpPr>
        <p:spPr>
          <a:xfrm>
            <a:off x="813816" y="2734056"/>
            <a:ext cx="1572768" cy="877824"/>
          </a:xfrm>
          <a:prstGeom prst="rect">
            <a:avLst/>
          </a:prstGeom>
          <a:noFill/>
          <a:ln/>
        </p:spPr>
        <p:txBody>
          <a:bodyPr wrap="square" lIns="0" tIns="0" rIns="0" bIns="0" rtlCol="0" anchor="t"/>
          <a:lstStyle/>
          <a:p>
            <a:pPr indent="0" marL="0">
              <a:buNone/>
            </a:pPr>
            <a:r>
              <a:rPr lang="en-US" sz="1200" dirty="0">
                <a:solidFill>
                  <a:schemeClr val="tx2"/>
                </a:solidFill>
              </a:rPr>
              <a:t>One bundle per environment (tst, ppe, prd), changed by Pull Request</a:t>
            </a:r>
            <a:endParaRPr lang="en-US" sz="1200" dirty="0"/>
          </a:p>
        </p:txBody>
      </p:sp>
      <p:sp>
        <p:nvSpPr>
          <p:cNvPr id="14" name="Shape 11"/>
          <p:cNvSpPr/>
          <p:nvPr/>
        </p:nvSpPr>
        <p:spPr>
          <a:xfrm>
            <a:off x="2551176" y="2907792"/>
            <a:ext cx="201168" cy="914"/>
          </a:xfrm>
          <a:prstGeom prst="line">
            <a:avLst/>
          </a:prstGeom>
          <a:noFill/>
          <a:ln w="22225">
            <a:solidFill>
              <a:schemeClr val="tx2"/>
            </a:solidFill>
            <a:prstDash val="solid"/>
            <a:tailEnd type="triangle"/>
          </a:ln>
        </p:spPr>
      </p:sp>
      <p:sp>
        <p:nvSpPr>
          <p:cNvPr id="15" name="Pipeline"/>
          <p:cNvSpPr/>
          <p:nvPr/>
        </p:nvSpPr>
        <p:spPr>
          <a:xfrm>
            <a:off x="2788920" y="2130552"/>
            <a:ext cx="1828800" cy="1554480"/>
          </a:xfrm>
          <a:prstGeom prst="roundRect">
            <a:avLst>
              <a:gd name="adj" fmla="val 5882"/>
            </a:avLst>
          </a:prstGeom>
          <a:solidFill>
            <a:schemeClr val="bg1"/>
          </a:solidFill>
          <a:ln w="15875">
            <a:solidFill>
              <a:schemeClr val="accent1"/>
            </a:solidFill>
            <a:prstDash val="solid"/>
          </a:ln>
        </p:spPr>
      </p:sp>
      <p:sp>
        <p:nvSpPr>
          <p:cNvPr id="16" name="Shape 13"/>
          <p:cNvSpPr/>
          <p:nvPr/>
        </p:nvSpPr>
        <p:spPr>
          <a:xfrm>
            <a:off x="2916936" y="2258568"/>
            <a:ext cx="384048" cy="384048"/>
          </a:xfrm>
          <a:prstGeom prst="ellipse">
            <a:avLst/>
          </a:prstGeom>
          <a:solidFill>
            <a:schemeClr val="accent1"/>
          </a:solidFill>
          <a:ln/>
        </p:spPr>
      </p:sp>
      <p:pic>
        <p:nvPicPr>
          <p:cNvPr id="17" name="Image 1" descr="preencoded.png">    </p:cNvPr>
          <p:cNvPicPr>
            <a:picLocks noChangeAspect="1"/>
          </p:cNvPicPr>
          <p:nvPr/>
        </p:nvPicPr>
        <p:blipFill>
          <a:blip r:embed="rId2"/>
          <a:stretch>
            <a:fillRect/>
          </a:stretch>
        </p:blipFill>
        <p:spPr>
          <a:xfrm>
            <a:off x="3001427" y="2343059"/>
            <a:ext cx="215067" cy="215067"/>
          </a:xfrm>
          <a:prstGeom prst="rect">
            <a:avLst/>
          </a:prstGeom>
        </p:spPr>
      </p:pic>
      <p:sp>
        <p:nvSpPr>
          <p:cNvPr id="18" name="Text 14"/>
          <p:cNvSpPr txBox="1"/>
          <p:nvPr/>
        </p:nvSpPr>
        <p:spPr>
          <a:xfrm>
            <a:off x="3392424" y="2258568"/>
            <a:ext cx="1115568" cy="384048"/>
          </a:xfrm>
          <a:prstGeom prst="rect">
            <a:avLst/>
          </a:prstGeom>
          <a:noFill/>
          <a:ln/>
        </p:spPr>
        <p:txBody>
          <a:bodyPr wrap="square" lIns="0" tIns="0" rIns="0" bIns="0" rtlCol="0" anchor="ctr"/>
          <a:lstStyle/>
          <a:p>
            <a:pPr indent="0" marL="0">
              <a:buNone/>
            </a:pPr>
            <a:r>
              <a:rPr lang="en-US" sz="1400" b="1" dirty="0">
                <a:solidFill>
                  <a:schemeClr val="tx1"/>
                </a:solidFill>
              </a:rPr>
              <a:t>Pipeline</a:t>
            </a:r>
            <a:endParaRPr lang="en-US" sz="1400" dirty="0"/>
          </a:p>
        </p:txBody>
      </p:sp>
      <p:sp>
        <p:nvSpPr>
          <p:cNvPr id="19" name="Text 15"/>
          <p:cNvSpPr txBox="1"/>
          <p:nvPr/>
        </p:nvSpPr>
        <p:spPr>
          <a:xfrm>
            <a:off x="2916936" y="2734056"/>
            <a:ext cx="1572768" cy="877824"/>
          </a:xfrm>
          <a:prstGeom prst="rect">
            <a:avLst/>
          </a:prstGeom>
          <a:noFill/>
          <a:ln/>
        </p:spPr>
        <p:txBody>
          <a:bodyPr wrap="square" lIns="0" tIns="0" rIns="0" bIns="0" rtlCol="0" anchor="t"/>
          <a:lstStyle/>
          <a:p>
            <a:pPr indent="0" marL="0">
              <a:buNone/>
            </a:pPr>
            <a:r>
              <a:rPr lang="en-US" sz="1200" dirty="0">
                <a:solidFill>
                  <a:schemeClr val="tx2"/>
                </a:solidFill>
              </a:rPr>
              <a:t>Validate → Compare → Apply, started by hand; Apply is ‘no’ by default</a:t>
            </a:r>
            <a:endParaRPr lang="en-US" sz="1200" dirty="0"/>
          </a:p>
        </p:txBody>
      </p:sp>
      <p:sp>
        <p:nvSpPr>
          <p:cNvPr id="20" name="Shape 16"/>
          <p:cNvSpPr/>
          <p:nvPr/>
        </p:nvSpPr>
        <p:spPr>
          <a:xfrm>
            <a:off x="4654296" y="2907792"/>
            <a:ext cx="521208" cy="914"/>
          </a:xfrm>
          <a:prstGeom prst="line">
            <a:avLst/>
          </a:prstGeom>
          <a:noFill/>
          <a:ln w="22225">
            <a:solidFill>
              <a:schemeClr val="tx2"/>
            </a:solidFill>
            <a:prstDash val="solid"/>
            <a:tailEnd type="triangle"/>
          </a:ln>
        </p:spPr>
      </p:sp>
      <p:sp>
        <p:nvSpPr>
          <p:cNvPr id="21" name="S3 bucket"/>
          <p:cNvSpPr/>
          <p:nvPr/>
        </p:nvSpPr>
        <p:spPr>
          <a:xfrm>
            <a:off x="5212080" y="2130552"/>
            <a:ext cx="1828800" cy="1554480"/>
          </a:xfrm>
          <a:prstGeom prst="roundRect">
            <a:avLst>
              <a:gd name="adj" fmla="val 5882"/>
            </a:avLst>
          </a:prstGeom>
          <a:solidFill>
            <a:schemeClr val="bg1"/>
          </a:solidFill>
          <a:ln w="15875">
            <a:solidFill>
              <a:schemeClr val="accent5"/>
            </a:solidFill>
            <a:prstDash val="solid"/>
          </a:ln>
        </p:spPr>
      </p:sp>
      <p:sp>
        <p:nvSpPr>
          <p:cNvPr id="22" name="Shape 18"/>
          <p:cNvSpPr/>
          <p:nvPr/>
        </p:nvSpPr>
        <p:spPr>
          <a:xfrm>
            <a:off x="5340096" y="2258568"/>
            <a:ext cx="384048" cy="384048"/>
          </a:xfrm>
          <a:prstGeom prst="ellipse">
            <a:avLst/>
          </a:prstGeom>
          <a:solidFill>
            <a:schemeClr val="accent5"/>
          </a:solidFill>
          <a:ln/>
        </p:spPr>
      </p:sp>
      <p:pic>
        <p:nvPicPr>
          <p:cNvPr id="23" name="Image 2" descr="preencoded.png">    </p:cNvPr>
          <p:cNvPicPr>
            <a:picLocks noChangeAspect="1"/>
          </p:cNvPicPr>
          <p:nvPr/>
        </p:nvPicPr>
        <p:blipFill>
          <a:blip r:embed="rId3"/>
          <a:stretch>
            <a:fillRect/>
          </a:stretch>
        </p:blipFill>
        <p:spPr>
          <a:xfrm>
            <a:off x="5424587" y="2343059"/>
            <a:ext cx="215067" cy="215067"/>
          </a:xfrm>
          <a:prstGeom prst="rect">
            <a:avLst/>
          </a:prstGeom>
        </p:spPr>
      </p:pic>
      <p:sp>
        <p:nvSpPr>
          <p:cNvPr id="24" name="Text 19"/>
          <p:cNvSpPr txBox="1"/>
          <p:nvPr/>
        </p:nvSpPr>
        <p:spPr>
          <a:xfrm>
            <a:off x="5815584" y="2258568"/>
            <a:ext cx="1115568" cy="384048"/>
          </a:xfrm>
          <a:prstGeom prst="rect">
            <a:avLst/>
          </a:prstGeom>
          <a:noFill/>
          <a:ln/>
        </p:spPr>
        <p:txBody>
          <a:bodyPr wrap="square" lIns="0" tIns="0" rIns="0" bIns="0" rtlCol="0" anchor="ctr"/>
          <a:lstStyle/>
          <a:p>
            <a:pPr indent="0" marL="0">
              <a:buNone/>
            </a:pPr>
            <a:r>
              <a:rPr lang="en-US" sz="1400" b="1" dirty="0">
                <a:solidFill>
                  <a:schemeClr val="tx1"/>
                </a:solidFill>
              </a:rPr>
              <a:t>S3 bucket</a:t>
            </a:r>
            <a:endParaRPr lang="en-US" sz="1400" dirty="0"/>
          </a:p>
        </p:txBody>
      </p:sp>
      <p:sp>
        <p:nvSpPr>
          <p:cNvPr id="25" name="Text 20"/>
          <p:cNvSpPr txBox="1"/>
          <p:nvPr/>
        </p:nvSpPr>
        <p:spPr>
          <a:xfrm>
            <a:off x="5340096" y="2734056"/>
            <a:ext cx="1572768" cy="877824"/>
          </a:xfrm>
          <a:prstGeom prst="rect">
            <a:avLst/>
          </a:prstGeom>
          <a:noFill/>
          <a:ln/>
        </p:spPr>
        <p:txBody>
          <a:bodyPr wrap="square" lIns="0" tIns="0" rIns="0" bIns="0" rtlCol="0" anchor="t"/>
          <a:lstStyle/>
          <a:p>
            <a:pPr indent="0" marL="0">
              <a:buNone/>
            </a:pPr>
            <a:r>
              <a:rPr lang="en-US" sz="1200" dirty="0">
                <a:solidFill>
                  <a:schemeClr val="tx2"/>
                </a:solidFill>
              </a:rPr>
              <a:t>The current bundle, plus a new versioned file for every apply</a:t>
            </a:r>
            <a:endParaRPr lang="en-US" sz="1200" dirty="0"/>
          </a:p>
        </p:txBody>
      </p:sp>
      <p:sp>
        <p:nvSpPr>
          <p:cNvPr id="26" name="Shape 21"/>
          <p:cNvSpPr/>
          <p:nvPr/>
        </p:nvSpPr>
        <p:spPr>
          <a:xfrm>
            <a:off x="7077456" y="2907792"/>
            <a:ext cx="310896" cy="914"/>
          </a:xfrm>
          <a:prstGeom prst="line">
            <a:avLst/>
          </a:prstGeom>
          <a:noFill/>
          <a:ln w="22225">
            <a:solidFill>
              <a:schemeClr val="tx2"/>
            </a:solidFill>
            <a:prstDash val="solid"/>
            <a:tailEnd type="triangle"/>
          </a:ln>
        </p:spPr>
      </p:sp>
      <p:sp>
        <p:nvSpPr>
          <p:cNvPr id="27" name="Trust store"/>
          <p:cNvSpPr/>
          <p:nvPr/>
        </p:nvSpPr>
        <p:spPr>
          <a:xfrm>
            <a:off x="7424928" y="2130552"/>
            <a:ext cx="1828800" cy="1554480"/>
          </a:xfrm>
          <a:prstGeom prst="roundRect">
            <a:avLst>
              <a:gd name="adj" fmla="val 5882"/>
            </a:avLst>
          </a:prstGeom>
          <a:solidFill>
            <a:schemeClr val="bg1"/>
          </a:solidFill>
          <a:ln w="15875">
            <a:solidFill>
              <a:schemeClr val="accent5"/>
            </a:solidFill>
            <a:prstDash val="solid"/>
          </a:ln>
        </p:spPr>
      </p:sp>
      <p:sp>
        <p:nvSpPr>
          <p:cNvPr id="28" name="Shape 23"/>
          <p:cNvSpPr/>
          <p:nvPr/>
        </p:nvSpPr>
        <p:spPr>
          <a:xfrm>
            <a:off x="7552944" y="2258568"/>
            <a:ext cx="384048" cy="384048"/>
          </a:xfrm>
          <a:prstGeom prst="ellipse">
            <a:avLst/>
          </a:prstGeom>
          <a:solidFill>
            <a:schemeClr val="accent5"/>
          </a:solidFill>
          <a:ln/>
        </p:spPr>
      </p:sp>
      <p:pic>
        <p:nvPicPr>
          <p:cNvPr id="29" name="Image 3" descr="preencoded.png">    </p:cNvPr>
          <p:cNvPicPr>
            <a:picLocks noChangeAspect="1"/>
          </p:cNvPicPr>
          <p:nvPr/>
        </p:nvPicPr>
        <p:blipFill>
          <a:blip r:embed="rId4"/>
          <a:stretch>
            <a:fillRect/>
          </a:stretch>
        </p:blipFill>
        <p:spPr>
          <a:xfrm>
            <a:off x="7637435" y="2343059"/>
            <a:ext cx="215067" cy="215067"/>
          </a:xfrm>
          <a:prstGeom prst="rect">
            <a:avLst/>
          </a:prstGeom>
        </p:spPr>
      </p:pic>
      <p:sp>
        <p:nvSpPr>
          <p:cNvPr id="30" name="Text 24"/>
          <p:cNvSpPr txBox="1"/>
          <p:nvPr/>
        </p:nvSpPr>
        <p:spPr>
          <a:xfrm>
            <a:off x="8028432" y="2258568"/>
            <a:ext cx="1115568" cy="384048"/>
          </a:xfrm>
          <a:prstGeom prst="rect">
            <a:avLst/>
          </a:prstGeom>
          <a:noFill/>
          <a:ln/>
        </p:spPr>
        <p:txBody>
          <a:bodyPr wrap="square" lIns="0" tIns="0" rIns="0" bIns="0" rtlCol="0" anchor="ctr"/>
          <a:lstStyle/>
          <a:p>
            <a:pPr indent="0" marL="0">
              <a:buNone/>
            </a:pPr>
            <a:r>
              <a:rPr lang="en-US" sz="1400" b="1" dirty="0">
                <a:solidFill>
                  <a:schemeClr val="tx1"/>
                </a:solidFill>
              </a:rPr>
              <a:t>Trust store</a:t>
            </a:r>
            <a:endParaRPr lang="en-US" sz="1400" dirty="0"/>
          </a:p>
        </p:txBody>
      </p:sp>
      <p:sp>
        <p:nvSpPr>
          <p:cNvPr id="31" name="Text 25"/>
          <p:cNvSpPr txBox="1"/>
          <p:nvPr/>
        </p:nvSpPr>
        <p:spPr>
          <a:xfrm>
            <a:off x="7552944" y="2734056"/>
            <a:ext cx="1572768" cy="877824"/>
          </a:xfrm>
          <a:prstGeom prst="rect">
            <a:avLst/>
          </a:prstGeom>
          <a:noFill/>
          <a:ln/>
        </p:spPr>
        <p:txBody>
          <a:bodyPr wrap="square" lIns="0" tIns="0" rIns="0" bIns="0" rtlCol="0" anchor="t"/>
          <a:lstStyle/>
          <a:p>
            <a:pPr indent="0" marL="0">
              <a:buNone/>
            </a:pPr>
            <a:r>
              <a:rPr lang="en-US" sz="1200" dirty="0">
                <a:solidFill>
                  <a:schemeClr val="tx2"/>
                </a:solidFill>
              </a:rPr>
              <a:t>The CA certificates CloudFront trusts</a:t>
            </a:r>
            <a:endParaRPr lang="en-US" sz="1200" dirty="0"/>
          </a:p>
        </p:txBody>
      </p:sp>
      <p:sp>
        <p:nvSpPr>
          <p:cNvPr id="32" name="Shape 26"/>
          <p:cNvSpPr/>
          <p:nvPr/>
        </p:nvSpPr>
        <p:spPr>
          <a:xfrm>
            <a:off x="9290304" y="2907792"/>
            <a:ext cx="310896" cy="914"/>
          </a:xfrm>
          <a:prstGeom prst="line">
            <a:avLst/>
          </a:prstGeom>
          <a:noFill/>
          <a:ln w="22225">
            <a:solidFill>
              <a:schemeClr val="tx2"/>
            </a:solidFill>
            <a:prstDash val="solid"/>
            <a:tailEnd type="triangle"/>
          </a:ln>
        </p:spPr>
      </p:sp>
      <p:sp>
        <p:nvSpPr>
          <p:cNvPr id="33" name="mTLS APIs"/>
          <p:cNvSpPr/>
          <p:nvPr/>
        </p:nvSpPr>
        <p:spPr>
          <a:xfrm>
            <a:off x="9637776" y="2130552"/>
            <a:ext cx="1828800" cy="1554480"/>
          </a:xfrm>
          <a:prstGeom prst="roundRect">
            <a:avLst>
              <a:gd name="adj" fmla="val 5882"/>
            </a:avLst>
          </a:prstGeom>
          <a:solidFill>
            <a:schemeClr val="bg1"/>
          </a:solidFill>
          <a:ln w="15875">
            <a:solidFill>
              <a:schemeClr val="accent5"/>
            </a:solidFill>
            <a:prstDash val="solid"/>
          </a:ln>
        </p:spPr>
      </p:sp>
      <p:sp>
        <p:nvSpPr>
          <p:cNvPr id="34" name="Shape 28"/>
          <p:cNvSpPr/>
          <p:nvPr/>
        </p:nvSpPr>
        <p:spPr>
          <a:xfrm>
            <a:off x="9765792" y="2258568"/>
            <a:ext cx="384048" cy="384048"/>
          </a:xfrm>
          <a:prstGeom prst="ellipse">
            <a:avLst/>
          </a:prstGeom>
          <a:solidFill>
            <a:schemeClr val="accent5"/>
          </a:solidFill>
          <a:ln/>
        </p:spPr>
      </p:sp>
      <p:pic>
        <p:nvPicPr>
          <p:cNvPr id="35" name="Image 4" descr="preencoded.png">    </p:cNvPr>
          <p:cNvPicPr>
            <a:picLocks noChangeAspect="1"/>
          </p:cNvPicPr>
          <p:nvPr/>
        </p:nvPicPr>
        <p:blipFill>
          <a:blip r:embed="rId5"/>
          <a:stretch>
            <a:fillRect/>
          </a:stretch>
        </p:blipFill>
        <p:spPr>
          <a:xfrm>
            <a:off x="9850283" y="2343059"/>
            <a:ext cx="215067" cy="215067"/>
          </a:xfrm>
          <a:prstGeom prst="rect">
            <a:avLst/>
          </a:prstGeom>
        </p:spPr>
      </p:pic>
      <p:sp>
        <p:nvSpPr>
          <p:cNvPr id="36" name="Text 29"/>
          <p:cNvSpPr txBox="1"/>
          <p:nvPr/>
        </p:nvSpPr>
        <p:spPr>
          <a:xfrm>
            <a:off x="10241280" y="2258568"/>
            <a:ext cx="1115568" cy="384048"/>
          </a:xfrm>
          <a:prstGeom prst="rect">
            <a:avLst/>
          </a:prstGeom>
          <a:noFill/>
          <a:ln/>
        </p:spPr>
        <p:txBody>
          <a:bodyPr wrap="square" lIns="0" tIns="0" rIns="0" bIns="0" rtlCol="0" anchor="ctr"/>
          <a:lstStyle/>
          <a:p>
            <a:pPr indent="0" marL="0">
              <a:buNone/>
            </a:pPr>
            <a:r>
              <a:rPr lang="en-US" sz="1400" b="1" dirty="0">
                <a:solidFill>
                  <a:schemeClr val="tx1"/>
                </a:solidFill>
              </a:rPr>
              <a:t>mTLS APIs</a:t>
            </a:r>
            <a:endParaRPr lang="en-US" sz="1400" dirty="0"/>
          </a:p>
        </p:txBody>
      </p:sp>
      <p:sp>
        <p:nvSpPr>
          <p:cNvPr id="37" name="Text 30"/>
          <p:cNvSpPr txBox="1"/>
          <p:nvPr/>
        </p:nvSpPr>
        <p:spPr>
          <a:xfrm>
            <a:off x="9765792" y="2734056"/>
            <a:ext cx="1572768" cy="877824"/>
          </a:xfrm>
          <a:prstGeom prst="rect">
            <a:avLst/>
          </a:prstGeom>
          <a:noFill/>
          <a:ln/>
        </p:spPr>
        <p:txBody>
          <a:bodyPr wrap="square" lIns="0" tIns="0" rIns="0" bIns="0" rtlCol="0" anchor="t"/>
          <a:lstStyle/>
          <a:p>
            <a:pPr indent="0" marL="0">
              <a:buNone/>
            </a:pPr>
            <a:r>
              <a:rPr lang="en-US" sz="1200" dirty="0">
                <a:solidFill>
                  <a:schemeClr val="tx2"/>
                </a:solidFill>
              </a:rPr>
              <a:t>CloudFront lets in only clients with a trusted certificate</a:t>
            </a:r>
            <a:endParaRPr lang="en-US" sz="1200" dirty="0"/>
          </a:p>
        </p:txBody>
      </p:sp>
      <p:graphicFrame>
        <p:nvGraphicFramePr>
          <p:cNvPr id="4" name="Environments"/>
          <p:cNvGraphicFramePr>
            <a:graphicFrameLocks noGrp="1"/>
          </p:cNvGraphicFramePr>
          <p:nvPr>
            <p:extLst>
              <p:ext uri="{D42A27DB-BD31-4B8C-83A1-F6EECF244321}">
                <p14:modId xmlns:p14="http://schemas.microsoft.com/office/powerpoint/2010/main" val="1579011935"/>
              </p:ext>
            </p:extLst>
          </p:nvPr>
        </p:nvGraphicFramePr>
        <p:xfrm>
          <a:off x="548640" y="4160520"/>
          <a:ext cx="5943600" cy="914400"/>
        </p:xfrm>
        <a:graphic>
          <a:graphicData uri="http://schemas.openxmlformats.org/drawingml/2006/table">
            <a:tbl>
              <a:tblPr/>
              <a:tblGrid>
                <a:gridCol w="1234440"/>
                <a:gridCol w="1783080"/>
                <a:gridCol w="2926080"/>
              </a:tblGrid>
              <a:tr h="365760">
                <a:tc>
                  <a:txBody>
                    <a:bodyPr/>
                    <a:lstStyle/>
                    <a:p>
                      <a:pPr indent="0" marL="0">
                        <a:buNone/>
                      </a:pPr>
                      <a:r>
                        <a:rPr lang="en-US" sz="1300" b="1" dirty="0">
                          <a:solidFill>
                            <a:schemeClr val="tx1"/>
                          </a:solidFill>
                        </a:rPr>
                        <a:t>Environment</a:t>
                      </a:r>
                      <a:endParaRPr lang="en-US" sz="13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AWS role (alias)</a:t>
                      </a:r>
                      <a:endParaRPr lang="en-US" sz="13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Bundle in Git</a:t>
                      </a:r>
                      <a:endParaRPr lang="en-US" sz="13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2"/>
                    </a:solidFill>
                  </a:tcPr>
                </a:tc>
              </a:tr>
              <a:tr h="365760">
                <a:tc>
                  <a:txBody>
                    <a:bodyPr/>
                    <a:lstStyle/>
                    <a:p>
                      <a:pPr indent="0" marL="0">
                        <a:buNone/>
                      </a:pPr>
                      <a:r>
                        <a:rPr lang="en-US" sz="1300" dirty="0">
                          <a:solidFill>
                            <a:schemeClr val="tx1"/>
                          </a:solidFill>
                        </a:rPr>
                        <a:t>tst</a:t>
                      </a:r>
                      <a:endParaRPr lang="en-US" sz="13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TST-NETWORK</a:t>
                      </a:r>
                      <a:endParaRPr lang="en-US" sz="13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truststore/tst/truststore.pem</a:t>
                      </a:r>
                      <a:endParaRPr lang="en-US" sz="13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r>
              <a:tr h="365760">
                <a:tc>
                  <a:txBody>
                    <a:bodyPr/>
                    <a:lstStyle/>
                    <a:p>
                      <a:pPr indent="0" marL="0">
                        <a:buNone/>
                      </a:pPr>
                      <a:r>
                        <a:rPr lang="en-US" sz="1300" dirty="0">
                          <a:solidFill>
                            <a:schemeClr val="tx1"/>
                          </a:solidFill>
                        </a:rPr>
                        <a:t>ppe</a:t>
                      </a:r>
                      <a:endParaRPr lang="en-US" sz="13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PPE-NETWORK</a:t>
                      </a:r>
                      <a:endParaRPr lang="en-US" sz="13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truststore/ppe/truststore.pem</a:t>
                      </a:r>
                      <a:endParaRPr lang="en-US" sz="13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r>
              <a:tr h="365760">
                <a:tc>
                  <a:txBody>
                    <a:bodyPr/>
                    <a:lstStyle/>
                    <a:p>
                      <a:pPr indent="0" marL="0">
                        <a:buNone/>
                      </a:pPr>
                      <a:r>
                        <a:rPr lang="en-US" sz="1300" dirty="0">
                          <a:solidFill>
                            <a:schemeClr val="tx1"/>
                          </a:solidFill>
                        </a:rPr>
                        <a:t>prd</a:t>
                      </a:r>
                      <a:endParaRPr lang="en-US" sz="13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NETWORK</a:t>
                      </a:r>
                      <a:endParaRPr lang="en-US" sz="13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truststore/prd/truststore.pem</a:t>
                      </a:r>
                      <a:endParaRPr lang="en-US" sz="13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chemeClr val="bg1"/>
                    </a:solidFill>
                  </a:tcPr>
                </a:tc>
              </a:tr>
            </a:tbl>
          </a:graphicData>
        </a:graphic>
      </p:graphicFrame>
      <p:sp>
        <p:nvSpPr>
          <p:cNvPr id="39" name="No stored keys: short-lived OIDC role"/>
          <p:cNvSpPr/>
          <p:nvPr/>
        </p:nvSpPr>
        <p:spPr>
          <a:xfrm>
            <a:off x="548640" y="5806440"/>
            <a:ext cx="2880360" cy="457200"/>
          </a:xfrm>
          <a:prstGeom prst="roundRect">
            <a:avLst>
              <a:gd name="adj" fmla="val 50000"/>
            </a:avLst>
          </a:prstGeom>
          <a:solidFill>
            <a:schemeClr val="accent1">
              <a:alpha val="10000"/>
            </a:schemeClr>
          </a:solidFill>
          <a:ln/>
        </p:spPr>
      </p:sp>
      <p:pic>
        <p:nvPicPr>
          <p:cNvPr id="40" name="Image 5" descr="preencoded.png">    </p:cNvPr>
          <p:cNvPicPr>
            <a:picLocks noChangeAspect="1"/>
          </p:cNvPicPr>
          <p:nvPr/>
        </p:nvPicPr>
        <p:blipFill>
          <a:blip r:embed="rId6"/>
          <a:stretch>
            <a:fillRect/>
          </a:stretch>
        </p:blipFill>
        <p:spPr>
          <a:xfrm>
            <a:off x="694944" y="5916168"/>
            <a:ext cx="237744" cy="237744"/>
          </a:xfrm>
          <a:prstGeom prst="rect">
            <a:avLst/>
          </a:prstGeom>
        </p:spPr>
      </p:pic>
      <p:sp>
        <p:nvSpPr>
          <p:cNvPr id="41" name="Text 32"/>
          <p:cNvSpPr txBox="1"/>
          <p:nvPr/>
        </p:nvSpPr>
        <p:spPr>
          <a:xfrm>
            <a:off x="1024128" y="5806440"/>
            <a:ext cx="2359152" cy="457200"/>
          </a:xfrm>
          <a:prstGeom prst="rect">
            <a:avLst/>
          </a:prstGeom>
          <a:noFill/>
          <a:ln/>
        </p:spPr>
        <p:txBody>
          <a:bodyPr wrap="square" lIns="0" tIns="0" rIns="0" bIns="0" rtlCol="0" anchor="ctr"/>
          <a:lstStyle/>
          <a:p>
            <a:pPr indent="0" marL="0">
              <a:buNone/>
            </a:pPr>
            <a:r>
              <a:rPr lang="en-US" sz="1150" dirty="0">
                <a:solidFill>
                  <a:schemeClr val="tx1"/>
                </a:solidFill>
              </a:rPr>
              <a:t>No stored keys: short-lived OIDC role</a:t>
            </a:r>
            <a:endParaRPr lang="en-US" sz="1150" dirty="0"/>
          </a:p>
        </p:txBody>
      </p:sp>
      <p:sp>
        <p:nvSpPr>
          <p:cNvPr id="42" name="Account must match the trust store"/>
          <p:cNvSpPr/>
          <p:nvPr/>
        </p:nvSpPr>
        <p:spPr>
          <a:xfrm>
            <a:off x="3611880" y="5806440"/>
            <a:ext cx="2880360" cy="457200"/>
          </a:xfrm>
          <a:prstGeom prst="roundRect">
            <a:avLst>
              <a:gd name="adj" fmla="val 50000"/>
            </a:avLst>
          </a:prstGeom>
          <a:solidFill>
            <a:schemeClr val="accent1">
              <a:alpha val="10000"/>
            </a:schemeClr>
          </a:solidFill>
          <a:ln/>
        </p:spPr>
      </p:sp>
      <p:pic>
        <p:nvPicPr>
          <p:cNvPr id="43" name="Image 6" descr="preencoded.png">    </p:cNvPr>
          <p:cNvPicPr>
            <a:picLocks noChangeAspect="1"/>
          </p:cNvPicPr>
          <p:nvPr/>
        </p:nvPicPr>
        <p:blipFill>
          <a:blip r:embed="rId7"/>
          <a:stretch>
            <a:fillRect/>
          </a:stretch>
        </p:blipFill>
        <p:spPr>
          <a:xfrm>
            <a:off x="3758184" y="5916168"/>
            <a:ext cx="237744" cy="237744"/>
          </a:xfrm>
          <a:prstGeom prst="rect">
            <a:avLst/>
          </a:prstGeom>
        </p:spPr>
      </p:pic>
      <p:sp>
        <p:nvSpPr>
          <p:cNvPr id="44" name="Text 34"/>
          <p:cNvSpPr txBox="1"/>
          <p:nvPr/>
        </p:nvSpPr>
        <p:spPr>
          <a:xfrm>
            <a:off x="4087368" y="5806440"/>
            <a:ext cx="2359152" cy="457200"/>
          </a:xfrm>
          <a:prstGeom prst="rect">
            <a:avLst/>
          </a:prstGeom>
          <a:noFill/>
          <a:ln/>
        </p:spPr>
        <p:txBody>
          <a:bodyPr wrap="square" lIns="0" tIns="0" rIns="0" bIns="0" rtlCol="0" anchor="ctr"/>
          <a:lstStyle/>
          <a:p>
            <a:pPr indent="0" marL="0">
              <a:buNone/>
            </a:pPr>
            <a:r>
              <a:rPr lang="en-US" sz="1150" dirty="0">
                <a:solidFill>
                  <a:schemeClr val="tx1"/>
                </a:solidFill>
              </a:rPr>
              <a:t>Account must match the trust store</a:t>
            </a:r>
            <a:endParaRPr lang="en-US" sz="1150" dirty="0"/>
          </a:p>
        </p:txBody>
      </p:sp>
      <p:sp>
        <p:nvSpPr>
          <p:cNvPr id="45" name="Screenshot panel"/>
          <p:cNvSpPr/>
          <p:nvPr/>
        </p:nvSpPr>
        <p:spPr>
          <a:xfrm>
            <a:off x="6812280" y="4160520"/>
            <a:ext cx="4828032" cy="1691640"/>
          </a:xfrm>
          <a:prstGeom prst="roundRect">
            <a:avLst>
              <a:gd name="adj" fmla="val 4324"/>
            </a:avLst>
          </a:prstGeom>
          <a:solidFill>
            <a:schemeClr val="bg2"/>
          </a:solidFill>
          <a:ln/>
        </p:spPr>
      </p:sp>
      <p:sp>
        <p:nvSpPr>
          <p:cNvPr id="46" name="Screenshot border"/>
          <p:cNvSpPr/>
          <p:nvPr/>
        </p:nvSpPr>
        <p:spPr>
          <a:xfrm>
            <a:off x="6903720" y="4259012"/>
            <a:ext cx="4645152" cy="1494657"/>
          </a:xfrm>
          <a:prstGeom prst="rect">
            <a:avLst/>
          </a:prstGeom>
          <a:solidFill>
            <a:schemeClr val="bg1"/>
          </a:solidFill>
          <a:ln w="9525">
            <a:solidFill>
              <a:srgbClr val="C9D1DB"/>
            </a:solidFill>
            <a:prstDash val="solid"/>
          </a:ln>
        </p:spPr>
      </p:sp>
      <p:pic>
        <p:nvPicPr>
          <p:cNvPr id="47" name="Image 7" descr="Bundles in Git">    </p:cNvPr>
          <p:cNvPicPr>
            <a:picLocks noChangeAspect="1"/>
          </p:cNvPicPr>
          <p:nvPr/>
        </p:nvPicPr>
        <p:blipFill>
          <a:blip r:embed="rId8"/>
          <a:stretch>
            <a:fillRect/>
          </a:stretch>
        </p:blipFill>
        <p:spPr>
          <a:xfrm>
            <a:off x="6922008" y="4277300"/>
            <a:ext cx="4608576" cy="1458081"/>
          </a:xfrm>
          <a:prstGeom prst="rect">
            <a:avLst/>
          </a:prstGeom>
        </p:spPr>
      </p:pic>
      <p:sp>
        <p:nvSpPr>
          <p:cNvPr id="48" name="Text 37"/>
          <p:cNvSpPr txBox="1"/>
          <p:nvPr/>
        </p:nvSpPr>
        <p:spPr>
          <a:xfrm>
            <a:off x="6812280" y="5925312"/>
            <a:ext cx="4828032" cy="365760"/>
          </a:xfrm>
          <a:prstGeom prst="rect">
            <a:avLst/>
          </a:prstGeom>
          <a:noFill/>
          <a:ln/>
        </p:spPr>
        <p:txBody>
          <a:bodyPr wrap="square" lIns="0" tIns="0" rIns="0" bIns="0" rtlCol="0" anchor="t"/>
          <a:lstStyle/>
          <a:p>
            <a:pPr indent="0" marL="0">
              <a:buNone/>
            </a:pPr>
            <a:r>
              <a:rPr lang="en-US" sz="1300" b="1" dirty="0">
                <a:solidFill>
                  <a:schemeClr val="tx1"/>
                </a:solidFill>
              </a:rPr>
              <a:t>Bundles in Git</a:t>
            </a:r>
            <a:pPr indent="0" marL="0">
              <a:buNone/>
            </a:pPr>
            <a:r>
              <a:rPr lang="en-US" sz="1200" dirty="0">
                <a:solidFill>
                  <a:schemeClr val="tx2"/>
                </a:solidFill>
              </a:rPr>
              <a:t>  one folder per environment, changed by Pull Request</a:t>
            </a:r>
            <a:endParaRPr lang="en-US" sz="1400" dirty="0"/>
          </a:p>
        </p:txBody>
      </p:sp>
      <p:sp>
        <p:nvSpPr>
          <p:cNvPr id="25" name="Slide Number Placeholder 0"/>
          <p:cNvSpPr>
            <a:spLocks noGrp="1"/>
          </p:cNvSpPr>
          <p:nvPr>
            <p:ph type="sldNum" sz="quarter" idx="4294967295"/>
          </p:nvPr>
        </p:nvSpPr>
        <p:spPr>
          <a:xfrm>
            <a:off x="11000232" y="647395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144000" cy="713232"/>
          </a:xfrm>
          <a:prstGeom prst="rect">
            <a:avLst/>
          </a:prstGeom>
          <a:noFill/>
          <a:ln/>
        </p:spPr>
        <p:txBody>
          <a:bodyPr wrap="square" lIns="0" tIns="0" rIns="0" bIns="0" rtlCol="0" anchor="ctr"/>
          <a:lstStyle/>
          <a:p>
            <a:pPr algn="l" indent="0" marL="0">
              <a:buNone/>
            </a:pPr>
            <a:r>
              <a:rPr lang="en-US" sz="3400" b="1" dirty="0">
                <a:solidFill>
                  <a:schemeClr val="tx1"/>
                </a:solidFill>
              </a:rPr>
              <a:t>Validate, compare, then decide</a:t>
            </a: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lIns="0" tIns="0" rIns="0" bIns="0" rtlCol="0" anchor="t"/>
          <a:lstStyle/>
          <a:p>
            <a:pPr indent="0" marL="0">
              <a:buNone/>
            </a:pPr>
            <a:r>
              <a:rPr lang="en-US" sz="1500" dirty="0">
                <a:solidFill>
                  <a:schemeClr val="tx2"/>
                </a:solidFill>
              </a:rPr>
              <a:t>Every run checks and compares — only Apply = yes changes anything in AWS</a:t>
            </a:r>
            <a:endParaRPr lang="en-US" sz="1500" dirty="0"/>
          </a:p>
        </p:txBody>
      </p:sp>
      <p:sp>
        <p:nvSpPr>
          <p:cNvPr id="4" name="Text 2"/>
          <p:cNvSpPr txBox="1"/>
          <p:nvPr/>
        </p:nvSpPr>
        <p:spPr>
          <a:xfrm>
            <a:off x="9811512" y="566928"/>
            <a:ext cx="1828800" cy="347472"/>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spc="150" kern="0" dirty="0">
                <a:solidFill>
                  <a:schemeClr val="bg1"/>
                </a:solidFill>
              </a:rPr>
              <a:t>TRUST STORE</a:t>
            </a:r>
            <a:endParaRPr lang="en-US" sz="1100" dirty="0"/>
          </a:p>
        </p:txBody>
      </p:sp>
      <p:sp>
        <p:nvSpPr>
          <p:cNvPr id="5" name="Start"/>
          <p:cNvSpPr/>
          <p:nvPr/>
        </p:nvSpPr>
        <p:spPr>
          <a:xfrm>
            <a:off x="548640" y="2240280"/>
            <a:ext cx="1874520" cy="1325880"/>
          </a:xfrm>
          <a:prstGeom prst="roundRect">
            <a:avLst>
              <a:gd name="adj" fmla="val 6897"/>
            </a:avLst>
          </a:prstGeom>
          <a:solidFill>
            <a:schemeClr val="accent1">
              <a:alpha val="8000"/>
            </a:schemeClr>
          </a:solidFill>
          <a:ln w="15875">
            <a:solidFill>
              <a:schemeClr val="accent1"/>
            </a:solidFill>
            <a:prstDash val="solid"/>
          </a:ln>
        </p:spPr>
      </p:sp>
      <p:sp>
        <p:nvSpPr>
          <p:cNvPr id="6" name="Shape 4"/>
          <p:cNvSpPr/>
          <p:nvPr/>
        </p:nvSpPr>
        <p:spPr>
          <a:xfrm>
            <a:off x="676656" y="2368296"/>
            <a:ext cx="384048" cy="384048"/>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761147" y="2452787"/>
            <a:ext cx="215067" cy="215067"/>
          </a:xfrm>
          <a:prstGeom prst="rect">
            <a:avLst/>
          </a:prstGeom>
        </p:spPr>
      </p:pic>
      <p:sp>
        <p:nvSpPr>
          <p:cNvPr id="8" name="Text 5"/>
          <p:cNvSpPr txBox="1"/>
          <p:nvPr/>
        </p:nvSpPr>
        <p:spPr>
          <a:xfrm>
            <a:off x="1152144" y="2368296"/>
            <a:ext cx="1161288" cy="384048"/>
          </a:xfrm>
          <a:prstGeom prst="rect">
            <a:avLst/>
          </a:prstGeom>
          <a:noFill/>
          <a:ln/>
        </p:spPr>
        <p:txBody>
          <a:bodyPr wrap="square" lIns="0" tIns="0" rIns="0" bIns="0" rtlCol="0" anchor="ctr"/>
          <a:lstStyle/>
          <a:p>
            <a:pPr indent="0" marL="0">
              <a:buNone/>
            </a:pPr>
            <a:r>
              <a:rPr lang="en-US" sz="1400" b="1" dirty="0">
                <a:solidFill>
                  <a:schemeClr val="tx1"/>
                </a:solidFill>
              </a:rPr>
              <a:t>Start</a:t>
            </a:r>
            <a:endParaRPr lang="en-US" sz="1400" dirty="0"/>
          </a:p>
        </p:txBody>
      </p:sp>
      <p:sp>
        <p:nvSpPr>
          <p:cNvPr id="9" name="Text 6"/>
          <p:cNvSpPr txBox="1"/>
          <p:nvPr/>
        </p:nvSpPr>
        <p:spPr>
          <a:xfrm>
            <a:off x="676656" y="2843784"/>
            <a:ext cx="1618488" cy="649224"/>
          </a:xfrm>
          <a:prstGeom prst="rect">
            <a:avLst/>
          </a:prstGeom>
          <a:noFill/>
          <a:ln/>
        </p:spPr>
        <p:txBody>
          <a:bodyPr wrap="square" lIns="0" tIns="0" rIns="0" bIns="0" rtlCol="0" anchor="t"/>
          <a:lstStyle/>
          <a:p>
            <a:pPr indent="0" marL="0">
              <a:buNone/>
            </a:pPr>
            <a:r>
              <a:rPr lang="en-US" sz="1200" dirty="0">
                <a:solidFill>
                  <a:schemeClr val="tx2"/>
                </a:solidFill>
              </a:rPr>
              <a:t>Pick environment, region and Apply (‘no’ by default)</a:t>
            </a:r>
            <a:endParaRPr lang="en-US" sz="1200" dirty="0"/>
          </a:p>
        </p:txBody>
      </p:sp>
      <p:sp>
        <p:nvSpPr>
          <p:cNvPr id="10" name="Shape 7"/>
          <p:cNvSpPr/>
          <p:nvPr/>
        </p:nvSpPr>
        <p:spPr>
          <a:xfrm>
            <a:off x="2459736" y="2903220"/>
            <a:ext cx="246888" cy="914"/>
          </a:xfrm>
          <a:prstGeom prst="line">
            <a:avLst/>
          </a:prstGeom>
          <a:noFill/>
          <a:ln w="22225">
            <a:solidFill>
              <a:schemeClr val="tx2"/>
            </a:solidFill>
            <a:prstDash val="solid"/>
            <a:tailEnd type="triangle"/>
          </a:ln>
        </p:spPr>
      </p:sp>
      <p:sp>
        <p:nvSpPr>
          <p:cNvPr id="11" name="1 · Validate"/>
          <p:cNvSpPr/>
          <p:nvPr/>
        </p:nvSpPr>
        <p:spPr>
          <a:xfrm>
            <a:off x="2743200" y="2240280"/>
            <a:ext cx="1874520" cy="1325880"/>
          </a:xfrm>
          <a:prstGeom prst="roundRect">
            <a:avLst>
              <a:gd name="adj" fmla="val 6897"/>
            </a:avLst>
          </a:prstGeom>
          <a:solidFill>
            <a:schemeClr val="accent1">
              <a:alpha val="8000"/>
            </a:schemeClr>
          </a:solidFill>
          <a:ln w="15875">
            <a:solidFill>
              <a:schemeClr val="accent1"/>
            </a:solidFill>
            <a:prstDash val="solid"/>
          </a:ln>
        </p:spPr>
      </p:sp>
      <p:sp>
        <p:nvSpPr>
          <p:cNvPr id="12" name="Shape 9"/>
          <p:cNvSpPr/>
          <p:nvPr/>
        </p:nvSpPr>
        <p:spPr>
          <a:xfrm>
            <a:off x="2871216" y="2368296"/>
            <a:ext cx="384048" cy="384048"/>
          </a:xfrm>
          <a:prstGeom prst="ellipse">
            <a:avLst/>
          </a:prstGeom>
          <a:solidFill>
            <a:schemeClr val="accent1"/>
          </a:solidFill>
          <a:ln/>
        </p:spPr>
      </p:sp>
      <p:pic>
        <p:nvPicPr>
          <p:cNvPr id="13" name="Image 1" descr="preencoded.png">    </p:cNvPr>
          <p:cNvPicPr>
            <a:picLocks noChangeAspect="1"/>
          </p:cNvPicPr>
          <p:nvPr/>
        </p:nvPicPr>
        <p:blipFill>
          <a:blip r:embed="rId2"/>
          <a:stretch>
            <a:fillRect/>
          </a:stretch>
        </p:blipFill>
        <p:spPr>
          <a:xfrm>
            <a:off x="2955707" y="2452787"/>
            <a:ext cx="215067" cy="215067"/>
          </a:xfrm>
          <a:prstGeom prst="rect">
            <a:avLst/>
          </a:prstGeom>
        </p:spPr>
      </p:pic>
      <p:sp>
        <p:nvSpPr>
          <p:cNvPr id="14" name="Text 10"/>
          <p:cNvSpPr txBox="1"/>
          <p:nvPr/>
        </p:nvSpPr>
        <p:spPr>
          <a:xfrm>
            <a:off x="3346704" y="2368296"/>
            <a:ext cx="1161288" cy="384048"/>
          </a:xfrm>
          <a:prstGeom prst="rect">
            <a:avLst/>
          </a:prstGeom>
          <a:noFill/>
          <a:ln/>
        </p:spPr>
        <p:txBody>
          <a:bodyPr wrap="square" lIns="0" tIns="0" rIns="0" bIns="0" rtlCol="0" anchor="ctr"/>
          <a:lstStyle/>
          <a:p>
            <a:pPr indent="0" marL="0">
              <a:buNone/>
            </a:pPr>
            <a:r>
              <a:rPr lang="en-US" sz="1400" b="1" dirty="0">
                <a:solidFill>
                  <a:schemeClr val="tx1"/>
                </a:solidFill>
              </a:rPr>
              <a:t>1 · Validate</a:t>
            </a:r>
            <a:endParaRPr lang="en-US" sz="1400" dirty="0"/>
          </a:p>
        </p:txBody>
      </p:sp>
      <p:sp>
        <p:nvSpPr>
          <p:cNvPr id="15" name="Text 11"/>
          <p:cNvSpPr txBox="1"/>
          <p:nvPr/>
        </p:nvSpPr>
        <p:spPr>
          <a:xfrm>
            <a:off x="2871216" y="2843784"/>
            <a:ext cx="1618488" cy="649224"/>
          </a:xfrm>
          <a:prstGeom prst="rect">
            <a:avLst/>
          </a:prstGeom>
          <a:noFill/>
          <a:ln/>
        </p:spPr>
        <p:txBody>
          <a:bodyPr wrap="square" lIns="0" tIns="0" rIns="0" bIns="0" rtlCol="0" anchor="t"/>
          <a:lstStyle/>
          <a:p>
            <a:pPr indent="0" marL="0">
              <a:buNone/>
            </a:pPr>
            <a:r>
              <a:rPr lang="en-US" sz="1200" dirty="0">
                <a:solidFill>
                  <a:schemeClr val="tx2"/>
                </a:solidFill>
              </a:rPr>
              <a:t>Checks the bundle and settings, and confirms the AWS account</a:t>
            </a:r>
            <a:endParaRPr lang="en-US" sz="1200" dirty="0"/>
          </a:p>
        </p:txBody>
      </p:sp>
      <p:sp>
        <p:nvSpPr>
          <p:cNvPr id="16" name="Shape 12"/>
          <p:cNvSpPr/>
          <p:nvPr/>
        </p:nvSpPr>
        <p:spPr>
          <a:xfrm>
            <a:off x="4654296" y="2903220"/>
            <a:ext cx="246888" cy="914"/>
          </a:xfrm>
          <a:prstGeom prst="line">
            <a:avLst/>
          </a:prstGeom>
          <a:noFill/>
          <a:ln w="22225">
            <a:solidFill>
              <a:schemeClr val="tx2"/>
            </a:solidFill>
            <a:prstDash val="solid"/>
            <a:tailEnd type="triangle"/>
          </a:ln>
        </p:spPr>
      </p:sp>
      <p:sp>
        <p:nvSpPr>
          <p:cNvPr id="17" name="2 · Compare"/>
          <p:cNvSpPr/>
          <p:nvPr/>
        </p:nvSpPr>
        <p:spPr>
          <a:xfrm>
            <a:off x="4937760" y="2240280"/>
            <a:ext cx="1874520" cy="1325880"/>
          </a:xfrm>
          <a:prstGeom prst="roundRect">
            <a:avLst>
              <a:gd name="adj" fmla="val 6897"/>
            </a:avLst>
          </a:prstGeom>
          <a:solidFill>
            <a:schemeClr val="accent1">
              <a:alpha val="8000"/>
            </a:schemeClr>
          </a:solidFill>
          <a:ln w="15875">
            <a:solidFill>
              <a:schemeClr val="accent1"/>
            </a:solidFill>
            <a:prstDash val="solid"/>
          </a:ln>
        </p:spPr>
      </p:sp>
      <p:sp>
        <p:nvSpPr>
          <p:cNvPr id="18" name="Shape 14"/>
          <p:cNvSpPr/>
          <p:nvPr/>
        </p:nvSpPr>
        <p:spPr>
          <a:xfrm>
            <a:off x="5065776" y="2368296"/>
            <a:ext cx="384048" cy="384048"/>
          </a:xfrm>
          <a:prstGeom prst="ellipse">
            <a:avLst/>
          </a:prstGeom>
          <a:solidFill>
            <a:schemeClr val="accent1"/>
          </a:solidFill>
          <a:ln/>
        </p:spPr>
      </p:sp>
      <p:pic>
        <p:nvPicPr>
          <p:cNvPr id="19" name="Image 2" descr="preencoded.png">    </p:cNvPr>
          <p:cNvPicPr>
            <a:picLocks noChangeAspect="1"/>
          </p:cNvPicPr>
          <p:nvPr/>
        </p:nvPicPr>
        <p:blipFill>
          <a:blip r:embed="rId3"/>
          <a:stretch>
            <a:fillRect/>
          </a:stretch>
        </p:blipFill>
        <p:spPr>
          <a:xfrm>
            <a:off x="5150267" y="2452787"/>
            <a:ext cx="215067" cy="215067"/>
          </a:xfrm>
          <a:prstGeom prst="rect">
            <a:avLst/>
          </a:prstGeom>
        </p:spPr>
      </p:pic>
      <p:sp>
        <p:nvSpPr>
          <p:cNvPr id="20" name="Text 15"/>
          <p:cNvSpPr txBox="1"/>
          <p:nvPr/>
        </p:nvSpPr>
        <p:spPr>
          <a:xfrm>
            <a:off x="5541264" y="2368296"/>
            <a:ext cx="1161288" cy="384048"/>
          </a:xfrm>
          <a:prstGeom prst="rect">
            <a:avLst/>
          </a:prstGeom>
          <a:noFill/>
          <a:ln/>
        </p:spPr>
        <p:txBody>
          <a:bodyPr wrap="square" lIns="0" tIns="0" rIns="0" bIns="0" rtlCol="0" anchor="ctr"/>
          <a:lstStyle/>
          <a:p>
            <a:pPr indent="0" marL="0">
              <a:buNone/>
            </a:pPr>
            <a:r>
              <a:rPr lang="en-US" sz="1400" b="1" dirty="0">
                <a:solidFill>
                  <a:schemeClr val="tx1"/>
                </a:solidFill>
              </a:rPr>
              <a:t>2 · Compare</a:t>
            </a:r>
            <a:endParaRPr lang="en-US" sz="1400" dirty="0"/>
          </a:p>
        </p:txBody>
      </p:sp>
      <p:sp>
        <p:nvSpPr>
          <p:cNvPr id="21" name="Text 16"/>
          <p:cNvSpPr txBox="1"/>
          <p:nvPr/>
        </p:nvSpPr>
        <p:spPr>
          <a:xfrm>
            <a:off x="5065776" y="2843784"/>
            <a:ext cx="1618488" cy="649224"/>
          </a:xfrm>
          <a:prstGeom prst="rect">
            <a:avLst/>
          </a:prstGeom>
          <a:noFill/>
          <a:ln/>
        </p:spPr>
        <p:txBody>
          <a:bodyPr wrap="square" lIns="0" tIns="0" rIns="0" bIns="0" rtlCol="0" anchor="t"/>
          <a:lstStyle/>
          <a:p>
            <a:pPr indent="0" marL="0">
              <a:buNone/>
            </a:pPr>
            <a:r>
              <a:rPr lang="en-US" sz="1200" dirty="0">
                <a:solidFill>
                  <a:schemeClr val="tx2"/>
                </a:solidFill>
              </a:rPr>
              <a:t>Fingerprints every certificate in Git and S3; lists the differences</a:t>
            </a:r>
            <a:endParaRPr lang="en-US" sz="1200" dirty="0"/>
          </a:p>
        </p:txBody>
      </p:sp>
      <p:sp>
        <p:nvSpPr>
          <p:cNvPr id="22" name="Apply = no"/>
          <p:cNvSpPr/>
          <p:nvPr/>
        </p:nvSpPr>
        <p:spPr>
          <a:xfrm>
            <a:off x="7269480" y="1645920"/>
            <a:ext cx="2148840" cy="1188720"/>
          </a:xfrm>
          <a:prstGeom prst="roundRect">
            <a:avLst>
              <a:gd name="adj" fmla="val 7692"/>
            </a:avLst>
          </a:prstGeom>
          <a:solidFill>
            <a:schemeClr val="accent1">
              <a:alpha val="20000"/>
            </a:schemeClr>
          </a:solidFill>
          <a:ln w="15875">
            <a:solidFill>
              <a:schemeClr val="accent1"/>
            </a:solidFill>
            <a:prstDash val="solid"/>
          </a:ln>
        </p:spPr>
      </p:sp>
      <p:sp>
        <p:nvSpPr>
          <p:cNvPr id="23" name="Shape 18"/>
          <p:cNvSpPr/>
          <p:nvPr/>
        </p:nvSpPr>
        <p:spPr>
          <a:xfrm>
            <a:off x="7397496" y="1773936"/>
            <a:ext cx="384048" cy="384048"/>
          </a:xfrm>
          <a:prstGeom prst="ellipse">
            <a:avLst/>
          </a:prstGeom>
          <a:solidFill>
            <a:schemeClr val="accent1"/>
          </a:solidFill>
          <a:ln/>
        </p:spPr>
      </p:sp>
      <p:pic>
        <p:nvPicPr>
          <p:cNvPr id="24" name="Image 3" descr="preencoded.png">    </p:cNvPr>
          <p:cNvPicPr>
            <a:picLocks noChangeAspect="1"/>
          </p:cNvPicPr>
          <p:nvPr/>
        </p:nvPicPr>
        <p:blipFill>
          <a:blip r:embed="rId4"/>
          <a:stretch>
            <a:fillRect/>
          </a:stretch>
        </p:blipFill>
        <p:spPr>
          <a:xfrm>
            <a:off x="7481987" y="1858427"/>
            <a:ext cx="215067" cy="215067"/>
          </a:xfrm>
          <a:prstGeom prst="rect">
            <a:avLst/>
          </a:prstGeom>
        </p:spPr>
      </p:pic>
      <p:sp>
        <p:nvSpPr>
          <p:cNvPr id="25" name="Text 19"/>
          <p:cNvSpPr txBox="1"/>
          <p:nvPr/>
        </p:nvSpPr>
        <p:spPr>
          <a:xfrm>
            <a:off x="7872984" y="1773936"/>
            <a:ext cx="1435608" cy="384048"/>
          </a:xfrm>
          <a:prstGeom prst="rect">
            <a:avLst/>
          </a:prstGeom>
          <a:noFill/>
          <a:ln/>
        </p:spPr>
        <p:txBody>
          <a:bodyPr wrap="square" lIns="0" tIns="0" rIns="0" bIns="0" rtlCol="0" anchor="ctr"/>
          <a:lstStyle/>
          <a:p>
            <a:pPr indent="0" marL="0">
              <a:buNone/>
            </a:pPr>
            <a:r>
              <a:rPr lang="en-US" sz="1400" b="1" dirty="0">
                <a:solidFill>
                  <a:schemeClr val="tx1"/>
                </a:solidFill>
              </a:rPr>
              <a:t>Apply = no</a:t>
            </a:r>
            <a:endParaRPr lang="en-US" sz="1400" dirty="0"/>
          </a:p>
        </p:txBody>
      </p:sp>
      <p:sp>
        <p:nvSpPr>
          <p:cNvPr id="26" name="Text 20"/>
          <p:cNvSpPr txBox="1"/>
          <p:nvPr/>
        </p:nvSpPr>
        <p:spPr>
          <a:xfrm>
            <a:off x="7397496" y="2249424"/>
            <a:ext cx="1892808" cy="512064"/>
          </a:xfrm>
          <a:prstGeom prst="rect">
            <a:avLst/>
          </a:prstGeom>
          <a:noFill/>
          <a:ln/>
        </p:spPr>
        <p:txBody>
          <a:bodyPr wrap="square" lIns="0" tIns="0" rIns="0" bIns="0" rtlCol="0" anchor="t"/>
          <a:lstStyle/>
          <a:p>
            <a:pPr indent="0" marL="0">
              <a:buNone/>
            </a:pPr>
            <a:r>
              <a:rPr lang="en-US" sz="1200" dirty="0">
                <a:solidFill>
                  <a:schemeClr val="tx2"/>
                </a:solidFill>
              </a:rPr>
              <a:t>Default. Review only — AWS is not changed</a:t>
            </a:r>
            <a:endParaRPr lang="en-US" sz="1200" dirty="0"/>
          </a:p>
        </p:txBody>
      </p:sp>
      <p:sp>
        <p:nvSpPr>
          <p:cNvPr id="27" name="Apply = yes"/>
          <p:cNvSpPr/>
          <p:nvPr/>
        </p:nvSpPr>
        <p:spPr>
          <a:xfrm>
            <a:off x="7269480" y="3108960"/>
            <a:ext cx="2148840" cy="1188720"/>
          </a:xfrm>
          <a:prstGeom prst="roundRect">
            <a:avLst>
              <a:gd name="adj" fmla="val 7692"/>
            </a:avLst>
          </a:prstGeom>
          <a:solidFill>
            <a:schemeClr val="bg1"/>
          </a:solidFill>
          <a:ln w="15875">
            <a:solidFill>
              <a:schemeClr val="accent1"/>
            </a:solidFill>
            <a:prstDash val="dash"/>
          </a:ln>
        </p:spPr>
      </p:sp>
      <p:sp>
        <p:nvSpPr>
          <p:cNvPr id="28" name="Shape 22"/>
          <p:cNvSpPr/>
          <p:nvPr/>
        </p:nvSpPr>
        <p:spPr>
          <a:xfrm>
            <a:off x="7397496" y="3236976"/>
            <a:ext cx="384048" cy="384048"/>
          </a:xfrm>
          <a:prstGeom prst="ellipse">
            <a:avLst/>
          </a:prstGeom>
          <a:solidFill>
            <a:schemeClr val="accent1"/>
          </a:solidFill>
          <a:ln/>
        </p:spPr>
      </p:sp>
      <p:pic>
        <p:nvPicPr>
          <p:cNvPr id="29" name="Image 4" descr="preencoded.png">    </p:cNvPr>
          <p:cNvPicPr>
            <a:picLocks noChangeAspect="1"/>
          </p:cNvPicPr>
          <p:nvPr/>
        </p:nvPicPr>
        <p:blipFill>
          <a:blip r:embed="rId5"/>
          <a:stretch>
            <a:fillRect/>
          </a:stretch>
        </p:blipFill>
        <p:spPr>
          <a:xfrm>
            <a:off x="7481987" y="3321467"/>
            <a:ext cx="215067" cy="215067"/>
          </a:xfrm>
          <a:prstGeom prst="rect">
            <a:avLst/>
          </a:prstGeom>
        </p:spPr>
      </p:pic>
      <p:sp>
        <p:nvSpPr>
          <p:cNvPr id="30" name="Text 23"/>
          <p:cNvSpPr txBox="1"/>
          <p:nvPr/>
        </p:nvSpPr>
        <p:spPr>
          <a:xfrm>
            <a:off x="7872984" y="3236976"/>
            <a:ext cx="1435608" cy="384048"/>
          </a:xfrm>
          <a:prstGeom prst="rect">
            <a:avLst/>
          </a:prstGeom>
          <a:noFill/>
          <a:ln/>
        </p:spPr>
        <p:txBody>
          <a:bodyPr wrap="square" lIns="0" tIns="0" rIns="0" bIns="0" rtlCol="0" anchor="ctr"/>
          <a:lstStyle/>
          <a:p>
            <a:pPr indent="0" marL="0">
              <a:buNone/>
            </a:pPr>
            <a:r>
              <a:rPr lang="en-US" sz="1400" b="1" dirty="0">
                <a:solidFill>
                  <a:schemeClr val="tx1"/>
                </a:solidFill>
              </a:rPr>
              <a:t>Apply = yes</a:t>
            </a:r>
            <a:endParaRPr lang="en-US" sz="1400" dirty="0"/>
          </a:p>
        </p:txBody>
      </p:sp>
      <p:sp>
        <p:nvSpPr>
          <p:cNvPr id="31" name="Text 24"/>
          <p:cNvSpPr txBox="1"/>
          <p:nvPr/>
        </p:nvSpPr>
        <p:spPr>
          <a:xfrm>
            <a:off x="7397496" y="3712464"/>
            <a:ext cx="1892808" cy="512064"/>
          </a:xfrm>
          <a:prstGeom prst="rect">
            <a:avLst/>
          </a:prstGeom>
          <a:noFill/>
          <a:ln/>
        </p:spPr>
        <p:txBody>
          <a:bodyPr wrap="square" lIns="0" tIns="0" rIns="0" bIns="0" rtlCol="0" anchor="t"/>
          <a:lstStyle/>
          <a:p>
            <a:pPr indent="0" marL="0">
              <a:buNone/>
            </a:pPr>
            <a:r>
              <a:rPr lang="en-US" sz="1200" dirty="0">
                <a:solidFill>
                  <a:schemeClr val="tx2"/>
                </a:solidFill>
              </a:rPr>
              <a:t>3 · Apply: new bundle file, trust store updated</a:t>
            </a:r>
            <a:endParaRPr lang="en-US" sz="1200" dirty="0"/>
          </a:p>
        </p:txBody>
      </p:sp>
      <p:sp>
        <p:nvSpPr>
          <p:cNvPr id="32" name="Active"/>
          <p:cNvSpPr/>
          <p:nvPr/>
        </p:nvSpPr>
        <p:spPr>
          <a:xfrm>
            <a:off x="9692640" y="3108960"/>
            <a:ext cx="1947672" cy="1188720"/>
          </a:xfrm>
          <a:prstGeom prst="roundRect">
            <a:avLst>
              <a:gd name="adj" fmla="val 7692"/>
            </a:avLst>
          </a:prstGeom>
          <a:solidFill>
            <a:schemeClr val="accent1">
              <a:alpha val="8000"/>
            </a:schemeClr>
          </a:solidFill>
          <a:ln w="15875">
            <a:solidFill>
              <a:schemeClr val="accent1"/>
            </a:solidFill>
            <a:prstDash val="solid"/>
          </a:ln>
        </p:spPr>
      </p:sp>
      <p:sp>
        <p:nvSpPr>
          <p:cNvPr id="33" name="Shape 26"/>
          <p:cNvSpPr/>
          <p:nvPr/>
        </p:nvSpPr>
        <p:spPr>
          <a:xfrm>
            <a:off x="9820656" y="3236976"/>
            <a:ext cx="384048" cy="384048"/>
          </a:xfrm>
          <a:prstGeom prst="ellipse">
            <a:avLst/>
          </a:prstGeom>
          <a:solidFill>
            <a:schemeClr val="accent1"/>
          </a:solidFill>
          <a:ln/>
        </p:spPr>
      </p:sp>
      <p:pic>
        <p:nvPicPr>
          <p:cNvPr id="34" name="Image 5" descr="preencoded.png">    </p:cNvPr>
          <p:cNvPicPr>
            <a:picLocks noChangeAspect="1"/>
          </p:cNvPicPr>
          <p:nvPr/>
        </p:nvPicPr>
        <p:blipFill>
          <a:blip r:embed="rId6"/>
          <a:stretch>
            <a:fillRect/>
          </a:stretch>
        </p:blipFill>
        <p:spPr>
          <a:xfrm>
            <a:off x="9905147" y="3321467"/>
            <a:ext cx="215067" cy="215067"/>
          </a:xfrm>
          <a:prstGeom prst="rect">
            <a:avLst/>
          </a:prstGeom>
        </p:spPr>
      </p:pic>
      <p:sp>
        <p:nvSpPr>
          <p:cNvPr id="35" name="Text 27"/>
          <p:cNvSpPr txBox="1"/>
          <p:nvPr/>
        </p:nvSpPr>
        <p:spPr>
          <a:xfrm>
            <a:off x="10296144" y="3236976"/>
            <a:ext cx="1234440" cy="384048"/>
          </a:xfrm>
          <a:prstGeom prst="rect">
            <a:avLst/>
          </a:prstGeom>
          <a:noFill/>
          <a:ln/>
        </p:spPr>
        <p:txBody>
          <a:bodyPr wrap="square" lIns="0" tIns="0" rIns="0" bIns="0" rtlCol="0" anchor="ctr"/>
          <a:lstStyle/>
          <a:p>
            <a:pPr indent="0" marL="0">
              <a:buNone/>
            </a:pPr>
            <a:r>
              <a:rPr lang="en-US" sz="1400" b="1" dirty="0">
                <a:solidFill>
                  <a:schemeClr val="tx1"/>
                </a:solidFill>
              </a:rPr>
              <a:t>Active</a:t>
            </a:r>
            <a:endParaRPr lang="en-US" sz="1400" dirty="0"/>
          </a:p>
        </p:txBody>
      </p:sp>
      <p:sp>
        <p:nvSpPr>
          <p:cNvPr id="36" name="Text 28"/>
          <p:cNvSpPr txBox="1"/>
          <p:nvPr/>
        </p:nvSpPr>
        <p:spPr>
          <a:xfrm>
            <a:off x="9820656" y="3712464"/>
            <a:ext cx="1691640" cy="512064"/>
          </a:xfrm>
          <a:prstGeom prst="rect">
            <a:avLst/>
          </a:prstGeom>
          <a:noFill/>
          <a:ln/>
        </p:spPr>
        <p:txBody>
          <a:bodyPr wrap="square" lIns="0" tIns="0" rIns="0" bIns="0" rtlCol="0" anchor="t"/>
          <a:lstStyle/>
          <a:p>
            <a:pPr indent="0" marL="0">
              <a:buNone/>
            </a:pPr>
            <a:r>
              <a:rPr lang="en-US" sz="1200" dirty="0">
                <a:solidFill>
                  <a:schemeClr val="tx2"/>
                </a:solidFill>
              </a:rPr>
              <a:t>Waits until CloudFront confirms (up to 30 min)</a:t>
            </a:r>
            <a:endParaRPr lang="en-US" sz="1200" dirty="0"/>
          </a:p>
        </p:txBody>
      </p:sp>
      <p:sp>
        <p:nvSpPr>
          <p:cNvPr id="37" name="Next step"/>
          <p:cNvSpPr/>
          <p:nvPr/>
        </p:nvSpPr>
        <p:spPr>
          <a:xfrm>
            <a:off x="9692640" y="1645920"/>
            <a:ext cx="1947672" cy="1188720"/>
          </a:xfrm>
          <a:prstGeom prst="roundRect">
            <a:avLst>
              <a:gd name="adj" fmla="val 7692"/>
            </a:avLst>
          </a:prstGeom>
          <a:solidFill>
            <a:schemeClr val="bg2"/>
          </a:solidFill>
          <a:ln/>
        </p:spPr>
      </p:sp>
      <p:sp>
        <p:nvSpPr>
          <p:cNvPr id="38" name="Text 30"/>
          <p:cNvSpPr txBox="1"/>
          <p:nvPr/>
        </p:nvSpPr>
        <p:spPr>
          <a:xfrm>
            <a:off x="9829800" y="1645920"/>
            <a:ext cx="1719072" cy="1188720"/>
          </a:xfrm>
          <a:prstGeom prst="rect">
            <a:avLst/>
          </a:prstGeom>
          <a:noFill/>
          <a:ln/>
        </p:spPr>
        <p:txBody>
          <a:bodyPr wrap="square" lIns="0" tIns="0" rIns="0" bIns="0" rtlCol="0" anchor="ctr"/>
          <a:lstStyle/>
          <a:p>
            <a:pPr indent="0" marL="0">
              <a:buNone/>
            </a:pPr>
            <a:r>
              <a:rPr lang="en-US" sz="1300" b="1" dirty="0">
                <a:solidFill>
                  <a:schemeClr val="tx1"/>
                </a:solidFill>
              </a:rPr>
              <a:t>Report looks right?</a:t>
            </a:r>
            <a:endParaRPr lang="en-US" sz="1300" dirty="0"/>
          </a:p>
          <a:p>
            <a:pPr indent="0" marL="0">
              <a:buNone/>
            </a:pPr>
            <a:r>
              <a:rPr lang="en-US" sz="1300" dirty="0">
                <a:solidFill>
                  <a:schemeClr val="tx2"/>
                </a:solidFill>
              </a:rPr>
              <a:t>Rerun with Apply = yes.</a:t>
            </a:r>
            <a:endParaRPr lang="en-US" sz="1300" dirty="0"/>
          </a:p>
        </p:txBody>
      </p:sp>
      <p:sp>
        <p:nvSpPr>
          <p:cNvPr id="39" name="Shape 31"/>
          <p:cNvSpPr/>
          <p:nvPr/>
        </p:nvSpPr>
        <p:spPr>
          <a:xfrm flipV="1">
            <a:off x="6848856" y="2240280"/>
            <a:ext cx="384048" cy="662940"/>
          </a:xfrm>
          <a:prstGeom prst="line">
            <a:avLst/>
          </a:prstGeom>
          <a:noFill/>
          <a:ln w="22225">
            <a:solidFill>
              <a:schemeClr val="tx2"/>
            </a:solidFill>
            <a:prstDash val="solid"/>
            <a:tailEnd type="triangle"/>
          </a:ln>
        </p:spPr>
      </p:sp>
      <p:sp>
        <p:nvSpPr>
          <p:cNvPr id="40" name="Shape 32"/>
          <p:cNvSpPr/>
          <p:nvPr/>
        </p:nvSpPr>
        <p:spPr>
          <a:xfrm>
            <a:off x="6848856" y="2903220"/>
            <a:ext cx="384048" cy="800100"/>
          </a:xfrm>
          <a:prstGeom prst="line">
            <a:avLst/>
          </a:prstGeom>
          <a:noFill/>
          <a:ln w="22225">
            <a:solidFill>
              <a:schemeClr val="tx2"/>
            </a:solidFill>
            <a:prstDash val="solid"/>
            <a:tailEnd type="triangle"/>
          </a:ln>
        </p:spPr>
      </p:sp>
      <p:sp>
        <p:nvSpPr>
          <p:cNvPr id="41" name="Shape 33"/>
          <p:cNvSpPr/>
          <p:nvPr/>
        </p:nvSpPr>
        <p:spPr>
          <a:xfrm>
            <a:off x="9454896" y="3703320"/>
            <a:ext cx="201168" cy="914"/>
          </a:xfrm>
          <a:prstGeom prst="line">
            <a:avLst/>
          </a:prstGeom>
          <a:noFill/>
          <a:ln w="22225">
            <a:solidFill>
              <a:schemeClr val="tx2"/>
            </a:solidFill>
            <a:prstDash val="solid"/>
            <a:tailEnd type="triangle"/>
          </a:ln>
        </p:spPr>
      </p:sp>
      <p:sp>
        <p:nvSpPr>
          <p:cNvPr id="42" name="Shape 34"/>
          <p:cNvSpPr/>
          <p:nvPr/>
        </p:nvSpPr>
        <p:spPr>
          <a:xfrm>
            <a:off x="9454896" y="2240280"/>
            <a:ext cx="201168" cy="914"/>
          </a:xfrm>
          <a:prstGeom prst="line">
            <a:avLst/>
          </a:prstGeom>
          <a:noFill/>
          <a:ln w="22225">
            <a:solidFill>
              <a:schemeClr val="tx2"/>
            </a:solidFill>
            <a:prstDash val="dash"/>
            <a:tailEnd type="triangle"/>
          </a:ln>
        </p:spPr>
      </p:sp>
      <p:sp>
        <p:nvSpPr>
          <p:cNvPr id="43" name="Run names"/>
          <p:cNvSpPr/>
          <p:nvPr/>
        </p:nvSpPr>
        <p:spPr>
          <a:xfrm>
            <a:off x="548640" y="4572000"/>
            <a:ext cx="1874520" cy="1298448"/>
          </a:xfrm>
          <a:prstGeom prst="roundRect">
            <a:avLst>
              <a:gd name="adj" fmla="val 7042"/>
            </a:avLst>
          </a:prstGeom>
          <a:solidFill>
            <a:schemeClr val="bg2"/>
          </a:solidFill>
          <a:ln w="15875">
            <a:solidFill>
              <a:schemeClr val="bg2"/>
            </a:solidFill>
            <a:prstDash val="solid"/>
          </a:ln>
        </p:spPr>
      </p:sp>
      <p:sp>
        <p:nvSpPr>
          <p:cNvPr id="44" name="Shape 36"/>
          <p:cNvSpPr/>
          <p:nvPr/>
        </p:nvSpPr>
        <p:spPr>
          <a:xfrm>
            <a:off x="676656" y="4700016"/>
            <a:ext cx="384048" cy="384048"/>
          </a:xfrm>
          <a:prstGeom prst="ellipse">
            <a:avLst/>
          </a:prstGeom>
          <a:solidFill>
            <a:schemeClr val="accent5"/>
          </a:solidFill>
          <a:ln/>
        </p:spPr>
      </p:sp>
      <p:pic>
        <p:nvPicPr>
          <p:cNvPr id="45" name="Image 6" descr="preencoded.png">    </p:cNvPr>
          <p:cNvPicPr>
            <a:picLocks noChangeAspect="1"/>
          </p:cNvPicPr>
          <p:nvPr/>
        </p:nvPicPr>
        <p:blipFill>
          <a:blip r:embed="rId7"/>
          <a:stretch>
            <a:fillRect/>
          </a:stretch>
        </p:blipFill>
        <p:spPr>
          <a:xfrm>
            <a:off x="761147" y="4784507"/>
            <a:ext cx="215067" cy="215067"/>
          </a:xfrm>
          <a:prstGeom prst="rect">
            <a:avLst/>
          </a:prstGeom>
        </p:spPr>
      </p:pic>
      <p:sp>
        <p:nvSpPr>
          <p:cNvPr id="46" name="Text 37"/>
          <p:cNvSpPr txBox="1"/>
          <p:nvPr/>
        </p:nvSpPr>
        <p:spPr>
          <a:xfrm>
            <a:off x="1152144" y="4700016"/>
            <a:ext cx="1161288" cy="384048"/>
          </a:xfrm>
          <a:prstGeom prst="rect">
            <a:avLst/>
          </a:prstGeom>
          <a:noFill/>
          <a:ln/>
        </p:spPr>
        <p:txBody>
          <a:bodyPr wrap="square" lIns="0" tIns="0" rIns="0" bIns="0" rtlCol="0" anchor="ctr"/>
          <a:lstStyle/>
          <a:p>
            <a:pPr indent="0" marL="0">
              <a:buNone/>
            </a:pPr>
            <a:r>
              <a:rPr lang="en-US" sz="1400" b="1" dirty="0">
                <a:solidFill>
                  <a:schemeClr val="tx1"/>
                </a:solidFill>
              </a:rPr>
              <a:t>Run names</a:t>
            </a:r>
            <a:endParaRPr lang="en-US" sz="1400" dirty="0"/>
          </a:p>
        </p:txBody>
      </p:sp>
      <p:sp>
        <p:nvSpPr>
          <p:cNvPr id="47" name="Text 38"/>
          <p:cNvSpPr txBox="1"/>
          <p:nvPr/>
        </p:nvSpPr>
        <p:spPr>
          <a:xfrm>
            <a:off x="676656" y="5175504"/>
            <a:ext cx="1618488" cy="621792"/>
          </a:xfrm>
          <a:prstGeom prst="rect">
            <a:avLst/>
          </a:prstGeom>
          <a:noFill/>
          <a:ln/>
        </p:spPr>
        <p:txBody>
          <a:bodyPr wrap="square" lIns="0" tIns="0" rIns="0" bIns="0" rtlCol="0" anchor="t"/>
          <a:lstStyle/>
          <a:p>
            <a:pPr indent="0" marL="0">
              <a:buNone/>
            </a:pPr>
            <a:r>
              <a:rPr lang="en-US" sz="1200" dirty="0">
                <a:solidFill>
                  <a:schemeClr val="tx2"/>
                </a:solidFill>
              </a:rPr>
              <a:t>“Trust Store · prd · Apply=no” in the run list</a:t>
            </a:r>
            <a:endParaRPr lang="en-US" sz="1200" dirty="0"/>
          </a:p>
        </p:txBody>
      </p:sp>
      <p:sp>
        <p:nvSpPr>
          <p:cNvPr id="48" name="Stop"/>
          <p:cNvSpPr/>
          <p:nvPr/>
        </p:nvSpPr>
        <p:spPr>
          <a:xfrm>
            <a:off x="2743200" y="4572000"/>
            <a:ext cx="1874520" cy="1298448"/>
          </a:xfrm>
          <a:prstGeom prst="roundRect">
            <a:avLst>
              <a:gd name="adj" fmla="val 7042"/>
            </a:avLst>
          </a:prstGeom>
          <a:solidFill>
            <a:schemeClr val="accent3">
              <a:alpha val="8000"/>
            </a:schemeClr>
          </a:solidFill>
          <a:ln w="15875">
            <a:solidFill>
              <a:schemeClr val="accent3"/>
            </a:solidFill>
            <a:prstDash val="solid"/>
          </a:ln>
        </p:spPr>
      </p:sp>
      <p:sp>
        <p:nvSpPr>
          <p:cNvPr id="49" name="Shape 40"/>
          <p:cNvSpPr/>
          <p:nvPr/>
        </p:nvSpPr>
        <p:spPr>
          <a:xfrm>
            <a:off x="2871216" y="4700016"/>
            <a:ext cx="384048" cy="384048"/>
          </a:xfrm>
          <a:prstGeom prst="ellipse">
            <a:avLst/>
          </a:prstGeom>
          <a:solidFill>
            <a:schemeClr val="accent3"/>
          </a:solidFill>
          <a:ln/>
        </p:spPr>
      </p:sp>
      <p:pic>
        <p:nvPicPr>
          <p:cNvPr id="50" name="Image 7" descr="preencoded.png">    </p:cNvPr>
          <p:cNvPicPr>
            <a:picLocks noChangeAspect="1"/>
          </p:cNvPicPr>
          <p:nvPr/>
        </p:nvPicPr>
        <p:blipFill>
          <a:blip r:embed="rId8"/>
          <a:stretch>
            <a:fillRect/>
          </a:stretch>
        </p:blipFill>
        <p:spPr>
          <a:xfrm>
            <a:off x="2955707" y="4784507"/>
            <a:ext cx="215067" cy="215067"/>
          </a:xfrm>
          <a:prstGeom prst="rect">
            <a:avLst/>
          </a:prstGeom>
        </p:spPr>
      </p:pic>
      <p:sp>
        <p:nvSpPr>
          <p:cNvPr id="51" name="Text 41"/>
          <p:cNvSpPr txBox="1"/>
          <p:nvPr/>
        </p:nvSpPr>
        <p:spPr>
          <a:xfrm>
            <a:off x="3346704" y="4700016"/>
            <a:ext cx="1161288" cy="384048"/>
          </a:xfrm>
          <a:prstGeom prst="rect">
            <a:avLst/>
          </a:prstGeom>
          <a:noFill/>
          <a:ln/>
        </p:spPr>
        <p:txBody>
          <a:bodyPr wrap="square" lIns="0" tIns="0" rIns="0" bIns="0" rtlCol="0" anchor="ctr"/>
          <a:lstStyle/>
          <a:p>
            <a:pPr indent="0" marL="0">
              <a:buNone/>
            </a:pPr>
            <a:r>
              <a:rPr lang="en-US" sz="1400" b="1" dirty="0">
                <a:solidFill>
                  <a:schemeClr val="tx1"/>
                </a:solidFill>
              </a:rPr>
              <a:t>Stop</a:t>
            </a:r>
            <a:endParaRPr lang="en-US" sz="1400" dirty="0"/>
          </a:p>
        </p:txBody>
      </p:sp>
      <p:sp>
        <p:nvSpPr>
          <p:cNvPr id="52" name="Text 42"/>
          <p:cNvSpPr txBox="1"/>
          <p:nvPr/>
        </p:nvSpPr>
        <p:spPr>
          <a:xfrm>
            <a:off x="2871216" y="5175504"/>
            <a:ext cx="1618488" cy="621792"/>
          </a:xfrm>
          <a:prstGeom prst="rect">
            <a:avLst/>
          </a:prstGeom>
          <a:noFill/>
          <a:ln/>
        </p:spPr>
        <p:txBody>
          <a:bodyPr wrap="square" lIns="0" tIns="0" rIns="0" bIns="0" rtlCol="0" anchor="t"/>
          <a:lstStyle/>
          <a:p>
            <a:pPr indent="0" marL="0">
              <a:buNone/>
            </a:pPr>
            <a:r>
              <a:rPr lang="en-US" sz="1200" dirty="0">
                <a:solidFill>
                  <a:schemeClr val="tx2"/>
                </a:solidFill>
              </a:rPr>
              <a:t>Bad bundle, unfinished settings or wrong account — AWS untouched</a:t>
            </a:r>
            <a:endParaRPr lang="en-US" sz="1200" dirty="0"/>
          </a:p>
        </p:txBody>
      </p:sp>
      <p:sp>
        <p:nvSpPr>
          <p:cNvPr id="53" name="Report"/>
          <p:cNvSpPr/>
          <p:nvPr/>
        </p:nvSpPr>
        <p:spPr>
          <a:xfrm>
            <a:off x="4937760" y="4572000"/>
            <a:ext cx="1874520" cy="1298448"/>
          </a:xfrm>
          <a:prstGeom prst="roundRect">
            <a:avLst>
              <a:gd name="adj" fmla="val 7042"/>
            </a:avLst>
          </a:prstGeom>
          <a:solidFill>
            <a:schemeClr val="accent1">
              <a:alpha val="8000"/>
            </a:schemeClr>
          </a:solidFill>
          <a:ln w="15875">
            <a:solidFill>
              <a:schemeClr val="accent1"/>
            </a:solidFill>
            <a:prstDash val="solid"/>
          </a:ln>
        </p:spPr>
      </p:sp>
      <p:sp>
        <p:nvSpPr>
          <p:cNvPr id="54" name="Shape 44"/>
          <p:cNvSpPr/>
          <p:nvPr/>
        </p:nvSpPr>
        <p:spPr>
          <a:xfrm>
            <a:off x="5065776" y="4700016"/>
            <a:ext cx="384048" cy="384048"/>
          </a:xfrm>
          <a:prstGeom prst="ellipse">
            <a:avLst/>
          </a:prstGeom>
          <a:solidFill>
            <a:schemeClr val="accent1"/>
          </a:solidFill>
          <a:ln/>
        </p:spPr>
      </p:sp>
      <p:pic>
        <p:nvPicPr>
          <p:cNvPr id="55" name="Image 8" descr="preencoded.png">    </p:cNvPr>
          <p:cNvPicPr>
            <a:picLocks noChangeAspect="1"/>
          </p:cNvPicPr>
          <p:nvPr/>
        </p:nvPicPr>
        <p:blipFill>
          <a:blip r:embed="rId9"/>
          <a:stretch>
            <a:fillRect/>
          </a:stretch>
        </p:blipFill>
        <p:spPr>
          <a:xfrm>
            <a:off x="5150267" y="4784507"/>
            <a:ext cx="215067" cy="215067"/>
          </a:xfrm>
          <a:prstGeom prst="rect">
            <a:avLst/>
          </a:prstGeom>
        </p:spPr>
      </p:pic>
      <p:sp>
        <p:nvSpPr>
          <p:cNvPr id="56" name="Text 45"/>
          <p:cNvSpPr txBox="1"/>
          <p:nvPr/>
        </p:nvSpPr>
        <p:spPr>
          <a:xfrm>
            <a:off x="5541264" y="4700016"/>
            <a:ext cx="1161288" cy="384048"/>
          </a:xfrm>
          <a:prstGeom prst="rect">
            <a:avLst/>
          </a:prstGeom>
          <a:noFill/>
          <a:ln/>
        </p:spPr>
        <p:txBody>
          <a:bodyPr wrap="square" lIns="0" tIns="0" rIns="0" bIns="0" rtlCol="0" anchor="ctr"/>
          <a:lstStyle/>
          <a:p>
            <a:pPr indent="0" marL="0">
              <a:buNone/>
            </a:pPr>
            <a:r>
              <a:rPr lang="en-US" sz="1400" b="1" dirty="0">
                <a:solidFill>
                  <a:schemeClr val="tx1"/>
                </a:solidFill>
              </a:rPr>
              <a:t>Report</a:t>
            </a:r>
            <a:endParaRPr lang="en-US" sz="1400" dirty="0"/>
          </a:p>
        </p:txBody>
      </p:sp>
      <p:sp>
        <p:nvSpPr>
          <p:cNvPr id="57" name="Text 46"/>
          <p:cNvSpPr txBox="1"/>
          <p:nvPr/>
        </p:nvSpPr>
        <p:spPr>
          <a:xfrm>
            <a:off x="5065776" y="5175504"/>
            <a:ext cx="1618488" cy="621792"/>
          </a:xfrm>
          <a:prstGeom prst="rect">
            <a:avLst/>
          </a:prstGeom>
          <a:noFill/>
          <a:ln/>
        </p:spPr>
        <p:txBody>
          <a:bodyPr wrap="square" lIns="0" tIns="0" rIns="0" bIns="0" rtlCol="0" anchor="t"/>
          <a:lstStyle/>
          <a:p>
            <a:pPr indent="0" marL="0">
              <a:buNone/>
            </a:pPr>
            <a:r>
              <a:rPr lang="en-US" sz="1200" dirty="0">
                <a:solidFill>
                  <a:schemeClr val="tx2"/>
                </a:solidFill>
              </a:rPr>
              <a:t>Every certificate, listed in the run summary</a:t>
            </a:r>
            <a:endParaRPr lang="en-US" sz="1200" dirty="0"/>
          </a:p>
        </p:txBody>
      </p:sp>
      <p:sp>
        <p:nvSpPr>
          <p:cNvPr id="58" name="Shape 47"/>
          <p:cNvSpPr/>
          <p:nvPr/>
        </p:nvSpPr>
        <p:spPr>
          <a:xfrm>
            <a:off x="3680460" y="3602736"/>
            <a:ext cx="914" cy="932688"/>
          </a:xfrm>
          <a:prstGeom prst="line">
            <a:avLst/>
          </a:prstGeom>
          <a:noFill/>
          <a:ln w="22225">
            <a:solidFill>
              <a:schemeClr val="accent3"/>
            </a:solidFill>
            <a:prstDash val="solid"/>
            <a:tailEnd type="triangle"/>
          </a:ln>
        </p:spPr>
      </p:sp>
      <p:sp>
        <p:nvSpPr>
          <p:cNvPr id="59" name="Shape 48"/>
          <p:cNvSpPr/>
          <p:nvPr/>
        </p:nvSpPr>
        <p:spPr>
          <a:xfrm>
            <a:off x="5875020" y="3602736"/>
            <a:ext cx="914" cy="932688"/>
          </a:xfrm>
          <a:prstGeom prst="line">
            <a:avLst/>
          </a:prstGeom>
          <a:noFill/>
          <a:ln w="22225">
            <a:solidFill>
              <a:schemeClr val="tx2"/>
            </a:solidFill>
            <a:prstDash val="solid"/>
            <a:tailEnd type="triangle"/>
          </a:ln>
        </p:spPr>
      </p:sp>
      <p:sp>
        <p:nvSpPr>
          <p:cNvPr id="60" name="Text 49"/>
          <p:cNvSpPr txBox="1"/>
          <p:nvPr/>
        </p:nvSpPr>
        <p:spPr>
          <a:xfrm>
            <a:off x="3771900" y="3886200"/>
            <a:ext cx="1188720" cy="274320"/>
          </a:xfrm>
          <a:prstGeom prst="rect">
            <a:avLst/>
          </a:prstGeom>
          <a:noFill/>
          <a:ln/>
        </p:spPr>
        <p:txBody>
          <a:bodyPr wrap="square" lIns="0" tIns="0" rIns="0" bIns="0" rtlCol="0" anchor="t"/>
          <a:lstStyle/>
          <a:p>
            <a:pPr indent="0" marL="0">
              <a:buNone/>
            </a:pPr>
            <a:r>
              <a:rPr lang="en-US" sz="1100" i="1" dirty="0">
                <a:solidFill>
                  <a:schemeClr val="accent3"/>
                </a:solidFill>
              </a:rPr>
              <a:t>a check fails</a:t>
            </a:r>
            <a:endParaRPr lang="en-US" sz="1100" dirty="0"/>
          </a:p>
        </p:txBody>
      </p:sp>
      <p:sp>
        <p:nvSpPr>
          <p:cNvPr id="61" name="Text 50"/>
          <p:cNvSpPr txBox="1"/>
          <p:nvPr/>
        </p:nvSpPr>
        <p:spPr>
          <a:xfrm>
            <a:off x="5966460" y="3886200"/>
            <a:ext cx="914400" cy="274320"/>
          </a:xfrm>
          <a:prstGeom prst="rect">
            <a:avLst/>
          </a:prstGeom>
          <a:noFill/>
          <a:ln/>
        </p:spPr>
        <p:txBody>
          <a:bodyPr wrap="square" lIns="0" tIns="0" rIns="0" bIns="0" rtlCol="0" anchor="t"/>
          <a:lstStyle/>
          <a:p>
            <a:pPr indent="0" marL="0">
              <a:buNone/>
            </a:pPr>
            <a:r>
              <a:rPr lang="en-US" sz="1100" i="1" dirty="0">
                <a:solidFill>
                  <a:schemeClr val="tx2"/>
                </a:solidFill>
              </a:rPr>
              <a:t>always</a:t>
            </a:r>
            <a:endParaRPr lang="en-US" sz="1100" dirty="0"/>
          </a:p>
        </p:txBody>
      </p:sp>
      <p:sp>
        <p:nvSpPr>
          <p:cNvPr id="62" name="Screenshot panel"/>
          <p:cNvSpPr/>
          <p:nvPr/>
        </p:nvSpPr>
        <p:spPr>
          <a:xfrm>
            <a:off x="7315200" y="4572000"/>
            <a:ext cx="4325112" cy="1298448"/>
          </a:xfrm>
          <a:prstGeom prst="roundRect">
            <a:avLst>
              <a:gd name="adj" fmla="val 5634"/>
            </a:avLst>
          </a:prstGeom>
          <a:solidFill>
            <a:schemeClr val="bg2"/>
          </a:solidFill>
          <a:ln/>
        </p:spPr>
      </p:sp>
      <p:sp>
        <p:nvSpPr>
          <p:cNvPr id="63" name="Screenshot border"/>
          <p:cNvSpPr/>
          <p:nvPr/>
        </p:nvSpPr>
        <p:spPr>
          <a:xfrm>
            <a:off x="7406640" y="4645152"/>
            <a:ext cx="3328416" cy="329184"/>
          </a:xfrm>
          <a:prstGeom prst="rect">
            <a:avLst/>
          </a:prstGeom>
          <a:solidFill>
            <a:schemeClr val="bg1"/>
          </a:solidFill>
          <a:ln w="9525">
            <a:solidFill>
              <a:srgbClr val="C9D1DB"/>
            </a:solidFill>
            <a:prstDash val="solid"/>
          </a:ln>
        </p:spPr>
      </p:sp>
      <p:pic>
        <p:nvPicPr>
          <p:cNvPr id="64" name="Image 9" descr="Run title: Trust Store · prd · Apply=no">    </p:cNvPr>
          <p:cNvPicPr>
            <a:picLocks noChangeAspect="1"/>
          </p:cNvPicPr>
          <p:nvPr/>
        </p:nvPicPr>
        <p:blipFill>
          <a:blip r:embed="rId10"/>
          <a:stretch>
            <a:fillRect/>
          </a:stretch>
        </p:blipFill>
        <p:spPr>
          <a:xfrm>
            <a:off x="7424928" y="4663440"/>
            <a:ext cx="3291840" cy="292608"/>
          </a:xfrm>
          <a:prstGeom prst="rect">
            <a:avLst/>
          </a:prstGeom>
        </p:spPr>
      </p:pic>
      <p:sp>
        <p:nvSpPr>
          <p:cNvPr id="65" name="Screenshot border"/>
          <p:cNvSpPr/>
          <p:nvPr/>
        </p:nvSpPr>
        <p:spPr>
          <a:xfrm>
            <a:off x="7406640" y="5029200"/>
            <a:ext cx="4142232" cy="615902"/>
          </a:xfrm>
          <a:prstGeom prst="rect">
            <a:avLst/>
          </a:prstGeom>
          <a:solidFill>
            <a:schemeClr val="bg1"/>
          </a:solidFill>
          <a:ln w="9525">
            <a:solidFill>
              <a:srgbClr val="C9D1DB"/>
            </a:solidFill>
            <a:prstDash val="solid"/>
          </a:ln>
        </p:spPr>
      </p:sp>
      <p:pic>
        <p:nvPicPr>
          <p:cNvPr id="66" name="Image 10" descr="Job graph: 1 Validate, 2 Compare, 3 Apply skipped">    </p:cNvPr>
          <p:cNvPicPr>
            <a:picLocks noChangeAspect="1"/>
          </p:cNvPicPr>
          <p:nvPr/>
        </p:nvPicPr>
        <p:blipFill>
          <a:blip r:embed="rId11"/>
          <a:stretch>
            <a:fillRect/>
          </a:stretch>
        </p:blipFill>
        <p:spPr>
          <a:xfrm>
            <a:off x="7424928" y="5047488"/>
            <a:ext cx="4105656" cy="579326"/>
          </a:xfrm>
          <a:prstGeom prst="rect">
            <a:avLst/>
          </a:prstGeom>
        </p:spPr>
      </p:pic>
      <p:sp>
        <p:nvSpPr>
          <p:cNvPr id="67" name="Text 54"/>
          <p:cNvSpPr txBox="1"/>
          <p:nvPr/>
        </p:nvSpPr>
        <p:spPr>
          <a:xfrm>
            <a:off x="7315200" y="5943600"/>
            <a:ext cx="4325112" cy="365760"/>
          </a:xfrm>
          <a:prstGeom prst="rect">
            <a:avLst/>
          </a:prstGeom>
          <a:noFill/>
          <a:ln/>
        </p:spPr>
        <p:txBody>
          <a:bodyPr wrap="square" lIns="0" tIns="0" rIns="0" bIns="0" rtlCol="0" anchor="t"/>
          <a:lstStyle/>
          <a:p>
            <a:pPr indent="0" marL="0">
              <a:buNone/>
            </a:pPr>
            <a:r>
              <a:rPr lang="en-US" sz="1300" b="1" dirty="0">
                <a:solidFill>
                  <a:schemeClr val="tx1"/>
                </a:solidFill>
              </a:rPr>
              <a:t>The run page</a:t>
            </a:r>
            <a:pPr indent="0" marL="0">
              <a:buNone/>
            </a:pPr>
            <a:r>
              <a:rPr lang="en-US" sz="1200" dirty="0">
                <a:solidFill>
                  <a:schemeClr val="tx2"/>
                </a:solidFill>
              </a:rPr>
              <a:t>  Validate → Compare → Apply (or Apply skipped)</a:t>
            </a:r>
            <a:endParaRPr lang="en-US" sz="1400" dirty="0"/>
          </a:p>
        </p:txBody>
      </p:sp>
      <p:sp>
        <p:nvSpPr>
          <p:cNvPr id="25" name="Slide Number Placeholder 0"/>
          <p:cNvSpPr>
            <a:spLocks noGrp="1"/>
          </p:cNvSpPr>
          <p:nvPr>
            <p:ph type="sldNum" sz="quarter" idx="4294967295"/>
          </p:nvPr>
        </p:nvSpPr>
        <p:spPr>
          <a:xfrm>
            <a:off x="11000232" y="647395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144000" cy="713232"/>
          </a:xfrm>
          <a:prstGeom prst="rect">
            <a:avLst/>
          </a:prstGeom>
          <a:noFill/>
          <a:ln/>
        </p:spPr>
        <p:txBody>
          <a:bodyPr wrap="square" lIns="0" tIns="0" rIns="0" bIns="0" rtlCol="0" anchor="ctr"/>
          <a:lstStyle/>
          <a:p>
            <a:pPr algn="l" indent="0" marL="0">
              <a:buNone/>
            </a:pPr>
            <a:r>
              <a:rPr lang="en-US" sz="3400" b="1" dirty="0">
                <a:solidFill>
                  <a:schemeClr val="tx1"/>
                </a:solidFill>
              </a:rPr>
              <a:t>Every certificate, compared</a:t>
            </a: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lIns="0" tIns="0" rIns="0" bIns="0" rtlCol="0" anchor="t"/>
          <a:lstStyle/>
          <a:p>
            <a:pPr indent="0" marL="0">
              <a:buNone/>
            </a:pPr>
            <a:r>
              <a:rPr lang="en-US" sz="1500" dirty="0">
                <a:solidFill>
                  <a:schemeClr val="tx2"/>
                </a:solidFill>
              </a:rPr>
              <a:t>Git vs the current S3 bundle, matched by each certificate’s SHA-256 fingerprint</a:t>
            </a:r>
            <a:endParaRPr lang="en-US" sz="1500" dirty="0"/>
          </a:p>
        </p:txBody>
      </p:sp>
      <p:sp>
        <p:nvSpPr>
          <p:cNvPr id="4" name="Text 2"/>
          <p:cNvSpPr txBox="1"/>
          <p:nvPr/>
        </p:nvSpPr>
        <p:spPr>
          <a:xfrm>
            <a:off x="9811512" y="566928"/>
            <a:ext cx="1828800" cy="347472"/>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spc="150" kern="0" dirty="0">
                <a:solidFill>
                  <a:schemeClr val="bg1"/>
                </a:solidFill>
              </a:rPr>
              <a:t>TRUST STORE</a:t>
            </a:r>
            <a:endParaRPr lang="en-US" sz="1100" dirty="0"/>
          </a:p>
        </p:txBody>
      </p:sp>
      <p:sp>
        <p:nvSpPr>
          <p:cNvPr id="5" name="Exact matching"/>
          <p:cNvSpPr/>
          <p:nvPr/>
        </p:nvSpPr>
        <p:spPr>
          <a:xfrm>
            <a:off x="548640" y="1691640"/>
            <a:ext cx="4892040" cy="1097280"/>
          </a:xfrm>
          <a:prstGeom prst="roundRect">
            <a:avLst>
              <a:gd name="adj" fmla="val 10000"/>
            </a:avLst>
          </a:prstGeom>
          <a:solidFill>
            <a:schemeClr val="accent1">
              <a:alpha val="8000"/>
            </a:schemeClr>
          </a:solidFill>
          <a:ln/>
        </p:spPr>
      </p:sp>
      <p:sp>
        <p:nvSpPr>
          <p:cNvPr id="6" name="Shape 4"/>
          <p:cNvSpPr/>
          <p:nvPr/>
        </p:nvSpPr>
        <p:spPr>
          <a:xfrm>
            <a:off x="731520" y="2011680"/>
            <a:ext cx="457200" cy="457200"/>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832104" y="2112264"/>
            <a:ext cx="256032" cy="256032"/>
          </a:xfrm>
          <a:prstGeom prst="rect">
            <a:avLst/>
          </a:prstGeom>
        </p:spPr>
      </p:pic>
      <p:sp>
        <p:nvSpPr>
          <p:cNvPr id="8" name="Text 5"/>
          <p:cNvSpPr txBox="1"/>
          <p:nvPr/>
        </p:nvSpPr>
        <p:spPr>
          <a:xfrm>
            <a:off x="1325880" y="1764792"/>
            <a:ext cx="3977640" cy="950976"/>
          </a:xfrm>
          <a:prstGeom prst="rect">
            <a:avLst/>
          </a:prstGeom>
          <a:noFill/>
          <a:ln/>
        </p:spPr>
        <p:txBody>
          <a:bodyPr wrap="square" lIns="0" tIns="0" rIns="0" bIns="0" rtlCol="0" anchor="ctr"/>
          <a:lstStyle/>
          <a:p>
            <a:pPr indent="0" marL="0">
              <a:buNone/>
            </a:pPr>
            <a:r>
              <a:rPr lang="en-US" sz="1500" b="1" dirty="0">
                <a:solidFill>
                  <a:schemeClr val="tx1"/>
                </a:solidFill>
              </a:rPr>
              <a:t>Exact matching</a:t>
            </a:r>
            <a:endParaRPr lang="en-US" sz="1400" dirty="0"/>
          </a:p>
          <a:p>
            <a:pPr indent="0" marL="0">
              <a:buNone/>
            </a:pPr>
            <a:r>
              <a:rPr lang="en-US" sz="1300" dirty="0">
                <a:solidFill>
                  <a:schemeClr val="tx2"/>
                </a:solidFill>
              </a:rPr>
              <a:t>Each certificate has a unique fingerprint: the same certificate always matches, a different one never does.</a:t>
            </a:r>
            <a:endParaRPr lang="en-US" sz="1400" dirty="0"/>
          </a:p>
        </p:txBody>
      </p:sp>
      <p:sp>
        <p:nvSpPr>
          <p:cNvPr id="9" name="Text 6"/>
          <p:cNvSpPr txBox="1"/>
          <p:nvPr/>
        </p:nvSpPr>
        <p:spPr>
          <a:xfrm>
            <a:off x="548640" y="2971800"/>
            <a:ext cx="4892040" cy="329184"/>
          </a:xfrm>
          <a:prstGeom prst="rect">
            <a:avLst/>
          </a:prstGeom>
          <a:noFill/>
          <a:ln/>
        </p:spPr>
        <p:txBody>
          <a:bodyPr wrap="square" lIns="0" tIns="0" rIns="0" bIns="0" rtlCol="0" anchor="t"/>
          <a:lstStyle/>
          <a:p>
            <a:pPr indent="0" marL="0">
              <a:buNone/>
            </a:pPr>
            <a:r>
              <a:rPr lang="en-US" sz="1600" b="1" dirty="0">
                <a:solidFill>
                  <a:schemeClr val="tx1"/>
                </a:solidFill>
              </a:rPr>
              <a:t>What the report shows</a:t>
            </a:r>
            <a:endParaRPr lang="en-US" sz="1600" dirty="0"/>
          </a:p>
        </p:txBody>
      </p:sp>
      <p:pic>
        <p:nvPicPr>
          <p:cNvPr id="10" name="Image 1" descr="preencoded.png">    </p:cNvPr>
          <p:cNvPicPr>
            <a:picLocks noChangeAspect="1"/>
          </p:cNvPicPr>
          <p:nvPr/>
        </p:nvPicPr>
        <p:blipFill>
          <a:blip r:embed="rId2"/>
          <a:stretch>
            <a:fillRect/>
          </a:stretch>
        </p:blipFill>
        <p:spPr>
          <a:xfrm>
            <a:off x="566928" y="3383407"/>
            <a:ext cx="219456" cy="219456"/>
          </a:xfrm>
          <a:prstGeom prst="rect">
            <a:avLst/>
          </a:prstGeom>
        </p:spPr>
      </p:pic>
      <p:sp>
        <p:nvSpPr>
          <p:cNvPr id="11" name="Text 7"/>
          <p:cNvSpPr txBox="1"/>
          <p:nvPr/>
        </p:nvSpPr>
        <p:spPr>
          <a:xfrm>
            <a:off x="914400" y="3383280"/>
            <a:ext cx="4526280" cy="256286"/>
          </a:xfrm>
          <a:prstGeom prst="rect">
            <a:avLst/>
          </a:prstGeom>
          <a:noFill/>
          <a:ln/>
        </p:spPr>
        <p:txBody>
          <a:bodyPr wrap="square" lIns="0" tIns="0" rIns="0" bIns="0" rtlCol="0" anchor="t"/>
          <a:lstStyle/>
          <a:p>
            <a:pPr indent="0" marL="0">
              <a:buNone/>
            </a:pPr>
            <a:r>
              <a:rPr lang="en-US" sz="1300" dirty="0">
                <a:solidFill>
                  <a:schemeClr val="tx1"/>
                </a:solidFill>
              </a:rPr>
              <a:t>Inventory: totals, duplicates, CA and non-CA, side by side</a:t>
            </a:r>
            <a:endParaRPr lang="en-US" sz="1300" dirty="0"/>
          </a:p>
        </p:txBody>
      </p:sp>
      <p:pic>
        <p:nvPicPr>
          <p:cNvPr id="12" name="Image 2" descr="preencoded.png">    </p:cNvPr>
          <p:cNvPicPr>
            <a:picLocks noChangeAspect="1"/>
          </p:cNvPicPr>
          <p:nvPr/>
        </p:nvPicPr>
        <p:blipFill>
          <a:blip r:embed="rId3"/>
          <a:stretch>
            <a:fillRect/>
          </a:stretch>
        </p:blipFill>
        <p:spPr>
          <a:xfrm>
            <a:off x="566928" y="3703701"/>
            <a:ext cx="219456" cy="219456"/>
          </a:xfrm>
          <a:prstGeom prst="rect">
            <a:avLst/>
          </a:prstGeom>
        </p:spPr>
      </p:pic>
      <p:sp>
        <p:nvSpPr>
          <p:cNvPr id="13" name="Text 8"/>
          <p:cNvSpPr txBox="1"/>
          <p:nvPr/>
        </p:nvSpPr>
        <p:spPr>
          <a:xfrm>
            <a:off x="914400" y="3703574"/>
            <a:ext cx="4526280" cy="256286"/>
          </a:xfrm>
          <a:prstGeom prst="rect">
            <a:avLst/>
          </a:prstGeom>
          <a:noFill/>
          <a:ln/>
        </p:spPr>
        <p:txBody>
          <a:bodyPr wrap="square" lIns="0" tIns="0" rIns="0" bIns="0" rtlCol="0" anchor="t"/>
          <a:lstStyle/>
          <a:p>
            <a:pPr indent="0" marL="0">
              <a:buNone/>
            </a:pPr>
            <a:r>
              <a:rPr lang="en-US" sz="1300" dirty="0">
                <a:solidFill>
                  <a:schemeClr val="tx1"/>
                </a:solidFill>
              </a:rPr>
              <a:t>Every certificate in S3: name, issuer, expiry — is it in Git?</a:t>
            </a:r>
            <a:endParaRPr lang="en-US" sz="1300" dirty="0"/>
          </a:p>
        </p:txBody>
      </p:sp>
      <p:pic>
        <p:nvPicPr>
          <p:cNvPr id="14" name="Image 3" descr="preencoded.png">    </p:cNvPr>
          <p:cNvPicPr>
            <a:picLocks noChangeAspect="1"/>
          </p:cNvPicPr>
          <p:nvPr/>
        </p:nvPicPr>
        <p:blipFill>
          <a:blip r:embed="rId4"/>
          <a:stretch>
            <a:fillRect/>
          </a:stretch>
        </p:blipFill>
        <p:spPr>
          <a:xfrm>
            <a:off x="566928" y="4023995"/>
            <a:ext cx="219456" cy="219456"/>
          </a:xfrm>
          <a:prstGeom prst="rect">
            <a:avLst/>
          </a:prstGeom>
        </p:spPr>
      </p:pic>
      <p:sp>
        <p:nvSpPr>
          <p:cNvPr id="15" name="Text 9"/>
          <p:cNvSpPr txBox="1"/>
          <p:nvPr/>
        </p:nvSpPr>
        <p:spPr>
          <a:xfrm>
            <a:off x="914400" y="4023868"/>
            <a:ext cx="4526280" cy="256286"/>
          </a:xfrm>
          <a:prstGeom prst="rect">
            <a:avLst/>
          </a:prstGeom>
          <a:noFill/>
          <a:ln/>
        </p:spPr>
        <p:txBody>
          <a:bodyPr wrap="square" lIns="0" tIns="0" rIns="0" bIns="0" rtlCol="0" anchor="t"/>
          <a:lstStyle/>
          <a:p>
            <a:pPr indent="0" marL="0">
              <a:buNone/>
            </a:pPr>
            <a:r>
              <a:rPr lang="en-US" sz="1300" dirty="0">
                <a:solidFill>
                  <a:schemeClr val="tx1"/>
                </a:solidFill>
              </a:rPr>
              <a:t>Every certificate in Git — is it already in S3?</a:t>
            </a:r>
            <a:endParaRPr lang="en-US" sz="1300" dirty="0"/>
          </a:p>
        </p:txBody>
      </p:sp>
      <p:pic>
        <p:nvPicPr>
          <p:cNvPr id="16" name="Image 4" descr="preencoded.png">    </p:cNvPr>
          <p:cNvPicPr>
            <a:picLocks noChangeAspect="1"/>
          </p:cNvPicPr>
          <p:nvPr/>
        </p:nvPicPr>
        <p:blipFill>
          <a:blip r:embed="rId5"/>
          <a:stretch>
            <a:fillRect/>
          </a:stretch>
        </p:blipFill>
        <p:spPr>
          <a:xfrm>
            <a:off x="566928" y="4344289"/>
            <a:ext cx="219456" cy="219456"/>
          </a:xfrm>
          <a:prstGeom prst="rect">
            <a:avLst/>
          </a:prstGeom>
        </p:spPr>
      </p:pic>
      <p:sp>
        <p:nvSpPr>
          <p:cNvPr id="17" name="Text 10"/>
          <p:cNvSpPr txBox="1"/>
          <p:nvPr/>
        </p:nvSpPr>
        <p:spPr>
          <a:xfrm>
            <a:off x="914400" y="4344162"/>
            <a:ext cx="4526280" cy="256286"/>
          </a:xfrm>
          <a:prstGeom prst="rect">
            <a:avLst/>
          </a:prstGeom>
          <a:noFill/>
          <a:ln/>
        </p:spPr>
        <p:txBody>
          <a:bodyPr wrap="square" lIns="0" tIns="0" rIns="0" bIns="0" rtlCol="0" anchor="t"/>
          <a:lstStyle/>
          <a:p>
            <a:pPr indent="0" marL="0">
              <a:buNone/>
            </a:pPr>
            <a:r>
              <a:rPr lang="en-US" sz="1300" dirty="0">
                <a:solidFill>
                  <a:schemeClr val="tx1"/>
                </a:solidFill>
              </a:rPr>
              <a:t>Extras in S3: certificates that would be removed</a:t>
            </a:r>
            <a:endParaRPr lang="en-US" sz="1300" dirty="0"/>
          </a:p>
        </p:txBody>
      </p:sp>
      <p:pic>
        <p:nvPicPr>
          <p:cNvPr id="18" name="Image 5" descr="preencoded.png">    </p:cNvPr>
          <p:cNvPicPr>
            <a:picLocks noChangeAspect="1"/>
          </p:cNvPicPr>
          <p:nvPr/>
        </p:nvPicPr>
        <p:blipFill>
          <a:blip r:embed="rId6"/>
          <a:stretch>
            <a:fillRect/>
          </a:stretch>
        </p:blipFill>
        <p:spPr>
          <a:xfrm>
            <a:off x="566928" y="4664583"/>
            <a:ext cx="219456" cy="219456"/>
          </a:xfrm>
          <a:prstGeom prst="rect">
            <a:avLst/>
          </a:prstGeom>
        </p:spPr>
      </p:pic>
      <p:sp>
        <p:nvSpPr>
          <p:cNvPr id="19" name="Text 11"/>
          <p:cNvSpPr txBox="1"/>
          <p:nvPr/>
        </p:nvSpPr>
        <p:spPr>
          <a:xfrm>
            <a:off x="914400" y="4664456"/>
            <a:ext cx="4526280" cy="256286"/>
          </a:xfrm>
          <a:prstGeom prst="rect">
            <a:avLst/>
          </a:prstGeom>
          <a:noFill/>
          <a:ln/>
        </p:spPr>
        <p:txBody>
          <a:bodyPr wrap="square" lIns="0" tIns="0" rIns="0" bIns="0" rtlCol="0" anchor="t"/>
          <a:lstStyle/>
          <a:p>
            <a:pPr indent="0" marL="0">
              <a:buNone/>
            </a:pPr>
            <a:r>
              <a:rPr lang="en-US" sz="1300" dirty="0">
                <a:solidFill>
                  <a:schemeClr val="tx1"/>
                </a:solidFill>
              </a:rPr>
              <a:t>Summary: how many would be added and removed</a:t>
            </a:r>
            <a:endParaRPr lang="en-US" sz="1300" dirty="0"/>
          </a:p>
        </p:txBody>
      </p:sp>
      <p:sp>
        <p:nvSpPr>
          <p:cNvPr id="20" name="Text 12"/>
          <p:cNvSpPr txBox="1"/>
          <p:nvPr/>
        </p:nvSpPr>
        <p:spPr>
          <a:xfrm>
            <a:off x="548640" y="5029200"/>
            <a:ext cx="4892040" cy="274320"/>
          </a:xfrm>
          <a:prstGeom prst="rect">
            <a:avLst/>
          </a:prstGeom>
          <a:noFill/>
          <a:ln/>
        </p:spPr>
        <p:txBody>
          <a:bodyPr wrap="square" lIns="0" tIns="0" rIns="0" bIns="0" rtlCol="0" anchor="t"/>
          <a:lstStyle/>
          <a:p>
            <a:pPr indent="0" marL="0">
              <a:buNone/>
            </a:pPr>
            <a:r>
              <a:rPr lang="en-US" sz="1300" b="1" dirty="0">
                <a:solidFill>
                  <a:schemeClr val="tx2"/>
                </a:solidFill>
              </a:rPr>
              <a:t>How to read the remarks</a:t>
            </a:r>
            <a:endParaRPr lang="en-US" sz="1300" dirty="0"/>
          </a:p>
        </p:txBody>
      </p:sp>
      <p:sp>
        <p:nvSpPr>
          <p:cNvPr id="21" name="Remark: Exists in Git / prod"/>
          <p:cNvSpPr/>
          <p:nvPr/>
        </p:nvSpPr>
        <p:spPr>
          <a:xfrm>
            <a:off x="548640" y="5349240"/>
            <a:ext cx="1572768" cy="868680"/>
          </a:xfrm>
          <a:prstGeom prst="roundRect">
            <a:avLst>
              <a:gd name="adj" fmla="val 10526"/>
            </a:avLst>
          </a:prstGeom>
          <a:solidFill>
            <a:schemeClr val="accent1">
              <a:alpha val="12000"/>
            </a:schemeClr>
          </a:solidFill>
          <a:ln/>
        </p:spPr>
      </p:sp>
      <p:pic>
        <p:nvPicPr>
          <p:cNvPr id="22" name="Image 6" descr="preencoded.png">    </p:cNvPr>
          <p:cNvPicPr>
            <a:picLocks noChangeAspect="1"/>
          </p:cNvPicPr>
          <p:nvPr/>
        </p:nvPicPr>
        <p:blipFill>
          <a:blip r:embed="rId7"/>
          <a:stretch>
            <a:fillRect/>
          </a:stretch>
        </p:blipFill>
        <p:spPr>
          <a:xfrm>
            <a:off x="658368" y="5458968"/>
            <a:ext cx="201168" cy="201168"/>
          </a:xfrm>
          <a:prstGeom prst="rect">
            <a:avLst/>
          </a:prstGeom>
        </p:spPr>
      </p:pic>
      <p:sp>
        <p:nvSpPr>
          <p:cNvPr id="23" name="Text 14"/>
          <p:cNvSpPr txBox="1"/>
          <p:nvPr/>
        </p:nvSpPr>
        <p:spPr>
          <a:xfrm>
            <a:off x="658368" y="5687568"/>
            <a:ext cx="1417320" cy="502920"/>
          </a:xfrm>
          <a:prstGeom prst="rect">
            <a:avLst/>
          </a:prstGeom>
          <a:noFill/>
          <a:ln/>
        </p:spPr>
        <p:txBody>
          <a:bodyPr wrap="square" lIns="0" tIns="0" rIns="0" bIns="0" rtlCol="0" anchor="t"/>
          <a:lstStyle/>
          <a:p>
            <a:pPr indent="0" marL="0">
              <a:buNone/>
            </a:pPr>
            <a:r>
              <a:rPr lang="en-US" sz="1200" b="1" dirty="0">
                <a:solidFill>
                  <a:schemeClr val="tx1"/>
                </a:solidFill>
              </a:rPr>
              <a:t>Exists in Git / prod</a:t>
            </a:r>
            <a:endParaRPr lang="en-US" sz="1400" dirty="0"/>
          </a:p>
          <a:p>
            <a:pPr indent="0" marL="0">
              <a:buNone/>
            </a:pPr>
            <a:r>
              <a:rPr lang="en-US" sz="1150" dirty="0">
                <a:solidFill>
                  <a:schemeClr val="tx2"/>
                </a:solidFill>
              </a:rPr>
              <a:t>no change</a:t>
            </a:r>
            <a:endParaRPr lang="en-US" sz="1400" dirty="0"/>
          </a:p>
        </p:txBody>
      </p:sp>
      <p:sp>
        <p:nvSpPr>
          <p:cNvPr id="24" name="Remark: Not present in prod"/>
          <p:cNvSpPr/>
          <p:nvPr/>
        </p:nvSpPr>
        <p:spPr>
          <a:xfrm>
            <a:off x="2210105" y="5349240"/>
            <a:ext cx="1572768" cy="868680"/>
          </a:xfrm>
          <a:prstGeom prst="roundRect">
            <a:avLst>
              <a:gd name="adj" fmla="val 10526"/>
            </a:avLst>
          </a:prstGeom>
          <a:solidFill>
            <a:schemeClr val="accent4">
              <a:alpha val="12000"/>
            </a:schemeClr>
          </a:solidFill>
          <a:ln/>
        </p:spPr>
      </p:sp>
      <p:pic>
        <p:nvPicPr>
          <p:cNvPr id="25" name="Image 7" descr="preencoded.png">    </p:cNvPr>
          <p:cNvPicPr>
            <a:picLocks noChangeAspect="1"/>
          </p:cNvPicPr>
          <p:nvPr/>
        </p:nvPicPr>
        <p:blipFill>
          <a:blip r:embed="rId8"/>
          <a:stretch>
            <a:fillRect/>
          </a:stretch>
        </p:blipFill>
        <p:spPr>
          <a:xfrm>
            <a:off x="2319833" y="5458968"/>
            <a:ext cx="201168" cy="201168"/>
          </a:xfrm>
          <a:prstGeom prst="rect">
            <a:avLst/>
          </a:prstGeom>
        </p:spPr>
      </p:pic>
      <p:sp>
        <p:nvSpPr>
          <p:cNvPr id="26" name="Text 16"/>
          <p:cNvSpPr txBox="1"/>
          <p:nvPr/>
        </p:nvSpPr>
        <p:spPr>
          <a:xfrm>
            <a:off x="2319833" y="5687568"/>
            <a:ext cx="1417320" cy="502920"/>
          </a:xfrm>
          <a:prstGeom prst="rect">
            <a:avLst/>
          </a:prstGeom>
          <a:noFill/>
          <a:ln/>
        </p:spPr>
        <p:txBody>
          <a:bodyPr wrap="square" lIns="0" tIns="0" rIns="0" bIns="0" rtlCol="0" anchor="t"/>
          <a:lstStyle/>
          <a:p>
            <a:pPr indent="0" marL="0">
              <a:buNone/>
            </a:pPr>
            <a:r>
              <a:rPr lang="en-US" sz="1200" b="1" dirty="0">
                <a:solidFill>
                  <a:schemeClr val="tx1"/>
                </a:solidFill>
              </a:rPr>
              <a:t>Not present in prod</a:t>
            </a:r>
            <a:endParaRPr lang="en-US" sz="1400" dirty="0"/>
          </a:p>
          <a:p>
            <a:pPr indent="0" marL="0">
              <a:buNone/>
            </a:pPr>
            <a:r>
              <a:rPr lang="en-US" sz="1150" dirty="0">
                <a:solidFill>
                  <a:schemeClr val="tx2"/>
                </a:solidFill>
              </a:rPr>
              <a:t>will be added</a:t>
            </a:r>
            <a:endParaRPr lang="en-US" sz="1400" dirty="0"/>
          </a:p>
        </p:txBody>
      </p:sp>
      <p:sp>
        <p:nvSpPr>
          <p:cNvPr id="27" name="Remark: Extra in prod"/>
          <p:cNvSpPr/>
          <p:nvPr/>
        </p:nvSpPr>
        <p:spPr>
          <a:xfrm>
            <a:off x="3871570" y="5349240"/>
            <a:ext cx="1572768" cy="868680"/>
          </a:xfrm>
          <a:prstGeom prst="roundRect">
            <a:avLst>
              <a:gd name="adj" fmla="val 10526"/>
            </a:avLst>
          </a:prstGeom>
          <a:solidFill>
            <a:schemeClr val="accent3">
              <a:alpha val="12000"/>
            </a:schemeClr>
          </a:solidFill>
          <a:ln/>
        </p:spPr>
      </p:sp>
      <p:pic>
        <p:nvPicPr>
          <p:cNvPr id="28" name="Image 8" descr="preencoded.png">    </p:cNvPr>
          <p:cNvPicPr>
            <a:picLocks noChangeAspect="1"/>
          </p:cNvPicPr>
          <p:nvPr/>
        </p:nvPicPr>
        <p:blipFill>
          <a:blip r:embed="rId9"/>
          <a:stretch>
            <a:fillRect/>
          </a:stretch>
        </p:blipFill>
        <p:spPr>
          <a:xfrm>
            <a:off x="3981298" y="5458968"/>
            <a:ext cx="201168" cy="201168"/>
          </a:xfrm>
          <a:prstGeom prst="rect">
            <a:avLst/>
          </a:prstGeom>
        </p:spPr>
      </p:pic>
      <p:sp>
        <p:nvSpPr>
          <p:cNvPr id="29" name="Text 18"/>
          <p:cNvSpPr txBox="1"/>
          <p:nvPr/>
        </p:nvSpPr>
        <p:spPr>
          <a:xfrm>
            <a:off x="3981298" y="5687568"/>
            <a:ext cx="1417320" cy="502920"/>
          </a:xfrm>
          <a:prstGeom prst="rect">
            <a:avLst/>
          </a:prstGeom>
          <a:noFill/>
          <a:ln/>
        </p:spPr>
        <p:txBody>
          <a:bodyPr wrap="square" lIns="0" tIns="0" rIns="0" bIns="0" rtlCol="0" anchor="t"/>
          <a:lstStyle/>
          <a:p>
            <a:pPr indent="0" marL="0">
              <a:buNone/>
            </a:pPr>
            <a:r>
              <a:rPr lang="en-US" sz="1200" b="1" dirty="0">
                <a:solidFill>
                  <a:schemeClr val="tx1"/>
                </a:solidFill>
              </a:rPr>
              <a:t>Extra in prod</a:t>
            </a:r>
            <a:endParaRPr lang="en-US" sz="1400" dirty="0"/>
          </a:p>
          <a:p>
            <a:pPr indent="0" marL="0">
              <a:buNone/>
            </a:pPr>
            <a:r>
              <a:rPr lang="en-US" sz="1150" dirty="0">
                <a:solidFill>
                  <a:schemeClr val="tx2"/>
                </a:solidFill>
              </a:rPr>
              <a:t>will be removed</a:t>
            </a:r>
            <a:endParaRPr lang="en-US" sz="1400" dirty="0"/>
          </a:p>
        </p:txBody>
      </p:sp>
      <p:sp>
        <p:nvSpPr>
          <p:cNvPr id="30" name="Screenshot panel"/>
          <p:cNvSpPr/>
          <p:nvPr/>
        </p:nvSpPr>
        <p:spPr>
          <a:xfrm>
            <a:off x="5715000" y="1691640"/>
            <a:ext cx="5925312" cy="3931920"/>
          </a:xfrm>
          <a:prstGeom prst="roundRect">
            <a:avLst>
              <a:gd name="adj" fmla="val 1860"/>
            </a:avLst>
          </a:prstGeom>
          <a:solidFill>
            <a:schemeClr val="bg2"/>
          </a:solidFill>
          <a:ln/>
        </p:spPr>
      </p:sp>
      <p:sp>
        <p:nvSpPr>
          <p:cNvPr id="31" name="Screenshot border"/>
          <p:cNvSpPr/>
          <p:nvPr/>
        </p:nvSpPr>
        <p:spPr>
          <a:xfrm>
            <a:off x="5806440" y="1783080"/>
            <a:ext cx="5742432" cy="2532888"/>
          </a:xfrm>
          <a:prstGeom prst="rect">
            <a:avLst/>
          </a:prstGeom>
          <a:solidFill>
            <a:schemeClr val="bg1"/>
          </a:solidFill>
          <a:ln w="9525">
            <a:solidFill>
              <a:srgbClr val="C9D1DB"/>
            </a:solidFill>
            <a:prstDash val="solid"/>
          </a:ln>
        </p:spPr>
      </p:sp>
      <p:pic>
        <p:nvPicPr>
          <p:cNvPr id="32" name="Image 9" descr="Certificate comparison: bundle inventory">    </p:cNvPr>
          <p:cNvPicPr>
            <a:picLocks noChangeAspect="1"/>
          </p:cNvPicPr>
          <p:nvPr/>
        </p:nvPicPr>
        <p:blipFill>
          <a:blip r:embed="rId10"/>
          <a:stretch>
            <a:fillRect/>
          </a:stretch>
        </p:blipFill>
        <p:spPr>
          <a:xfrm>
            <a:off x="5824728" y="1801368"/>
            <a:ext cx="5705856" cy="2496312"/>
          </a:xfrm>
          <a:prstGeom prst="rect">
            <a:avLst/>
          </a:prstGeom>
        </p:spPr>
      </p:pic>
      <p:sp>
        <p:nvSpPr>
          <p:cNvPr id="33" name="Screenshot border"/>
          <p:cNvSpPr/>
          <p:nvPr/>
        </p:nvSpPr>
        <p:spPr>
          <a:xfrm>
            <a:off x="5806440" y="4407408"/>
            <a:ext cx="4051423" cy="1124712"/>
          </a:xfrm>
          <a:prstGeom prst="rect">
            <a:avLst/>
          </a:prstGeom>
          <a:solidFill>
            <a:schemeClr val="bg1"/>
          </a:solidFill>
          <a:ln w="9525">
            <a:solidFill>
              <a:srgbClr val="C9D1DB"/>
            </a:solidFill>
            <a:prstDash val="solid"/>
          </a:ln>
        </p:spPr>
      </p:sp>
      <p:pic>
        <p:nvPicPr>
          <p:cNvPr id="34" name="Image 10" descr="Certificate comparison: extras and summary">    </p:cNvPr>
          <p:cNvPicPr>
            <a:picLocks noChangeAspect="1"/>
          </p:cNvPicPr>
          <p:nvPr/>
        </p:nvPicPr>
        <p:blipFill>
          <a:blip r:embed="rId11"/>
          <a:stretch>
            <a:fillRect/>
          </a:stretch>
        </p:blipFill>
        <p:spPr>
          <a:xfrm>
            <a:off x="5824728" y="4425696"/>
            <a:ext cx="4014847" cy="1088136"/>
          </a:xfrm>
          <a:prstGeom prst="rect">
            <a:avLst/>
          </a:prstGeom>
        </p:spPr>
      </p:pic>
      <p:sp>
        <p:nvSpPr>
          <p:cNvPr id="35" name="Text 22"/>
          <p:cNvSpPr txBox="1"/>
          <p:nvPr/>
        </p:nvSpPr>
        <p:spPr>
          <a:xfrm>
            <a:off x="5715000" y="5696712"/>
            <a:ext cx="5925312" cy="548640"/>
          </a:xfrm>
          <a:prstGeom prst="rect">
            <a:avLst/>
          </a:prstGeom>
          <a:noFill/>
          <a:ln/>
        </p:spPr>
        <p:txBody>
          <a:bodyPr wrap="square" lIns="0" tIns="0" rIns="0" bIns="0" rtlCol="0" anchor="t"/>
          <a:lstStyle/>
          <a:p>
            <a:pPr indent="0" marL="0">
              <a:buNone/>
            </a:pPr>
            <a:r>
              <a:rPr lang="en-US" sz="1300" b="1" dirty="0">
                <a:solidFill>
                  <a:schemeClr val="tx1"/>
                </a:solidFill>
              </a:rPr>
              <a:t>Comparison report</a:t>
            </a:r>
            <a:pPr indent="0" marL="0">
              <a:buNone/>
            </a:pPr>
            <a:r>
              <a:rPr lang="en-US" sz="1200" dirty="0">
                <a:solidFill>
                  <a:schemeClr val="tx2"/>
                </a:solidFill>
              </a:rPr>
              <a:t>  from a real prd run (Apply = no): inventory, then the summary</a:t>
            </a:r>
            <a:endParaRPr lang="en-US" sz="1400" dirty="0"/>
          </a:p>
        </p:txBody>
      </p:sp>
      <p:sp>
        <p:nvSpPr>
          <p:cNvPr id="25" name="Slide Number Placeholder 0"/>
          <p:cNvSpPr>
            <a:spLocks noGrp="1"/>
          </p:cNvSpPr>
          <p:nvPr>
            <p:ph type="sldNum" sz="quarter" idx="4294967295"/>
          </p:nvPr>
        </p:nvSpPr>
        <p:spPr>
          <a:xfrm>
            <a:off x="11000232" y="647395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144000" cy="713232"/>
          </a:xfrm>
          <a:prstGeom prst="rect">
            <a:avLst/>
          </a:prstGeom>
          <a:noFill/>
          <a:ln/>
        </p:spPr>
        <p:txBody>
          <a:bodyPr wrap="square" lIns="0" tIns="0" rIns="0" bIns="0" rtlCol="0" anchor="ctr"/>
          <a:lstStyle/>
          <a:p>
            <a:pPr algn="l" indent="0" marL="0">
              <a:buNone/>
            </a:pPr>
            <a:r>
              <a:rPr lang="en-US" sz="3400" b="1" dirty="0">
                <a:solidFill>
                  <a:schemeClr val="tx1"/>
                </a:solidFill>
              </a:rPr>
              <a:t>Certificate by certificate</a:t>
            </a: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lIns="0" tIns="0" rIns="0" bIns="0" rtlCol="0" anchor="t"/>
          <a:lstStyle/>
          <a:p>
            <a:pPr indent="0" marL="0">
              <a:buNone/>
            </a:pPr>
            <a:r>
              <a:rPr lang="en-US" sz="1500" dirty="0">
                <a:solidFill>
                  <a:schemeClr val="tx2"/>
                </a:solidFill>
              </a:rPr>
              <a:t>From a real prd run with Apply = no — every certificate validated, then matched by fingerprint</a:t>
            </a:r>
            <a:endParaRPr lang="en-US" sz="1500" dirty="0"/>
          </a:p>
        </p:txBody>
      </p:sp>
      <p:sp>
        <p:nvSpPr>
          <p:cNvPr id="4" name="Text 2"/>
          <p:cNvSpPr txBox="1"/>
          <p:nvPr/>
        </p:nvSpPr>
        <p:spPr>
          <a:xfrm>
            <a:off x="9811512" y="566928"/>
            <a:ext cx="1828800" cy="347472"/>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spc="150" kern="0" dirty="0">
                <a:solidFill>
                  <a:schemeClr val="bg1"/>
                </a:solidFill>
              </a:rPr>
              <a:t>TRUST STORE</a:t>
            </a:r>
            <a:endParaRPr lang="en-US" sz="1100" dirty="0"/>
          </a:p>
        </p:txBody>
      </p:sp>
      <p:sp>
        <p:nvSpPr>
          <p:cNvPr id="5" name="Text 3"/>
          <p:cNvSpPr txBox="1"/>
          <p:nvPr/>
        </p:nvSpPr>
        <p:spPr>
          <a:xfrm>
            <a:off x="548640" y="1627632"/>
            <a:ext cx="11091672" cy="274320"/>
          </a:xfrm>
          <a:prstGeom prst="rect">
            <a:avLst/>
          </a:prstGeom>
          <a:noFill/>
          <a:ln/>
        </p:spPr>
        <p:txBody>
          <a:bodyPr wrap="square" lIns="0" tIns="0" rIns="0" bIns="0" rtlCol="0" anchor="t"/>
          <a:lstStyle/>
          <a:p>
            <a:pPr indent="0" marL="0">
              <a:buNone/>
            </a:pPr>
            <a:r>
              <a:rPr lang="en-US" sz="1300" b="1" dirty="0">
                <a:solidFill>
                  <a:schemeClr val="accent1"/>
                </a:solidFill>
              </a:rPr>
              <a:t>Compare  </a:t>
            </a:r>
            <a:pPr indent="0" marL="0">
              <a:buNone/>
            </a:pPr>
            <a:r>
              <a:rPr lang="en-US" sz="1300" dirty="0">
                <a:solidFill>
                  <a:schemeClr val="tx2"/>
                </a:solidFill>
              </a:rPr>
              <a:t>every certificate in Git, matched to the same certificate in production</a:t>
            </a:r>
            <a:endParaRPr lang="en-US" sz="1300" dirty="0"/>
          </a:p>
        </p:txBody>
      </p:sp>
      <p:sp>
        <p:nvSpPr>
          <p:cNvPr id="6" name="Screenshot border"/>
          <p:cNvSpPr/>
          <p:nvPr/>
        </p:nvSpPr>
        <p:spPr>
          <a:xfrm>
            <a:off x="548640" y="1938528"/>
            <a:ext cx="11091672" cy="1736822"/>
          </a:xfrm>
          <a:prstGeom prst="rect">
            <a:avLst/>
          </a:prstGeom>
          <a:solidFill>
            <a:schemeClr val="bg1"/>
          </a:solidFill>
          <a:ln w="9525">
            <a:solidFill>
              <a:srgbClr val="C9D1DB"/>
            </a:solidFill>
            <a:prstDash val="solid"/>
          </a:ln>
        </p:spPr>
      </p:sp>
      <p:pic>
        <p:nvPicPr>
          <p:cNvPr id="7" name="Image 0" descr="Side-by-side comparison of every Git certificate with production">    </p:cNvPr>
          <p:cNvPicPr>
            <a:picLocks noChangeAspect="1"/>
          </p:cNvPicPr>
          <p:nvPr/>
        </p:nvPicPr>
        <p:blipFill>
          <a:blip r:embed="rId1"/>
          <a:stretch>
            <a:fillRect/>
          </a:stretch>
        </p:blipFill>
        <p:spPr>
          <a:xfrm>
            <a:off x="566928" y="1956816"/>
            <a:ext cx="11055096" cy="1700246"/>
          </a:xfrm>
          <a:prstGeom prst="rect">
            <a:avLst/>
          </a:prstGeom>
        </p:spPr>
      </p:pic>
      <p:sp>
        <p:nvSpPr>
          <p:cNvPr id="8" name="Text 5"/>
          <p:cNvSpPr txBox="1"/>
          <p:nvPr/>
        </p:nvSpPr>
        <p:spPr>
          <a:xfrm>
            <a:off x="548640" y="3839942"/>
            <a:ext cx="11091672" cy="274320"/>
          </a:xfrm>
          <a:prstGeom prst="rect">
            <a:avLst/>
          </a:prstGeom>
          <a:noFill/>
          <a:ln/>
        </p:spPr>
        <p:txBody>
          <a:bodyPr wrap="square" lIns="0" tIns="0" rIns="0" bIns="0" rtlCol="0" anchor="t"/>
          <a:lstStyle/>
          <a:p>
            <a:pPr indent="0" marL="0">
              <a:buNone/>
            </a:pPr>
            <a:r>
              <a:rPr lang="en-US" sz="1300" b="1" dirty="0">
                <a:solidFill>
                  <a:schemeClr val="accent1"/>
                </a:solidFill>
              </a:rPr>
              <a:t>Validate  </a:t>
            </a:r>
            <a:pPr indent="0" marL="0">
              <a:buNone/>
            </a:pPr>
            <a:r>
              <a:rPr lang="en-US" sz="1300" dirty="0">
                <a:solidFill>
                  <a:schemeClr val="tx2"/>
                </a:solidFill>
              </a:rPr>
              <a:t>every certificate in the bundle, with its expiry date and days left</a:t>
            </a:r>
            <a:endParaRPr lang="en-US" sz="1300" dirty="0"/>
          </a:p>
        </p:txBody>
      </p:sp>
      <p:sp>
        <p:nvSpPr>
          <p:cNvPr id="9" name="Screenshot border"/>
          <p:cNvSpPr/>
          <p:nvPr/>
        </p:nvSpPr>
        <p:spPr>
          <a:xfrm>
            <a:off x="548640" y="4150838"/>
            <a:ext cx="6692020" cy="2195098"/>
          </a:xfrm>
          <a:prstGeom prst="rect">
            <a:avLst/>
          </a:prstGeom>
          <a:solidFill>
            <a:schemeClr val="bg1"/>
          </a:solidFill>
          <a:ln w="9525">
            <a:solidFill>
              <a:srgbClr val="C9D1DB"/>
            </a:solidFill>
            <a:prstDash val="solid"/>
          </a:ln>
        </p:spPr>
      </p:sp>
      <p:pic>
        <p:nvPicPr>
          <p:cNvPr id="10" name="Image 1" descr="Validation: every certificate with expiry and days left">    </p:cNvPr>
          <p:cNvPicPr>
            <a:picLocks noChangeAspect="1"/>
          </p:cNvPicPr>
          <p:nvPr/>
        </p:nvPicPr>
        <p:blipFill>
          <a:blip r:embed="rId2"/>
          <a:stretch>
            <a:fillRect/>
          </a:stretch>
        </p:blipFill>
        <p:spPr>
          <a:xfrm>
            <a:off x="566928" y="4169126"/>
            <a:ext cx="6655444" cy="2158522"/>
          </a:xfrm>
          <a:prstGeom prst="rect">
            <a:avLst/>
          </a:prstGeom>
        </p:spPr>
      </p:pic>
      <p:sp>
        <p:nvSpPr>
          <p:cNvPr id="11" name="Expiry at a glance"/>
          <p:cNvSpPr/>
          <p:nvPr/>
        </p:nvSpPr>
        <p:spPr>
          <a:xfrm>
            <a:off x="7542412" y="4169126"/>
            <a:ext cx="4097900" cy="1417320"/>
          </a:xfrm>
          <a:prstGeom prst="roundRect">
            <a:avLst>
              <a:gd name="adj" fmla="val 7742"/>
            </a:avLst>
          </a:prstGeom>
          <a:solidFill>
            <a:schemeClr val="accent1">
              <a:alpha val="8000"/>
            </a:schemeClr>
          </a:solidFill>
          <a:ln/>
        </p:spPr>
      </p:sp>
      <p:sp>
        <p:nvSpPr>
          <p:cNvPr id="12" name="Shape 8"/>
          <p:cNvSpPr/>
          <p:nvPr/>
        </p:nvSpPr>
        <p:spPr>
          <a:xfrm>
            <a:off x="7725292" y="4352006"/>
            <a:ext cx="420624" cy="420624"/>
          </a:xfrm>
          <a:prstGeom prst="ellipse">
            <a:avLst/>
          </a:prstGeom>
          <a:solidFill>
            <a:schemeClr val="accent1"/>
          </a:solidFill>
          <a:ln/>
        </p:spPr>
      </p:sp>
      <p:pic>
        <p:nvPicPr>
          <p:cNvPr id="13" name="Image 2" descr="preencoded.png">    </p:cNvPr>
          <p:cNvPicPr>
            <a:picLocks noChangeAspect="1"/>
          </p:cNvPicPr>
          <p:nvPr/>
        </p:nvPicPr>
        <p:blipFill>
          <a:blip r:embed="rId3"/>
          <a:stretch>
            <a:fillRect/>
          </a:stretch>
        </p:blipFill>
        <p:spPr>
          <a:xfrm>
            <a:off x="7817829" y="4444543"/>
            <a:ext cx="235549" cy="235549"/>
          </a:xfrm>
          <a:prstGeom prst="rect">
            <a:avLst/>
          </a:prstGeom>
        </p:spPr>
      </p:pic>
      <p:sp>
        <p:nvSpPr>
          <p:cNvPr id="14" name="Text 9"/>
          <p:cNvSpPr txBox="1"/>
          <p:nvPr/>
        </p:nvSpPr>
        <p:spPr>
          <a:xfrm>
            <a:off x="8273932" y="4297142"/>
            <a:ext cx="3229220" cy="1188720"/>
          </a:xfrm>
          <a:prstGeom prst="rect">
            <a:avLst/>
          </a:prstGeom>
          <a:noFill/>
          <a:ln/>
        </p:spPr>
        <p:txBody>
          <a:bodyPr wrap="square" lIns="0" tIns="0" rIns="0" bIns="0" rtlCol="0" anchor="t"/>
          <a:lstStyle/>
          <a:p>
            <a:pPr indent="0" marL="0">
              <a:buNone/>
            </a:pPr>
            <a:r>
              <a:rPr lang="en-US" sz="1500" b="1" dirty="0">
                <a:solidFill>
                  <a:schemeClr val="tx1"/>
                </a:solidFill>
              </a:rPr>
              <a:t>Expiry at a glance</a:t>
            </a:r>
            <a:endParaRPr lang="en-US" sz="1400" dirty="0"/>
          </a:p>
          <a:p>
            <a:pPr indent="0" marL="0">
              <a:buNone/>
            </a:pPr>
            <a:r>
              <a:rPr lang="en-US" sz="1300" dirty="0">
                <a:solidFill>
                  <a:schemeClr val="tx2"/>
                </a:solidFill>
              </a:rPr>
              <a:t>The DAYS column shows how long each certificate has left — the starting point for expiry alerts.</a:t>
            </a:r>
            <a:endParaRPr lang="en-US" sz="1400" dirty="0"/>
          </a:p>
        </p:txBody>
      </p:sp>
      <p:sp>
        <p:nvSpPr>
          <p:cNvPr id="25" name="Slide Number Placeholder 0"/>
          <p:cNvSpPr>
            <a:spLocks noGrp="1"/>
          </p:cNvSpPr>
          <p:nvPr>
            <p:ph type="sldNum" sz="quarter" idx="4294967295"/>
          </p:nvPr>
        </p:nvSpPr>
        <p:spPr>
          <a:xfrm>
            <a:off x="11000232" y="647395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144000" cy="713232"/>
          </a:xfrm>
          <a:prstGeom prst="rect">
            <a:avLst/>
          </a:prstGeom>
          <a:noFill/>
          <a:ln/>
        </p:spPr>
        <p:txBody>
          <a:bodyPr wrap="square" lIns="0" tIns="0" rIns="0" bIns="0" rtlCol="0" anchor="ctr"/>
          <a:lstStyle/>
          <a:p>
            <a:pPr algn="l" indent="0" marL="0">
              <a:buNone/>
            </a:pPr>
            <a:r>
              <a:rPr lang="en-US" sz="3400" b="1" dirty="0">
                <a:solidFill>
                  <a:schemeClr val="tx1"/>
                </a:solidFill>
              </a:rPr>
              <a:t>Applying a change, safely</a:t>
            </a: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lIns="0" tIns="0" rIns="0" bIns="0" rtlCol="0" anchor="t"/>
          <a:lstStyle/>
          <a:p>
            <a:pPr indent="0" marL="0">
              <a:buNone/>
            </a:pPr>
            <a:r>
              <a:rPr lang="en-US" sz="1500" dirty="0">
                <a:solidFill>
                  <a:schemeClr val="tx2"/>
                </a:solidFill>
              </a:rPr>
              <a:t>Runs only when someone picks Apply = yes — and keeps every earlier bundle for an easy undo</a:t>
            </a:r>
            <a:endParaRPr lang="en-US" sz="1500" dirty="0"/>
          </a:p>
        </p:txBody>
      </p:sp>
      <p:sp>
        <p:nvSpPr>
          <p:cNvPr id="4" name="Text 2"/>
          <p:cNvSpPr txBox="1"/>
          <p:nvPr/>
        </p:nvSpPr>
        <p:spPr>
          <a:xfrm>
            <a:off x="9811512" y="566928"/>
            <a:ext cx="1828800" cy="347472"/>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spc="150" kern="0" dirty="0">
                <a:solidFill>
                  <a:schemeClr val="bg1"/>
                </a:solidFill>
              </a:rPr>
              <a:t>TRUST STORE</a:t>
            </a:r>
            <a:endParaRPr lang="en-US" sz="1100" dirty="0"/>
          </a:p>
        </p:txBody>
      </p:sp>
      <p:sp>
        <p:nvSpPr>
          <p:cNvPr id="5" name="Shape 3"/>
          <p:cNvSpPr/>
          <p:nvPr/>
        </p:nvSpPr>
        <p:spPr>
          <a:xfrm>
            <a:off x="758952" y="1993392"/>
            <a:ext cx="914" cy="2926080"/>
          </a:xfrm>
          <a:prstGeom prst="line">
            <a:avLst/>
          </a:prstGeom>
          <a:noFill/>
          <a:ln w="31750">
            <a:solidFill>
              <a:schemeClr val="accent6"/>
            </a:solidFill>
            <a:prstDash val="solid"/>
          </a:ln>
        </p:spPr>
      </p:sp>
      <p:sp>
        <p:nvSpPr>
          <p:cNvPr id="6" name="Step 1"/>
          <p:cNvSpPr txBox="1"/>
          <p:nvPr/>
        </p:nvSpPr>
        <p:spPr>
          <a:xfrm>
            <a:off x="548640" y="1783080"/>
            <a:ext cx="420624" cy="42062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5"/>
          <p:cNvSpPr txBox="1"/>
          <p:nvPr/>
        </p:nvSpPr>
        <p:spPr>
          <a:xfrm>
            <a:off x="1143000" y="1764792"/>
            <a:ext cx="6035040" cy="274320"/>
          </a:xfrm>
          <a:prstGeom prst="rect">
            <a:avLst/>
          </a:prstGeom>
          <a:noFill/>
          <a:ln/>
        </p:spPr>
        <p:txBody>
          <a:bodyPr wrap="square" lIns="0" tIns="0" rIns="0" bIns="0" rtlCol="0" anchor="t"/>
          <a:lstStyle/>
          <a:p>
            <a:pPr indent="0" marL="0">
              <a:buNone/>
            </a:pPr>
            <a:r>
              <a:rPr lang="en-US" sz="1500" b="1" dirty="0">
                <a:solidFill>
                  <a:schemeClr val="tx1"/>
                </a:solidFill>
              </a:rPr>
              <a:t>Checks the account again</a:t>
            </a:r>
            <a:endParaRPr lang="en-US" sz="1500" dirty="0"/>
          </a:p>
        </p:txBody>
      </p:sp>
      <p:sp>
        <p:nvSpPr>
          <p:cNvPr id="8" name="Text 6"/>
          <p:cNvSpPr txBox="1"/>
          <p:nvPr/>
        </p:nvSpPr>
        <p:spPr>
          <a:xfrm>
            <a:off x="1143000" y="2039112"/>
            <a:ext cx="6035040" cy="365760"/>
          </a:xfrm>
          <a:prstGeom prst="rect">
            <a:avLst/>
          </a:prstGeom>
          <a:noFill/>
          <a:ln/>
        </p:spPr>
        <p:txBody>
          <a:bodyPr wrap="square" lIns="0" tIns="0" rIns="0" bIns="0" rtlCol="0" anchor="t"/>
          <a:lstStyle/>
          <a:p>
            <a:pPr indent="0" marL="0">
              <a:buNone/>
            </a:pPr>
            <a:r>
              <a:rPr lang="en-US" sz="1300" dirty="0">
                <a:solidFill>
                  <a:schemeClr val="tx2"/>
                </a:solidFill>
              </a:rPr>
              <a:t>The role’s account must match the trust store, or nothing happens</a:t>
            </a:r>
            <a:endParaRPr lang="en-US" sz="1300" dirty="0"/>
          </a:p>
        </p:txBody>
      </p:sp>
      <p:sp>
        <p:nvSpPr>
          <p:cNvPr id="9" name="Step 2"/>
          <p:cNvSpPr txBox="1"/>
          <p:nvPr/>
        </p:nvSpPr>
        <p:spPr>
          <a:xfrm>
            <a:off x="548640" y="2514600"/>
            <a:ext cx="420624" cy="42062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 8"/>
          <p:cNvSpPr txBox="1"/>
          <p:nvPr/>
        </p:nvSpPr>
        <p:spPr>
          <a:xfrm>
            <a:off x="1143000" y="2496312"/>
            <a:ext cx="6035040" cy="274320"/>
          </a:xfrm>
          <a:prstGeom prst="rect">
            <a:avLst/>
          </a:prstGeom>
          <a:noFill/>
          <a:ln/>
        </p:spPr>
        <p:txBody>
          <a:bodyPr wrap="square" lIns="0" tIns="0" rIns="0" bIns="0" rtlCol="0" anchor="t"/>
          <a:lstStyle/>
          <a:p>
            <a:pPr indent="0" marL="0">
              <a:buNone/>
            </a:pPr>
            <a:r>
              <a:rPr lang="en-US" sz="1500" b="1" dirty="0">
                <a:solidFill>
                  <a:schemeClr val="tx1"/>
                </a:solidFill>
              </a:rPr>
              <a:t>Uploads a new bundle file</a:t>
            </a:r>
            <a:endParaRPr lang="en-US" sz="1500" dirty="0"/>
          </a:p>
        </p:txBody>
      </p:sp>
      <p:sp>
        <p:nvSpPr>
          <p:cNvPr id="11" name="Text 9"/>
          <p:cNvSpPr txBox="1"/>
          <p:nvPr/>
        </p:nvSpPr>
        <p:spPr>
          <a:xfrm>
            <a:off x="1143000" y="2770632"/>
            <a:ext cx="6035040" cy="365760"/>
          </a:xfrm>
          <a:prstGeom prst="rect">
            <a:avLst/>
          </a:prstGeom>
          <a:noFill/>
          <a:ln/>
        </p:spPr>
        <p:txBody>
          <a:bodyPr wrap="square" lIns="0" tIns="0" rIns="0" bIns="0" rtlCol="0" anchor="t"/>
          <a:lstStyle/>
          <a:p>
            <a:pPr indent="0" marL="0">
              <a:buNone/>
            </a:pPr>
            <a:r>
              <a:rPr lang="en-US" sz="1300" dirty="0">
                <a:solidFill>
                  <a:schemeClr val="tx2"/>
                </a:solidFill>
              </a:rPr>
              <a:t>Saved as truststore-&lt;run&gt;.pem; earlier files are never overwritten</a:t>
            </a:r>
            <a:endParaRPr lang="en-US" sz="1300" dirty="0"/>
          </a:p>
        </p:txBody>
      </p:sp>
      <p:sp>
        <p:nvSpPr>
          <p:cNvPr id="12" name="Step 3"/>
          <p:cNvSpPr txBox="1"/>
          <p:nvPr/>
        </p:nvSpPr>
        <p:spPr>
          <a:xfrm>
            <a:off x="548640" y="3246120"/>
            <a:ext cx="420624" cy="42062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 11"/>
          <p:cNvSpPr txBox="1"/>
          <p:nvPr/>
        </p:nvSpPr>
        <p:spPr>
          <a:xfrm>
            <a:off x="1143000" y="3227832"/>
            <a:ext cx="6035040" cy="274320"/>
          </a:xfrm>
          <a:prstGeom prst="rect">
            <a:avLst/>
          </a:prstGeom>
          <a:noFill/>
          <a:ln/>
        </p:spPr>
        <p:txBody>
          <a:bodyPr wrap="square" lIns="0" tIns="0" rIns="0" bIns="0" rtlCol="0" anchor="t"/>
          <a:lstStyle/>
          <a:p>
            <a:pPr indent="0" marL="0">
              <a:buNone/>
            </a:pPr>
            <a:r>
              <a:rPr lang="en-US" sz="1500" b="1" dirty="0">
                <a:solidFill>
                  <a:schemeClr val="tx1"/>
                </a:solidFill>
              </a:rPr>
              <a:t>Updates the trust store</a:t>
            </a:r>
            <a:endParaRPr lang="en-US" sz="1500" dirty="0"/>
          </a:p>
        </p:txBody>
      </p:sp>
      <p:sp>
        <p:nvSpPr>
          <p:cNvPr id="14" name="Text 12"/>
          <p:cNvSpPr txBox="1"/>
          <p:nvPr/>
        </p:nvSpPr>
        <p:spPr>
          <a:xfrm>
            <a:off x="1143000" y="3502152"/>
            <a:ext cx="6035040" cy="365760"/>
          </a:xfrm>
          <a:prstGeom prst="rect">
            <a:avLst/>
          </a:prstGeom>
          <a:noFill/>
          <a:ln/>
        </p:spPr>
        <p:txBody>
          <a:bodyPr wrap="square" lIns="0" tIns="0" rIns="0" bIns="0" rtlCol="0" anchor="t"/>
          <a:lstStyle/>
          <a:p>
            <a:pPr indent="0" marL="0">
              <a:buNone/>
            </a:pPr>
            <a:r>
              <a:rPr lang="en-US" sz="1300" dirty="0">
                <a:solidFill>
                  <a:schemeClr val="tx2"/>
                </a:solidFill>
              </a:rPr>
              <a:t>Uses CloudFront’s version check (ETag), so it never overwrites a parallel change</a:t>
            </a:r>
            <a:endParaRPr lang="en-US" sz="1300" dirty="0"/>
          </a:p>
        </p:txBody>
      </p:sp>
      <p:sp>
        <p:nvSpPr>
          <p:cNvPr id="15" name="Step 4"/>
          <p:cNvSpPr txBox="1"/>
          <p:nvPr/>
        </p:nvSpPr>
        <p:spPr>
          <a:xfrm>
            <a:off x="548640" y="3977640"/>
            <a:ext cx="420624" cy="42062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6" name="Text 14"/>
          <p:cNvSpPr txBox="1"/>
          <p:nvPr/>
        </p:nvSpPr>
        <p:spPr>
          <a:xfrm>
            <a:off x="1143000" y="3959352"/>
            <a:ext cx="6035040" cy="274320"/>
          </a:xfrm>
          <a:prstGeom prst="rect">
            <a:avLst/>
          </a:prstGeom>
          <a:noFill/>
          <a:ln/>
        </p:spPr>
        <p:txBody>
          <a:bodyPr wrap="square" lIns="0" tIns="0" rIns="0" bIns="0" rtlCol="0" anchor="t"/>
          <a:lstStyle/>
          <a:p>
            <a:pPr indent="0" marL="0">
              <a:buNone/>
            </a:pPr>
            <a:r>
              <a:rPr lang="en-US" sz="1500" b="1" dirty="0">
                <a:solidFill>
                  <a:schemeClr val="tx1"/>
                </a:solidFill>
              </a:rPr>
              <a:t>Waits for CloudFront</a:t>
            </a:r>
            <a:endParaRPr lang="en-US" sz="1500" dirty="0"/>
          </a:p>
        </p:txBody>
      </p:sp>
      <p:sp>
        <p:nvSpPr>
          <p:cNvPr id="17" name="Text 15"/>
          <p:cNvSpPr txBox="1"/>
          <p:nvPr/>
        </p:nvSpPr>
        <p:spPr>
          <a:xfrm>
            <a:off x="1143000" y="4233672"/>
            <a:ext cx="6035040" cy="365760"/>
          </a:xfrm>
          <a:prstGeom prst="rect">
            <a:avLst/>
          </a:prstGeom>
          <a:noFill/>
          <a:ln/>
        </p:spPr>
        <p:txBody>
          <a:bodyPr wrap="square" lIns="0" tIns="0" rIns="0" bIns="0" rtlCol="0" anchor="t"/>
          <a:lstStyle/>
          <a:p>
            <a:pPr indent="0" marL="0">
              <a:buNone/>
            </a:pPr>
            <a:r>
              <a:rPr lang="en-US" sz="1300" dirty="0">
                <a:solidFill>
                  <a:schemeClr val="tx2"/>
                </a:solidFill>
              </a:rPr>
              <a:t>Checks every 15 seconds until the trust store is Active, for up to 30 minutes</a:t>
            </a:r>
            <a:endParaRPr lang="en-US" sz="1300" dirty="0"/>
          </a:p>
        </p:txBody>
      </p:sp>
      <p:sp>
        <p:nvSpPr>
          <p:cNvPr id="18" name="Step 5"/>
          <p:cNvSpPr txBox="1"/>
          <p:nvPr/>
        </p:nvSpPr>
        <p:spPr>
          <a:xfrm>
            <a:off x="548640" y="4709160"/>
            <a:ext cx="420624" cy="42062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9" name="Text 17"/>
          <p:cNvSpPr txBox="1"/>
          <p:nvPr/>
        </p:nvSpPr>
        <p:spPr>
          <a:xfrm>
            <a:off x="1143000" y="4690872"/>
            <a:ext cx="6035040" cy="274320"/>
          </a:xfrm>
          <a:prstGeom prst="rect">
            <a:avLst/>
          </a:prstGeom>
          <a:noFill/>
          <a:ln/>
        </p:spPr>
        <p:txBody>
          <a:bodyPr wrap="square" lIns="0" tIns="0" rIns="0" bIns="0" rtlCol="0" anchor="t"/>
          <a:lstStyle/>
          <a:p>
            <a:pPr indent="0" marL="0">
              <a:buNone/>
            </a:pPr>
            <a:r>
              <a:rPr lang="en-US" sz="1500" b="1" dirty="0">
                <a:solidFill>
                  <a:schemeClr val="tx1"/>
                </a:solidFill>
              </a:rPr>
              <a:t>Records the result</a:t>
            </a:r>
            <a:endParaRPr lang="en-US" sz="1500" dirty="0"/>
          </a:p>
        </p:txBody>
      </p:sp>
      <p:sp>
        <p:nvSpPr>
          <p:cNvPr id="20" name="Text 18"/>
          <p:cNvSpPr txBox="1"/>
          <p:nvPr/>
        </p:nvSpPr>
        <p:spPr>
          <a:xfrm>
            <a:off x="1143000" y="4965192"/>
            <a:ext cx="6035040" cy="365760"/>
          </a:xfrm>
          <a:prstGeom prst="rect">
            <a:avLst/>
          </a:prstGeom>
          <a:noFill/>
          <a:ln/>
        </p:spPr>
        <p:txBody>
          <a:bodyPr wrap="square" lIns="0" tIns="0" rIns="0" bIns="0" rtlCol="0" anchor="t"/>
          <a:lstStyle/>
          <a:p>
            <a:pPr indent="0" marL="0">
              <a:buNone/>
            </a:pPr>
            <a:r>
              <a:rPr lang="en-US" sz="1300" dirty="0">
                <a:solidFill>
                  <a:schemeClr val="tx2"/>
                </a:solidFill>
              </a:rPr>
              <a:t>Environment, trust store, new bundle file and final status in the run summary</a:t>
            </a:r>
            <a:endParaRPr lang="en-US" sz="1300" dirty="0"/>
          </a:p>
        </p:txBody>
      </p:sp>
      <p:sp>
        <p:nvSpPr>
          <p:cNvPr id="21" name="Easy undo"/>
          <p:cNvSpPr/>
          <p:nvPr/>
        </p:nvSpPr>
        <p:spPr>
          <a:xfrm>
            <a:off x="548640" y="5486400"/>
            <a:ext cx="6629400" cy="777240"/>
          </a:xfrm>
          <a:prstGeom prst="roundRect">
            <a:avLst>
              <a:gd name="adj" fmla="val 14118"/>
            </a:avLst>
          </a:prstGeom>
          <a:solidFill>
            <a:schemeClr val="accent1">
              <a:alpha val="10000"/>
            </a:schemeClr>
          </a:solidFill>
          <a:ln/>
        </p:spPr>
      </p:sp>
      <p:pic>
        <p:nvPicPr>
          <p:cNvPr id="22" name="Image 0" descr="preencoded.png">    </p:cNvPr>
          <p:cNvPicPr>
            <a:picLocks noChangeAspect="1"/>
          </p:cNvPicPr>
          <p:nvPr/>
        </p:nvPicPr>
        <p:blipFill>
          <a:blip r:embed="rId1"/>
          <a:stretch>
            <a:fillRect/>
          </a:stretch>
        </p:blipFill>
        <p:spPr>
          <a:xfrm>
            <a:off x="749808" y="5705856"/>
            <a:ext cx="329184" cy="329184"/>
          </a:xfrm>
          <a:prstGeom prst="rect">
            <a:avLst/>
          </a:prstGeom>
        </p:spPr>
      </p:pic>
      <p:sp>
        <p:nvSpPr>
          <p:cNvPr id="23" name="Text 20"/>
          <p:cNvSpPr txBox="1"/>
          <p:nvPr/>
        </p:nvSpPr>
        <p:spPr>
          <a:xfrm>
            <a:off x="1234440" y="5486400"/>
            <a:ext cx="5806440" cy="777240"/>
          </a:xfrm>
          <a:prstGeom prst="rect">
            <a:avLst/>
          </a:prstGeom>
          <a:noFill/>
          <a:ln/>
        </p:spPr>
        <p:txBody>
          <a:bodyPr wrap="square" lIns="0" tIns="0" rIns="0" bIns="0" rtlCol="0" anchor="ctr"/>
          <a:lstStyle/>
          <a:p>
            <a:pPr indent="0" marL="0">
              <a:buNone/>
            </a:pPr>
            <a:r>
              <a:rPr lang="en-US" sz="1400" b="1" dirty="0">
                <a:solidFill>
                  <a:schemeClr val="tx1"/>
                </a:solidFill>
              </a:rPr>
              <a:t>Easy undo:  </a:t>
            </a:r>
            <a:pPr indent="0" marL="0">
              <a:buNone/>
            </a:pPr>
            <a:r>
              <a:rPr lang="en-US" sz="1400" dirty="0">
                <a:solidFill>
                  <a:schemeClr val="tx1"/>
                </a:solidFill>
              </a:rPr>
              <a:t>revert the change in Git and run again — or point the trust store back to the previous bundle file, still in S3.</a:t>
            </a:r>
            <a:endParaRPr lang="en-US" sz="1400" dirty="0"/>
          </a:p>
        </p:txBody>
      </p:sp>
      <p:sp>
        <p:nvSpPr>
          <p:cNvPr id="24" name="The run summary records"/>
          <p:cNvSpPr/>
          <p:nvPr/>
        </p:nvSpPr>
        <p:spPr>
          <a:xfrm>
            <a:off x="7498080" y="1691640"/>
            <a:ext cx="4142232" cy="2377440"/>
          </a:xfrm>
          <a:prstGeom prst="roundRect">
            <a:avLst>
              <a:gd name="adj" fmla="val 4615"/>
            </a:avLst>
          </a:prstGeom>
          <a:solidFill>
            <a:schemeClr val="bg2"/>
          </a:solidFill>
          <a:ln/>
        </p:spPr>
      </p:sp>
      <p:sp>
        <p:nvSpPr>
          <p:cNvPr id="25" name="Shape 22"/>
          <p:cNvSpPr/>
          <p:nvPr/>
        </p:nvSpPr>
        <p:spPr>
          <a:xfrm>
            <a:off x="7699248" y="1874520"/>
            <a:ext cx="420624" cy="420624"/>
          </a:xfrm>
          <a:prstGeom prst="ellipse">
            <a:avLst/>
          </a:prstGeom>
          <a:solidFill>
            <a:schemeClr val="accent1"/>
          </a:solidFill>
          <a:ln/>
        </p:spPr>
      </p:sp>
      <p:pic>
        <p:nvPicPr>
          <p:cNvPr id="26" name="Image 1" descr="preencoded.png">    </p:cNvPr>
          <p:cNvPicPr>
            <a:picLocks noChangeAspect="1"/>
          </p:cNvPicPr>
          <p:nvPr/>
        </p:nvPicPr>
        <p:blipFill>
          <a:blip r:embed="rId2"/>
          <a:stretch>
            <a:fillRect/>
          </a:stretch>
        </p:blipFill>
        <p:spPr>
          <a:xfrm>
            <a:off x="7791785" y="1967057"/>
            <a:ext cx="235549" cy="235549"/>
          </a:xfrm>
          <a:prstGeom prst="rect">
            <a:avLst/>
          </a:prstGeom>
        </p:spPr>
      </p:pic>
      <p:sp>
        <p:nvSpPr>
          <p:cNvPr id="27" name="Text 23"/>
          <p:cNvSpPr txBox="1"/>
          <p:nvPr/>
        </p:nvSpPr>
        <p:spPr>
          <a:xfrm>
            <a:off x="8229600" y="1874520"/>
            <a:ext cx="3291840" cy="420624"/>
          </a:xfrm>
          <a:prstGeom prst="rect">
            <a:avLst/>
          </a:prstGeom>
          <a:noFill/>
          <a:ln/>
        </p:spPr>
        <p:txBody>
          <a:bodyPr wrap="square" lIns="0" tIns="0" rIns="0" bIns="0" rtlCol="0" anchor="ctr"/>
          <a:lstStyle/>
          <a:p>
            <a:pPr indent="0" marL="0">
              <a:buNone/>
            </a:pPr>
            <a:r>
              <a:rPr lang="en-US" sz="1600" b="1" dirty="0">
                <a:solidFill>
                  <a:schemeClr val="tx1"/>
                </a:solidFill>
              </a:rPr>
              <a:t>The run summary records</a:t>
            </a:r>
            <a:endParaRPr lang="en-US" sz="1600" dirty="0"/>
          </a:p>
        </p:txBody>
      </p:sp>
      <p:pic>
        <p:nvPicPr>
          <p:cNvPr id="28" name="Image 2" descr="preencoded.png">    </p:cNvPr>
          <p:cNvPicPr>
            <a:picLocks noChangeAspect="1"/>
          </p:cNvPicPr>
          <p:nvPr/>
        </p:nvPicPr>
        <p:blipFill>
          <a:blip r:embed="rId3"/>
          <a:stretch>
            <a:fillRect/>
          </a:stretch>
        </p:blipFill>
        <p:spPr>
          <a:xfrm>
            <a:off x="7726680" y="2495042"/>
            <a:ext cx="219456" cy="219456"/>
          </a:xfrm>
          <a:prstGeom prst="rect">
            <a:avLst/>
          </a:prstGeom>
        </p:spPr>
      </p:pic>
      <p:sp>
        <p:nvSpPr>
          <p:cNvPr id="29" name="Text 24"/>
          <p:cNvSpPr txBox="1"/>
          <p:nvPr/>
        </p:nvSpPr>
        <p:spPr>
          <a:xfrm>
            <a:off x="8074152" y="2487168"/>
            <a:ext cx="3401568" cy="271780"/>
          </a:xfrm>
          <a:prstGeom prst="rect">
            <a:avLst/>
          </a:prstGeom>
          <a:noFill/>
          <a:ln/>
        </p:spPr>
        <p:txBody>
          <a:bodyPr wrap="square" lIns="0" tIns="0" rIns="0" bIns="0" rtlCol="0" anchor="t"/>
          <a:lstStyle/>
          <a:p>
            <a:pPr indent="0" marL="0">
              <a:buNone/>
            </a:pPr>
            <a:r>
              <a:rPr lang="en-US" sz="1400" dirty="0">
                <a:solidFill>
                  <a:schemeClr val="tx1"/>
                </a:solidFill>
              </a:rPr>
              <a:t>The environment and trust store</a:t>
            </a:r>
            <a:endParaRPr lang="en-US" sz="1400" dirty="0"/>
          </a:p>
        </p:txBody>
      </p:sp>
      <p:pic>
        <p:nvPicPr>
          <p:cNvPr id="30" name="Image 3" descr="preencoded.png">    </p:cNvPr>
          <p:cNvPicPr>
            <a:picLocks noChangeAspect="1"/>
          </p:cNvPicPr>
          <p:nvPr/>
        </p:nvPicPr>
        <p:blipFill>
          <a:blip r:embed="rId4"/>
          <a:stretch>
            <a:fillRect/>
          </a:stretch>
        </p:blipFill>
        <p:spPr>
          <a:xfrm>
            <a:off x="7726680" y="2839974"/>
            <a:ext cx="219456" cy="219456"/>
          </a:xfrm>
          <a:prstGeom prst="rect">
            <a:avLst/>
          </a:prstGeom>
        </p:spPr>
      </p:pic>
      <p:sp>
        <p:nvSpPr>
          <p:cNvPr id="31" name="Text 25"/>
          <p:cNvSpPr txBox="1"/>
          <p:nvPr/>
        </p:nvSpPr>
        <p:spPr>
          <a:xfrm>
            <a:off x="8074152" y="2832100"/>
            <a:ext cx="3401568" cy="271780"/>
          </a:xfrm>
          <a:prstGeom prst="rect">
            <a:avLst/>
          </a:prstGeom>
          <a:noFill/>
          <a:ln/>
        </p:spPr>
        <p:txBody>
          <a:bodyPr wrap="square" lIns="0" tIns="0" rIns="0" bIns="0" rtlCol="0" anchor="t"/>
          <a:lstStyle/>
          <a:p>
            <a:pPr indent="0" marL="0">
              <a:buNone/>
            </a:pPr>
            <a:r>
              <a:rPr lang="en-US" sz="1400" dirty="0">
                <a:solidFill>
                  <a:schemeClr val="tx1"/>
                </a:solidFill>
              </a:rPr>
              <a:t>The new bundle file now in use</a:t>
            </a:r>
            <a:endParaRPr lang="en-US" sz="1400" dirty="0"/>
          </a:p>
        </p:txBody>
      </p:sp>
      <p:pic>
        <p:nvPicPr>
          <p:cNvPr id="32" name="Image 4" descr="preencoded.png">    </p:cNvPr>
          <p:cNvPicPr>
            <a:picLocks noChangeAspect="1"/>
          </p:cNvPicPr>
          <p:nvPr/>
        </p:nvPicPr>
        <p:blipFill>
          <a:blip r:embed="rId5"/>
          <a:stretch>
            <a:fillRect/>
          </a:stretch>
        </p:blipFill>
        <p:spPr>
          <a:xfrm>
            <a:off x="7726680" y="3184906"/>
            <a:ext cx="219456" cy="219456"/>
          </a:xfrm>
          <a:prstGeom prst="rect">
            <a:avLst/>
          </a:prstGeom>
        </p:spPr>
      </p:pic>
      <p:sp>
        <p:nvSpPr>
          <p:cNvPr id="33" name="Text 26"/>
          <p:cNvSpPr txBox="1"/>
          <p:nvPr/>
        </p:nvSpPr>
        <p:spPr>
          <a:xfrm>
            <a:off x="8074152" y="3177032"/>
            <a:ext cx="3401568" cy="271780"/>
          </a:xfrm>
          <a:prstGeom prst="rect">
            <a:avLst/>
          </a:prstGeom>
          <a:noFill/>
          <a:ln/>
        </p:spPr>
        <p:txBody>
          <a:bodyPr wrap="square" lIns="0" tIns="0" rIns="0" bIns="0" rtlCol="0" anchor="t"/>
          <a:lstStyle/>
          <a:p>
            <a:pPr indent="0" marL="0">
              <a:buNone/>
            </a:pPr>
            <a:r>
              <a:rPr lang="en-US" sz="1400" dirty="0">
                <a:solidFill>
                  <a:schemeClr val="tx1"/>
                </a:solidFill>
              </a:rPr>
              <a:t>CloudFront’s status: active</a:t>
            </a:r>
            <a:endParaRPr lang="en-US" sz="1400" dirty="0"/>
          </a:p>
        </p:txBody>
      </p:sp>
      <p:pic>
        <p:nvPicPr>
          <p:cNvPr id="34" name="Image 5" descr="preencoded.png">    </p:cNvPr>
          <p:cNvPicPr>
            <a:picLocks noChangeAspect="1"/>
          </p:cNvPicPr>
          <p:nvPr/>
        </p:nvPicPr>
        <p:blipFill>
          <a:blip r:embed="rId6"/>
          <a:stretch>
            <a:fillRect/>
          </a:stretch>
        </p:blipFill>
        <p:spPr>
          <a:xfrm>
            <a:off x="7726680" y="3529838"/>
            <a:ext cx="219456" cy="219456"/>
          </a:xfrm>
          <a:prstGeom prst="rect">
            <a:avLst/>
          </a:prstGeom>
        </p:spPr>
      </p:pic>
      <p:sp>
        <p:nvSpPr>
          <p:cNvPr id="35" name="Text 27"/>
          <p:cNvSpPr txBox="1"/>
          <p:nvPr/>
        </p:nvSpPr>
        <p:spPr>
          <a:xfrm>
            <a:off x="8074152" y="3521964"/>
            <a:ext cx="3401568" cy="271780"/>
          </a:xfrm>
          <a:prstGeom prst="rect">
            <a:avLst/>
          </a:prstGeom>
          <a:noFill/>
          <a:ln/>
        </p:spPr>
        <p:txBody>
          <a:bodyPr wrap="square" lIns="0" tIns="0" rIns="0" bIns="0" rtlCol="0" anchor="t"/>
          <a:lstStyle/>
          <a:p>
            <a:pPr indent="0" marL="0">
              <a:buNone/>
            </a:pPr>
            <a:r>
              <a:rPr lang="en-US" sz="1400" dirty="0">
                <a:solidFill>
                  <a:schemeClr val="tx1"/>
                </a:solidFill>
              </a:rPr>
              <a:t>That the previous file was kept</a:t>
            </a:r>
            <a:endParaRPr lang="en-US" sz="1400" dirty="0"/>
          </a:p>
        </p:txBody>
      </p:sp>
      <p:sp>
        <p:nvSpPr>
          <p:cNvPr id="36" name="Every bundle kept"/>
          <p:cNvSpPr/>
          <p:nvPr/>
        </p:nvSpPr>
        <p:spPr>
          <a:xfrm>
            <a:off x="7498080" y="4251960"/>
            <a:ext cx="4142232" cy="2011680"/>
          </a:xfrm>
          <a:prstGeom prst="roundRect">
            <a:avLst>
              <a:gd name="adj" fmla="val 5455"/>
            </a:avLst>
          </a:prstGeom>
          <a:solidFill>
            <a:schemeClr val="bg2"/>
          </a:solidFill>
          <a:ln/>
        </p:spPr>
      </p:sp>
      <p:sp>
        <p:nvSpPr>
          <p:cNvPr id="37" name="Shape 29"/>
          <p:cNvSpPr/>
          <p:nvPr/>
        </p:nvSpPr>
        <p:spPr>
          <a:xfrm>
            <a:off x="7699248" y="4434840"/>
            <a:ext cx="420624" cy="420624"/>
          </a:xfrm>
          <a:prstGeom prst="ellipse">
            <a:avLst/>
          </a:prstGeom>
          <a:solidFill>
            <a:schemeClr val="accent5"/>
          </a:solidFill>
          <a:ln/>
        </p:spPr>
      </p:sp>
      <p:pic>
        <p:nvPicPr>
          <p:cNvPr id="38" name="Image 6" descr="preencoded.png">    </p:cNvPr>
          <p:cNvPicPr>
            <a:picLocks noChangeAspect="1"/>
          </p:cNvPicPr>
          <p:nvPr/>
        </p:nvPicPr>
        <p:blipFill>
          <a:blip r:embed="rId7"/>
          <a:stretch>
            <a:fillRect/>
          </a:stretch>
        </p:blipFill>
        <p:spPr>
          <a:xfrm>
            <a:off x="7791785" y="4527377"/>
            <a:ext cx="235549" cy="235549"/>
          </a:xfrm>
          <a:prstGeom prst="rect">
            <a:avLst/>
          </a:prstGeom>
        </p:spPr>
      </p:pic>
      <p:sp>
        <p:nvSpPr>
          <p:cNvPr id="39" name="Text 30"/>
          <p:cNvSpPr txBox="1"/>
          <p:nvPr/>
        </p:nvSpPr>
        <p:spPr>
          <a:xfrm>
            <a:off x="8229600" y="4434840"/>
            <a:ext cx="3291840" cy="420624"/>
          </a:xfrm>
          <a:prstGeom prst="rect">
            <a:avLst/>
          </a:prstGeom>
          <a:noFill/>
          <a:ln/>
        </p:spPr>
        <p:txBody>
          <a:bodyPr wrap="square" lIns="0" tIns="0" rIns="0" bIns="0" rtlCol="0" anchor="ctr"/>
          <a:lstStyle/>
          <a:p>
            <a:pPr indent="0" marL="0">
              <a:buNone/>
            </a:pPr>
            <a:r>
              <a:rPr lang="en-US" sz="1600" b="1" dirty="0">
                <a:solidFill>
                  <a:schemeClr val="tx1"/>
                </a:solidFill>
              </a:rPr>
              <a:t>Every bundle kept</a:t>
            </a:r>
            <a:endParaRPr lang="en-US" sz="1600" dirty="0"/>
          </a:p>
        </p:txBody>
      </p:sp>
      <p:sp>
        <p:nvSpPr>
          <p:cNvPr id="40" name="Text 31"/>
          <p:cNvSpPr txBox="1"/>
          <p:nvPr/>
        </p:nvSpPr>
        <p:spPr>
          <a:xfrm>
            <a:off x="7726680" y="5001768"/>
            <a:ext cx="3749040" cy="1188720"/>
          </a:xfrm>
          <a:prstGeom prst="rect">
            <a:avLst/>
          </a:prstGeom>
          <a:noFill/>
          <a:ln/>
        </p:spPr>
        <p:txBody>
          <a:bodyPr wrap="square" lIns="0" tIns="0" rIns="0" bIns="0" rtlCol="0" anchor="t"/>
          <a:lstStyle/>
          <a:p>
            <a:pPr indent="0" marL="0">
              <a:buNone/>
            </a:pPr>
            <a:r>
              <a:rPr lang="en-US" sz="1400" dirty="0">
                <a:solidFill>
                  <a:schemeClr val="tx2"/>
                </a:solidFill>
              </a:rPr>
              <a:t>Each apply adds a new truststore-&lt;run&gt;.pem file to S3. Earlier files are never overwritten, so any previous bundle can be put back.</a:t>
            </a:r>
            <a:endParaRPr lang="en-US" sz="1400" dirty="0"/>
          </a:p>
        </p:txBody>
      </p:sp>
      <p:sp>
        <p:nvSpPr>
          <p:cNvPr id="25" name="Slide Number Placeholder 0"/>
          <p:cNvSpPr>
            <a:spLocks noGrp="1"/>
          </p:cNvSpPr>
          <p:nvPr>
            <p:ph type="sldNum" sz="quarter" idx="4294967295"/>
          </p:nvPr>
        </p:nvSpPr>
        <p:spPr>
          <a:xfrm>
            <a:off x="11000232" y="647395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144000" cy="713232"/>
          </a:xfrm>
          <a:prstGeom prst="rect">
            <a:avLst/>
          </a:prstGeom>
          <a:noFill/>
          <a:ln/>
        </p:spPr>
        <p:txBody>
          <a:bodyPr wrap="square" lIns="0" tIns="0" rIns="0" bIns="0" rtlCol="0" anchor="ctr"/>
          <a:lstStyle/>
          <a:p>
            <a:pPr algn="l" indent="0" marL="0">
              <a:buNone/>
            </a:pPr>
            <a:r>
              <a:rPr lang="en-US" sz="3400" b="1" dirty="0">
                <a:solidFill>
                  <a:schemeClr val="tx1"/>
                </a:solidFill>
              </a:rPr>
              <a:t>Why it works well</a:t>
            </a: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lIns="0" tIns="0" rIns="0" bIns="0" rtlCol="0" anchor="t"/>
          <a:lstStyle/>
          <a:p>
            <a:pPr indent="0" marL="0">
              <a:buNone/>
            </a:pPr>
            <a:r>
              <a:rPr lang="en-US" sz="1500" dirty="0">
                <a:solidFill>
                  <a:schemeClr val="tx2"/>
                </a:solidFill>
              </a:rPr>
              <a:t>Good for: every request to add or remove a certificate, in tst, ppe and prd</a:t>
            </a:r>
            <a:endParaRPr lang="en-US" sz="1500" dirty="0"/>
          </a:p>
        </p:txBody>
      </p:sp>
      <p:sp>
        <p:nvSpPr>
          <p:cNvPr id="4" name="Text 2"/>
          <p:cNvSpPr txBox="1"/>
          <p:nvPr/>
        </p:nvSpPr>
        <p:spPr>
          <a:xfrm>
            <a:off x="9811512" y="566928"/>
            <a:ext cx="1828800" cy="347472"/>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spc="150" kern="0" dirty="0">
                <a:solidFill>
                  <a:schemeClr val="bg1"/>
                </a:solidFill>
              </a:rPr>
              <a:t>TRUST STORE</a:t>
            </a:r>
            <a:endParaRPr lang="en-US" sz="1100" dirty="0"/>
          </a:p>
        </p:txBody>
      </p:sp>
      <p:sp>
        <p:nvSpPr>
          <p:cNvPr id="5" name="Every certificate checked"/>
          <p:cNvSpPr/>
          <p:nvPr/>
        </p:nvSpPr>
        <p:spPr>
          <a:xfrm>
            <a:off x="548640" y="1691640"/>
            <a:ext cx="3611880" cy="1325880"/>
          </a:xfrm>
          <a:prstGeom prst="roundRect">
            <a:avLst>
              <a:gd name="adj" fmla="val 6897"/>
            </a:avLst>
          </a:prstGeom>
          <a:solidFill>
            <a:schemeClr val="accent1">
              <a:alpha val="6000"/>
            </a:schemeClr>
          </a:solidFill>
          <a:ln/>
        </p:spPr>
      </p:sp>
      <p:sp>
        <p:nvSpPr>
          <p:cNvPr id="6" name="Shape 4"/>
          <p:cNvSpPr/>
          <p:nvPr/>
        </p:nvSpPr>
        <p:spPr>
          <a:xfrm>
            <a:off x="713232" y="1874520"/>
            <a:ext cx="502920" cy="502920"/>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823874" y="1985162"/>
            <a:ext cx="281635" cy="281635"/>
          </a:xfrm>
          <a:prstGeom prst="rect">
            <a:avLst/>
          </a:prstGeom>
        </p:spPr>
      </p:pic>
      <p:sp>
        <p:nvSpPr>
          <p:cNvPr id="8" name="Text 5"/>
          <p:cNvSpPr txBox="1"/>
          <p:nvPr/>
        </p:nvSpPr>
        <p:spPr>
          <a:xfrm>
            <a:off x="1371600" y="1837944"/>
            <a:ext cx="2651760" cy="329184"/>
          </a:xfrm>
          <a:prstGeom prst="rect">
            <a:avLst/>
          </a:prstGeom>
          <a:noFill/>
          <a:ln/>
        </p:spPr>
        <p:txBody>
          <a:bodyPr wrap="square" lIns="0" tIns="0" rIns="0" bIns="0" rtlCol="0" anchor="ctr"/>
          <a:lstStyle/>
          <a:p>
            <a:pPr indent="0" marL="0">
              <a:buNone/>
            </a:pPr>
            <a:r>
              <a:rPr lang="en-US" sz="1600" b="1" dirty="0">
                <a:solidFill>
                  <a:schemeClr val="tx1"/>
                </a:solidFill>
              </a:rPr>
              <a:t>Every certificate checked</a:t>
            </a:r>
            <a:endParaRPr lang="en-US" sz="1600" dirty="0"/>
          </a:p>
        </p:txBody>
      </p:sp>
      <p:sp>
        <p:nvSpPr>
          <p:cNvPr id="9" name="Text 6"/>
          <p:cNvSpPr txBox="1"/>
          <p:nvPr/>
        </p:nvSpPr>
        <p:spPr>
          <a:xfrm>
            <a:off x="1371600" y="2185416"/>
            <a:ext cx="2651760" cy="786384"/>
          </a:xfrm>
          <a:prstGeom prst="rect">
            <a:avLst/>
          </a:prstGeom>
          <a:noFill/>
          <a:ln/>
        </p:spPr>
        <p:txBody>
          <a:bodyPr wrap="square" lIns="0" tIns="0" rIns="0" bIns="0" rtlCol="0" anchor="t"/>
          <a:lstStyle/>
          <a:p>
            <a:pPr indent="0" marL="0">
              <a:buNone/>
            </a:pPr>
            <a:r>
              <a:rPr lang="en-US" sz="1400" dirty="0">
                <a:solidFill>
                  <a:schemeClr val="tx2"/>
                </a:solidFill>
              </a:rPr>
              <a:t>Matched by fingerprint — see exactly what would be added or removed.</a:t>
            </a:r>
            <a:endParaRPr lang="en-US" sz="1400" dirty="0"/>
          </a:p>
        </p:txBody>
      </p:sp>
      <p:sp>
        <p:nvSpPr>
          <p:cNvPr id="10" name="Nothing changes by default"/>
          <p:cNvSpPr/>
          <p:nvPr/>
        </p:nvSpPr>
        <p:spPr>
          <a:xfrm>
            <a:off x="4389120" y="1691640"/>
            <a:ext cx="3611880" cy="1325880"/>
          </a:xfrm>
          <a:prstGeom prst="roundRect">
            <a:avLst>
              <a:gd name="adj" fmla="val 6897"/>
            </a:avLst>
          </a:prstGeom>
          <a:solidFill>
            <a:schemeClr val="accent1">
              <a:alpha val="6000"/>
            </a:schemeClr>
          </a:solidFill>
          <a:ln/>
        </p:spPr>
      </p:sp>
      <p:sp>
        <p:nvSpPr>
          <p:cNvPr id="11" name="Shape 8"/>
          <p:cNvSpPr/>
          <p:nvPr/>
        </p:nvSpPr>
        <p:spPr>
          <a:xfrm>
            <a:off x="4553712" y="1874520"/>
            <a:ext cx="502920" cy="502920"/>
          </a:xfrm>
          <a:prstGeom prst="ellipse">
            <a:avLst/>
          </a:prstGeom>
          <a:solidFill>
            <a:schemeClr val="accent1"/>
          </a:solidFill>
          <a:ln/>
        </p:spPr>
      </p:sp>
      <p:pic>
        <p:nvPicPr>
          <p:cNvPr id="12" name="Image 1" descr="preencoded.png">    </p:cNvPr>
          <p:cNvPicPr>
            <a:picLocks noChangeAspect="1"/>
          </p:cNvPicPr>
          <p:nvPr/>
        </p:nvPicPr>
        <p:blipFill>
          <a:blip r:embed="rId2"/>
          <a:stretch>
            <a:fillRect/>
          </a:stretch>
        </p:blipFill>
        <p:spPr>
          <a:xfrm>
            <a:off x="4664354" y="1985162"/>
            <a:ext cx="281635" cy="281635"/>
          </a:xfrm>
          <a:prstGeom prst="rect">
            <a:avLst/>
          </a:prstGeom>
        </p:spPr>
      </p:pic>
      <p:sp>
        <p:nvSpPr>
          <p:cNvPr id="13" name="Text 9"/>
          <p:cNvSpPr txBox="1"/>
          <p:nvPr/>
        </p:nvSpPr>
        <p:spPr>
          <a:xfrm>
            <a:off x="5212080" y="1837944"/>
            <a:ext cx="2651760" cy="329184"/>
          </a:xfrm>
          <a:prstGeom prst="rect">
            <a:avLst/>
          </a:prstGeom>
          <a:noFill/>
          <a:ln/>
        </p:spPr>
        <p:txBody>
          <a:bodyPr wrap="square" lIns="0" tIns="0" rIns="0" bIns="0" rtlCol="0" anchor="ctr"/>
          <a:lstStyle/>
          <a:p>
            <a:pPr indent="0" marL="0">
              <a:buNone/>
            </a:pPr>
            <a:r>
              <a:rPr lang="en-US" sz="1600" b="1" dirty="0">
                <a:solidFill>
                  <a:schemeClr val="tx1"/>
                </a:solidFill>
              </a:rPr>
              <a:t>Nothing changes by default</a:t>
            </a:r>
            <a:endParaRPr lang="en-US" sz="1600" dirty="0"/>
          </a:p>
        </p:txBody>
      </p:sp>
      <p:sp>
        <p:nvSpPr>
          <p:cNvPr id="14" name="Text 10"/>
          <p:cNvSpPr txBox="1"/>
          <p:nvPr/>
        </p:nvSpPr>
        <p:spPr>
          <a:xfrm>
            <a:off x="5212080" y="2185416"/>
            <a:ext cx="2651760" cy="786384"/>
          </a:xfrm>
          <a:prstGeom prst="rect">
            <a:avLst/>
          </a:prstGeom>
          <a:noFill/>
          <a:ln/>
        </p:spPr>
        <p:txBody>
          <a:bodyPr wrap="square" lIns="0" tIns="0" rIns="0" bIns="0" rtlCol="0" anchor="t"/>
          <a:lstStyle/>
          <a:p>
            <a:pPr indent="0" marL="0">
              <a:buNone/>
            </a:pPr>
            <a:r>
              <a:rPr lang="en-US" sz="1400" dirty="0">
                <a:solidFill>
                  <a:schemeClr val="tx2"/>
                </a:solidFill>
              </a:rPr>
              <a:t>Apply is ‘no’ unless someone picks ‘yes’; a run validates and compares.</a:t>
            </a:r>
            <a:endParaRPr lang="en-US" sz="1400" dirty="0"/>
          </a:p>
        </p:txBody>
      </p:sp>
      <p:sp>
        <p:nvSpPr>
          <p:cNvPr id="15" name="Bad bundles stop early"/>
          <p:cNvSpPr/>
          <p:nvPr/>
        </p:nvSpPr>
        <p:spPr>
          <a:xfrm>
            <a:off x="548640" y="3200400"/>
            <a:ext cx="3611880" cy="1325880"/>
          </a:xfrm>
          <a:prstGeom prst="roundRect">
            <a:avLst>
              <a:gd name="adj" fmla="val 6897"/>
            </a:avLst>
          </a:prstGeom>
          <a:solidFill>
            <a:schemeClr val="accent1">
              <a:alpha val="6000"/>
            </a:schemeClr>
          </a:solidFill>
          <a:ln/>
        </p:spPr>
      </p:sp>
      <p:sp>
        <p:nvSpPr>
          <p:cNvPr id="16" name="Shape 12"/>
          <p:cNvSpPr/>
          <p:nvPr/>
        </p:nvSpPr>
        <p:spPr>
          <a:xfrm>
            <a:off x="713232" y="3383280"/>
            <a:ext cx="502920" cy="502920"/>
          </a:xfrm>
          <a:prstGeom prst="ellipse">
            <a:avLst/>
          </a:prstGeom>
          <a:solidFill>
            <a:schemeClr val="accent1"/>
          </a:solidFill>
          <a:ln/>
        </p:spPr>
      </p:sp>
      <p:pic>
        <p:nvPicPr>
          <p:cNvPr id="17" name="Image 2" descr="preencoded.png">    </p:cNvPr>
          <p:cNvPicPr>
            <a:picLocks noChangeAspect="1"/>
          </p:cNvPicPr>
          <p:nvPr/>
        </p:nvPicPr>
        <p:blipFill>
          <a:blip r:embed="rId3"/>
          <a:stretch>
            <a:fillRect/>
          </a:stretch>
        </p:blipFill>
        <p:spPr>
          <a:xfrm>
            <a:off x="823874" y="3493922"/>
            <a:ext cx="281635" cy="281635"/>
          </a:xfrm>
          <a:prstGeom prst="rect">
            <a:avLst/>
          </a:prstGeom>
        </p:spPr>
      </p:pic>
      <p:sp>
        <p:nvSpPr>
          <p:cNvPr id="18" name="Text 13"/>
          <p:cNvSpPr txBox="1"/>
          <p:nvPr/>
        </p:nvSpPr>
        <p:spPr>
          <a:xfrm>
            <a:off x="1371600" y="3346704"/>
            <a:ext cx="2651760" cy="329184"/>
          </a:xfrm>
          <a:prstGeom prst="rect">
            <a:avLst/>
          </a:prstGeom>
          <a:noFill/>
          <a:ln/>
        </p:spPr>
        <p:txBody>
          <a:bodyPr wrap="square" lIns="0" tIns="0" rIns="0" bIns="0" rtlCol="0" anchor="ctr"/>
          <a:lstStyle/>
          <a:p>
            <a:pPr indent="0" marL="0">
              <a:buNone/>
            </a:pPr>
            <a:r>
              <a:rPr lang="en-US" sz="1600" b="1" dirty="0">
                <a:solidFill>
                  <a:schemeClr val="tx1"/>
                </a:solidFill>
              </a:rPr>
              <a:t>Bad bundles stop early</a:t>
            </a:r>
            <a:endParaRPr lang="en-US" sz="1600" dirty="0"/>
          </a:p>
        </p:txBody>
      </p:sp>
      <p:sp>
        <p:nvSpPr>
          <p:cNvPr id="19" name="Text 14"/>
          <p:cNvSpPr txBox="1"/>
          <p:nvPr/>
        </p:nvSpPr>
        <p:spPr>
          <a:xfrm>
            <a:off x="1371600" y="3694176"/>
            <a:ext cx="2651760" cy="786384"/>
          </a:xfrm>
          <a:prstGeom prst="rect">
            <a:avLst/>
          </a:prstGeom>
          <a:noFill/>
          <a:ln/>
        </p:spPr>
        <p:txBody>
          <a:bodyPr wrap="square" lIns="0" tIns="0" rIns="0" bIns="0" rtlCol="0" anchor="t"/>
          <a:lstStyle/>
          <a:p>
            <a:pPr indent="0" marL="0">
              <a:buNone/>
            </a:pPr>
            <a:r>
              <a:rPr lang="en-US" sz="1400" dirty="0">
                <a:solidFill>
                  <a:schemeClr val="tx2"/>
                </a:solidFill>
              </a:rPr>
              <a:t>The validator and certificate checks run before AWS is touched.</a:t>
            </a:r>
            <a:endParaRPr lang="en-US" sz="1400" dirty="0"/>
          </a:p>
        </p:txBody>
      </p:sp>
      <p:sp>
        <p:nvSpPr>
          <p:cNvPr id="20" name="Always the right account"/>
          <p:cNvSpPr/>
          <p:nvPr/>
        </p:nvSpPr>
        <p:spPr>
          <a:xfrm>
            <a:off x="4389120" y="3200400"/>
            <a:ext cx="3611880" cy="1325880"/>
          </a:xfrm>
          <a:prstGeom prst="roundRect">
            <a:avLst>
              <a:gd name="adj" fmla="val 6897"/>
            </a:avLst>
          </a:prstGeom>
          <a:solidFill>
            <a:schemeClr val="accent1">
              <a:alpha val="6000"/>
            </a:schemeClr>
          </a:solidFill>
          <a:ln/>
        </p:spPr>
      </p:sp>
      <p:sp>
        <p:nvSpPr>
          <p:cNvPr id="21" name="Shape 16"/>
          <p:cNvSpPr/>
          <p:nvPr/>
        </p:nvSpPr>
        <p:spPr>
          <a:xfrm>
            <a:off x="4553712" y="3383280"/>
            <a:ext cx="502920" cy="502920"/>
          </a:xfrm>
          <a:prstGeom prst="ellipse">
            <a:avLst/>
          </a:prstGeom>
          <a:solidFill>
            <a:schemeClr val="accent1"/>
          </a:solidFill>
          <a:ln/>
        </p:spPr>
      </p:sp>
      <p:pic>
        <p:nvPicPr>
          <p:cNvPr id="22" name="Image 3" descr="preencoded.png">    </p:cNvPr>
          <p:cNvPicPr>
            <a:picLocks noChangeAspect="1"/>
          </p:cNvPicPr>
          <p:nvPr/>
        </p:nvPicPr>
        <p:blipFill>
          <a:blip r:embed="rId4"/>
          <a:stretch>
            <a:fillRect/>
          </a:stretch>
        </p:blipFill>
        <p:spPr>
          <a:xfrm>
            <a:off x="4664354" y="3493922"/>
            <a:ext cx="281635" cy="281635"/>
          </a:xfrm>
          <a:prstGeom prst="rect">
            <a:avLst/>
          </a:prstGeom>
        </p:spPr>
      </p:pic>
      <p:sp>
        <p:nvSpPr>
          <p:cNvPr id="23" name="Text 17"/>
          <p:cNvSpPr txBox="1"/>
          <p:nvPr/>
        </p:nvSpPr>
        <p:spPr>
          <a:xfrm>
            <a:off x="5212080" y="3346704"/>
            <a:ext cx="2651760" cy="329184"/>
          </a:xfrm>
          <a:prstGeom prst="rect">
            <a:avLst/>
          </a:prstGeom>
          <a:noFill/>
          <a:ln/>
        </p:spPr>
        <p:txBody>
          <a:bodyPr wrap="square" lIns="0" tIns="0" rIns="0" bIns="0" rtlCol="0" anchor="ctr"/>
          <a:lstStyle/>
          <a:p>
            <a:pPr indent="0" marL="0">
              <a:buNone/>
            </a:pPr>
            <a:r>
              <a:rPr lang="en-US" sz="1600" b="1" dirty="0">
                <a:solidFill>
                  <a:schemeClr val="tx1"/>
                </a:solidFill>
              </a:rPr>
              <a:t>Always the right account</a:t>
            </a:r>
            <a:endParaRPr lang="en-US" sz="1600" dirty="0"/>
          </a:p>
        </p:txBody>
      </p:sp>
      <p:sp>
        <p:nvSpPr>
          <p:cNvPr id="24" name="Text 18"/>
          <p:cNvSpPr txBox="1"/>
          <p:nvPr/>
        </p:nvSpPr>
        <p:spPr>
          <a:xfrm>
            <a:off x="5212080" y="3694176"/>
            <a:ext cx="2651760" cy="786384"/>
          </a:xfrm>
          <a:prstGeom prst="rect">
            <a:avLst/>
          </a:prstGeom>
          <a:noFill/>
          <a:ln/>
        </p:spPr>
        <p:txBody>
          <a:bodyPr wrap="square" lIns="0" tIns="0" rIns="0" bIns="0" rtlCol="0" anchor="t"/>
          <a:lstStyle/>
          <a:p>
            <a:pPr indent="0" marL="0">
              <a:buNone/>
            </a:pPr>
            <a:r>
              <a:rPr lang="en-US" sz="1400" dirty="0">
                <a:solidFill>
                  <a:schemeClr val="tx2"/>
                </a:solidFill>
              </a:rPr>
              <a:t>Short-lived OIDC role, and its account must match the trust store.</a:t>
            </a:r>
            <a:endParaRPr lang="en-US" sz="1400" dirty="0"/>
          </a:p>
        </p:txBody>
      </p:sp>
      <p:sp>
        <p:nvSpPr>
          <p:cNvPr id="25" name="Safe, versioned updates"/>
          <p:cNvSpPr/>
          <p:nvPr/>
        </p:nvSpPr>
        <p:spPr>
          <a:xfrm>
            <a:off x="548640" y="4709160"/>
            <a:ext cx="3611880" cy="1325880"/>
          </a:xfrm>
          <a:prstGeom prst="roundRect">
            <a:avLst>
              <a:gd name="adj" fmla="val 6897"/>
            </a:avLst>
          </a:prstGeom>
          <a:solidFill>
            <a:schemeClr val="accent1">
              <a:alpha val="6000"/>
            </a:schemeClr>
          </a:solidFill>
          <a:ln/>
        </p:spPr>
      </p:sp>
      <p:sp>
        <p:nvSpPr>
          <p:cNvPr id="26" name="Shape 20"/>
          <p:cNvSpPr/>
          <p:nvPr/>
        </p:nvSpPr>
        <p:spPr>
          <a:xfrm>
            <a:off x="713232" y="4892040"/>
            <a:ext cx="502920" cy="502920"/>
          </a:xfrm>
          <a:prstGeom prst="ellipse">
            <a:avLst/>
          </a:prstGeom>
          <a:solidFill>
            <a:schemeClr val="accent1"/>
          </a:solidFill>
          <a:ln/>
        </p:spPr>
      </p:sp>
      <p:pic>
        <p:nvPicPr>
          <p:cNvPr id="27" name="Image 4" descr="preencoded.png">    </p:cNvPr>
          <p:cNvPicPr>
            <a:picLocks noChangeAspect="1"/>
          </p:cNvPicPr>
          <p:nvPr/>
        </p:nvPicPr>
        <p:blipFill>
          <a:blip r:embed="rId5"/>
          <a:stretch>
            <a:fillRect/>
          </a:stretch>
        </p:blipFill>
        <p:spPr>
          <a:xfrm>
            <a:off x="823874" y="5002682"/>
            <a:ext cx="281635" cy="281635"/>
          </a:xfrm>
          <a:prstGeom prst="rect">
            <a:avLst/>
          </a:prstGeom>
        </p:spPr>
      </p:pic>
      <p:sp>
        <p:nvSpPr>
          <p:cNvPr id="28" name="Text 21"/>
          <p:cNvSpPr txBox="1"/>
          <p:nvPr/>
        </p:nvSpPr>
        <p:spPr>
          <a:xfrm>
            <a:off x="1371600" y="4855464"/>
            <a:ext cx="2651760" cy="329184"/>
          </a:xfrm>
          <a:prstGeom prst="rect">
            <a:avLst/>
          </a:prstGeom>
          <a:noFill/>
          <a:ln/>
        </p:spPr>
        <p:txBody>
          <a:bodyPr wrap="square" lIns="0" tIns="0" rIns="0" bIns="0" rtlCol="0" anchor="ctr"/>
          <a:lstStyle/>
          <a:p>
            <a:pPr indent="0" marL="0">
              <a:buNone/>
            </a:pPr>
            <a:r>
              <a:rPr lang="en-US" sz="1600" b="1" dirty="0">
                <a:solidFill>
                  <a:schemeClr val="tx1"/>
                </a:solidFill>
              </a:rPr>
              <a:t>Safe, versioned updates</a:t>
            </a:r>
            <a:endParaRPr lang="en-US" sz="1600" dirty="0"/>
          </a:p>
        </p:txBody>
      </p:sp>
      <p:sp>
        <p:nvSpPr>
          <p:cNvPr id="29" name="Text 22"/>
          <p:cNvSpPr txBox="1"/>
          <p:nvPr/>
        </p:nvSpPr>
        <p:spPr>
          <a:xfrm>
            <a:off x="1371600" y="5202936"/>
            <a:ext cx="2651760" cy="786384"/>
          </a:xfrm>
          <a:prstGeom prst="rect">
            <a:avLst/>
          </a:prstGeom>
          <a:noFill/>
          <a:ln/>
        </p:spPr>
        <p:txBody>
          <a:bodyPr wrap="square" lIns="0" tIns="0" rIns="0" bIns="0" rtlCol="0" anchor="t"/>
          <a:lstStyle/>
          <a:p>
            <a:pPr indent="0" marL="0">
              <a:buNone/>
            </a:pPr>
            <a:r>
              <a:rPr lang="en-US" sz="1400" dirty="0">
                <a:solidFill>
                  <a:schemeClr val="tx2"/>
                </a:solidFill>
              </a:rPr>
              <a:t>A new file per apply, a version check, one run per environment.</a:t>
            </a:r>
            <a:endParaRPr lang="en-US" sz="1400" dirty="0"/>
          </a:p>
        </p:txBody>
      </p:sp>
      <p:sp>
        <p:nvSpPr>
          <p:cNvPr id="30" name="A clear record"/>
          <p:cNvSpPr/>
          <p:nvPr/>
        </p:nvSpPr>
        <p:spPr>
          <a:xfrm>
            <a:off x="4389120" y="4709160"/>
            <a:ext cx="3611880" cy="1325880"/>
          </a:xfrm>
          <a:prstGeom prst="roundRect">
            <a:avLst>
              <a:gd name="adj" fmla="val 6897"/>
            </a:avLst>
          </a:prstGeom>
          <a:solidFill>
            <a:schemeClr val="accent1">
              <a:alpha val="6000"/>
            </a:schemeClr>
          </a:solidFill>
          <a:ln/>
        </p:spPr>
      </p:sp>
      <p:sp>
        <p:nvSpPr>
          <p:cNvPr id="31" name="Shape 24"/>
          <p:cNvSpPr/>
          <p:nvPr/>
        </p:nvSpPr>
        <p:spPr>
          <a:xfrm>
            <a:off x="4553712" y="4892040"/>
            <a:ext cx="502920" cy="502920"/>
          </a:xfrm>
          <a:prstGeom prst="ellipse">
            <a:avLst/>
          </a:prstGeom>
          <a:solidFill>
            <a:schemeClr val="accent1"/>
          </a:solidFill>
          <a:ln/>
        </p:spPr>
      </p:sp>
      <p:pic>
        <p:nvPicPr>
          <p:cNvPr id="32" name="Image 5" descr="preencoded.png">    </p:cNvPr>
          <p:cNvPicPr>
            <a:picLocks noChangeAspect="1"/>
          </p:cNvPicPr>
          <p:nvPr/>
        </p:nvPicPr>
        <p:blipFill>
          <a:blip r:embed="rId6"/>
          <a:stretch>
            <a:fillRect/>
          </a:stretch>
        </p:blipFill>
        <p:spPr>
          <a:xfrm>
            <a:off x="4664354" y="5002682"/>
            <a:ext cx="281635" cy="281635"/>
          </a:xfrm>
          <a:prstGeom prst="rect">
            <a:avLst/>
          </a:prstGeom>
        </p:spPr>
      </p:pic>
      <p:sp>
        <p:nvSpPr>
          <p:cNvPr id="33" name="Text 25"/>
          <p:cNvSpPr txBox="1"/>
          <p:nvPr/>
        </p:nvSpPr>
        <p:spPr>
          <a:xfrm>
            <a:off x="5212080" y="4855464"/>
            <a:ext cx="2651760" cy="329184"/>
          </a:xfrm>
          <a:prstGeom prst="rect">
            <a:avLst/>
          </a:prstGeom>
          <a:noFill/>
          <a:ln/>
        </p:spPr>
        <p:txBody>
          <a:bodyPr wrap="square" lIns="0" tIns="0" rIns="0" bIns="0" rtlCol="0" anchor="ctr"/>
          <a:lstStyle/>
          <a:p>
            <a:pPr indent="0" marL="0">
              <a:buNone/>
            </a:pPr>
            <a:r>
              <a:rPr lang="en-US" sz="1600" b="1" dirty="0">
                <a:solidFill>
                  <a:schemeClr val="tx1"/>
                </a:solidFill>
              </a:rPr>
              <a:t>A clear record</a:t>
            </a:r>
            <a:endParaRPr lang="en-US" sz="1600" dirty="0"/>
          </a:p>
        </p:txBody>
      </p:sp>
      <p:sp>
        <p:nvSpPr>
          <p:cNvPr id="34" name="Text 26"/>
          <p:cNvSpPr txBox="1"/>
          <p:nvPr/>
        </p:nvSpPr>
        <p:spPr>
          <a:xfrm>
            <a:off x="5212080" y="5202936"/>
            <a:ext cx="2651760" cy="786384"/>
          </a:xfrm>
          <a:prstGeom prst="rect">
            <a:avLst/>
          </a:prstGeom>
          <a:noFill/>
          <a:ln/>
        </p:spPr>
        <p:txBody>
          <a:bodyPr wrap="square" lIns="0" tIns="0" rIns="0" bIns="0" rtlCol="0" anchor="t"/>
          <a:lstStyle/>
          <a:p>
            <a:pPr indent="0" marL="0">
              <a:buNone/>
            </a:pPr>
            <a:r>
              <a:rPr lang="en-US" sz="1400" dirty="0">
                <a:solidFill>
                  <a:schemeClr val="tx2"/>
                </a:solidFill>
              </a:rPr>
              <a:t>Git shows who changed what; each run shows the checks, report and result.</a:t>
            </a:r>
            <a:endParaRPr lang="en-US" sz="1400" dirty="0"/>
          </a:p>
        </p:txBody>
      </p:sp>
      <p:sp>
        <p:nvSpPr>
          <p:cNvPr id="35" name="How we use it"/>
          <p:cNvSpPr/>
          <p:nvPr/>
        </p:nvSpPr>
        <p:spPr>
          <a:xfrm>
            <a:off x="8366760" y="1691640"/>
            <a:ext cx="3273552" cy="4343400"/>
          </a:xfrm>
          <a:prstGeom prst="roundRect">
            <a:avLst>
              <a:gd name="adj" fmla="val 3352"/>
            </a:avLst>
          </a:prstGeom>
          <a:solidFill>
            <a:schemeClr val="bg2"/>
          </a:solidFill>
          <a:ln/>
        </p:spPr>
      </p:sp>
      <p:sp>
        <p:nvSpPr>
          <p:cNvPr id="36" name="Shape 28"/>
          <p:cNvSpPr/>
          <p:nvPr/>
        </p:nvSpPr>
        <p:spPr>
          <a:xfrm>
            <a:off x="8577072" y="1901952"/>
            <a:ext cx="457200" cy="457200"/>
          </a:xfrm>
          <a:prstGeom prst="ellipse">
            <a:avLst/>
          </a:prstGeom>
          <a:solidFill>
            <a:schemeClr val="accent2"/>
          </a:solidFill>
          <a:ln/>
        </p:spPr>
      </p:sp>
      <p:pic>
        <p:nvPicPr>
          <p:cNvPr id="37" name="Image 6" descr="preencoded.png">    </p:cNvPr>
          <p:cNvPicPr>
            <a:picLocks noChangeAspect="1"/>
          </p:cNvPicPr>
          <p:nvPr/>
        </p:nvPicPr>
        <p:blipFill>
          <a:blip r:embed="rId7"/>
          <a:stretch>
            <a:fillRect/>
          </a:stretch>
        </p:blipFill>
        <p:spPr>
          <a:xfrm>
            <a:off x="8677656" y="2002536"/>
            <a:ext cx="256032" cy="256032"/>
          </a:xfrm>
          <a:prstGeom prst="rect">
            <a:avLst/>
          </a:prstGeom>
        </p:spPr>
      </p:pic>
      <p:sp>
        <p:nvSpPr>
          <p:cNvPr id="38" name="Text 29"/>
          <p:cNvSpPr txBox="1"/>
          <p:nvPr/>
        </p:nvSpPr>
        <p:spPr>
          <a:xfrm>
            <a:off x="9162288" y="1901952"/>
            <a:ext cx="2377440" cy="457200"/>
          </a:xfrm>
          <a:prstGeom prst="rect">
            <a:avLst/>
          </a:prstGeom>
          <a:noFill/>
          <a:ln/>
        </p:spPr>
        <p:txBody>
          <a:bodyPr wrap="square" lIns="0" tIns="0" rIns="0" bIns="0" rtlCol="0" anchor="ctr"/>
          <a:lstStyle/>
          <a:p>
            <a:pPr indent="0" marL="0">
              <a:buNone/>
            </a:pPr>
            <a:r>
              <a:rPr lang="en-US" sz="1800" b="1" dirty="0">
                <a:solidFill>
                  <a:schemeClr val="tx1"/>
                </a:solidFill>
              </a:rPr>
              <a:t>How we use it</a:t>
            </a:r>
            <a:endParaRPr lang="en-US" sz="1800" dirty="0"/>
          </a:p>
        </p:txBody>
      </p:sp>
      <p:sp>
        <p:nvSpPr>
          <p:cNvPr id="39" name="Use step 1"/>
          <p:cNvSpPr txBox="1"/>
          <p:nvPr/>
        </p:nvSpPr>
        <p:spPr>
          <a:xfrm>
            <a:off x="8595360" y="2606040"/>
            <a:ext cx="347472" cy="347472"/>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40" name="Text 31"/>
          <p:cNvSpPr txBox="1"/>
          <p:nvPr/>
        </p:nvSpPr>
        <p:spPr>
          <a:xfrm>
            <a:off x="9098280" y="2496312"/>
            <a:ext cx="2423160" cy="566928"/>
          </a:xfrm>
          <a:prstGeom prst="rect">
            <a:avLst/>
          </a:prstGeom>
          <a:noFill/>
          <a:ln/>
        </p:spPr>
        <p:txBody>
          <a:bodyPr wrap="square" lIns="0" tIns="0" rIns="0" bIns="0" rtlCol="0" anchor="ctr"/>
          <a:lstStyle/>
          <a:p>
            <a:pPr indent="0" marL="0">
              <a:buNone/>
            </a:pPr>
            <a:r>
              <a:rPr lang="en-US" sz="1400" dirty="0">
                <a:solidFill>
                  <a:schemeClr val="tx1"/>
                </a:solidFill>
              </a:rPr>
              <a:t>Edit the bundle in Git and raise a Pull Request</a:t>
            </a:r>
            <a:endParaRPr lang="en-US" sz="1400" dirty="0"/>
          </a:p>
        </p:txBody>
      </p:sp>
      <p:sp>
        <p:nvSpPr>
          <p:cNvPr id="41" name="Use step 2"/>
          <p:cNvSpPr txBox="1"/>
          <p:nvPr/>
        </p:nvSpPr>
        <p:spPr>
          <a:xfrm>
            <a:off x="8595360" y="3447288"/>
            <a:ext cx="347472" cy="347472"/>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42" name="Text 33"/>
          <p:cNvSpPr txBox="1"/>
          <p:nvPr/>
        </p:nvSpPr>
        <p:spPr>
          <a:xfrm>
            <a:off x="9098280" y="3337560"/>
            <a:ext cx="2423160" cy="566928"/>
          </a:xfrm>
          <a:prstGeom prst="rect">
            <a:avLst/>
          </a:prstGeom>
          <a:noFill/>
          <a:ln/>
        </p:spPr>
        <p:txBody>
          <a:bodyPr wrap="square" lIns="0" tIns="0" rIns="0" bIns="0" rtlCol="0" anchor="ctr"/>
          <a:lstStyle/>
          <a:p>
            <a:pPr indent="0" marL="0">
              <a:buNone/>
            </a:pPr>
            <a:r>
              <a:rPr lang="en-US" sz="1400" dirty="0">
                <a:solidFill>
                  <a:schemeClr val="tx1"/>
                </a:solidFill>
              </a:rPr>
              <a:t>Run with Apply = no and read the report</a:t>
            </a:r>
            <a:endParaRPr lang="en-US" sz="1400" dirty="0"/>
          </a:p>
        </p:txBody>
      </p:sp>
      <p:sp>
        <p:nvSpPr>
          <p:cNvPr id="43" name="Use step 3"/>
          <p:cNvSpPr txBox="1"/>
          <p:nvPr/>
        </p:nvSpPr>
        <p:spPr>
          <a:xfrm>
            <a:off x="8595360" y="4288536"/>
            <a:ext cx="347472" cy="347472"/>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44" name="Text 35"/>
          <p:cNvSpPr txBox="1"/>
          <p:nvPr/>
        </p:nvSpPr>
        <p:spPr>
          <a:xfrm>
            <a:off x="9098280" y="4178808"/>
            <a:ext cx="2423160" cy="566928"/>
          </a:xfrm>
          <a:prstGeom prst="rect">
            <a:avLst/>
          </a:prstGeom>
          <a:noFill/>
          <a:ln/>
        </p:spPr>
        <p:txBody>
          <a:bodyPr wrap="square" lIns="0" tIns="0" rIns="0" bIns="0" rtlCol="0" anchor="ctr"/>
          <a:lstStyle/>
          <a:p>
            <a:pPr indent="0" marL="0">
              <a:buNone/>
            </a:pPr>
            <a:r>
              <a:rPr lang="en-US" sz="1400" dirty="0">
                <a:solidFill>
                  <a:schemeClr val="tx1"/>
                </a:solidFill>
              </a:rPr>
              <a:t>Happy with it? Run again with Apply = yes</a:t>
            </a:r>
            <a:endParaRPr lang="en-US" sz="1400" dirty="0"/>
          </a:p>
        </p:txBody>
      </p:sp>
      <p:sp>
        <p:nvSpPr>
          <p:cNvPr id="45" name="Use step 4"/>
          <p:cNvSpPr txBox="1"/>
          <p:nvPr/>
        </p:nvSpPr>
        <p:spPr>
          <a:xfrm>
            <a:off x="8595360" y="5129784"/>
            <a:ext cx="347472" cy="347472"/>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46" name="Text 37"/>
          <p:cNvSpPr txBox="1"/>
          <p:nvPr/>
        </p:nvSpPr>
        <p:spPr>
          <a:xfrm>
            <a:off x="9098280" y="5020056"/>
            <a:ext cx="2423160" cy="566928"/>
          </a:xfrm>
          <a:prstGeom prst="rect">
            <a:avLst/>
          </a:prstGeom>
          <a:noFill/>
          <a:ln/>
        </p:spPr>
        <p:txBody>
          <a:bodyPr wrap="square" lIns="0" tIns="0" rIns="0" bIns="0" rtlCol="0" anchor="ctr"/>
          <a:lstStyle/>
          <a:p>
            <a:pPr indent="0" marL="0">
              <a:buNone/>
            </a:pPr>
            <a:r>
              <a:rPr lang="en-US" sz="1400" dirty="0">
                <a:solidFill>
                  <a:schemeClr val="tx1"/>
                </a:solidFill>
              </a:rPr>
              <a:t>Check the summary shows Active</a:t>
            </a:r>
            <a:endParaRPr lang="en-US" sz="1400" dirty="0"/>
          </a:p>
        </p:txBody>
      </p:sp>
      <p:sp>
        <p:nvSpPr>
          <p:cNvPr id="25" name="Slide Number Placeholder 0"/>
          <p:cNvSpPr>
            <a:spLocks noGrp="1"/>
          </p:cNvSpPr>
          <p:nvPr>
            <p:ph type="sldNum" sz="quarter" idx="4294967295"/>
          </p:nvPr>
        </p:nvSpPr>
        <p:spPr>
          <a:xfrm>
            <a:off x="11000232" y="647395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9144000" cy="713232"/>
          </a:xfrm>
          <a:prstGeom prst="rect">
            <a:avLst/>
          </a:prstGeom>
          <a:noFill/>
          <a:ln/>
        </p:spPr>
        <p:txBody>
          <a:bodyPr wrap="square" lIns="0" tIns="0" rIns="0" bIns="0" rtlCol="0" anchor="ctr"/>
          <a:lstStyle/>
          <a:p>
            <a:pPr algn="l" indent="0" marL="0">
              <a:buNone/>
            </a:pPr>
            <a:r>
              <a:rPr lang="en-US" sz="3400" b="1" dirty="0">
                <a:solidFill>
                  <a:schemeClr val="bg1"/>
                </a:solidFill>
              </a:rPr>
              <a:t>What’s next</a:t>
            </a:r>
            <a:endParaRPr lang="en-US" sz="3400" dirty="0"/>
          </a:p>
        </p:txBody>
      </p:sp>
      <p:sp>
        <p:nvSpPr>
          <p:cNvPr id="3" name="Text 0"/>
          <p:cNvSpPr/>
          <p:nvPr>
            <p:ph idx="101" type="body" hasCustomPrompt="1"/>
          </p:nvPr>
        </p:nvSpPr>
        <p:spPr>
          <a:xfrm>
            <a:off x="548640" y="1097280"/>
            <a:ext cx="11091672" cy="384048"/>
          </a:xfrm>
          <a:prstGeom prst="rect">
            <a:avLst/>
          </a:prstGeom>
          <a:noFill/>
          <a:ln/>
        </p:spPr>
        <p:txBody>
          <a:bodyPr wrap="square" lIns="0" tIns="0" rIns="0" bIns="0" rtlCol="0" anchor="t"/>
          <a:lstStyle/>
          <a:p>
            <a:pPr indent="0" marL="0">
              <a:buNone/>
            </a:pPr>
            <a:r>
              <a:rPr lang="en-US" sz="1500" dirty="0">
                <a:solidFill>
                  <a:schemeClr val="accent6"/>
                </a:solidFill>
              </a:rPr>
              <a:t>Ideas to build on what’s already working</a:t>
            </a:r>
            <a:endParaRPr lang="en-US" sz="1500" dirty="0"/>
          </a:p>
        </p:txBody>
      </p:sp>
      <p:sp>
        <p:nvSpPr>
          <p:cNvPr id="4" name="Expiry alerts"/>
          <p:cNvSpPr/>
          <p:nvPr/>
        </p:nvSpPr>
        <p:spPr>
          <a:xfrm>
            <a:off x="548640" y="1783080"/>
            <a:ext cx="2601468" cy="2788920"/>
          </a:xfrm>
          <a:prstGeom prst="roundRect">
            <a:avLst>
              <a:gd name="adj" fmla="val 4921"/>
            </a:avLst>
          </a:prstGeom>
          <a:solidFill>
            <a:schemeClr val="bg1">
              <a:alpha val="8000"/>
            </a:schemeClr>
          </a:solidFill>
          <a:ln/>
        </p:spPr>
      </p:sp>
      <p:sp>
        <p:nvSpPr>
          <p:cNvPr id="5" name="Shape 3"/>
          <p:cNvSpPr/>
          <p:nvPr/>
        </p:nvSpPr>
        <p:spPr>
          <a:xfrm>
            <a:off x="777240" y="2011680"/>
            <a:ext cx="566928" cy="566928"/>
          </a:xfrm>
          <a:prstGeom prst="ellipse">
            <a:avLst/>
          </a:prstGeom>
          <a:solidFill>
            <a:schemeClr val="accent6"/>
          </a:solidFill>
          <a:ln/>
        </p:spPr>
      </p:sp>
      <p:pic>
        <p:nvPicPr>
          <p:cNvPr id="6" name="Image 0" descr="preencoded.png">    </p:cNvPr>
          <p:cNvPicPr>
            <a:picLocks noChangeAspect="1"/>
          </p:cNvPicPr>
          <p:nvPr/>
        </p:nvPicPr>
        <p:blipFill>
          <a:blip r:embed="rId1"/>
          <a:stretch>
            <a:fillRect/>
          </a:stretch>
        </p:blipFill>
        <p:spPr>
          <a:xfrm>
            <a:off x="901964" y="2136404"/>
            <a:ext cx="317480" cy="317480"/>
          </a:xfrm>
          <a:prstGeom prst="rect">
            <a:avLst/>
          </a:prstGeom>
        </p:spPr>
      </p:pic>
      <p:sp>
        <p:nvSpPr>
          <p:cNvPr id="7" name="Text 4"/>
          <p:cNvSpPr txBox="1"/>
          <p:nvPr/>
        </p:nvSpPr>
        <p:spPr>
          <a:xfrm>
            <a:off x="777240" y="2743200"/>
            <a:ext cx="2144268" cy="411480"/>
          </a:xfrm>
          <a:prstGeom prst="rect">
            <a:avLst/>
          </a:prstGeom>
          <a:noFill/>
          <a:ln/>
        </p:spPr>
        <p:txBody>
          <a:bodyPr wrap="square" lIns="0" tIns="0" rIns="0" bIns="0" rtlCol="0" anchor="ctr"/>
          <a:lstStyle/>
          <a:p>
            <a:pPr indent="0" marL="0">
              <a:buNone/>
            </a:pPr>
            <a:r>
              <a:rPr lang="en-US" sz="1700" b="1" dirty="0">
                <a:solidFill>
                  <a:schemeClr val="bg1"/>
                </a:solidFill>
              </a:rPr>
              <a:t>Expiry alerts</a:t>
            </a:r>
            <a:endParaRPr lang="en-US" sz="1700" dirty="0"/>
          </a:p>
        </p:txBody>
      </p:sp>
      <p:sp>
        <p:nvSpPr>
          <p:cNvPr id="8" name="Text 5"/>
          <p:cNvSpPr txBox="1"/>
          <p:nvPr/>
        </p:nvSpPr>
        <p:spPr>
          <a:xfrm>
            <a:off x="777240" y="3200400"/>
            <a:ext cx="2144268" cy="1280160"/>
          </a:xfrm>
          <a:prstGeom prst="rect">
            <a:avLst/>
          </a:prstGeom>
          <a:noFill/>
          <a:ln/>
        </p:spPr>
        <p:txBody>
          <a:bodyPr wrap="square" lIns="0" tIns="0" rIns="0" bIns="0" rtlCol="0" anchor="t"/>
          <a:lstStyle/>
          <a:p>
            <a:pPr indent="0" marL="0">
              <a:buNone/>
            </a:pPr>
            <a:r>
              <a:rPr lang="en-US" sz="1400" dirty="0">
                <a:solidFill>
                  <a:schemeClr val="bg2"/>
                </a:solidFill>
              </a:rPr>
              <a:t>The report already lists every expiry date — flag certificates due to expire within 30 days.</a:t>
            </a:r>
            <a:endParaRPr lang="en-US" sz="1400" dirty="0"/>
          </a:p>
        </p:txBody>
      </p:sp>
      <p:sp>
        <p:nvSpPr>
          <p:cNvPr id="9" name="Scheduled checks"/>
          <p:cNvSpPr/>
          <p:nvPr/>
        </p:nvSpPr>
        <p:spPr>
          <a:xfrm>
            <a:off x="3378708" y="1783080"/>
            <a:ext cx="2601468" cy="2788920"/>
          </a:xfrm>
          <a:prstGeom prst="roundRect">
            <a:avLst>
              <a:gd name="adj" fmla="val 4921"/>
            </a:avLst>
          </a:prstGeom>
          <a:solidFill>
            <a:schemeClr val="bg1">
              <a:alpha val="8000"/>
            </a:schemeClr>
          </a:solidFill>
          <a:ln/>
        </p:spPr>
      </p:sp>
      <p:sp>
        <p:nvSpPr>
          <p:cNvPr id="10" name="Shape 7"/>
          <p:cNvSpPr/>
          <p:nvPr/>
        </p:nvSpPr>
        <p:spPr>
          <a:xfrm>
            <a:off x="3607308" y="2011680"/>
            <a:ext cx="566928" cy="566928"/>
          </a:xfrm>
          <a:prstGeom prst="ellipse">
            <a:avLst/>
          </a:prstGeom>
          <a:solidFill>
            <a:schemeClr val="accent6"/>
          </a:solidFill>
          <a:ln/>
        </p:spPr>
      </p:sp>
      <p:pic>
        <p:nvPicPr>
          <p:cNvPr id="11" name="Image 1" descr="preencoded.png">    </p:cNvPr>
          <p:cNvPicPr>
            <a:picLocks noChangeAspect="1"/>
          </p:cNvPicPr>
          <p:nvPr/>
        </p:nvPicPr>
        <p:blipFill>
          <a:blip r:embed="rId2"/>
          <a:stretch>
            <a:fillRect/>
          </a:stretch>
        </p:blipFill>
        <p:spPr>
          <a:xfrm>
            <a:off x="3732032" y="2136404"/>
            <a:ext cx="317480" cy="317480"/>
          </a:xfrm>
          <a:prstGeom prst="rect">
            <a:avLst/>
          </a:prstGeom>
        </p:spPr>
      </p:pic>
      <p:sp>
        <p:nvSpPr>
          <p:cNvPr id="12" name="Text 8"/>
          <p:cNvSpPr txBox="1"/>
          <p:nvPr/>
        </p:nvSpPr>
        <p:spPr>
          <a:xfrm>
            <a:off x="3607308" y="2743200"/>
            <a:ext cx="2144268" cy="411480"/>
          </a:xfrm>
          <a:prstGeom prst="rect">
            <a:avLst/>
          </a:prstGeom>
          <a:noFill/>
          <a:ln/>
        </p:spPr>
        <p:txBody>
          <a:bodyPr wrap="square" lIns="0" tIns="0" rIns="0" bIns="0" rtlCol="0" anchor="ctr"/>
          <a:lstStyle/>
          <a:p>
            <a:pPr indent="0" marL="0">
              <a:buNone/>
            </a:pPr>
            <a:r>
              <a:rPr lang="en-US" sz="1700" b="1" dirty="0">
                <a:solidFill>
                  <a:schemeClr val="bg1"/>
                </a:solidFill>
              </a:rPr>
              <a:t>Scheduled checks</a:t>
            </a:r>
            <a:endParaRPr lang="en-US" sz="1700" dirty="0"/>
          </a:p>
        </p:txBody>
      </p:sp>
      <p:sp>
        <p:nvSpPr>
          <p:cNvPr id="13" name="Text 9"/>
          <p:cNvSpPr txBox="1"/>
          <p:nvPr/>
        </p:nvSpPr>
        <p:spPr>
          <a:xfrm>
            <a:off x="3607308" y="3200400"/>
            <a:ext cx="2144268" cy="1280160"/>
          </a:xfrm>
          <a:prstGeom prst="rect">
            <a:avLst/>
          </a:prstGeom>
          <a:noFill/>
          <a:ln/>
        </p:spPr>
        <p:txBody>
          <a:bodyPr wrap="square" lIns="0" tIns="0" rIns="0" bIns="0" rtlCol="0" anchor="t"/>
          <a:lstStyle/>
          <a:p>
            <a:pPr indent="0" marL="0">
              <a:buNone/>
            </a:pPr>
            <a:r>
              <a:rPr lang="en-US" sz="1400" dirty="0">
                <a:solidFill>
                  <a:schemeClr val="bg2"/>
                </a:solidFill>
              </a:rPr>
              <a:t>A weekly review-only run spots any difference between Git and S3 early.</a:t>
            </a:r>
            <a:endParaRPr lang="en-US" sz="1400" dirty="0"/>
          </a:p>
        </p:txBody>
      </p:sp>
      <p:sp>
        <p:nvSpPr>
          <p:cNvPr id="14" name="Approval for prd"/>
          <p:cNvSpPr/>
          <p:nvPr/>
        </p:nvSpPr>
        <p:spPr>
          <a:xfrm>
            <a:off x="6208776" y="1783080"/>
            <a:ext cx="2601468" cy="2788920"/>
          </a:xfrm>
          <a:prstGeom prst="roundRect">
            <a:avLst>
              <a:gd name="adj" fmla="val 4921"/>
            </a:avLst>
          </a:prstGeom>
          <a:solidFill>
            <a:schemeClr val="bg1">
              <a:alpha val="8000"/>
            </a:schemeClr>
          </a:solidFill>
          <a:ln/>
        </p:spPr>
      </p:sp>
      <p:sp>
        <p:nvSpPr>
          <p:cNvPr id="15" name="Shape 11"/>
          <p:cNvSpPr/>
          <p:nvPr/>
        </p:nvSpPr>
        <p:spPr>
          <a:xfrm>
            <a:off x="6437376" y="2011680"/>
            <a:ext cx="566928" cy="566928"/>
          </a:xfrm>
          <a:prstGeom prst="ellipse">
            <a:avLst/>
          </a:prstGeom>
          <a:solidFill>
            <a:schemeClr val="accent6"/>
          </a:solidFill>
          <a:ln/>
        </p:spPr>
      </p:sp>
      <p:pic>
        <p:nvPicPr>
          <p:cNvPr id="16" name="Image 2" descr="preencoded.png">    </p:cNvPr>
          <p:cNvPicPr>
            <a:picLocks noChangeAspect="1"/>
          </p:cNvPicPr>
          <p:nvPr/>
        </p:nvPicPr>
        <p:blipFill>
          <a:blip r:embed="rId3"/>
          <a:stretch>
            <a:fillRect/>
          </a:stretch>
        </p:blipFill>
        <p:spPr>
          <a:xfrm>
            <a:off x="6562100" y="2136404"/>
            <a:ext cx="317480" cy="317480"/>
          </a:xfrm>
          <a:prstGeom prst="rect">
            <a:avLst/>
          </a:prstGeom>
        </p:spPr>
      </p:pic>
      <p:sp>
        <p:nvSpPr>
          <p:cNvPr id="17" name="Text 12"/>
          <p:cNvSpPr txBox="1"/>
          <p:nvPr/>
        </p:nvSpPr>
        <p:spPr>
          <a:xfrm>
            <a:off x="6437376" y="2743200"/>
            <a:ext cx="2144268" cy="411480"/>
          </a:xfrm>
          <a:prstGeom prst="rect">
            <a:avLst/>
          </a:prstGeom>
          <a:noFill/>
          <a:ln/>
        </p:spPr>
        <p:txBody>
          <a:bodyPr wrap="square" lIns="0" tIns="0" rIns="0" bIns="0" rtlCol="0" anchor="ctr"/>
          <a:lstStyle/>
          <a:p>
            <a:pPr indent="0" marL="0">
              <a:buNone/>
            </a:pPr>
            <a:r>
              <a:rPr lang="en-US" sz="1700" b="1" dirty="0">
                <a:solidFill>
                  <a:schemeClr val="bg1"/>
                </a:solidFill>
              </a:rPr>
              <a:t>Approval for prd</a:t>
            </a:r>
            <a:endParaRPr lang="en-US" sz="1700" dirty="0"/>
          </a:p>
        </p:txBody>
      </p:sp>
      <p:sp>
        <p:nvSpPr>
          <p:cNvPr id="18" name="Text 13"/>
          <p:cNvSpPr txBox="1"/>
          <p:nvPr/>
        </p:nvSpPr>
        <p:spPr>
          <a:xfrm>
            <a:off x="6437376" y="3200400"/>
            <a:ext cx="2144268" cy="1280160"/>
          </a:xfrm>
          <a:prstGeom prst="rect">
            <a:avLst/>
          </a:prstGeom>
          <a:noFill/>
          <a:ln/>
        </p:spPr>
        <p:txBody>
          <a:bodyPr wrap="square" lIns="0" tIns="0" rIns="0" bIns="0" rtlCol="0" anchor="t"/>
          <a:lstStyle/>
          <a:p>
            <a:pPr indent="0" marL="0">
              <a:buNone/>
            </a:pPr>
            <a:r>
              <a:rPr lang="en-US" sz="1400" dirty="0">
                <a:solidFill>
                  <a:schemeClr val="bg2"/>
                </a:solidFill>
              </a:rPr>
              <a:t>A named approver before Apply = yes runs in production.</a:t>
            </a:r>
            <a:endParaRPr lang="en-US" sz="1400" dirty="0"/>
          </a:p>
        </p:txBody>
      </p:sp>
      <p:sp>
        <p:nvSpPr>
          <p:cNvPr id="19" name="Ready for more"/>
          <p:cNvSpPr/>
          <p:nvPr/>
        </p:nvSpPr>
        <p:spPr>
          <a:xfrm>
            <a:off x="9038844" y="1783080"/>
            <a:ext cx="2601468" cy="2788920"/>
          </a:xfrm>
          <a:prstGeom prst="roundRect">
            <a:avLst>
              <a:gd name="adj" fmla="val 4921"/>
            </a:avLst>
          </a:prstGeom>
          <a:solidFill>
            <a:schemeClr val="bg1">
              <a:alpha val="8000"/>
            </a:schemeClr>
          </a:solidFill>
          <a:ln/>
        </p:spPr>
      </p:sp>
      <p:sp>
        <p:nvSpPr>
          <p:cNvPr id="20" name="Shape 15"/>
          <p:cNvSpPr/>
          <p:nvPr/>
        </p:nvSpPr>
        <p:spPr>
          <a:xfrm>
            <a:off x="9267444" y="2011680"/>
            <a:ext cx="566928" cy="566928"/>
          </a:xfrm>
          <a:prstGeom prst="ellipse">
            <a:avLst/>
          </a:prstGeom>
          <a:solidFill>
            <a:schemeClr val="accent6"/>
          </a:solidFill>
          <a:ln/>
        </p:spPr>
      </p:sp>
      <p:pic>
        <p:nvPicPr>
          <p:cNvPr id="21" name="Image 3" descr="preencoded.png">    </p:cNvPr>
          <p:cNvPicPr>
            <a:picLocks noChangeAspect="1"/>
          </p:cNvPicPr>
          <p:nvPr/>
        </p:nvPicPr>
        <p:blipFill>
          <a:blip r:embed="rId4"/>
          <a:stretch>
            <a:fillRect/>
          </a:stretch>
        </p:blipFill>
        <p:spPr>
          <a:xfrm>
            <a:off x="9392168" y="2136404"/>
            <a:ext cx="317480" cy="317480"/>
          </a:xfrm>
          <a:prstGeom prst="rect">
            <a:avLst/>
          </a:prstGeom>
        </p:spPr>
      </p:pic>
      <p:sp>
        <p:nvSpPr>
          <p:cNvPr id="22" name="Text 16"/>
          <p:cNvSpPr txBox="1"/>
          <p:nvPr/>
        </p:nvSpPr>
        <p:spPr>
          <a:xfrm>
            <a:off x="9267444" y="2743200"/>
            <a:ext cx="2144268" cy="411480"/>
          </a:xfrm>
          <a:prstGeom prst="rect">
            <a:avLst/>
          </a:prstGeom>
          <a:noFill/>
          <a:ln/>
        </p:spPr>
        <p:txBody>
          <a:bodyPr wrap="square" lIns="0" tIns="0" rIns="0" bIns="0" rtlCol="0" anchor="ctr"/>
          <a:lstStyle/>
          <a:p>
            <a:pPr indent="0" marL="0">
              <a:buNone/>
            </a:pPr>
            <a:r>
              <a:rPr lang="en-US" sz="1700" b="1" dirty="0">
                <a:solidFill>
                  <a:schemeClr val="bg1"/>
                </a:solidFill>
              </a:rPr>
              <a:t>Ready for more</a:t>
            </a:r>
            <a:endParaRPr lang="en-US" sz="1700" dirty="0"/>
          </a:p>
        </p:txBody>
      </p:sp>
      <p:sp>
        <p:nvSpPr>
          <p:cNvPr id="23" name="Text 17"/>
          <p:cNvSpPr txBox="1"/>
          <p:nvPr/>
        </p:nvSpPr>
        <p:spPr>
          <a:xfrm>
            <a:off x="9267444" y="3200400"/>
            <a:ext cx="2144268" cy="1280160"/>
          </a:xfrm>
          <a:prstGeom prst="rect">
            <a:avLst/>
          </a:prstGeom>
          <a:noFill/>
          <a:ln/>
        </p:spPr>
        <p:txBody>
          <a:bodyPr wrap="square" lIns="0" tIns="0" rIns="0" bIns="0" rtlCol="0" anchor="t"/>
          <a:lstStyle/>
          <a:p>
            <a:pPr indent="0" marL="0">
              <a:buNone/>
            </a:pPr>
            <a:r>
              <a:rPr lang="en-US" sz="1400" dirty="0">
                <a:solidFill>
                  <a:schemeClr val="bg2"/>
                </a:solidFill>
              </a:rPr>
              <a:t>Adding a trust store or environment is one more settings block.</a:t>
            </a:r>
            <a:endParaRPr lang="en-US" sz="1400" dirty="0"/>
          </a:p>
        </p:txBody>
      </p:sp>
      <p:sp>
        <p:nvSpPr>
          <p:cNvPr id="24" name="Today"/>
          <p:cNvSpPr/>
          <p:nvPr/>
        </p:nvSpPr>
        <p:spPr>
          <a:xfrm>
            <a:off x="548640" y="4892040"/>
            <a:ext cx="11091672" cy="777240"/>
          </a:xfrm>
          <a:prstGeom prst="roundRect">
            <a:avLst>
              <a:gd name="adj" fmla="val 14118"/>
            </a:avLst>
          </a:prstGeom>
          <a:solidFill>
            <a:schemeClr val="accent1"/>
          </a:solidFill>
          <a:ln/>
        </p:spPr>
      </p:sp>
      <p:pic>
        <p:nvPicPr>
          <p:cNvPr id="25" name="Image 4" descr="preencoded.png">    </p:cNvPr>
          <p:cNvPicPr>
            <a:picLocks noChangeAspect="1"/>
          </p:cNvPicPr>
          <p:nvPr/>
        </p:nvPicPr>
        <p:blipFill>
          <a:blip r:embed="rId5"/>
          <a:stretch>
            <a:fillRect/>
          </a:stretch>
        </p:blipFill>
        <p:spPr>
          <a:xfrm>
            <a:off x="822960" y="5111496"/>
            <a:ext cx="347472" cy="347472"/>
          </a:xfrm>
          <a:prstGeom prst="rect">
            <a:avLst/>
          </a:prstGeom>
        </p:spPr>
      </p:pic>
      <p:sp>
        <p:nvSpPr>
          <p:cNvPr id="26" name="Text 19"/>
          <p:cNvSpPr txBox="1"/>
          <p:nvPr/>
        </p:nvSpPr>
        <p:spPr>
          <a:xfrm>
            <a:off x="1325880" y="4892040"/>
            <a:ext cx="10149840" cy="777240"/>
          </a:xfrm>
          <a:prstGeom prst="rect">
            <a:avLst/>
          </a:prstGeom>
          <a:noFill/>
          <a:ln/>
        </p:spPr>
        <p:txBody>
          <a:bodyPr wrap="square" lIns="0" tIns="0" rIns="0" bIns="0" rtlCol="0" anchor="ctr"/>
          <a:lstStyle/>
          <a:p>
            <a:pPr indent="0" marL="0">
              <a:buNone/>
            </a:pPr>
            <a:r>
              <a:rPr lang="en-US" sz="1800" b="1" dirty="0">
                <a:solidFill>
                  <a:schemeClr val="bg1"/>
                </a:solidFill>
              </a:rPr>
              <a:t>Today: every certificate change is validated, compared, and applied only when we choose.</a:t>
            </a:r>
            <a:endParaRPr lang="en-US" sz="1800" dirty="0"/>
          </a:p>
        </p:txBody>
      </p:sp>
      <p:sp>
        <p:nvSpPr>
          <p:cNvPr id="25" name="Slide Number Placeholder 0"/>
          <p:cNvSpPr>
            <a:spLocks noGrp="1"/>
          </p:cNvSpPr>
          <p:nvPr>
            <p:ph type="sldNum" sz="quarter" idx="4294967295"/>
          </p:nvPr>
        </p:nvSpPr>
        <p:spPr>
          <a:xfrm>
            <a:off x="11000232" y="6473952"/>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Trust Store Pipeline">
  <a:themeElements>
    <a:clrScheme name="Trust Store Pipeline">
      <a:dk1>
        <a:srgbClr val="1B2433"/>
      </a:dk1>
      <a:lt1>
        <a:srgbClr val="FFFFFF"/>
      </a:lt1>
      <a:dk2>
        <a:srgbClr val="4A5568"/>
      </a:dk2>
      <a:lt2>
        <a:srgbClr val="F1F4F7"/>
      </a:lt2>
      <a:accent1>
        <a:srgbClr val="0F7B6C"/>
      </a:accent1>
      <a:accent2>
        <a:srgbClr val="5B4B9A"/>
      </a:accent2>
      <a:accent3>
        <a:srgbClr val="C8443F"/>
      </a:accent3>
      <a:accent4>
        <a:srgbClr val="B7791F"/>
      </a:accent4>
      <a:accent5>
        <a:srgbClr val="6B7785"/>
      </a:accent5>
      <a:accent6>
        <a:srgbClr val="7FD8C6"/>
      </a:accent6>
      <a:hlink>
        <a:srgbClr val="0F7B6C"/>
      </a:hlink>
      <a:folHlink>
        <a:srgbClr val="5B4B9A"/>
      </a:folHlink>
    </a:clrScheme>
    <a:fontScheme name="Trust Store Pipelin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CloudFront trust store pipeline</dc:title>
  <dc:subject>CloudFront mTLS trust store management pipeline</dc:subject>
  <dc:creator>Kunal Shrivastava</dc:creator>
  <cp:lastModifiedBy>Kunal Shrivastava</cp:lastModifiedBy>
  <cp:revision>1</cp:revision>
  <dcterms:created xsi:type="dcterms:W3CDTF">2026-10-25T14:48:00Z</dcterms:created>
  <dcterms:modified xsi:type="dcterms:W3CDTF">2026-10-25T14:48:00Z</dcterms:modified>
</cp:coreProperties>
</file>