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f1df759-f659-d5fb-650a-68914090b307}">
          <p14:sldIdLst>
            <p14:sldId id="256"/>
            <p14:sldId id="257"/>
          </p14:sldIdLst>
        </p14:section>
        <p14:section name="Scenario 1 · EC2 instance" id="{41f4a3f8-c73c-1c24-7478-4b2536945b55}">
          <p14:sldIdLst>
            <p14:sldId id="258"/>
            <p14:sldId id="259"/>
            <p14:sldId id="260"/>
            <p14:sldId id="261"/>
            <p14:sldId id="262"/>
            <p14:sldId id="263"/>
            <p14:sldId id="264"/>
            <p14:sldId id="265"/>
          </p14:sldIdLst>
        </p14:section>
        <p14:section name="Scenario 2 · Drifted instance" id="{97b5f75a-2bb0-a829-30ac-1ad1a932ded2}">
          <p14:sldIdLst>
            <p14:sldId id="266"/>
            <p14:sldId id="267"/>
            <p14:sldId id="268"/>
            <p14:sldId id="269"/>
            <p14:sldId id="270"/>
            <p14:sldId id="271"/>
            <p14:sldId id="272"/>
            <p14:sldId id="273"/>
          </p14:sldIdLst>
        </p14:section>
        <p14:section name="Scenario 3 · DNS record" id="{e4b6609a-cb8f-76d8-8434-fc804d296e36}">
          <p14:sldIdLst>
            <p14:sldId id="274"/>
            <p14:sldId id="275"/>
            <p14:sldId id="276"/>
            <p14:sldId id="277"/>
            <p14:sldId id="278"/>
            <p14:sldId id="279"/>
            <p14:sldId id="280"/>
          </p14:sldIdLst>
        </p14:section>
        <p14:section name="Summary" id="{aff468c0-c40c-3059-9af3-f9102a7d81b9}">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Companion to the pipeline review deck. Three concrete changes are run through each pipeline that can handle them, so the difference between the current workflows and the proposed pipeline is visible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changes go through the CloudFormation workflows only; the DNS workflows handle Route 53 records. A DNS record can also live in a CloudFormation template, so scenario 3 is shown in the DNS workflows, the current CloudFormation workflow and the proposed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uses the same template and params.json in both CloudFormation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1 is a typo in params.json. The template's AllowedValues rule rejects it, and CloudFormation enforces that rule itself, so both pipelines stop it before anything is created. Mistake 2 is a security group that allows SSH from anywhere: nothing in CloudFormation objects to it, so only a scan or a reviewer would catch it. Everything else is an ordinary private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aws cloudformation deploy asks CloudFormation for a change set, and CloudFormation rejects t3.mirco straight away because it isn't in the parameter's AllowedValues. Nothing is created; the error is in the job log. Run 2: with the typo fixed, deploy creates and executes the change set in one go. The instance goes live with SSH open to the internet: nothing scans the template, nobody sees a preview, and nobody is asked to approve. Third lane: some failures only show up while resources are being created, such as a capacity or quota limit, or an AMI ID copied from another Region when the parameter is a plain String. The new stack rolls back to ROLLBACK_COMPLETE. The small-template step runs under GitHub's default bash -e, so when deploy fails the step stops at once and the lines meant to print the failure reason never run; the log shows only the CLI's generic message. A ROLLBACK_COMPLETE stack can't be updated, so every re-run fails until someone deletes the stack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1: preflight compares every params.json value with the template's rules and stops on t3.mirco before AWS is called. The outcome matches today's (CloudFormation would reject it too), with a clearer message. Run 2: lint passes, Checkov flags SSH open to 0.0.0.0/0, the CREATE change set is rated (instance LOW, security group MEDIUM as a network-sensitive type) and the approval email includes the scan finding, so the approver rejects it and deletes the change set. Run 3: with the SSH rule removed every check passes; the approver approves the GitHub gate, and the pipeline executes the change set and emails the result with the stack outputs. If the approver executes in the AWS console instead (the default mode), the pipeline run has already finished, so the outcome is seen in the console. If the create fails half-way, the result email names the failed resource and the reason, and the next run is blocked with the exact command to delete the failed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email the approver receives in run 2 (typo fixed, SSH still open to the world). The email is a screenshot of the HTML that the pipeline's notify.py produces, rendered with this scenario's sample data against simulated AWS responses; the account ID 111122223333, the example.com addresses and the user names are placeholders. 1: the subject and the header colour carry the overall risk (blue LOW, amber MEDIUM, red HIGH). 2: one sentence says what the change set will do. 3: the drift check (skipped for a new stack), cfn-lint and the Checkov scan sit beside the stack, account, change set, commit and who started the run. 4: buttons open the change set in the AWS console and the pipeline run. The email also attaches changes.csv and changeset.json. The next slide shows the rest of the same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run 2's approval email. The email is a screenshot of the HTML that the pipeline's notify.py produces, rendered with this scenario's sample data against simulated AWS responses; the account ID 111122223333, the example.com addresses and the user names are placeholders. 5: each resource with its action and risk. 6: why the overall risk is MEDIUM (a security group is a network-sensitive type). 7: the Checkov finding CKV_AWS_24, SSH open to 0.0.0.0/0, with the resource it applies to; the scan is report-only by default. 8: for new resources the email shows every property CloudFormation will create, so the approver can see the SSH rule itself (highlighted here). At the end of the email: how to approve in GitHub or reject, and the matching CLI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emails are sent when the pipeline executes the change set itself (GitHub gate mode). The email is a screenshot of the HTML that the pipeline's notify.py produces, rendered with this scenario's sample data against simulated AWS responses; the account ID 111122223333, the example.com addresses and the user names are placeholders. Left: run 3 succeeded; the email names who approved it, how long it took and the stack outputs. Middle: a create that fails half-way, here because the AMI ID does not exist in the Region; the failed resource and CloudFormation's reason open the email. Right: the next run finds the stack in ROLLBACK_COMPLETE, stops before touching AWS and gives the exact delete command, Region included. Compare today, where the job log shows a generic CLI error and every re-run fails until someone deletes the stack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of scenario 1. The typo row is a tie: CloudFormation enforces AllowedValues itself. The difference is everything CloudFormation doesn't check: risky settings, a preview, an approval, and a usable report when something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follows the instance from scenario 1 after someone changes it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means the live resource no longer matches the stack's last deployment. Here two things drift: the instance type and the security group's ingress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day 10 the workflow deploys the tag change. A standard change set compares the new template with the last one, not with live resources, so the console changes are invisible: the tag is added, the instance stays t3.medium and SSH stays open, and nothing reports either. Weeks later someone sets InstanceType to t3.small in params.json. CloudFormation applies it (the instance is stopped, resized and started) and the incident change is undone without anyone seeing it. Source: AWS DevOps blog, 'Safely handle configuration drift with CloudFormation drift-aware change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10: drift detection runs on the stack and every nested stack and finds two drifted resources, so the run stops before a change set is made. The drift email shows expected against actual values, the live YAML, a CloudTrail command to see who made each change, and Amazon Q's suggested template code with a keep-or-revert recommendation. The team keeps t3.medium by changing params.json (t3.medium is already in the template's AllowedValues) and leaves the SSH rule out of the template, then re-runs with driftPolicy = revert-drift. The drift-aware change set keeps the instance as it is (sync with live), adds the tag and removes the SSH rule. It is approved like any other change; the result is emailed when the GitHub gate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email the team receives on day 10, when drift detection finds the console changes and the run stops (driftPolicy = block). The email is a screenshot of the HTML that the pipeline's notify.py produces, rendered with this scenario's sample data against simulated AWS responses; the account ID 111122223333, the example.com addresses and the user names are placeholders. 1: red header and a subject that names the stack and how many resources drifted. 2: no change set was created, so nothing changed in AWS. 3: stack, account, region, when drift was checked and the drift policy. 4: buttons open the drift view in the AWS console and the pipeline run. 5: one row per drifted resource, with the property that changed and Amazon Q's recommendation. Attachments: the live YAML of the drifted resources, the suggested code, a markdown summary of the fixes and the full drift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of the day 10 drift email: one section per drifted resource. The email is a screenshot of the HTML that the pipeline's notify.py produces, rendered with this scenario's sample data against simulated AWS responses; the account ID 111122223333, the example.com addresses and the user names are placeholders. The recommendations shown are sample text standing in for Amazon Q's answer, which the pipeline asks for each drifted resource. 1: the property that drifted, template value against live value. 2: Amazon Q's recommendation and risk: revert the world-open SSH rule (HIGH), keep the resize (LOW). 3: impact and reasoning in plain words. 4: for the resize, the change belongs in params.json (InstanceType = t3.medium), so the email gives that change as well as the template code. Each section also shows the live YAML, the current code from the repository and a CloudTrail command to find who made the change. Amazon Q Developer runs headless through the Kiro CLI; Amazon Bedrock is the fallback. Nothing is applied until a person acts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email for the run after the team's decision (params.json now says t3.medium; re-run with driftPolicy = revert-drift). The email is a screenshot of the HTML that the pipeline's notify.py produces, rendered with this scenario's sample data against simulated AWS responses; the account ID 111122223333, the example.com addresses and the user names are placeholders. 1: the summary says the change set is drift-aware and how drift is handled. 2: the security group is modified (MEDIUM) and the instance is synced with live (LOW). 3: the SSH rule that was added in the console is removed (drift revert) and the CostCentre tag is added. 4: the instance stays t3.medium; CloudFormation only updates its record ('Sync with live', as the AWS console calls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of scenario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compares the DNS workflows, the current CloudFormation workflow with records in a template, and the proposed pipeline with records in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zone holds records from several sources: the DNS workflows, a console change made during a failover, ACM certificate validation and an ALIAS record managed by another CloudFormation stack. A good pipeline changes only the two records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copies the zone into JSON on a new branch and opens a pull request. The team has seen large diffs between exports, and checks don't run on a pull request opened with the workflow's own token. The edit is merged. In this example status.example.com was repointed in the console during a failover while the pull request was in review, so the file still holds the old value and Apply's preview contains an UPSERT that puts it back. After approval a new job works out the difference again and sends the change batch with boto3, so anything changed while the approval waited is overwritten too. The run is marked APPLIED; the workflow keeps no copy of the zone beforehand and doesn't check afterwards. With Allow deletes ticked, anything live but missing from the file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in a CloudFormation template only affect records the stack owns, which is good. But the workflow changes them as soon as it runs, with no preview, approval or record. A record that already exists in the zone, such as www.example.com created by the DNS workflows, can't simply be added to the template: CloudFormation refuses to create a record that already exists and won't take over one it didn't create, and record sets can't be imported. Someone has to sort it out by hand, for example by deleting the old record and re-running, which leaves a short gap for that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records in a stack, the proposed pipeline checks the template, runs the drift check, and creates a change set that shows Add for app.example.com and Modify for www.example.com with before and after values. Route 53 changes are rated MEDIUM. The approver approves the GitHub gate and the pipeline executes the change set exactly as reviewed; on failure the stack rolls back and the root cause is emailed. (In the default mode the approver executes the change set in the AWS console instead.) Records outside the stack are never touched. Caveats: confirm that CloudFormation drift detection covers Route 53 record sets, and plan the move of existing records, because record sets can't be imported into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email for the DNS change, with the records in the stack dns-records-example-com. The email is a screenshot of the HTML that the pipeline's notify.py produces, rendered with this scenario's sample data against simulated AWS responses; the account ID 111122223333, the example.com addresses and the user names are placeholders. 1: overall risk MEDIUM in the subject, the header colour and the summary; Route 53 record sets are a network-sensitive type. 2: app.example.com is added; further down, the email shows every property of the new record. 3: www.example.com before and after. The email also shows the drift check result (in sync) and notes that termination protection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of scenario 3 across the three ways a record can change today or in the proposed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email the proposed pipeline can send, with an example subject line. Drift, blocked, inconclusive and error emails come from the drift stage; the approval and no-change emails follow the change set; deployed and failed emails are sent when the pipeline executes the change set itself (GitHub gate mode). If a change set fails CloudFormation's validation, the run fails with the exact errors in its summary instead of sending an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scenario. In each case the proposed pipeline moves the discovery of a problem from the live account to a check that stops the run, and puts a person's approval in front of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1 and 2 can be rehearsed on a small sandbox EC2 stack. For DNS, the high-severity fixes to the apply workflow are worth doing regardless of where the records end up. Until a zone has moved, the DNS workflows will also export records that a stack manages, so the ownership rule matters: without it, a stale zone file can put back a record the stack has since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91640"/>
            <a:ext cx="102412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00400"/>
            <a:ext cx="9509760" cy="1097280"/>
          </a:xfrm>
          <a:prstGeom prst="rect">
            <a:avLst/>
          </a:prstGeom>
          <a:noFill/>
          <a:ln/>
        </p:spPr>
        <p:txBody>
          <a:bodyPr wrap="square" rtlCol="0"/>
          <a:lstStyle>
            <a:lvl1pPr indent="0" marL="0">
              <a:buNone/>
              <a:defRPr lang="en-US" sz="2000" dirty="0">
                <a:solidFill>
                  <a:srgbClr val="C9D3E3"/>
                </a:solidFill>
              </a:defRPr>
            </a:lvl1pPr>
          </a:lstStyle>
          <a:p>
            <a:pPr indent="0" marL="0">
              <a:buNone/>
            </a:pPr>
            <a:endParaRPr lang="en-US" sz="2000" dirty="0"/>
          </a:p>
        </p:txBody>
      </p:sp>
      <p:sp>
        <p:nvSpPr>
          <p:cNvPr id="4" name="Text 0"/>
          <p:cNvSpPr/>
          <p:nvPr>
            <p:ph idx="102" type="body" hasCustomPrompt="1"/>
          </p:nvPr>
        </p:nvSpPr>
        <p:spPr>
          <a:xfrm>
            <a:off x="731520" y="5806440"/>
            <a:ext cx="7315200" cy="365760"/>
          </a:xfrm>
          <a:prstGeom prst="rect">
            <a:avLst/>
          </a:prstGeom>
          <a:noFill/>
          <a:ln/>
        </p:spPr>
        <p:txBody>
          <a:bodyPr wrap="square" rtlCol="0"/>
          <a:lstStyle>
            <a:lvl1pPr indent="0" marL="0">
              <a:buNone/>
              <a:defRPr lang="en-US" sz="1400" dirty="0">
                <a:solidFill>
                  <a:srgbClr val="9FB0C8"/>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rtlCol="0"/>
          <a:lstStyle>
            <a:lvl1pPr indent="0" marL="0">
              <a:buNone/>
              <a:defRPr lang="en-US" sz="4000" b="1" dirty="0">
                <a:solidFill>
                  <a:srgbClr val="8FB0FF"/>
                </a:solidFill>
              </a:defRPr>
            </a:lvl1pPr>
          </a:lstStyle>
          <a:p>
            <a:pPr indent="0" marL="0">
              <a:buNone/>
            </a:pP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rtlCol="0"/>
          <a:lstStyle>
            <a:lvl1pPr indent="0" marL="0">
              <a:buNone/>
              <a:defRPr lang="en-US" sz="1800" dirty="0">
                <a:solidFill>
                  <a:srgbClr val="C9D3E3"/>
                </a:solidFill>
              </a:defRPr>
            </a:lvl1pPr>
          </a:lstStyle>
          <a:p>
            <a:pPr indent="0" marL="0">
              <a:buNone/>
            </a:pPr>
            <a:endParaRPr lang="en-US" sz="1800" dirty="0"/>
          </a:p>
        </p:txBody>
      </p:sp>
      <p:sp>
        <p:nvSpPr>
          <p:cNvPr id="5" name="Text 0"/>
          <p:cNvSpPr/>
          <p:nvPr/>
        </p:nvSpPr>
        <p:spPr>
          <a:xfrm>
            <a:off x="731520" y="6419088"/>
            <a:ext cx="7315200" cy="274320"/>
          </a:xfrm>
          <a:prstGeom prst="rect">
            <a:avLst/>
          </a:prstGeom>
          <a:noFill/>
          <a:ln/>
        </p:spPr>
        <p:txBody>
          <a:bodyPr wrap="square" lIns="0" tIns="0" rIns="0" bIns="0" rtlCol="0" anchor="ctr"/>
          <a:lstStyle/>
          <a:p>
            <a:pPr indent="0" marL="0">
              <a:buNone/>
            </a:pPr>
            <a:r>
              <a:rPr lang="en-US" sz="1000" dirty="0">
                <a:solidFill>
                  <a:srgbClr val="9FB0C8"/>
                </a:solidFill>
              </a:rPr>
              <a:t>Pipeline scenarios · October 2026</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rtlCol="0"/>
          <a:lstStyle>
            <a:lvl1pPr indent="0" marL="0">
              <a:buNone/>
              <a:defRPr lang="en-US" sz="1400" dirty="0">
                <a:solidFill>
                  <a:srgbClr val="586275"/>
                </a:solidFill>
              </a:defRPr>
            </a:lvl1pPr>
          </a:lstStyle>
          <a:p>
            <a:pPr indent="0" marL="0">
              <a:buNone/>
            </a:pPr>
            <a:endParaRPr lang="en-US" sz="1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rgbClr val="7D889B"/>
                </a:solidFill>
              </a:rPr>
              <a:t>Pipeline scenarios · October 2026</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91640"/>
            <a:ext cx="10241280" cy="1371600"/>
          </a:xfrm>
          <a:prstGeom prst="rect">
            <a:avLst/>
          </a:prstGeom>
          <a:noFill/>
          <a:ln/>
        </p:spPr>
        <p:txBody>
          <a:bodyPr wrap="square" lIns="0" tIns="0" rIns="0" bIns="0" rtlCol="0" anchor="b"/>
          <a:lstStyle/>
          <a:p>
            <a:pPr algn="l" indent="0" marL="0">
              <a:buNone/>
            </a:pPr>
            <a:r>
              <a:rPr lang="en-US" sz="4400" b="1" dirty="0">
                <a:solidFill>
                  <a:schemeClr val="bg1"/>
                </a:solidFill>
              </a:rPr>
              <a:t>Three everyday changes, four pipelines</a:t>
            </a:r>
            <a:endParaRPr lang="en-US" sz="4400" dirty="0"/>
          </a:p>
        </p:txBody>
      </p:sp>
      <p:sp>
        <p:nvSpPr>
          <p:cNvPr id="3" name="Text 0"/>
          <p:cNvSpPr/>
          <p:nvPr>
            <p:ph idx="101" type="body" hasCustomPrompt="1"/>
          </p:nvPr>
        </p:nvSpPr>
        <p:spPr>
          <a:xfrm>
            <a:off x="731520" y="3200400"/>
            <a:ext cx="9509760" cy="1097280"/>
          </a:xfrm>
          <a:prstGeom prst="rect">
            <a:avLst/>
          </a:prstGeom>
          <a:noFill/>
          <a:ln/>
        </p:spPr>
        <p:txBody>
          <a:bodyPr wrap="square" lIns="0" tIns="0" rIns="0" bIns="0" rtlCol="0" anchor="t"/>
          <a:lstStyle/>
          <a:p>
            <a:pPr indent="0" marL="0">
              <a:buNone/>
            </a:pPr>
            <a:r>
              <a:rPr lang="en-US" sz="2000" dirty="0">
                <a:solidFill>
                  <a:srgbClr val="C9D3E3"/>
                </a:solidFill>
              </a:rPr>
              <a:t>Deploying a plain EC2 instance, handling an instance that has drifted, and adding or updating a DNS record: what each pipeline does, where the proposed pipeline helps, and the emails it sends</a:t>
            </a:r>
            <a:endParaRPr lang="en-US" sz="2000" dirty="0"/>
          </a:p>
        </p:txBody>
      </p:sp>
      <p:sp>
        <p:nvSpPr>
          <p:cNvPr id="4" name="Text 0"/>
          <p:cNvSpPr/>
          <p:nvPr>
            <p:ph idx="102" type="body" hasCustomPrompt="1"/>
          </p:nvPr>
        </p:nvSpPr>
        <p:spPr>
          <a:xfrm>
            <a:off x="731520" y="5806440"/>
            <a:ext cx="7315200" cy="365760"/>
          </a:xfrm>
          <a:prstGeom prst="rect">
            <a:avLst/>
          </a:prstGeom>
          <a:noFill/>
          <a:ln/>
        </p:spPr>
        <p:txBody>
          <a:bodyPr wrap="square" lIns="0" tIns="0" rIns="0" bIns="0" rtlCol="0" anchor="ctr"/>
          <a:lstStyle/>
          <a:p>
            <a:pPr indent="0" marL="0">
              <a:buNone/>
            </a:pPr>
            <a:r>
              <a:rPr lang="en-US" sz="1400" dirty="0">
                <a:solidFill>
                  <a:srgbClr val="9FB0C8"/>
                </a:solidFill>
              </a:rPr>
              <a:t>October 2026</a:t>
            </a:r>
            <a:endParaRPr lang="en-US" sz="1400" dirty="0"/>
          </a:p>
        </p:txBody>
      </p:sp>
      <p:sp>
        <p:nvSpPr>
          <p:cNvPr id="5" name="Shape 3"/>
          <p:cNvSpPr/>
          <p:nvPr/>
        </p:nvSpPr>
        <p:spPr>
          <a:xfrm>
            <a:off x="7452360" y="4800600"/>
            <a:ext cx="822960" cy="457200"/>
          </a:xfrm>
          <a:prstGeom prst="roundRect">
            <a:avLst>
              <a:gd name="adj" fmla="val 16000"/>
            </a:avLst>
          </a:prstGeom>
          <a:solidFill>
            <a:srgbClr val="FFFFFF">
              <a:alpha val="12000"/>
            </a:srgbClr>
          </a:solidFill>
          <a:ln w="12700">
            <a:solidFill>
              <a:srgbClr val="8FB0FF"/>
            </a:solidFill>
            <a:prstDash val="solid"/>
          </a:ln>
        </p:spPr>
      </p:sp>
      <p:sp>
        <p:nvSpPr>
          <p:cNvPr id="6" name="Shape 4"/>
          <p:cNvSpPr/>
          <p:nvPr/>
        </p:nvSpPr>
        <p:spPr>
          <a:xfrm>
            <a:off x="8275320" y="5029200"/>
            <a:ext cx="292608" cy="0"/>
          </a:xfrm>
          <a:prstGeom prst="line">
            <a:avLst/>
          </a:prstGeom>
          <a:noFill/>
          <a:ln w="15875">
            <a:solidFill>
              <a:srgbClr val="8FB0FF"/>
            </a:solidFill>
            <a:prstDash val="solid"/>
            <a:tailEnd type="triangle"/>
          </a:ln>
        </p:spPr>
      </p:sp>
      <p:sp>
        <p:nvSpPr>
          <p:cNvPr id="7" name="Shape 5"/>
          <p:cNvSpPr/>
          <p:nvPr/>
        </p:nvSpPr>
        <p:spPr>
          <a:xfrm>
            <a:off x="8567928" y="4800600"/>
            <a:ext cx="822960" cy="457200"/>
          </a:xfrm>
          <a:prstGeom prst="roundRect">
            <a:avLst>
              <a:gd name="adj" fmla="val 16000"/>
            </a:avLst>
          </a:prstGeom>
          <a:solidFill>
            <a:srgbClr val="FFFFFF">
              <a:alpha val="12000"/>
            </a:srgbClr>
          </a:solidFill>
          <a:ln w="12700">
            <a:solidFill>
              <a:srgbClr val="8FB0FF"/>
            </a:solidFill>
            <a:prstDash val="solid"/>
          </a:ln>
        </p:spPr>
      </p:sp>
      <p:sp>
        <p:nvSpPr>
          <p:cNvPr id="8" name="Shape 6"/>
          <p:cNvSpPr/>
          <p:nvPr/>
        </p:nvSpPr>
        <p:spPr>
          <a:xfrm>
            <a:off x="9390888" y="5029200"/>
            <a:ext cx="292608" cy="0"/>
          </a:xfrm>
          <a:prstGeom prst="line">
            <a:avLst/>
          </a:prstGeom>
          <a:noFill/>
          <a:ln w="15875">
            <a:solidFill>
              <a:srgbClr val="8FB0FF"/>
            </a:solidFill>
            <a:prstDash val="solid"/>
            <a:tailEnd type="triangle"/>
          </a:ln>
        </p:spPr>
      </p:sp>
      <p:sp>
        <p:nvSpPr>
          <p:cNvPr id="9" name="Shape 7"/>
          <p:cNvSpPr/>
          <p:nvPr/>
        </p:nvSpPr>
        <p:spPr>
          <a:xfrm>
            <a:off x="9683496" y="4800600"/>
            <a:ext cx="822960" cy="457200"/>
          </a:xfrm>
          <a:prstGeom prst="roundRect">
            <a:avLst>
              <a:gd name="adj" fmla="val 16000"/>
            </a:avLst>
          </a:prstGeom>
          <a:solidFill>
            <a:srgbClr val="FFFFFF">
              <a:alpha val="12000"/>
            </a:srgbClr>
          </a:solidFill>
          <a:ln w="12700">
            <a:solidFill>
              <a:srgbClr val="8FB0FF"/>
            </a:solidFill>
            <a:prstDash val="solid"/>
          </a:ln>
        </p:spPr>
      </p:sp>
      <p:sp>
        <p:nvSpPr>
          <p:cNvPr id="10" name="Shape 8"/>
          <p:cNvSpPr/>
          <p:nvPr/>
        </p:nvSpPr>
        <p:spPr>
          <a:xfrm>
            <a:off x="10506456" y="5029200"/>
            <a:ext cx="292608" cy="0"/>
          </a:xfrm>
          <a:prstGeom prst="line">
            <a:avLst/>
          </a:prstGeom>
          <a:noFill/>
          <a:ln w="15875">
            <a:solidFill>
              <a:srgbClr val="8FB0FF"/>
            </a:solidFill>
            <a:prstDash val="solid"/>
            <a:tailEnd type="triangle"/>
          </a:ln>
        </p:spPr>
      </p:sp>
      <p:sp>
        <p:nvSpPr>
          <p:cNvPr id="11" name="Shape 9"/>
          <p:cNvSpPr/>
          <p:nvPr/>
        </p:nvSpPr>
        <p:spPr>
          <a:xfrm>
            <a:off x="10799064" y="4800600"/>
            <a:ext cx="822960" cy="457200"/>
          </a:xfrm>
          <a:prstGeom prst="roundRect">
            <a:avLst>
              <a:gd name="adj" fmla="val 16000"/>
            </a:avLst>
          </a:prstGeom>
          <a:solidFill>
            <a:srgbClr val="FFFFFF">
              <a:alpha val="30000"/>
            </a:srgbClr>
          </a:solidFill>
          <a:ln w="12700">
            <a:solidFill>
              <a:srgbClr val="8FB0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scenarios and the pipelines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Each scenario is walked through every pipeline that can run it</a:t>
            </a:r>
            <a:endParaRPr lang="en-US" sz="1400" dirty="0"/>
          </a:p>
        </p:txBody>
      </p:sp>
      <p:sp>
        <p:nvSpPr>
          <p:cNvPr id="5" name="Shape 2"/>
          <p:cNvSpPr/>
          <p:nvPr/>
        </p:nvSpPr>
        <p:spPr>
          <a:xfrm>
            <a:off x="548640" y="1508760"/>
            <a:ext cx="5074920" cy="1371600"/>
          </a:xfrm>
          <a:prstGeom prst="roundRect">
            <a:avLst>
              <a:gd name="adj" fmla="val 800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737360"/>
            <a:ext cx="530352" cy="530352"/>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04524" y="1864644"/>
            <a:ext cx="275783" cy="275783"/>
          </a:xfrm>
          <a:prstGeom prst="rect">
            <a:avLst/>
          </a:prstGeom>
        </p:spPr>
      </p:pic>
      <p:sp>
        <p:nvSpPr>
          <p:cNvPr id="8" name="Text 4"/>
          <p:cNvSpPr txBox="1"/>
          <p:nvPr/>
        </p:nvSpPr>
        <p:spPr>
          <a:xfrm>
            <a:off x="1481328" y="1709928"/>
            <a:ext cx="3977640" cy="329184"/>
          </a:xfrm>
          <a:prstGeom prst="rect">
            <a:avLst/>
          </a:prstGeom>
          <a:noFill/>
          <a:ln/>
        </p:spPr>
        <p:txBody>
          <a:bodyPr wrap="square" lIns="0" tIns="0" rIns="0" bIns="0" rtlCol="0" anchor="ctr"/>
          <a:lstStyle/>
          <a:p>
            <a:pPr indent="0" marL="0">
              <a:buNone/>
            </a:pPr>
            <a:r>
              <a:rPr lang="en-US" sz="1600" b="1" dirty="0">
                <a:solidFill>
                  <a:srgbClr val="16243A"/>
                </a:solidFill>
              </a:rPr>
              <a:t>1 · Deploy a plain EC2 instance</a:t>
            </a:r>
            <a:endParaRPr lang="en-US" sz="1600" dirty="0"/>
          </a:p>
        </p:txBody>
      </p:sp>
      <p:sp>
        <p:nvSpPr>
          <p:cNvPr id="9" name="Text 5"/>
          <p:cNvSpPr txBox="1"/>
          <p:nvPr/>
        </p:nvSpPr>
        <p:spPr>
          <a:xfrm>
            <a:off x="1481328" y="2075688"/>
            <a:ext cx="3977640" cy="685800"/>
          </a:xfrm>
          <a:prstGeom prst="rect">
            <a:avLst/>
          </a:prstGeom>
          <a:noFill/>
          <a:ln/>
        </p:spPr>
        <p:txBody>
          <a:bodyPr wrap="square" lIns="0" tIns="0" rIns="0" bIns="0" rtlCol="0" anchor="t"/>
          <a:lstStyle/>
          <a:p>
            <a:pPr indent="0" marL="0">
              <a:buNone/>
            </a:pPr>
            <a:r>
              <a:rPr lang="en-US" sz="1300" dirty="0">
                <a:solidFill>
                  <a:srgbClr val="131925"/>
                </a:solidFill>
              </a:rPr>
              <a:t>A new stack: one instance and its security group, with two planted mistakes.</a:t>
            </a:r>
            <a:endParaRPr lang="en-US" sz="1300" dirty="0"/>
          </a:p>
        </p:txBody>
      </p:sp>
      <p:sp>
        <p:nvSpPr>
          <p:cNvPr id="10" name="Shape 6"/>
          <p:cNvSpPr/>
          <p:nvPr/>
        </p:nvSpPr>
        <p:spPr>
          <a:xfrm>
            <a:off x="548640" y="3081528"/>
            <a:ext cx="5074920" cy="1371600"/>
          </a:xfrm>
          <a:prstGeom prst="roundRect">
            <a:avLst>
              <a:gd name="adj" fmla="val 800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1" name="Shape 7"/>
          <p:cNvSpPr/>
          <p:nvPr/>
        </p:nvSpPr>
        <p:spPr>
          <a:xfrm>
            <a:off x="777240" y="3310128"/>
            <a:ext cx="530352" cy="530352"/>
          </a:xfrm>
          <a:prstGeom prst="ellipse">
            <a:avLst/>
          </a:prstGeom>
          <a:solidFill>
            <a:srgbClr val="16243A"/>
          </a:solidFill>
          <a:ln w="6350">
            <a:solidFill>
              <a:srgbClr val="16243A"/>
            </a:solidFill>
            <a:prstDash val="solid"/>
          </a:ln>
        </p:spPr>
      </p:sp>
      <p:pic>
        <p:nvPicPr>
          <p:cNvPr id="12" name="Image 1" descr="Icon">    </p:cNvPr>
          <p:cNvPicPr>
            <a:picLocks noChangeAspect="1"/>
          </p:cNvPicPr>
          <p:nvPr/>
        </p:nvPicPr>
        <p:blipFill>
          <a:blip r:embed="rId2"/>
          <a:stretch>
            <a:fillRect/>
          </a:stretch>
        </p:blipFill>
        <p:spPr>
          <a:xfrm>
            <a:off x="904524" y="3437412"/>
            <a:ext cx="275783" cy="275783"/>
          </a:xfrm>
          <a:prstGeom prst="rect">
            <a:avLst/>
          </a:prstGeom>
        </p:spPr>
      </p:pic>
      <p:sp>
        <p:nvSpPr>
          <p:cNvPr id="13" name="Text 8"/>
          <p:cNvSpPr txBox="1"/>
          <p:nvPr/>
        </p:nvSpPr>
        <p:spPr>
          <a:xfrm>
            <a:off x="1481328" y="3282696"/>
            <a:ext cx="3977640" cy="329184"/>
          </a:xfrm>
          <a:prstGeom prst="rect">
            <a:avLst/>
          </a:prstGeom>
          <a:noFill/>
          <a:ln/>
        </p:spPr>
        <p:txBody>
          <a:bodyPr wrap="square" lIns="0" tIns="0" rIns="0" bIns="0" rtlCol="0" anchor="ctr"/>
          <a:lstStyle/>
          <a:p>
            <a:pPr indent="0" marL="0">
              <a:buNone/>
            </a:pPr>
            <a:r>
              <a:rPr lang="en-US" sz="1600" b="1" dirty="0">
                <a:solidFill>
                  <a:srgbClr val="16243A"/>
                </a:solidFill>
              </a:rPr>
              <a:t>2 · An instance has drifted</a:t>
            </a:r>
            <a:endParaRPr lang="en-US" sz="1600" dirty="0"/>
          </a:p>
        </p:txBody>
      </p:sp>
      <p:sp>
        <p:nvSpPr>
          <p:cNvPr id="14" name="Text 9"/>
          <p:cNvSpPr txBox="1"/>
          <p:nvPr/>
        </p:nvSpPr>
        <p:spPr>
          <a:xfrm>
            <a:off x="1481328" y="3648456"/>
            <a:ext cx="3977640" cy="685800"/>
          </a:xfrm>
          <a:prstGeom prst="rect">
            <a:avLst/>
          </a:prstGeom>
          <a:noFill/>
          <a:ln/>
        </p:spPr>
        <p:txBody>
          <a:bodyPr wrap="square" lIns="0" tIns="0" rIns="0" bIns="0" rtlCol="0" anchor="t"/>
          <a:lstStyle/>
          <a:p>
            <a:pPr indent="0" marL="0">
              <a:buNone/>
            </a:pPr>
            <a:r>
              <a:rPr lang="en-US" sz="1300" dirty="0">
                <a:solidFill>
                  <a:srgbClr val="131925"/>
                </a:solidFill>
              </a:rPr>
              <a:t>Someone resized the instance and opened SSH in the console; a routine tag change follows.</a:t>
            </a:r>
            <a:endParaRPr lang="en-US" sz="1300" dirty="0"/>
          </a:p>
        </p:txBody>
      </p:sp>
      <p:sp>
        <p:nvSpPr>
          <p:cNvPr id="15" name="Shape 10"/>
          <p:cNvSpPr/>
          <p:nvPr/>
        </p:nvSpPr>
        <p:spPr>
          <a:xfrm>
            <a:off x="548640" y="4654296"/>
            <a:ext cx="5074920" cy="1371600"/>
          </a:xfrm>
          <a:prstGeom prst="roundRect">
            <a:avLst>
              <a:gd name="adj" fmla="val 800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6" name="Shape 11"/>
          <p:cNvSpPr/>
          <p:nvPr/>
        </p:nvSpPr>
        <p:spPr>
          <a:xfrm>
            <a:off x="777240" y="4882896"/>
            <a:ext cx="530352" cy="530352"/>
          </a:xfrm>
          <a:prstGeom prst="ellipse">
            <a:avLst/>
          </a:prstGeom>
          <a:solidFill>
            <a:srgbClr val="16243A"/>
          </a:solidFill>
          <a:ln w="6350">
            <a:solidFill>
              <a:srgbClr val="16243A"/>
            </a:solidFill>
            <a:prstDash val="solid"/>
          </a:ln>
        </p:spPr>
      </p:sp>
      <p:pic>
        <p:nvPicPr>
          <p:cNvPr id="17" name="Image 2" descr="Icon">    </p:cNvPr>
          <p:cNvPicPr>
            <a:picLocks noChangeAspect="1"/>
          </p:cNvPicPr>
          <p:nvPr/>
        </p:nvPicPr>
        <p:blipFill>
          <a:blip r:embed="rId3"/>
          <a:stretch>
            <a:fillRect/>
          </a:stretch>
        </p:blipFill>
        <p:spPr>
          <a:xfrm>
            <a:off x="904524" y="5010180"/>
            <a:ext cx="275783" cy="275783"/>
          </a:xfrm>
          <a:prstGeom prst="rect">
            <a:avLst/>
          </a:prstGeom>
        </p:spPr>
      </p:pic>
      <p:sp>
        <p:nvSpPr>
          <p:cNvPr id="18" name="Text 12"/>
          <p:cNvSpPr txBox="1"/>
          <p:nvPr/>
        </p:nvSpPr>
        <p:spPr>
          <a:xfrm>
            <a:off x="1481328" y="4855464"/>
            <a:ext cx="3977640" cy="329184"/>
          </a:xfrm>
          <a:prstGeom prst="rect">
            <a:avLst/>
          </a:prstGeom>
          <a:noFill/>
          <a:ln/>
        </p:spPr>
        <p:txBody>
          <a:bodyPr wrap="square" lIns="0" tIns="0" rIns="0" bIns="0" rtlCol="0" anchor="ctr"/>
          <a:lstStyle/>
          <a:p>
            <a:pPr indent="0" marL="0">
              <a:buNone/>
            </a:pPr>
            <a:r>
              <a:rPr lang="en-US" sz="1600" b="1" dirty="0">
                <a:solidFill>
                  <a:srgbClr val="16243A"/>
                </a:solidFill>
              </a:rPr>
              <a:t>3 · Add or update a DNS record</a:t>
            </a:r>
            <a:endParaRPr lang="en-US" sz="1600" dirty="0"/>
          </a:p>
        </p:txBody>
      </p:sp>
      <p:sp>
        <p:nvSpPr>
          <p:cNvPr id="19" name="Text 13"/>
          <p:cNvSpPr txBox="1"/>
          <p:nvPr/>
        </p:nvSpPr>
        <p:spPr>
          <a:xfrm>
            <a:off x="1481328" y="5221224"/>
            <a:ext cx="3977640" cy="685800"/>
          </a:xfrm>
          <a:prstGeom prst="rect">
            <a:avLst/>
          </a:prstGeom>
          <a:noFill/>
          <a:ln/>
        </p:spPr>
        <p:txBody>
          <a:bodyPr wrap="square" lIns="0" tIns="0" rIns="0" bIns="0" rtlCol="0" anchor="t"/>
          <a:lstStyle/>
          <a:p>
            <a:pPr indent="0" marL="0">
              <a:buNone/>
            </a:pPr>
            <a:r>
              <a:rPr lang="en-US" sz="1300" dirty="0">
                <a:solidFill>
                  <a:srgbClr val="131925"/>
                </a:solidFill>
              </a:rPr>
              <a:t>Add app.example.com and repoint www.example.com in a zone other tools also write to.</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806440" y="1508760"/>
          <a:ext cx="5833872" cy="914400"/>
        </p:xfrm>
        <a:graphic>
          <a:graphicData uri="http://schemas.openxmlformats.org/drawingml/2006/table">
            <a:tbl>
              <a:tblPr/>
              <a:tblGrid>
                <a:gridCol w="2286000"/>
                <a:gridCol w="1024128"/>
                <a:gridCol w="1024128"/>
                <a:gridCol w="1499616"/>
              </a:tblGrid>
              <a:tr h="0">
                <a:tc>
                  <a:txBody>
                    <a:bodyPr/>
                    <a:lstStyle/>
                    <a:p>
                      <a:pPr indent="0" marL="0">
                        <a:buNone/>
                      </a:pPr>
                      <a:r>
                        <a:rPr lang="en-US" sz="1100" b="1" dirty="0">
                          <a:solidFill>
                            <a:srgbClr val="586275"/>
                          </a:solidFill>
                        </a:rPr>
                        <a:t>Pipeline</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1 · EC2</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2 · Drift</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3 · DNS record</a:t>
                      </a:r>
                      <a:endParaRPr lang="en-US" sz="11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rPr>
                        <a:t>Current CloudFormation workflow</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latest_cft_deployment.yml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If the record is in a template</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Proposed CloudFormation pipeline</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cfn-deploy-pipeline.yml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Yes</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If the record is in a stack</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DNS export</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ws2-dns-records-export.yml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Reads the zone into a PR</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DNS apply</a:t>
                      </a:r>
                      <a:endParaRPr lang="en-US" sz="1200" dirty="0"/>
                    </a:p>
                    <a:p>
                      <a:pPr indent="0" marL="0">
                        <a:buNone/>
                      </a:pPr>
                      <a:r>
                        <a:rPr lang="en-US" sz="1000" dirty="0">
                          <a:solidFill>
                            <a:srgbClr val="586275"/>
                          </a:solidFill>
                          <a:latin typeface="Courier New" pitchFamily="34" charset="0"/>
                          <a:ea typeface="Courier New" pitchFamily="34" charset="-122"/>
                          <a:cs typeface="Courier New" pitchFamily="34" charset="-120"/>
                        </a:rPr>
                        <a:t>ws2-dns-records-apply.yml</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used</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A5BD7"/>
                          </a:solidFill>
                        </a:rPr>
                        <a:t>●  </a:t>
                      </a:r>
                      <a:pPr indent="0" marL="0">
                        <a:buNone/>
                      </a:pPr>
                      <a:r>
                        <a:rPr lang="en-US" sz="1250" dirty="0">
                          <a:solidFill>
                            <a:srgbClr val="131925"/>
                          </a:solidFill>
                        </a:rPr>
                        <a:t>Changes records from the file</a:t>
                      </a:r>
                      <a:endParaRPr lang="en-US" sz="1200" dirty="0"/>
                    </a:p>
                  </a:txBody>
                  <a:tcPr marL="101600" marR="1016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1" name="Text 14"/>
          <p:cNvSpPr txBox="1"/>
          <p:nvPr/>
        </p:nvSpPr>
        <p:spPr>
          <a:xfrm>
            <a:off x="5806440" y="4937760"/>
            <a:ext cx="5833872" cy="548640"/>
          </a:xfrm>
          <a:prstGeom prst="rect">
            <a:avLst/>
          </a:prstGeom>
          <a:noFill/>
          <a:ln/>
        </p:spPr>
        <p:txBody>
          <a:bodyPr wrap="square" lIns="0" tIns="0" rIns="0" bIns="0" rtlCol="0" anchor="t"/>
          <a:lstStyle/>
          <a:p>
            <a:pPr indent="0" marL="0">
              <a:buNone/>
            </a:pPr>
            <a:r>
              <a:rPr lang="en-US" sz="1200" i="1" dirty="0">
                <a:solidFill>
                  <a:srgbClr val="586275"/>
                </a:solidFill>
              </a:rPr>
              <a:t>The DNS workflows only manage Route 53 records, so they take no part in scenarios 1 and 2.</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01</a:t>
            </a: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lIns="0" tIns="0" rIns="0" bIns="0" rtlCol="0" anchor="t"/>
          <a:lstStyle/>
          <a:p>
            <a:pPr algn="l" indent="0" marL="0">
              <a:buNone/>
            </a:pPr>
            <a:r>
              <a:rPr lang="en-US" sz="4000" b="1" dirty="0">
                <a:solidFill>
                  <a:schemeClr val="bg1"/>
                </a:solidFill>
              </a:rPr>
              <a:t>Deploy a plain EC2 instance</a:t>
            </a: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lIns="0" tIns="0" rIns="0" bIns="0" rtlCol="0" anchor="t"/>
          <a:lstStyle/>
          <a:p>
            <a:pPr indent="0" marL="0">
              <a:buNone/>
            </a:pPr>
            <a:r>
              <a:rPr lang="en-US" sz="1800" dirty="0">
                <a:solidFill>
                  <a:srgbClr val="C9D3E3"/>
                </a:solidFill>
              </a:rPr>
              <a:t>A new stack with one t3.micro instance and its security group, and two planted mistakes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example: one instance, two planted mistakes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ec2-app-template.yaml and params.json, in a folder under cloudformation/</a:t>
            </a:r>
            <a:endParaRPr lang="en-US" sz="1400" dirty="0"/>
          </a:p>
        </p:txBody>
      </p:sp>
      <p:sp>
        <p:nvSpPr>
          <p:cNvPr id="5" name="ec2-app-template.yaml (excerpt)"/>
          <p:cNvSpPr/>
          <p:nvPr/>
        </p:nvSpPr>
        <p:spPr>
          <a:xfrm>
            <a:off x="548640" y="1463040"/>
            <a:ext cx="6172200" cy="4892040"/>
          </a:xfrm>
          <a:prstGeom prst="roundRect">
            <a:avLst>
              <a:gd name="adj" fmla="val 1869"/>
            </a:avLst>
          </a:prstGeom>
          <a:solidFill>
            <a:srgbClr val="1B2433"/>
          </a:solidFill>
          <a:ln w="6350">
            <a:solidFill>
              <a:srgbClr val="1B2433"/>
            </a:solidFill>
            <a:prstDash val="solid"/>
          </a:ln>
        </p:spPr>
      </p:sp>
      <p:sp>
        <p:nvSpPr>
          <p:cNvPr id="6" name="Text 3"/>
          <p:cNvSpPr txBox="1"/>
          <p:nvPr/>
        </p:nvSpPr>
        <p:spPr>
          <a:xfrm>
            <a:off x="731520" y="1554480"/>
            <a:ext cx="5806440" cy="237744"/>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ec2-app-template.yaml (excerpt)</a:t>
            </a:r>
            <a:endParaRPr lang="en-US" sz="1050" dirty="0"/>
          </a:p>
        </p:txBody>
      </p:sp>
      <p:sp>
        <p:nvSpPr>
          <p:cNvPr id="7" name="Shape 4"/>
          <p:cNvSpPr/>
          <p:nvPr/>
        </p:nvSpPr>
        <p:spPr>
          <a:xfrm>
            <a:off x="621792" y="4992624"/>
            <a:ext cx="6025896" cy="173736"/>
          </a:xfrm>
          <a:prstGeom prst="rect">
            <a:avLst/>
          </a:prstGeom>
          <a:solidFill>
            <a:srgbClr val="C93A32">
              <a:alpha val="28000"/>
            </a:srgbClr>
          </a:solidFill>
          <a:ln/>
        </p:spPr>
      </p:sp>
      <p:sp>
        <p:nvSpPr>
          <p:cNvPr id="8" name="Marker 2"/>
          <p:cNvSpPr txBox="1"/>
          <p:nvPr/>
        </p:nvSpPr>
        <p:spPr>
          <a:xfrm>
            <a:off x="6355080" y="4969764"/>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9" name="Text 6"/>
          <p:cNvSpPr txBox="1"/>
          <p:nvPr/>
        </p:nvSpPr>
        <p:spPr>
          <a:xfrm>
            <a:off x="731520" y="1865376"/>
            <a:ext cx="5623560" cy="4361688"/>
          </a:xfrm>
          <a:prstGeom prst="rect">
            <a:avLst/>
          </a:prstGeom>
          <a:noFill/>
          <a:ln/>
        </p:spPr>
        <p:txBody>
          <a:bodyPr wrap="square" lIns="0" tIns="0" rIns="0" bIns="0" rtlCol="0" anchor="t"/>
          <a:lstStyle/>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Parameters: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InstanceType: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Type: String</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AllowedValues: [t3.micro, t3.small, t3.medium]</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Resources: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AppSecurityGroup: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Type: AWS::EC2::SecurityGroup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Properties: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GroupDescription: App server</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VpcId: !Ref VpcId</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SecurityGroupIngress: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IpProtocol: tcp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FromPort: 443</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ToPort: 443</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CidrIp: 10.20.0.0/16</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IpProtocol: tcp</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FromPort: 22</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ToPort: 22</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CidrIp: 0.0.0.0/0    # SSH from anywhere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AppInstance: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Type: AWS::EC2::Instance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Properties:</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ImageId: !Ref AmiId</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InstanceType: !Ref InstanceType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SubnetId: !Ref PrivateSubnetId</a:t>
            </a:r>
            <a:endParaRPr lang="en-US" sz="1050" dirty="0"/>
          </a:p>
        </p:txBody>
      </p:sp>
      <p:sp>
        <p:nvSpPr>
          <p:cNvPr id="10" name="params.json (excerpt)"/>
          <p:cNvSpPr/>
          <p:nvPr/>
        </p:nvSpPr>
        <p:spPr>
          <a:xfrm>
            <a:off x="6995160" y="1463040"/>
            <a:ext cx="4645152" cy="1591056"/>
          </a:xfrm>
          <a:prstGeom prst="roundRect">
            <a:avLst>
              <a:gd name="adj" fmla="val 5747"/>
            </a:avLst>
          </a:prstGeom>
          <a:solidFill>
            <a:srgbClr val="1B2433"/>
          </a:solidFill>
          <a:ln w="6350">
            <a:solidFill>
              <a:srgbClr val="1B2433"/>
            </a:solidFill>
            <a:prstDash val="solid"/>
          </a:ln>
        </p:spPr>
      </p:sp>
      <p:sp>
        <p:nvSpPr>
          <p:cNvPr id="11" name="Text 8"/>
          <p:cNvSpPr txBox="1"/>
          <p:nvPr/>
        </p:nvSpPr>
        <p:spPr>
          <a:xfrm>
            <a:off x="7178040" y="1554480"/>
            <a:ext cx="4279392" cy="237744"/>
          </a:xfrm>
          <a:prstGeom prst="rect">
            <a:avLst/>
          </a:prstGeom>
          <a:noFill/>
          <a:ln/>
        </p:spPr>
        <p:txBody>
          <a:bodyPr wrap="square" lIns="0" tIns="0" rIns="0" bIns="0" rtlCol="0" anchor="ctr"/>
          <a:lstStyle/>
          <a:p>
            <a:pPr indent="0" marL="0">
              <a:buNone/>
            </a:pPr>
            <a:r>
              <a:rPr lang="en-US" sz="1050" dirty="0">
                <a:solidFill>
                  <a:srgbClr val="9FB0C8"/>
                </a:solidFill>
                <a:latin typeface="Courier New" pitchFamily="34" charset="0"/>
                <a:ea typeface="Courier New" pitchFamily="34" charset="-122"/>
                <a:cs typeface="Courier New" pitchFamily="34" charset="-120"/>
              </a:rPr>
              <a:t>params.json (excerpt)</a:t>
            </a:r>
            <a:endParaRPr lang="en-US" sz="1050" dirty="0"/>
          </a:p>
        </p:txBody>
      </p:sp>
      <p:sp>
        <p:nvSpPr>
          <p:cNvPr id="12" name="Shape 9"/>
          <p:cNvSpPr/>
          <p:nvPr/>
        </p:nvSpPr>
        <p:spPr>
          <a:xfrm>
            <a:off x="7068312" y="2212848"/>
            <a:ext cx="4498848" cy="173736"/>
          </a:xfrm>
          <a:prstGeom prst="rect">
            <a:avLst/>
          </a:prstGeom>
          <a:solidFill>
            <a:srgbClr val="C93A32">
              <a:alpha val="28000"/>
            </a:srgbClr>
          </a:solidFill>
          <a:ln/>
        </p:spPr>
      </p:sp>
      <p:sp>
        <p:nvSpPr>
          <p:cNvPr id="13" name="Marker 1"/>
          <p:cNvSpPr txBox="1"/>
          <p:nvPr/>
        </p:nvSpPr>
        <p:spPr>
          <a:xfrm>
            <a:off x="11274552" y="2189988"/>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4" name="Text 11"/>
          <p:cNvSpPr txBox="1"/>
          <p:nvPr/>
        </p:nvSpPr>
        <p:spPr>
          <a:xfrm>
            <a:off x="7178040" y="1865376"/>
            <a:ext cx="4096512" cy="1060704"/>
          </a:xfrm>
          <a:prstGeom prst="rect">
            <a:avLst/>
          </a:prstGeom>
          <a:noFill/>
          <a:ln/>
        </p:spPr>
        <p:txBody>
          <a:bodyPr wrap="square" lIns="0" tIns="0" rIns="0" bIns="0" rtlCol="0" anchor="t"/>
          <a:lstStyle/>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"ParameterKey": "InstanceType",</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"ParameterValue": "t3.mirco" },</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 "ParameterKey": "AmiId",</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    "ParameterValue": "ami-0abc1234" }</a:t>
            </a:r>
            <a:endParaRPr lang="en-US" sz="1050" dirty="0"/>
          </a:p>
          <a:p>
            <a:pPr indent="0" marL="0">
              <a:lnSpc>
                <a:spcPts val="1368"/>
              </a:lnSpc>
              <a:buNone/>
            </a:pPr>
            <a:r>
              <a:rPr lang="en-US" sz="1050" dirty="0">
                <a:solidFill>
                  <a:srgbClr val="E6EAF1"/>
                </a:solidFill>
                <a:latin typeface="Courier New" pitchFamily="34" charset="0"/>
                <a:ea typeface="Courier New" pitchFamily="34" charset="-122"/>
                <a:cs typeface="Courier New" pitchFamily="34" charset="-120"/>
              </a:rPr>
              <a:t>]</a:t>
            </a:r>
            <a:endParaRPr lang="en-US" sz="1050" dirty="0"/>
          </a:p>
        </p:txBody>
      </p:sp>
      <p:sp>
        <p:nvSpPr>
          <p:cNvPr id="15" name="Shape 12"/>
          <p:cNvSpPr/>
          <p:nvPr/>
        </p:nvSpPr>
        <p:spPr>
          <a:xfrm>
            <a:off x="6995160" y="3154680"/>
            <a:ext cx="4645152" cy="1234440"/>
          </a:xfrm>
          <a:prstGeom prst="roundRect">
            <a:avLst>
              <a:gd name="adj" fmla="val 8889"/>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16" name="Marker 1"/>
          <p:cNvSpPr txBox="1"/>
          <p:nvPr/>
        </p:nvSpPr>
        <p:spPr>
          <a:xfrm>
            <a:off x="7159752" y="3328416"/>
            <a:ext cx="310896" cy="31089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7" name="Text 14"/>
          <p:cNvSpPr txBox="1"/>
          <p:nvPr/>
        </p:nvSpPr>
        <p:spPr>
          <a:xfrm>
            <a:off x="7607808" y="3319272"/>
            <a:ext cx="3886200" cy="329184"/>
          </a:xfrm>
          <a:prstGeom prst="rect">
            <a:avLst/>
          </a:prstGeom>
          <a:noFill/>
          <a:ln/>
        </p:spPr>
        <p:txBody>
          <a:bodyPr wrap="square" lIns="0" tIns="0" rIns="0" bIns="0" rtlCol="0" anchor="ctr"/>
          <a:lstStyle/>
          <a:p>
            <a:pPr indent="0" marL="0">
              <a:buNone/>
            </a:pPr>
            <a:r>
              <a:rPr lang="en-US" sz="1500" b="1" dirty="0">
                <a:solidFill>
                  <a:srgbClr val="7D1C16"/>
                </a:solidFill>
              </a:rPr>
              <a:t>Typo in params.json</a:t>
            </a:r>
            <a:endParaRPr lang="en-US" sz="1500" dirty="0"/>
          </a:p>
        </p:txBody>
      </p:sp>
      <p:sp>
        <p:nvSpPr>
          <p:cNvPr id="18" name="Text 15"/>
          <p:cNvSpPr txBox="1"/>
          <p:nvPr/>
        </p:nvSpPr>
        <p:spPr>
          <a:xfrm>
            <a:off x="7607808" y="3685032"/>
            <a:ext cx="3886200" cy="640080"/>
          </a:xfrm>
          <a:prstGeom prst="rect">
            <a:avLst/>
          </a:prstGeom>
          <a:noFill/>
          <a:ln/>
        </p:spPr>
        <p:txBody>
          <a:bodyPr wrap="square" lIns="0" tIns="0" rIns="0" bIns="0" rtlCol="0" anchor="t"/>
          <a:lstStyle/>
          <a:p>
            <a:pPr indent="0" marL="0">
              <a:buNone/>
            </a:pPr>
            <a:r>
              <a:rPr lang="en-US" sz="1250" dirty="0">
                <a:solidFill>
                  <a:srgbClr val="131925"/>
                </a:solidFill>
              </a:rPr>
              <a:t>t3.mirco instead of t3.micro. The template only allows t3.micro, t3.small and t3.medium.</a:t>
            </a:r>
            <a:endParaRPr lang="en-US" sz="1250" dirty="0"/>
          </a:p>
        </p:txBody>
      </p:sp>
      <p:sp>
        <p:nvSpPr>
          <p:cNvPr id="19" name="Shape 16"/>
          <p:cNvSpPr/>
          <p:nvPr/>
        </p:nvSpPr>
        <p:spPr>
          <a:xfrm>
            <a:off x="6995160" y="4572000"/>
            <a:ext cx="4645152" cy="1234440"/>
          </a:xfrm>
          <a:prstGeom prst="roundRect">
            <a:avLst>
              <a:gd name="adj" fmla="val 8889"/>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20" name="Marker 2"/>
          <p:cNvSpPr txBox="1"/>
          <p:nvPr/>
        </p:nvSpPr>
        <p:spPr>
          <a:xfrm>
            <a:off x="7159752" y="4745736"/>
            <a:ext cx="310896" cy="31089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1" name="Text 18"/>
          <p:cNvSpPr txBox="1"/>
          <p:nvPr/>
        </p:nvSpPr>
        <p:spPr>
          <a:xfrm>
            <a:off x="7607808" y="4736592"/>
            <a:ext cx="3886200" cy="329184"/>
          </a:xfrm>
          <a:prstGeom prst="rect">
            <a:avLst/>
          </a:prstGeom>
          <a:noFill/>
          <a:ln/>
        </p:spPr>
        <p:txBody>
          <a:bodyPr wrap="square" lIns="0" tIns="0" rIns="0" bIns="0" rtlCol="0" anchor="ctr"/>
          <a:lstStyle/>
          <a:p>
            <a:pPr indent="0" marL="0">
              <a:buNone/>
            </a:pPr>
            <a:r>
              <a:rPr lang="en-US" sz="1500" b="1" dirty="0">
                <a:solidFill>
                  <a:srgbClr val="7D1C16"/>
                </a:solidFill>
              </a:rPr>
              <a:t>SSH open to the world</a:t>
            </a:r>
            <a:endParaRPr lang="en-US" sz="1500" dirty="0"/>
          </a:p>
        </p:txBody>
      </p:sp>
      <p:sp>
        <p:nvSpPr>
          <p:cNvPr id="22" name="Text 19"/>
          <p:cNvSpPr txBox="1"/>
          <p:nvPr/>
        </p:nvSpPr>
        <p:spPr>
          <a:xfrm>
            <a:off x="7607808" y="5102352"/>
            <a:ext cx="3886200" cy="640080"/>
          </a:xfrm>
          <a:prstGeom prst="rect">
            <a:avLst/>
          </a:prstGeom>
          <a:noFill/>
          <a:ln/>
        </p:spPr>
        <p:txBody>
          <a:bodyPr wrap="square" lIns="0" tIns="0" rIns="0" bIns="0" rtlCol="0" anchor="t"/>
          <a:lstStyle/>
          <a:p>
            <a:pPr indent="0" marL="0">
              <a:buNone/>
            </a:pPr>
            <a:r>
              <a:rPr lang="en-US" sz="1250" dirty="0">
                <a:solidFill>
                  <a:srgbClr val="131925"/>
                </a:solidFill>
              </a:rPr>
              <a:t>The second ingress rule lets anyone on the internet reach port 22 on the instance.</a:t>
            </a:r>
            <a:endParaRPr lang="en-US" sz="12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the typo is caught, but SSH goes live open</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latest_cft_deployment.yml · CloudFormation's own checks are the only checks, and the stack is created as soon as the run starts</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1</a:t>
            </a:r>
            <a:pPr indent="0" marL="0">
              <a:buNone/>
            </a:pPr>
            <a:r>
              <a:rPr lang="en-US" sz="1300" dirty="0">
                <a:solidFill>
                  <a:srgbClr val="586275"/>
                </a:solidFill>
              </a:rPr>
              <a:t>   typo in params.json</a:t>
            </a:r>
            <a:endParaRPr lang="en-US" sz="1300" dirty="0"/>
          </a:p>
        </p:txBody>
      </p:sp>
      <p:sp>
        <p:nvSpPr>
          <p:cNvPr id="6" name="Engineer runs the workflow"/>
          <p:cNvSpPr txBox="1"/>
          <p:nvPr/>
        </p:nvSpPr>
        <p:spPr>
          <a:xfrm>
            <a:off x="548640" y="182880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Inputs typed by hand</a:t>
            </a:r>
            <a:endParaRPr lang="en-US" sz="1200" dirty="0"/>
          </a:p>
        </p:txBody>
      </p:sp>
      <p:sp>
        <p:nvSpPr>
          <p:cNvPr id="7" name="Shape 4"/>
          <p:cNvSpPr/>
          <p:nvPr/>
        </p:nvSpPr>
        <p:spPr>
          <a:xfrm>
            <a:off x="3291840" y="2217420"/>
            <a:ext cx="292608" cy="0"/>
          </a:xfrm>
          <a:prstGeom prst="line">
            <a:avLst/>
          </a:prstGeom>
          <a:noFill/>
          <a:ln w="15875">
            <a:solidFill>
              <a:srgbClr val="7D889B"/>
            </a:solidFill>
            <a:prstDash val="solid"/>
            <a:tailEnd type="triangle"/>
          </a:ln>
        </p:spPr>
      </p:sp>
      <p:sp>
        <p:nvSpPr>
          <p:cNvPr id="8" name="CloudFormation rejects it"/>
          <p:cNvSpPr txBox="1"/>
          <p:nvPr/>
        </p:nvSpPr>
        <p:spPr>
          <a:xfrm>
            <a:off x="3584448" y="1828800"/>
            <a:ext cx="2743200"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CloudFormation rejects it</a:t>
            </a:r>
            <a:endParaRPr lang="en-US" sz="1200" dirty="0"/>
          </a:p>
          <a:p>
            <a:pPr algn="ctr" indent="0" marL="0">
              <a:buNone/>
            </a:pPr>
            <a:r>
              <a:rPr lang="en-US" sz="1050" dirty="0">
                <a:solidFill>
                  <a:srgbClr val="2B6C59"/>
                </a:solidFill>
              </a:rPr>
              <a:t>t3.mirco is not in AllowedValues</a:t>
            </a:r>
            <a:endParaRPr lang="en-US" sz="1200" dirty="0"/>
          </a:p>
        </p:txBody>
      </p:sp>
      <p:sp>
        <p:nvSpPr>
          <p:cNvPr id="9" name="Shape 6"/>
          <p:cNvSpPr/>
          <p:nvPr/>
        </p:nvSpPr>
        <p:spPr>
          <a:xfrm>
            <a:off x="6327648" y="2217420"/>
            <a:ext cx="292608" cy="0"/>
          </a:xfrm>
          <a:prstGeom prst="line">
            <a:avLst/>
          </a:prstGeom>
          <a:noFill/>
          <a:ln w="15875">
            <a:solidFill>
              <a:srgbClr val="7D889B"/>
            </a:solidFill>
            <a:prstDash val="solid"/>
            <a:tailEnd type="triangle"/>
          </a:ln>
        </p:spPr>
      </p:sp>
      <p:sp>
        <p:nvSpPr>
          <p:cNvPr id="10" name="Run fails; nothing created"/>
          <p:cNvSpPr txBox="1"/>
          <p:nvPr/>
        </p:nvSpPr>
        <p:spPr>
          <a:xfrm>
            <a:off x="6620256" y="1828800"/>
            <a:ext cx="2743200"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Run fails; nothing created</a:t>
            </a:r>
            <a:endParaRPr lang="en-US" sz="1200" dirty="0"/>
          </a:p>
          <a:p>
            <a:pPr algn="ctr" indent="0" marL="0">
              <a:buNone/>
            </a:pPr>
            <a:r>
              <a:rPr lang="en-US" sz="1050" dirty="0">
                <a:solidFill>
                  <a:srgbClr val="4650A9"/>
                </a:solidFill>
              </a:rPr>
              <a:t>Fix params.json and re-run</a:t>
            </a:r>
            <a:endParaRPr lang="en-US" sz="1200" dirty="0"/>
          </a:p>
        </p:txBody>
      </p:sp>
      <p:sp>
        <p:nvSpPr>
          <p:cNvPr id="11" name="Text 8"/>
          <p:cNvSpPr txBox="1"/>
          <p:nvPr/>
        </p:nvSpPr>
        <p:spPr>
          <a:xfrm>
            <a:off x="548640" y="2852928"/>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2</a:t>
            </a:r>
            <a:pPr indent="0" marL="0">
              <a:buNone/>
            </a:pPr>
            <a:r>
              <a:rPr lang="en-US" sz="1300" dirty="0">
                <a:solidFill>
                  <a:srgbClr val="586275"/>
                </a:solidFill>
              </a:rPr>
              <a:t>   typo fixed</a:t>
            </a:r>
            <a:endParaRPr lang="en-US" sz="1300" dirty="0"/>
          </a:p>
        </p:txBody>
      </p:sp>
      <p:sp>
        <p:nvSpPr>
          <p:cNvPr id="12" name="Engineer runs it again"/>
          <p:cNvSpPr txBox="1"/>
          <p:nvPr/>
        </p:nvSpPr>
        <p:spPr>
          <a:xfrm>
            <a:off x="548640" y="3218688"/>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it again</a:t>
            </a:r>
            <a:endParaRPr lang="en-US" sz="1200" dirty="0"/>
          </a:p>
        </p:txBody>
      </p:sp>
      <p:sp>
        <p:nvSpPr>
          <p:cNvPr id="13" name="Shape 10"/>
          <p:cNvSpPr/>
          <p:nvPr/>
        </p:nvSpPr>
        <p:spPr>
          <a:xfrm>
            <a:off x="3063240" y="3607308"/>
            <a:ext cx="292608" cy="0"/>
          </a:xfrm>
          <a:prstGeom prst="line">
            <a:avLst/>
          </a:prstGeom>
          <a:noFill/>
          <a:ln w="15875">
            <a:solidFill>
              <a:srgbClr val="7D889B"/>
            </a:solidFill>
            <a:prstDash val="solid"/>
            <a:tailEnd type="triangle"/>
          </a:ln>
        </p:spPr>
      </p:sp>
      <p:sp>
        <p:nvSpPr>
          <p:cNvPr id="14" name="Instance created at once"/>
          <p:cNvSpPr txBox="1"/>
          <p:nvPr/>
        </p:nvSpPr>
        <p:spPr>
          <a:xfrm>
            <a:off x="3355848" y="3218688"/>
            <a:ext cx="25146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Instance created at once</a:t>
            </a:r>
            <a:endParaRPr lang="en-US" sz="1200" dirty="0"/>
          </a:p>
          <a:p>
            <a:pPr algn="ctr" indent="0" marL="0">
              <a:buNone/>
            </a:pPr>
            <a:r>
              <a:rPr lang="en-US" sz="1050" dirty="0">
                <a:solidFill>
                  <a:srgbClr val="8F4F17"/>
                </a:solidFill>
              </a:rPr>
              <a:t>No scan, no preview, no approval</a:t>
            </a:r>
            <a:endParaRPr lang="en-US" sz="1200" dirty="0"/>
          </a:p>
        </p:txBody>
      </p:sp>
      <p:sp>
        <p:nvSpPr>
          <p:cNvPr id="15" name="Shape 12"/>
          <p:cNvSpPr/>
          <p:nvPr/>
        </p:nvSpPr>
        <p:spPr>
          <a:xfrm>
            <a:off x="5870448" y="3607308"/>
            <a:ext cx="292608" cy="0"/>
          </a:xfrm>
          <a:prstGeom prst="line">
            <a:avLst/>
          </a:prstGeom>
          <a:noFill/>
          <a:ln w="15875">
            <a:solidFill>
              <a:srgbClr val="7D889B"/>
            </a:solidFill>
            <a:prstDash val="solid"/>
            <a:tailEnd type="triangle"/>
          </a:ln>
        </p:spPr>
      </p:sp>
      <p:sp>
        <p:nvSpPr>
          <p:cNvPr id="16" name="Live with SSH open to the world"/>
          <p:cNvSpPr txBox="1"/>
          <p:nvPr/>
        </p:nvSpPr>
        <p:spPr>
          <a:xfrm>
            <a:off x="6163056" y="3218688"/>
            <a:ext cx="25146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Live with SSH open to the world</a:t>
            </a:r>
            <a:endParaRPr lang="en-US" sz="1200" dirty="0"/>
          </a:p>
          <a:p>
            <a:pPr algn="ctr" indent="0" marL="0">
              <a:buNone/>
            </a:pPr>
            <a:r>
              <a:rPr lang="en-US" sz="1050" dirty="0">
                <a:solidFill>
                  <a:srgbClr val="A1332C"/>
                </a:solidFill>
              </a:rPr>
              <a:t>Nobody is told</a:t>
            </a:r>
            <a:endParaRPr lang="en-US" sz="1200" dirty="0"/>
          </a:p>
        </p:txBody>
      </p:sp>
      <p:sp>
        <p:nvSpPr>
          <p:cNvPr id="17" name="Shape 14"/>
          <p:cNvSpPr/>
          <p:nvPr/>
        </p:nvSpPr>
        <p:spPr>
          <a:xfrm>
            <a:off x="8677656" y="3607308"/>
            <a:ext cx="292608" cy="0"/>
          </a:xfrm>
          <a:prstGeom prst="line">
            <a:avLst/>
          </a:prstGeom>
          <a:noFill/>
          <a:ln w="15875">
            <a:solidFill>
              <a:srgbClr val="7D889B"/>
            </a:solidFill>
            <a:prstDash val="solid"/>
            <a:tailEnd type="triangle"/>
          </a:ln>
        </p:spPr>
      </p:sp>
      <p:sp>
        <p:nvSpPr>
          <p:cNvPr id="18" name="Outputs printed in the log"/>
          <p:cNvSpPr txBox="1"/>
          <p:nvPr/>
        </p:nvSpPr>
        <p:spPr>
          <a:xfrm>
            <a:off x="8970264" y="3218688"/>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Outputs printed in the log</a:t>
            </a:r>
            <a:endParaRPr lang="en-US" sz="1200" dirty="0"/>
          </a:p>
          <a:p>
            <a:pPr algn="ctr" indent="0" marL="0">
              <a:buNone/>
            </a:pPr>
            <a:r>
              <a:rPr lang="en-US" sz="1050" dirty="0">
                <a:solidFill>
                  <a:srgbClr val="586275"/>
                </a:solidFill>
              </a:rPr>
              <a:t>No email, no record of approval</a:t>
            </a:r>
            <a:endParaRPr lang="en-US" sz="1200" dirty="0"/>
          </a:p>
        </p:txBody>
      </p:sp>
      <p:sp>
        <p:nvSpPr>
          <p:cNvPr id="19" name="Text 16"/>
          <p:cNvSpPr txBox="1"/>
          <p:nvPr/>
        </p:nvSpPr>
        <p:spPr>
          <a:xfrm>
            <a:off x="548640" y="4242816"/>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If the create fails half-way</a:t>
            </a:r>
            <a:pPr indent="0" marL="0">
              <a:buNone/>
            </a:pPr>
            <a:r>
              <a:rPr lang="en-US" sz="1300" dirty="0">
                <a:solidFill>
                  <a:srgbClr val="586275"/>
                </a:solidFill>
              </a:rPr>
              <a:t>   for example a capacity or quota limit, or an AMI ID from another Region</a:t>
            </a:r>
            <a:endParaRPr lang="en-US" sz="1300" dirty="0"/>
          </a:p>
        </p:txBody>
      </p:sp>
      <p:sp>
        <p:nvSpPr>
          <p:cNvPr id="20" name="Stack rolls back"/>
          <p:cNvSpPr txBox="1"/>
          <p:nvPr/>
        </p:nvSpPr>
        <p:spPr>
          <a:xfrm>
            <a:off x="548640" y="4608576"/>
            <a:ext cx="25146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Stack rolls back</a:t>
            </a:r>
            <a:endParaRPr lang="en-US" sz="1200" dirty="0"/>
          </a:p>
          <a:p>
            <a:pPr algn="ctr" indent="0" marL="0">
              <a:buNone/>
            </a:pPr>
            <a:r>
              <a:rPr lang="en-US" sz="1050" dirty="0">
                <a:solidFill>
                  <a:srgbClr val="8F4F17"/>
                </a:solidFill>
              </a:rPr>
              <a:t>Left in ROLLBACK_COMPLETE</a:t>
            </a:r>
            <a:endParaRPr lang="en-US" sz="1200" dirty="0"/>
          </a:p>
        </p:txBody>
      </p:sp>
      <p:sp>
        <p:nvSpPr>
          <p:cNvPr id="21" name="Shape 18"/>
          <p:cNvSpPr/>
          <p:nvPr/>
        </p:nvSpPr>
        <p:spPr>
          <a:xfrm>
            <a:off x="3063240" y="4997196"/>
            <a:ext cx="292608" cy="0"/>
          </a:xfrm>
          <a:prstGeom prst="line">
            <a:avLst/>
          </a:prstGeom>
          <a:noFill/>
          <a:ln w="15875">
            <a:solidFill>
              <a:srgbClr val="7D889B"/>
            </a:solidFill>
            <a:prstDash val="solid"/>
            <a:tailEnd type="triangle"/>
          </a:ln>
        </p:spPr>
      </p:sp>
      <p:sp>
        <p:nvSpPr>
          <p:cNvPr id="22" name="Generic CLI error"/>
          <p:cNvSpPr txBox="1"/>
          <p:nvPr/>
        </p:nvSpPr>
        <p:spPr>
          <a:xfrm>
            <a:off x="3355848" y="4608576"/>
            <a:ext cx="2514600" cy="777240"/>
          </a:xfrm>
          <a:prstGeom prst="roundRect">
            <a:avLst>
              <a:gd name="adj" fmla="val 10588"/>
            </a:avLst>
          </a:prstGeom>
          <a:solidFill>
            <a:srgbClr val="FCEAE9"/>
          </a:solidFill>
          <a:ln w="25400">
            <a:solidFill>
              <a:srgbClr val="C93A32"/>
            </a:solidFill>
          </a:ln>
        </p:spPr>
        <p:txBody>
          <a:bodyPr wrap="square" lIns="50800" tIns="25400" rIns="50800" bIns="25400" rtlCol="0" anchor="ctr"/>
          <a:lstStyle/>
          <a:p>
            <a:pPr algn="ctr" indent="0" marL="0">
              <a:buNone/>
            </a:pPr>
            <a:r>
              <a:rPr lang="en-US" sz="1200" b="1" dirty="0">
                <a:solidFill>
                  <a:srgbClr val="7D1C16"/>
                </a:solidFill>
              </a:rPr>
              <a:t>Generic CLI error</a:t>
            </a:r>
            <a:endParaRPr lang="en-US" sz="1200" dirty="0"/>
          </a:p>
          <a:p>
            <a:pPr algn="ctr" indent="0" marL="0">
              <a:buNone/>
            </a:pPr>
            <a:r>
              <a:rPr lang="en-US" sz="1050" dirty="0">
                <a:solidFill>
                  <a:srgbClr val="A1332C"/>
                </a:solidFill>
              </a:rPr>
              <a:t>The workflow's own diagnostics never run</a:t>
            </a:r>
            <a:endParaRPr lang="en-US" sz="1200" dirty="0"/>
          </a:p>
        </p:txBody>
      </p:sp>
      <p:sp>
        <p:nvSpPr>
          <p:cNvPr id="23" name="Shape 20"/>
          <p:cNvSpPr/>
          <p:nvPr/>
        </p:nvSpPr>
        <p:spPr>
          <a:xfrm>
            <a:off x="5870448" y="4997196"/>
            <a:ext cx="292608" cy="0"/>
          </a:xfrm>
          <a:prstGeom prst="line">
            <a:avLst/>
          </a:prstGeom>
          <a:noFill/>
          <a:ln w="15875">
            <a:solidFill>
              <a:srgbClr val="7D889B"/>
            </a:solidFill>
            <a:prstDash val="solid"/>
            <a:tailEnd type="triangle"/>
          </a:ln>
        </p:spPr>
      </p:sp>
      <p:sp>
        <p:nvSpPr>
          <p:cNvPr id="24" name="Every re-run fails"/>
          <p:cNvSpPr txBox="1"/>
          <p:nvPr/>
        </p:nvSpPr>
        <p:spPr>
          <a:xfrm>
            <a:off x="6163056" y="4608576"/>
            <a:ext cx="25146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Every re-run fails</a:t>
            </a:r>
            <a:endParaRPr lang="en-US" sz="1200" dirty="0"/>
          </a:p>
          <a:p>
            <a:pPr algn="ctr" indent="0" marL="0">
              <a:buNone/>
            </a:pPr>
            <a:r>
              <a:rPr lang="en-US" sz="1050" dirty="0">
                <a:solidFill>
                  <a:srgbClr val="A1332C"/>
                </a:solidFill>
              </a:rPr>
              <a:t>A ROLLBACK_COMPLETE stack can't be updated</a:t>
            </a:r>
            <a:endParaRPr lang="en-US" sz="1200" dirty="0"/>
          </a:p>
        </p:txBody>
      </p:sp>
      <p:sp>
        <p:nvSpPr>
          <p:cNvPr id="25" name="Shape 22"/>
          <p:cNvSpPr/>
          <p:nvPr/>
        </p:nvSpPr>
        <p:spPr>
          <a:xfrm>
            <a:off x="8677656" y="4997196"/>
            <a:ext cx="292608" cy="0"/>
          </a:xfrm>
          <a:prstGeom prst="line">
            <a:avLst/>
          </a:prstGeom>
          <a:noFill/>
          <a:ln w="15875">
            <a:solidFill>
              <a:srgbClr val="7D889B"/>
            </a:solidFill>
            <a:prstDash val="solid"/>
            <a:tailEnd type="triangle"/>
          </a:ln>
        </p:spPr>
      </p:sp>
      <p:sp>
        <p:nvSpPr>
          <p:cNvPr id="26" name="Stack deleted by hand"/>
          <p:cNvSpPr txBox="1"/>
          <p:nvPr/>
        </p:nvSpPr>
        <p:spPr>
          <a:xfrm>
            <a:off x="8970264" y="4608576"/>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Stack deleted by hand</a:t>
            </a:r>
            <a:endParaRPr lang="en-US" sz="1200" dirty="0"/>
          </a:p>
          <a:p>
            <a:pPr algn="ctr" indent="0" marL="0">
              <a:buNone/>
            </a:pPr>
            <a:r>
              <a:rPr lang="en-US" sz="1050" dirty="0">
                <a:solidFill>
                  <a:srgbClr val="586275"/>
                </a:solidFill>
              </a:rPr>
              <a:t>In the console, outside the pipeline</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Proposed: both mistakes are caught before anything is created</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cfn-deploy-pipeline.yml · each run stops safely until the change is right</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1</a:t>
            </a:r>
            <a:pPr indent="0" marL="0">
              <a:buNone/>
            </a:pPr>
            <a:r>
              <a:rPr lang="en-US" sz="1300" dirty="0">
                <a:solidFill>
                  <a:srgbClr val="586275"/>
                </a:solidFill>
              </a:rPr>
              <a:t>   typo in params.json</a:t>
            </a:r>
            <a:endParaRPr lang="en-US" sz="1300" dirty="0"/>
          </a:p>
        </p:txBody>
      </p:sp>
      <p:sp>
        <p:nvSpPr>
          <p:cNvPr id="6" name="Engineer runs the pipeline"/>
          <p:cNvSpPr txBox="1"/>
          <p:nvPr/>
        </p:nvSpPr>
        <p:spPr>
          <a:xfrm>
            <a:off x="548640" y="182880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50" dirty="0">
                <a:solidFill>
                  <a:srgbClr val="586275"/>
                </a:solidFill>
              </a:rPr>
              <a:t>Account picked from a list</a:t>
            </a:r>
            <a:endParaRPr lang="en-US" sz="1200" dirty="0"/>
          </a:p>
        </p:txBody>
      </p:sp>
      <p:sp>
        <p:nvSpPr>
          <p:cNvPr id="7" name="Shape 4"/>
          <p:cNvSpPr/>
          <p:nvPr/>
        </p:nvSpPr>
        <p:spPr>
          <a:xfrm>
            <a:off x="3291840" y="2217420"/>
            <a:ext cx="292608" cy="0"/>
          </a:xfrm>
          <a:prstGeom prst="line">
            <a:avLst/>
          </a:prstGeom>
          <a:noFill/>
          <a:ln w="15875">
            <a:solidFill>
              <a:srgbClr val="7D889B"/>
            </a:solidFill>
            <a:prstDash val="solid"/>
            <a:tailEnd type="triangle"/>
          </a:ln>
        </p:spPr>
      </p:sp>
      <p:sp>
        <p:nvSpPr>
          <p:cNvPr id="8" name="Preflight"/>
          <p:cNvSpPr txBox="1"/>
          <p:nvPr/>
        </p:nvSpPr>
        <p:spPr>
          <a:xfrm>
            <a:off x="3584448" y="1828800"/>
            <a:ext cx="2743200"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Preflight</a:t>
            </a:r>
            <a:endParaRPr lang="en-US" sz="1200" dirty="0"/>
          </a:p>
          <a:p>
            <a:pPr algn="ctr" indent="0" marL="0">
              <a:buNone/>
            </a:pPr>
            <a:r>
              <a:rPr lang="en-US" sz="1050" dirty="0">
                <a:solidFill>
                  <a:srgbClr val="2B6C59"/>
                </a:solidFill>
              </a:rPr>
              <a:t>t3.mirco is not an allowed value</a:t>
            </a:r>
            <a:endParaRPr lang="en-US" sz="1200" dirty="0"/>
          </a:p>
        </p:txBody>
      </p:sp>
      <p:sp>
        <p:nvSpPr>
          <p:cNvPr id="9" name="Shape 6"/>
          <p:cNvSpPr/>
          <p:nvPr/>
        </p:nvSpPr>
        <p:spPr>
          <a:xfrm>
            <a:off x="6327648" y="2217420"/>
            <a:ext cx="292608" cy="0"/>
          </a:xfrm>
          <a:prstGeom prst="line">
            <a:avLst/>
          </a:prstGeom>
          <a:noFill/>
          <a:ln w="15875">
            <a:solidFill>
              <a:srgbClr val="7D889B"/>
            </a:solidFill>
            <a:prstDash val="solid"/>
            <a:tailEnd type="triangle"/>
          </a:ln>
        </p:spPr>
      </p:sp>
      <p:sp>
        <p:nvSpPr>
          <p:cNvPr id="10" name="Stopped before AWS"/>
          <p:cNvSpPr txBox="1"/>
          <p:nvPr/>
        </p:nvSpPr>
        <p:spPr>
          <a:xfrm>
            <a:off x="6620256" y="1828800"/>
            <a:ext cx="2743200"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Stopped before AWS</a:t>
            </a:r>
            <a:endParaRPr lang="en-US" sz="1200" dirty="0"/>
          </a:p>
          <a:p>
            <a:pPr algn="ctr" indent="0" marL="0">
              <a:buNone/>
            </a:pPr>
            <a:r>
              <a:rPr lang="en-US" sz="1050" dirty="0">
                <a:solidFill>
                  <a:srgbClr val="4650A9"/>
                </a:solidFill>
              </a:rPr>
              <a:t>Nothing created; fix params.json</a:t>
            </a:r>
            <a:endParaRPr lang="en-US" sz="1200" dirty="0"/>
          </a:p>
        </p:txBody>
      </p:sp>
      <p:sp>
        <p:nvSpPr>
          <p:cNvPr id="11" name="Text 8"/>
          <p:cNvSpPr txBox="1"/>
          <p:nvPr/>
        </p:nvSpPr>
        <p:spPr>
          <a:xfrm>
            <a:off x="548640" y="274320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2</a:t>
            </a:r>
            <a:pPr indent="0" marL="0">
              <a:buNone/>
            </a:pPr>
            <a:r>
              <a:rPr lang="en-US" sz="1300" dirty="0">
                <a:solidFill>
                  <a:srgbClr val="586275"/>
                </a:solidFill>
              </a:rPr>
              <a:t>   typo fixed, SSH still open</a:t>
            </a:r>
            <a:endParaRPr lang="en-US" sz="1300" dirty="0"/>
          </a:p>
        </p:txBody>
      </p:sp>
      <p:sp>
        <p:nvSpPr>
          <p:cNvPr id="12" name="Preflight and lint pass"/>
          <p:cNvSpPr txBox="1"/>
          <p:nvPr/>
        </p:nvSpPr>
        <p:spPr>
          <a:xfrm>
            <a:off x="548640" y="310896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Preflight and lint pass</a:t>
            </a:r>
            <a:endParaRPr lang="en-US" sz="1200" dirty="0"/>
          </a:p>
          <a:p>
            <a:pPr algn="ctr" indent="0" marL="0">
              <a:buNone/>
            </a:pPr>
            <a:r>
              <a:rPr lang="en-US" sz="1050" dirty="0">
                <a:solidFill>
                  <a:srgbClr val="2B6C59"/>
                </a:solidFill>
              </a:rPr>
              <a:t>Template and params valid</a:t>
            </a:r>
            <a:endParaRPr lang="en-US" sz="1200" dirty="0"/>
          </a:p>
        </p:txBody>
      </p:sp>
      <p:sp>
        <p:nvSpPr>
          <p:cNvPr id="13" name="Shape 10"/>
          <p:cNvSpPr/>
          <p:nvPr/>
        </p:nvSpPr>
        <p:spPr>
          <a:xfrm>
            <a:off x="2532888" y="3497580"/>
            <a:ext cx="292608" cy="0"/>
          </a:xfrm>
          <a:prstGeom prst="line">
            <a:avLst/>
          </a:prstGeom>
          <a:noFill/>
          <a:ln w="15875">
            <a:solidFill>
              <a:srgbClr val="7D889B"/>
            </a:solidFill>
            <a:prstDash val="solid"/>
            <a:tailEnd type="triangle"/>
          </a:ln>
        </p:spPr>
      </p:sp>
      <p:sp>
        <p:nvSpPr>
          <p:cNvPr id="14" name="Security scan"/>
          <p:cNvSpPr txBox="1"/>
          <p:nvPr/>
        </p:nvSpPr>
        <p:spPr>
          <a:xfrm>
            <a:off x="2825496" y="310896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Security scan</a:t>
            </a:r>
            <a:endParaRPr lang="en-US" sz="1200" dirty="0"/>
          </a:p>
          <a:p>
            <a:pPr algn="ctr" indent="0" marL="0">
              <a:buNone/>
            </a:pPr>
            <a:r>
              <a:rPr lang="en-US" sz="1050" dirty="0">
                <a:solidFill>
                  <a:srgbClr val="2B6C59"/>
                </a:solidFill>
              </a:rPr>
              <a:t>SSH open to 0.0.0.0/0 flagged</a:t>
            </a:r>
            <a:endParaRPr lang="en-US" sz="1200" dirty="0"/>
          </a:p>
        </p:txBody>
      </p:sp>
      <p:sp>
        <p:nvSpPr>
          <p:cNvPr id="15" name="Shape 12"/>
          <p:cNvSpPr/>
          <p:nvPr/>
        </p:nvSpPr>
        <p:spPr>
          <a:xfrm>
            <a:off x="4809744" y="3497580"/>
            <a:ext cx="292608" cy="0"/>
          </a:xfrm>
          <a:prstGeom prst="line">
            <a:avLst/>
          </a:prstGeom>
          <a:noFill/>
          <a:ln w="15875">
            <a:solidFill>
              <a:srgbClr val="7D889B"/>
            </a:solidFill>
            <a:prstDash val="solid"/>
            <a:tailEnd type="triangle"/>
          </a:ln>
        </p:spPr>
      </p:sp>
      <p:sp>
        <p:nvSpPr>
          <p:cNvPr id="16" name="CREATE change set"/>
          <p:cNvSpPr txBox="1"/>
          <p:nvPr/>
        </p:nvSpPr>
        <p:spPr>
          <a:xfrm>
            <a:off x="5102352" y="310896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CREATE change set</a:t>
            </a:r>
            <a:endParaRPr lang="en-US" sz="1200" dirty="0"/>
          </a:p>
          <a:p>
            <a:pPr algn="ctr" indent="0" marL="0">
              <a:buNone/>
            </a:pPr>
            <a:r>
              <a:rPr lang="en-US" sz="1050" dirty="0">
                <a:solidFill>
                  <a:srgbClr val="586275"/>
                </a:solidFill>
              </a:rPr>
              <a:t>Instance LOW · security group MEDIUM</a:t>
            </a:r>
            <a:endParaRPr lang="en-US" sz="1200" dirty="0"/>
          </a:p>
        </p:txBody>
      </p:sp>
      <p:sp>
        <p:nvSpPr>
          <p:cNvPr id="17" name="Shape 14"/>
          <p:cNvSpPr/>
          <p:nvPr/>
        </p:nvSpPr>
        <p:spPr>
          <a:xfrm>
            <a:off x="7086600" y="3497580"/>
            <a:ext cx="292608" cy="0"/>
          </a:xfrm>
          <a:prstGeom prst="line">
            <a:avLst/>
          </a:prstGeom>
          <a:noFill/>
          <a:ln w="15875">
            <a:solidFill>
              <a:srgbClr val="7D889B"/>
            </a:solidFill>
            <a:prstDash val="solid"/>
            <a:tailEnd type="triangle"/>
          </a:ln>
        </p:spPr>
      </p:sp>
      <p:sp>
        <p:nvSpPr>
          <p:cNvPr id="18" name="Approval email"/>
          <p:cNvSpPr txBox="1"/>
          <p:nvPr/>
        </p:nvSpPr>
        <p:spPr>
          <a:xfrm>
            <a:off x="7379208" y="310896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Includes the scan finding</a:t>
            </a:r>
            <a:endParaRPr lang="en-US" sz="1200" dirty="0"/>
          </a:p>
        </p:txBody>
      </p:sp>
      <p:sp>
        <p:nvSpPr>
          <p:cNvPr id="19" name="Email sent"/>
          <p:cNvSpPr/>
          <p:nvPr/>
        </p:nvSpPr>
        <p:spPr>
          <a:xfrm>
            <a:off x="7434072" y="2962656"/>
            <a:ext cx="292608" cy="292608"/>
          </a:xfrm>
          <a:prstGeom prst="ellipse">
            <a:avLst/>
          </a:prstGeom>
          <a:solidFill>
            <a:srgbClr val="FFFFFF"/>
          </a:solidFill>
          <a:ln w="15875">
            <a:solidFill>
              <a:srgbClr val="2A5BD7"/>
            </a:solidFill>
            <a:prstDash val="solid"/>
          </a:ln>
        </p:spPr>
      </p:sp>
      <p:pic>
        <p:nvPicPr>
          <p:cNvPr id="20" name="Image 0" descr="Email sent">    </p:cNvPr>
          <p:cNvPicPr>
            <a:picLocks noChangeAspect="1"/>
          </p:cNvPicPr>
          <p:nvPr/>
        </p:nvPicPr>
        <p:blipFill>
          <a:blip r:embed="rId1"/>
          <a:stretch>
            <a:fillRect/>
          </a:stretch>
        </p:blipFill>
        <p:spPr>
          <a:xfrm>
            <a:off x="7489668" y="3018252"/>
            <a:ext cx="181417" cy="181417"/>
          </a:xfrm>
          <a:prstGeom prst="rect">
            <a:avLst/>
          </a:prstGeom>
        </p:spPr>
      </p:pic>
      <p:sp>
        <p:nvSpPr>
          <p:cNvPr id="21" name="Shape 17"/>
          <p:cNvSpPr/>
          <p:nvPr/>
        </p:nvSpPr>
        <p:spPr>
          <a:xfrm>
            <a:off x="9363456" y="3497580"/>
            <a:ext cx="292608" cy="0"/>
          </a:xfrm>
          <a:prstGeom prst="line">
            <a:avLst/>
          </a:prstGeom>
          <a:noFill/>
          <a:ln w="15875">
            <a:solidFill>
              <a:srgbClr val="7D889B"/>
            </a:solidFill>
            <a:prstDash val="solid"/>
            <a:tailEnd type="triangle"/>
          </a:ln>
        </p:spPr>
      </p:sp>
      <p:sp>
        <p:nvSpPr>
          <p:cNvPr id="22" name="Approver rejects"/>
          <p:cNvSpPr txBox="1"/>
          <p:nvPr/>
        </p:nvSpPr>
        <p:spPr>
          <a:xfrm>
            <a:off x="9656064" y="3108960"/>
            <a:ext cx="1984248"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Approver rejects</a:t>
            </a:r>
            <a:endParaRPr lang="en-US" sz="1200" dirty="0"/>
          </a:p>
          <a:p>
            <a:pPr algn="ctr" indent="0" marL="0">
              <a:buNone/>
            </a:pPr>
            <a:r>
              <a:rPr lang="en-US" sz="1050" dirty="0">
                <a:solidFill>
                  <a:srgbClr val="4650A9"/>
                </a:solidFill>
              </a:rPr>
              <a:t>Change set deleted; nothing created</a:t>
            </a:r>
            <a:endParaRPr lang="en-US" sz="1200" dirty="0"/>
          </a:p>
        </p:txBody>
      </p:sp>
      <p:sp>
        <p:nvSpPr>
          <p:cNvPr id="23" name="Text 19"/>
          <p:cNvSpPr txBox="1"/>
          <p:nvPr/>
        </p:nvSpPr>
        <p:spPr>
          <a:xfrm>
            <a:off x="548640" y="402336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Run 3</a:t>
            </a:r>
            <a:pPr indent="0" marL="0">
              <a:buNone/>
            </a:pPr>
            <a:r>
              <a:rPr lang="en-US" sz="1300" dirty="0">
                <a:solidFill>
                  <a:srgbClr val="586275"/>
                </a:solidFill>
              </a:rPr>
              <a:t>   SSH rule removed</a:t>
            </a:r>
            <a:endParaRPr lang="en-US" sz="1300" dirty="0"/>
          </a:p>
        </p:txBody>
      </p:sp>
      <p:sp>
        <p:nvSpPr>
          <p:cNvPr id="24" name="All checks pass"/>
          <p:cNvSpPr txBox="1"/>
          <p:nvPr/>
        </p:nvSpPr>
        <p:spPr>
          <a:xfrm>
            <a:off x="548640" y="438912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All checks pass</a:t>
            </a:r>
            <a:endParaRPr lang="en-US" sz="1200" dirty="0"/>
          </a:p>
          <a:p>
            <a:pPr algn="ctr" indent="0" marL="0">
              <a:buNone/>
            </a:pPr>
            <a:r>
              <a:rPr lang="en-US" sz="1050" dirty="0">
                <a:solidFill>
                  <a:srgbClr val="2B6C59"/>
                </a:solidFill>
              </a:rPr>
              <a:t>Preflight, lint, security scan</a:t>
            </a:r>
            <a:endParaRPr lang="en-US" sz="1200" dirty="0"/>
          </a:p>
        </p:txBody>
      </p:sp>
      <p:sp>
        <p:nvSpPr>
          <p:cNvPr id="25" name="Shape 21"/>
          <p:cNvSpPr/>
          <p:nvPr/>
        </p:nvSpPr>
        <p:spPr>
          <a:xfrm>
            <a:off x="2532888" y="4777740"/>
            <a:ext cx="292608" cy="0"/>
          </a:xfrm>
          <a:prstGeom prst="line">
            <a:avLst/>
          </a:prstGeom>
          <a:noFill/>
          <a:ln w="15875">
            <a:solidFill>
              <a:srgbClr val="7D889B"/>
            </a:solidFill>
            <a:prstDash val="solid"/>
            <a:tailEnd type="triangle"/>
          </a:ln>
        </p:spPr>
      </p:sp>
      <p:sp>
        <p:nvSpPr>
          <p:cNvPr id="26" name="CREATE change set"/>
          <p:cNvSpPr txBox="1"/>
          <p:nvPr/>
        </p:nvSpPr>
        <p:spPr>
          <a:xfrm>
            <a:off x="2825496" y="438912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CREATE change set</a:t>
            </a:r>
            <a:endParaRPr lang="en-US" sz="1200" dirty="0"/>
          </a:p>
          <a:p>
            <a:pPr algn="ctr" indent="0" marL="0">
              <a:buNone/>
            </a:pPr>
            <a:r>
              <a:rPr lang="en-US" sz="1050" dirty="0">
                <a:solidFill>
                  <a:srgbClr val="586275"/>
                </a:solidFill>
              </a:rPr>
              <a:t>Every new resource rated</a:t>
            </a:r>
            <a:endParaRPr lang="en-US" sz="1200" dirty="0"/>
          </a:p>
        </p:txBody>
      </p:sp>
      <p:sp>
        <p:nvSpPr>
          <p:cNvPr id="27" name="Shape 23"/>
          <p:cNvSpPr/>
          <p:nvPr/>
        </p:nvSpPr>
        <p:spPr>
          <a:xfrm>
            <a:off x="4809744" y="4777740"/>
            <a:ext cx="292608" cy="0"/>
          </a:xfrm>
          <a:prstGeom prst="line">
            <a:avLst/>
          </a:prstGeom>
          <a:noFill/>
          <a:ln w="15875">
            <a:solidFill>
              <a:srgbClr val="7D889B"/>
            </a:solidFill>
            <a:prstDash val="solid"/>
            <a:tailEnd type="triangle"/>
          </a:ln>
        </p:spPr>
      </p:sp>
      <p:sp>
        <p:nvSpPr>
          <p:cNvPr id="28" name="Approval email"/>
          <p:cNvSpPr txBox="1"/>
          <p:nvPr/>
        </p:nvSpPr>
        <p:spPr>
          <a:xfrm>
            <a:off x="5102352" y="438912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What will be created, and why</a:t>
            </a:r>
            <a:endParaRPr lang="en-US" sz="1200" dirty="0"/>
          </a:p>
        </p:txBody>
      </p:sp>
      <p:sp>
        <p:nvSpPr>
          <p:cNvPr id="29" name="Email sent"/>
          <p:cNvSpPr/>
          <p:nvPr/>
        </p:nvSpPr>
        <p:spPr>
          <a:xfrm>
            <a:off x="5157216" y="4242816"/>
            <a:ext cx="292608" cy="292608"/>
          </a:xfrm>
          <a:prstGeom prst="ellipse">
            <a:avLst/>
          </a:prstGeom>
          <a:solidFill>
            <a:srgbClr val="FFFFFF"/>
          </a:solidFill>
          <a:ln w="15875">
            <a:solidFill>
              <a:srgbClr val="2A5BD7"/>
            </a:solidFill>
            <a:prstDash val="solid"/>
          </a:ln>
        </p:spPr>
      </p:sp>
      <p:pic>
        <p:nvPicPr>
          <p:cNvPr id="30" name="Image 1" descr="Email sent">    </p:cNvPr>
          <p:cNvPicPr>
            <a:picLocks noChangeAspect="1"/>
          </p:cNvPicPr>
          <p:nvPr/>
        </p:nvPicPr>
        <p:blipFill>
          <a:blip r:embed="rId2"/>
          <a:stretch>
            <a:fillRect/>
          </a:stretch>
        </p:blipFill>
        <p:spPr>
          <a:xfrm>
            <a:off x="5212812" y="4298412"/>
            <a:ext cx="181417" cy="181417"/>
          </a:xfrm>
          <a:prstGeom prst="rect">
            <a:avLst/>
          </a:prstGeom>
        </p:spPr>
      </p:pic>
      <p:sp>
        <p:nvSpPr>
          <p:cNvPr id="31" name="Shape 26"/>
          <p:cNvSpPr/>
          <p:nvPr/>
        </p:nvSpPr>
        <p:spPr>
          <a:xfrm>
            <a:off x="7086600" y="4777740"/>
            <a:ext cx="292608" cy="0"/>
          </a:xfrm>
          <a:prstGeom prst="line">
            <a:avLst/>
          </a:prstGeom>
          <a:noFill/>
          <a:ln w="15875">
            <a:solidFill>
              <a:srgbClr val="7D889B"/>
            </a:solidFill>
            <a:prstDash val="solid"/>
            <a:tailEnd type="triangle"/>
          </a:ln>
        </p:spPr>
      </p:sp>
      <p:sp>
        <p:nvSpPr>
          <p:cNvPr id="32" name="Approver approves"/>
          <p:cNvSpPr txBox="1"/>
          <p:nvPr/>
        </p:nvSpPr>
        <p:spPr>
          <a:xfrm>
            <a:off x="7379208" y="438912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Approver approves</a:t>
            </a:r>
            <a:endParaRPr lang="en-US" sz="1200" dirty="0"/>
          </a:p>
          <a:p>
            <a:pPr algn="ctr" indent="0" marL="0">
              <a:buNone/>
            </a:pPr>
            <a:r>
              <a:rPr lang="en-US" sz="1050" dirty="0">
                <a:solidFill>
                  <a:srgbClr val="586275"/>
                </a:solidFill>
              </a:rPr>
              <a:t>GitHub gate</a:t>
            </a:r>
            <a:endParaRPr lang="en-US" sz="1200" dirty="0"/>
          </a:p>
        </p:txBody>
      </p:sp>
      <p:sp>
        <p:nvSpPr>
          <p:cNvPr id="33" name="Shape 28"/>
          <p:cNvSpPr/>
          <p:nvPr/>
        </p:nvSpPr>
        <p:spPr>
          <a:xfrm>
            <a:off x="9363456" y="4777740"/>
            <a:ext cx="292608" cy="0"/>
          </a:xfrm>
          <a:prstGeom prst="line">
            <a:avLst/>
          </a:prstGeom>
          <a:noFill/>
          <a:ln w="15875">
            <a:solidFill>
              <a:srgbClr val="7D889B"/>
            </a:solidFill>
            <a:prstDash val="solid"/>
            <a:tailEnd type="triangle"/>
          </a:ln>
        </p:spPr>
      </p:sp>
      <p:sp>
        <p:nvSpPr>
          <p:cNvPr id="34" name="Deployed"/>
          <p:cNvSpPr txBox="1"/>
          <p:nvPr/>
        </p:nvSpPr>
        <p:spPr>
          <a:xfrm>
            <a:off x="9656064" y="4389120"/>
            <a:ext cx="1984248" cy="777240"/>
          </a:xfrm>
          <a:prstGeom prst="roundRect">
            <a:avLst>
              <a:gd name="adj" fmla="val 50000"/>
            </a:avLst>
          </a:prstGeom>
          <a:solidFill>
            <a:srgbClr val="E3F4E7"/>
          </a:solidFill>
          <a:ln w="15875">
            <a:solidFill>
              <a:srgbClr val="2E8946"/>
            </a:solidFill>
          </a:ln>
        </p:spPr>
        <p:txBody>
          <a:bodyPr wrap="square" lIns="127000" tIns="25400" rIns="127000" bIns="25400" rtlCol="0" anchor="ctr"/>
          <a:lstStyle/>
          <a:p>
            <a:pPr algn="ctr" indent="0" marL="0">
              <a:buNone/>
            </a:pPr>
            <a:r>
              <a:rPr lang="en-US" sz="1200" b="1" dirty="0">
                <a:solidFill>
                  <a:srgbClr val="165229"/>
                </a:solidFill>
              </a:rPr>
              <a:t>Deployed</a:t>
            </a:r>
            <a:endParaRPr lang="en-US" sz="1200" dirty="0"/>
          </a:p>
          <a:p>
            <a:pPr algn="ctr" indent="0" marL="0">
              <a:buNone/>
            </a:pPr>
            <a:r>
              <a:rPr lang="en-US" sz="1050" dirty="0">
                <a:solidFill>
                  <a:srgbClr val="2C6D3F"/>
                </a:solidFill>
              </a:rPr>
              <a:t>Result and outputs emailed</a:t>
            </a:r>
            <a:endParaRPr lang="en-US" sz="1200" dirty="0"/>
          </a:p>
        </p:txBody>
      </p:sp>
      <p:sp>
        <p:nvSpPr>
          <p:cNvPr id="35" name="Email sent"/>
          <p:cNvSpPr/>
          <p:nvPr/>
        </p:nvSpPr>
        <p:spPr>
          <a:xfrm>
            <a:off x="9898380" y="4242816"/>
            <a:ext cx="292608" cy="292608"/>
          </a:xfrm>
          <a:prstGeom prst="ellipse">
            <a:avLst/>
          </a:prstGeom>
          <a:solidFill>
            <a:srgbClr val="FFFFFF"/>
          </a:solidFill>
          <a:ln w="15875">
            <a:solidFill>
              <a:srgbClr val="2A5BD7"/>
            </a:solidFill>
            <a:prstDash val="solid"/>
          </a:ln>
        </p:spPr>
      </p:sp>
      <p:pic>
        <p:nvPicPr>
          <p:cNvPr id="36" name="Image 2" descr="Email sent">    </p:cNvPr>
          <p:cNvPicPr>
            <a:picLocks noChangeAspect="1"/>
          </p:cNvPicPr>
          <p:nvPr/>
        </p:nvPicPr>
        <p:blipFill>
          <a:blip r:embed="rId3"/>
          <a:stretch>
            <a:fillRect/>
          </a:stretch>
        </p:blipFill>
        <p:spPr>
          <a:xfrm>
            <a:off x="9953976" y="4298412"/>
            <a:ext cx="181417" cy="181417"/>
          </a:xfrm>
          <a:prstGeom prst="rect">
            <a:avLst/>
          </a:prstGeom>
        </p:spPr>
      </p:pic>
      <p:sp>
        <p:nvSpPr>
          <p:cNvPr id="37" name="Shape 31"/>
          <p:cNvSpPr/>
          <p:nvPr/>
        </p:nvSpPr>
        <p:spPr>
          <a:xfrm>
            <a:off x="548640" y="5486400"/>
            <a:ext cx="5458968" cy="786384"/>
          </a:xfrm>
          <a:prstGeom prst="roundRect">
            <a:avLst>
              <a:gd name="adj" fmla="val 11628"/>
            </a:avLst>
          </a:prstGeom>
          <a:solidFill>
            <a:srgbClr val="F4FAF6"/>
          </a:solidFill>
          <a:ln w="6350">
            <a:solidFill>
              <a:srgbClr val="F4FAF6"/>
            </a:solidFill>
            <a:prstDash val="solid"/>
          </a:ln>
        </p:spPr>
      </p:sp>
      <p:sp>
        <p:nvSpPr>
          <p:cNvPr id="38" name="Shape 32"/>
          <p:cNvSpPr/>
          <p:nvPr/>
        </p:nvSpPr>
        <p:spPr>
          <a:xfrm>
            <a:off x="694944" y="5678424"/>
            <a:ext cx="402336" cy="402336"/>
          </a:xfrm>
          <a:prstGeom prst="ellipse">
            <a:avLst/>
          </a:prstGeom>
          <a:solidFill>
            <a:srgbClr val="22866A"/>
          </a:solidFill>
          <a:ln w="6350">
            <a:solidFill>
              <a:srgbClr val="22866A"/>
            </a:solidFill>
            <a:prstDash val="solid"/>
          </a:ln>
        </p:spPr>
      </p:sp>
      <p:pic>
        <p:nvPicPr>
          <p:cNvPr id="39" name="Image 3" descr="Icon">    </p:cNvPr>
          <p:cNvPicPr>
            <a:picLocks noChangeAspect="1"/>
          </p:cNvPicPr>
          <p:nvPr/>
        </p:nvPicPr>
        <p:blipFill>
          <a:blip r:embed="rId4"/>
          <a:stretch>
            <a:fillRect/>
          </a:stretch>
        </p:blipFill>
        <p:spPr>
          <a:xfrm>
            <a:off x="791505" y="5774985"/>
            <a:ext cx="209215" cy="209215"/>
          </a:xfrm>
          <a:prstGeom prst="rect">
            <a:avLst/>
          </a:prstGeom>
        </p:spPr>
      </p:pic>
      <p:sp>
        <p:nvSpPr>
          <p:cNvPr id="40" name="Text 33"/>
          <p:cNvSpPr txBox="1"/>
          <p:nvPr/>
        </p:nvSpPr>
        <p:spPr>
          <a:xfrm>
            <a:off x="1261872" y="5486400"/>
            <a:ext cx="4590288" cy="786384"/>
          </a:xfrm>
          <a:prstGeom prst="rect">
            <a:avLst/>
          </a:prstGeom>
          <a:noFill/>
          <a:ln/>
        </p:spPr>
        <p:txBody>
          <a:bodyPr wrap="square" lIns="0" tIns="0" rIns="0" bIns="0" rtlCol="0" anchor="ctr"/>
          <a:lstStyle/>
          <a:p>
            <a:pPr indent="0" marL="0">
              <a:buNone/>
            </a:pPr>
            <a:r>
              <a:rPr lang="en-US" sz="1200" b="1" dirty="0">
                <a:solidFill>
                  <a:srgbClr val="0C4D3C"/>
                </a:solidFill>
              </a:rPr>
              <a:t>Stricter option.  </a:t>
            </a:r>
            <a:pPr indent="0" marL="0">
              <a:buNone/>
            </a:pPr>
            <a:r>
              <a:rPr lang="en-US" sz="1200" dirty="0">
                <a:solidFill>
                  <a:srgbClr val="131925"/>
                </a:solidFill>
              </a:rPr>
              <a:t>With CFN_SECURITY_SCAN_BLOCKING=true, run 2 stops at the security scan instead of reaching the approver.</a:t>
            </a:r>
            <a:endParaRPr lang="en-US" sz="1200" dirty="0"/>
          </a:p>
        </p:txBody>
      </p:sp>
      <p:sp>
        <p:nvSpPr>
          <p:cNvPr id="41" name="Shape 34"/>
          <p:cNvSpPr/>
          <p:nvPr/>
        </p:nvSpPr>
        <p:spPr>
          <a:xfrm>
            <a:off x="6181344" y="5486400"/>
            <a:ext cx="5458968" cy="786384"/>
          </a:xfrm>
          <a:prstGeom prst="roundRect">
            <a:avLst>
              <a:gd name="adj" fmla="val 11628"/>
            </a:avLst>
          </a:prstGeom>
          <a:solidFill>
            <a:srgbClr val="EAF0FD"/>
          </a:solidFill>
          <a:ln w="6350">
            <a:solidFill>
              <a:srgbClr val="EAF0FD"/>
            </a:solidFill>
            <a:prstDash val="solid"/>
          </a:ln>
        </p:spPr>
      </p:sp>
      <p:sp>
        <p:nvSpPr>
          <p:cNvPr id="42" name="Shape 35"/>
          <p:cNvSpPr/>
          <p:nvPr/>
        </p:nvSpPr>
        <p:spPr>
          <a:xfrm>
            <a:off x="6327648" y="5678424"/>
            <a:ext cx="402336" cy="402336"/>
          </a:xfrm>
          <a:prstGeom prst="ellipse">
            <a:avLst/>
          </a:prstGeom>
          <a:solidFill>
            <a:srgbClr val="2A5BD7"/>
          </a:solidFill>
          <a:ln w="6350">
            <a:solidFill>
              <a:srgbClr val="2A5BD7"/>
            </a:solidFill>
            <a:prstDash val="solid"/>
          </a:ln>
        </p:spPr>
      </p:sp>
      <p:pic>
        <p:nvPicPr>
          <p:cNvPr id="43" name="Image 4" descr="Icon">    </p:cNvPr>
          <p:cNvPicPr>
            <a:picLocks noChangeAspect="1"/>
          </p:cNvPicPr>
          <p:nvPr/>
        </p:nvPicPr>
        <p:blipFill>
          <a:blip r:embed="rId5"/>
          <a:stretch>
            <a:fillRect/>
          </a:stretch>
        </p:blipFill>
        <p:spPr>
          <a:xfrm>
            <a:off x="6424209" y="5774985"/>
            <a:ext cx="209215" cy="209215"/>
          </a:xfrm>
          <a:prstGeom prst="rect">
            <a:avLst/>
          </a:prstGeom>
        </p:spPr>
      </p:pic>
      <p:sp>
        <p:nvSpPr>
          <p:cNvPr id="44" name="Text 36"/>
          <p:cNvSpPr txBox="1"/>
          <p:nvPr/>
        </p:nvSpPr>
        <p:spPr>
          <a:xfrm>
            <a:off x="6894576" y="5486400"/>
            <a:ext cx="4590288" cy="786384"/>
          </a:xfrm>
          <a:prstGeom prst="rect">
            <a:avLst/>
          </a:prstGeom>
          <a:noFill/>
          <a:ln/>
        </p:spPr>
        <p:txBody>
          <a:bodyPr wrap="square" lIns="0" tIns="0" rIns="0" bIns="0" rtlCol="0" anchor="ctr"/>
          <a:lstStyle/>
          <a:p>
            <a:pPr indent="0" marL="0">
              <a:buNone/>
            </a:pPr>
            <a:r>
              <a:rPr lang="en-US" sz="1200" b="1" dirty="0">
                <a:solidFill>
                  <a:srgbClr val="173A8F"/>
                </a:solidFill>
              </a:rPr>
              <a:t>If the create fails half-way.  </a:t>
            </a:r>
            <a:pPr indent="0" marL="0">
              <a:buNone/>
            </a:pPr>
            <a:r>
              <a:rPr lang="en-US" sz="1200" dirty="0">
                <a:solidFill>
                  <a:srgbClr val="131925"/>
                </a:solidFill>
              </a:rPr>
              <a:t>The result email names the failed resource and why, and the next run gives the exact command to recover.</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Run 2's approval email: what the approver sees first</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Sent before anything is created · the pipeline's own email, rendered with this scenario's data</a:t>
            </a:r>
            <a:endParaRPr lang="en-US" sz="1400" dirty="0"/>
          </a:p>
        </p:txBody>
      </p:sp>
      <p:sp>
        <p:nvSpPr>
          <p:cNvPr id="5" name="Email window"/>
          <p:cNvSpPr/>
          <p:nvPr/>
        </p:nvSpPr>
        <p:spPr>
          <a:xfrm>
            <a:off x="868680" y="1417320"/>
            <a:ext cx="4754880" cy="4709641"/>
          </a:xfrm>
          <a:prstGeom prst="roundRect">
            <a:avLst>
              <a:gd name="adj" fmla="val 1553"/>
            </a:avLst>
          </a:prstGeom>
          <a:solidFill>
            <a:srgbClr val="F5F7FA"/>
          </a:solidFill>
          <a:ln w="12700">
            <a:solidFill>
              <a:srgbClr val="D5DBE5"/>
            </a:solidFill>
            <a:prstDash val="solid"/>
          </a:ln>
          <a:effectLst>
            <a:outerShdw sx="100000" sy="100000" kx="0" ky="0" algn="bl" rotWithShape="0" blurRad="101600" dist="25400" dir="5400000">
              <a:srgbClr val="1B2A41">
                <a:alpha val="12000"/>
              </a:srgbClr>
            </a:outerShdw>
          </a:effectLst>
        </p:spPr>
      </p:sp>
      <p:sp>
        <p:nvSpPr>
          <p:cNvPr id="6" name="Text 3"/>
          <p:cNvSpPr txBox="1"/>
          <p:nvPr/>
        </p:nvSpPr>
        <p:spPr>
          <a:xfrm>
            <a:off x="1014984" y="1499616"/>
            <a:ext cx="4462272" cy="256032"/>
          </a:xfrm>
          <a:prstGeom prst="rect">
            <a:avLst/>
          </a:prstGeom>
          <a:noFill/>
          <a:ln/>
        </p:spPr>
        <p:txBody>
          <a:bodyPr wrap="square" lIns="0" tIns="0" rIns="0" bIns="0" rtlCol="0" anchor="ctr"/>
          <a:lstStyle/>
          <a:p>
            <a:pPr indent="0" marL="0">
              <a:buNone/>
            </a:pPr>
            <a:r>
              <a:rPr lang="en-US" sz="1050" b="1" dirty="0">
                <a:solidFill>
                  <a:srgbClr val="131925"/>
                </a:solidFill>
              </a:rPr>
              <a:t>[APPROVAL NEEDED][PRD] app-web — 2 changes, risk MEDIUM</a:t>
            </a:r>
            <a:endParaRPr lang="en-US" sz="1050" dirty="0"/>
          </a:p>
        </p:txBody>
      </p:sp>
      <p:sp>
        <p:nvSpPr>
          <p:cNvPr id="7" name="Text 4"/>
          <p:cNvSpPr txBox="1"/>
          <p:nvPr/>
        </p:nvSpPr>
        <p:spPr>
          <a:xfrm>
            <a:off x="1014984" y="1755648"/>
            <a:ext cx="4462272" cy="182880"/>
          </a:xfrm>
          <a:prstGeom prst="rect">
            <a:avLst/>
          </a:prstGeom>
          <a:noFill/>
          <a:ln/>
        </p:spPr>
        <p:txBody>
          <a:bodyPr wrap="square" lIns="0" tIns="0" rIns="0" bIns="0" rtlCol="0" anchor="ctr"/>
          <a:lstStyle/>
          <a:p>
            <a:pPr indent="0" marL="0">
              <a:buNone/>
            </a:pPr>
            <a:r>
              <a:rPr lang="en-US" sz="950" dirty="0">
                <a:solidFill>
                  <a:srgbClr val="7D889B"/>
                </a:solidFill>
              </a:rPr>
              <a:t>From  </a:t>
            </a:r>
            <a:pPr indent="0" marL="0">
              <a:buNone/>
            </a:pPr>
            <a:r>
              <a:rPr lang="en-US" sz="950" dirty="0">
                <a:solidFill>
                  <a:srgbClr val="586275"/>
                </a:solidFill>
              </a:rPr>
              <a:t>CloudFormation pipeline</a:t>
            </a:r>
            <a:pPr indent="0" marL="0">
              <a:buNone/>
            </a:pPr>
            <a:r>
              <a:rPr lang="en-US" sz="950" dirty="0">
                <a:solidFill>
                  <a:srgbClr val="7D889B"/>
                </a:solidFill>
              </a:rPr>
              <a:t>     To  </a:t>
            </a:r>
            <a:pPr indent="0" marL="0">
              <a:buNone/>
            </a:pPr>
            <a:r>
              <a:rPr lang="en-US" sz="950" dirty="0">
                <a:solidFill>
                  <a:srgbClr val="586275"/>
                </a:solidFill>
              </a:rPr>
              <a:t>platform-approvers@example.com</a:t>
            </a:r>
            <a:endParaRPr lang="en-US" sz="950" dirty="0"/>
          </a:p>
        </p:txBody>
      </p:sp>
      <p:pic>
        <p:nvPicPr>
          <p:cNvPr id="8" name="Image 0" descr="Attachments">    </p:cNvPr>
          <p:cNvPicPr>
            <a:picLocks noChangeAspect="1"/>
          </p:cNvPicPr>
          <p:nvPr/>
        </p:nvPicPr>
        <p:blipFill>
          <a:blip r:embed="rId1"/>
          <a:stretch>
            <a:fillRect/>
          </a:stretch>
        </p:blipFill>
        <p:spPr>
          <a:xfrm>
            <a:off x="1014984" y="1965960"/>
            <a:ext cx="118872" cy="118872"/>
          </a:xfrm>
          <a:prstGeom prst="rect">
            <a:avLst/>
          </a:prstGeom>
        </p:spPr>
      </p:pic>
      <p:sp>
        <p:nvSpPr>
          <p:cNvPr id="9" name="Text 5"/>
          <p:cNvSpPr txBox="1"/>
          <p:nvPr/>
        </p:nvSpPr>
        <p:spPr>
          <a:xfrm>
            <a:off x="1170432" y="1938528"/>
            <a:ext cx="4306824" cy="182880"/>
          </a:xfrm>
          <a:prstGeom prst="rect">
            <a:avLst/>
          </a:prstGeom>
          <a:noFill/>
          <a:ln/>
        </p:spPr>
        <p:txBody>
          <a:bodyPr wrap="square" lIns="0" tIns="0" rIns="0" bIns="0" rtlCol="0" anchor="ctr"/>
          <a:lstStyle/>
          <a:p>
            <a:pPr indent="0" marL="0">
              <a:buNone/>
            </a:pPr>
            <a:r>
              <a:rPr lang="en-US" sz="950" dirty="0">
                <a:solidFill>
                  <a:srgbClr val="586275"/>
                </a:solidFill>
              </a:rPr>
              <a:t>changes.csv   ·   changeset.json</a:t>
            </a:r>
            <a:endParaRPr lang="en-US" sz="950" dirty="0"/>
          </a:p>
        </p:txBody>
      </p:sp>
      <p:pic>
        <p:nvPicPr>
          <p:cNvPr id="10" name="Image 1" descr="Email screenshot (s1-top)">    </p:cNvPr>
          <p:cNvPicPr>
            <a:picLocks noChangeAspect="1"/>
          </p:cNvPicPr>
          <p:nvPr/>
        </p:nvPicPr>
        <p:blipFill>
          <a:blip r:embed="rId2"/>
          <a:stretch>
            <a:fillRect/>
          </a:stretch>
        </p:blipFill>
        <p:spPr>
          <a:xfrm>
            <a:off x="960120" y="2185416"/>
            <a:ext cx="4572000" cy="3850105"/>
          </a:xfrm>
          <a:prstGeom prst="rect">
            <a:avLst/>
          </a:prstGeom>
        </p:spPr>
      </p:pic>
      <p:sp>
        <p:nvSpPr>
          <p:cNvPr id="11" name="Shape 6"/>
          <p:cNvSpPr/>
          <p:nvPr/>
        </p:nvSpPr>
        <p:spPr>
          <a:xfrm>
            <a:off x="960120" y="2185416"/>
            <a:ext cx="4572000" cy="3850105"/>
          </a:xfrm>
          <a:prstGeom prst="rect">
            <a:avLst/>
          </a:prstGeom>
          <a:solidFill>
            <a:srgbClr val="FFFFFF">
              <a:alpha val="0"/>
            </a:srgbClr>
          </a:solidFill>
          <a:ln w="9525">
            <a:solidFill>
              <a:srgbClr val="E3E7EE"/>
            </a:solidFill>
            <a:prstDash val="solid"/>
          </a:ln>
        </p:spPr>
      </p:sp>
      <p:sp>
        <p:nvSpPr>
          <p:cNvPr id="12" name="Callout 1"/>
          <p:cNvSpPr txBox="1"/>
          <p:nvPr/>
        </p:nvSpPr>
        <p:spPr>
          <a:xfrm>
            <a:off x="512064" y="2406316"/>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3" name="Callout 2"/>
          <p:cNvSpPr txBox="1"/>
          <p:nvPr/>
        </p:nvSpPr>
        <p:spPr>
          <a:xfrm>
            <a:off x="512064" y="3223260"/>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4" name="Callout 3"/>
          <p:cNvSpPr txBox="1"/>
          <p:nvPr/>
        </p:nvSpPr>
        <p:spPr>
          <a:xfrm>
            <a:off x="512064" y="4728411"/>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15" name="Callout 4"/>
          <p:cNvSpPr txBox="1"/>
          <p:nvPr/>
        </p:nvSpPr>
        <p:spPr>
          <a:xfrm>
            <a:off x="512064" y="5693945"/>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16" name="Callout 1"/>
          <p:cNvSpPr txBox="1"/>
          <p:nvPr/>
        </p:nvSpPr>
        <p:spPr>
          <a:xfrm>
            <a:off x="5989320" y="161848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7" name="Text 12"/>
          <p:cNvSpPr txBox="1"/>
          <p:nvPr/>
        </p:nvSpPr>
        <p:spPr>
          <a:xfrm>
            <a:off x="6373368" y="1600200"/>
            <a:ext cx="5266944" cy="310896"/>
          </a:xfrm>
          <a:prstGeom prst="rect">
            <a:avLst/>
          </a:prstGeom>
          <a:noFill/>
          <a:ln/>
        </p:spPr>
        <p:txBody>
          <a:bodyPr wrap="square" lIns="0" tIns="0" rIns="0" bIns="0" rtlCol="0" anchor="ctr"/>
          <a:lstStyle/>
          <a:p>
            <a:pPr indent="0" marL="0">
              <a:buNone/>
            </a:pPr>
            <a:r>
              <a:rPr lang="en-US" sz="1400" b="1" dirty="0">
                <a:solidFill>
                  <a:srgbClr val="16243A"/>
                </a:solidFill>
              </a:rPr>
              <a:t>Risk at a glance</a:t>
            </a:r>
            <a:endParaRPr lang="en-US" sz="1400" dirty="0"/>
          </a:p>
        </p:txBody>
      </p:sp>
      <p:sp>
        <p:nvSpPr>
          <p:cNvPr id="18" name="Text 13"/>
          <p:cNvSpPr txBox="1"/>
          <p:nvPr/>
        </p:nvSpPr>
        <p:spPr>
          <a:xfrm>
            <a:off x="6373368" y="1920240"/>
            <a:ext cx="5266944" cy="566928"/>
          </a:xfrm>
          <a:prstGeom prst="rect">
            <a:avLst/>
          </a:prstGeom>
          <a:noFill/>
          <a:ln/>
        </p:spPr>
        <p:txBody>
          <a:bodyPr wrap="square" lIns="0" tIns="0" rIns="0" bIns="0" rtlCol="0" anchor="t"/>
          <a:lstStyle/>
          <a:p>
            <a:pPr indent="0" marL="0">
              <a:buNone/>
            </a:pPr>
            <a:r>
              <a:rPr lang="en-US" sz="1200" dirty="0">
                <a:solidFill>
                  <a:srgbClr val="131925"/>
                </a:solidFill>
              </a:rPr>
              <a:t>The subject line and the header colour carry the overall risk: blue for LOW, amber for MEDIUM, red for HIGH.</a:t>
            </a:r>
            <a:endParaRPr lang="en-US" sz="1200" dirty="0"/>
          </a:p>
        </p:txBody>
      </p:sp>
      <p:sp>
        <p:nvSpPr>
          <p:cNvPr id="19" name="Callout 2"/>
          <p:cNvSpPr txBox="1"/>
          <p:nvPr/>
        </p:nvSpPr>
        <p:spPr>
          <a:xfrm>
            <a:off x="5989320" y="276148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20" name="Text 15"/>
          <p:cNvSpPr txBox="1"/>
          <p:nvPr/>
        </p:nvSpPr>
        <p:spPr>
          <a:xfrm>
            <a:off x="6373368" y="2743200"/>
            <a:ext cx="5266944" cy="310896"/>
          </a:xfrm>
          <a:prstGeom prst="rect">
            <a:avLst/>
          </a:prstGeom>
          <a:noFill/>
          <a:ln/>
        </p:spPr>
        <p:txBody>
          <a:bodyPr wrap="square" lIns="0" tIns="0" rIns="0" bIns="0" rtlCol="0" anchor="ctr"/>
          <a:lstStyle/>
          <a:p>
            <a:pPr indent="0" marL="0">
              <a:buNone/>
            </a:pPr>
            <a:r>
              <a:rPr lang="en-US" sz="1400" b="1" dirty="0">
                <a:solidFill>
                  <a:srgbClr val="16243A"/>
                </a:solidFill>
              </a:rPr>
              <a:t>What it will do, in one sentence</a:t>
            </a:r>
            <a:endParaRPr lang="en-US" sz="1400" dirty="0"/>
          </a:p>
        </p:txBody>
      </p:sp>
      <p:sp>
        <p:nvSpPr>
          <p:cNvPr id="21" name="Text 16"/>
          <p:cNvSpPr txBox="1"/>
          <p:nvPr/>
        </p:nvSpPr>
        <p:spPr>
          <a:xfrm>
            <a:off x="6373368" y="3063240"/>
            <a:ext cx="5266944" cy="566928"/>
          </a:xfrm>
          <a:prstGeom prst="rect">
            <a:avLst/>
          </a:prstGeom>
          <a:noFill/>
          <a:ln/>
        </p:spPr>
        <p:txBody>
          <a:bodyPr wrap="square" lIns="0" tIns="0" rIns="0" bIns="0" rtlCol="0" anchor="t"/>
          <a:lstStyle/>
          <a:p>
            <a:pPr indent="0" marL="0">
              <a:buNone/>
            </a:pPr>
            <a:r>
              <a:rPr lang="en-US" sz="1200" dirty="0">
                <a:solidFill>
                  <a:srgbClr val="131925"/>
                </a:solidFill>
              </a:rPr>
              <a:t>Here: add 2 resources, overall risk MEDIUM.</a:t>
            </a:r>
            <a:endParaRPr lang="en-US" sz="1200" dirty="0"/>
          </a:p>
        </p:txBody>
      </p:sp>
      <p:sp>
        <p:nvSpPr>
          <p:cNvPr id="22" name="Callout 3"/>
          <p:cNvSpPr txBox="1"/>
          <p:nvPr/>
        </p:nvSpPr>
        <p:spPr>
          <a:xfrm>
            <a:off x="5989320" y="390448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23" name="Text 18"/>
          <p:cNvSpPr txBox="1"/>
          <p:nvPr/>
        </p:nvSpPr>
        <p:spPr>
          <a:xfrm>
            <a:off x="6373368" y="3886200"/>
            <a:ext cx="5266944" cy="310896"/>
          </a:xfrm>
          <a:prstGeom prst="rect">
            <a:avLst/>
          </a:prstGeom>
          <a:noFill/>
          <a:ln/>
        </p:spPr>
        <p:txBody>
          <a:bodyPr wrap="square" lIns="0" tIns="0" rIns="0" bIns="0" rtlCol="0" anchor="ctr"/>
          <a:lstStyle/>
          <a:p>
            <a:pPr indent="0" marL="0">
              <a:buNone/>
            </a:pPr>
            <a:r>
              <a:rPr lang="en-US" sz="1400" b="1" dirty="0">
                <a:solidFill>
                  <a:srgbClr val="16243A"/>
                </a:solidFill>
              </a:rPr>
              <a:t>Every check in one place</a:t>
            </a:r>
            <a:endParaRPr lang="en-US" sz="1400" dirty="0"/>
          </a:p>
        </p:txBody>
      </p:sp>
      <p:sp>
        <p:nvSpPr>
          <p:cNvPr id="24" name="Text 19"/>
          <p:cNvSpPr txBox="1"/>
          <p:nvPr/>
        </p:nvSpPr>
        <p:spPr>
          <a:xfrm>
            <a:off x="6373368" y="4206240"/>
            <a:ext cx="5266944" cy="566928"/>
          </a:xfrm>
          <a:prstGeom prst="rect">
            <a:avLst/>
          </a:prstGeom>
          <a:noFill/>
          <a:ln/>
        </p:spPr>
        <p:txBody>
          <a:bodyPr wrap="square" lIns="0" tIns="0" rIns="0" bIns="0" rtlCol="0" anchor="t"/>
          <a:lstStyle/>
          <a:p>
            <a:pPr indent="0" marL="0">
              <a:buNone/>
            </a:pPr>
            <a:r>
              <a:rPr lang="en-US" sz="1200" dirty="0">
                <a:solidFill>
                  <a:srgbClr val="131925"/>
                </a:solidFill>
              </a:rPr>
              <a:t>Drift check, cfn-lint and the Checkov scan, beside the stack, account, change set, commit and who started the run.</a:t>
            </a:r>
            <a:endParaRPr lang="en-US" sz="1200" dirty="0"/>
          </a:p>
        </p:txBody>
      </p:sp>
      <p:sp>
        <p:nvSpPr>
          <p:cNvPr id="25" name="Callout 4"/>
          <p:cNvSpPr txBox="1"/>
          <p:nvPr/>
        </p:nvSpPr>
        <p:spPr>
          <a:xfrm>
            <a:off x="5989320" y="504748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6" name="Text 21"/>
          <p:cNvSpPr txBox="1"/>
          <p:nvPr/>
        </p:nvSpPr>
        <p:spPr>
          <a:xfrm>
            <a:off x="6373368" y="5029200"/>
            <a:ext cx="5266944" cy="310896"/>
          </a:xfrm>
          <a:prstGeom prst="rect">
            <a:avLst/>
          </a:prstGeom>
          <a:noFill/>
          <a:ln/>
        </p:spPr>
        <p:txBody>
          <a:bodyPr wrap="square" lIns="0" tIns="0" rIns="0" bIns="0" rtlCol="0" anchor="ctr"/>
          <a:lstStyle/>
          <a:p>
            <a:pPr indent="0" marL="0">
              <a:buNone/>
            </a:pPr>
            <a:r>
              <a:rPr lang="en-US" sz="1400" b="1" dirty="0">
                <a:solidFill>
                  <a:srgbClr val="16243A"/>
                </a:solidFill>
              </a:rPr>
              <a:t>One click to act</a:t>
            </a:r>
            <a:endParaRPr lang="en-US" sz="1400" dirty="0"/>
          </a:p>
        </p:txBody>
      </p:sp>
      <p:sp>
        <p:nvSpPr>
          <p:cNvPr id="27" name="Text 22"/>
          <p:cNvSpPr txBox="1"/>
          <p:nvPr/>
        </p:nvSpPr>
        <p:spPr>
          <a:xfrm>
            <a:off x="6373368" y="5349240"/>
            <a:ext cx="5266944" cy="566928"/>
          </a:xfrm>
          <a:prstGeom prst="rect">
            <a:avLst/>
          </a:prstGeom>
          <a:noFill/>
          <a:ln/>
        </p:spPr>
        <p:txBody>
          <a:bodyPr wrap="square" lIns="0" tIns="0" rIns="0" bIns="0" rtlCol="0" anchor="t"/>
          <a:lstStyle/>
          <a:p>
            <a:pPr indent="0" marL="0">
              <a:buNone/>
            </a:pPr>
            <a:r>
              <a:rPr lang="en-US" sz="1200" dirty="0">
                <a:solidFill>
                  <a:srgbClr val="131925"/>
                </a:solidFill>
              </a:rPr>
              <a:t>Open the change set in the AWS console, or the pipeline run where the GitHub approval waits.</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Further down: every change, its risk and the scan finding</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The same email, scrolled down · nothing exists yet</a:t>
            </a:r>
            <a:endParaRPr lang="en-US" sz="1400" dirty="0"/>
          </a:p>
        </p:txBody>
      </p:sp>
      <p:pic>
        <p:nvPicPr>
          <p:cNvPr id="5" name="Image 0" descr="Email screenshot (s1-changes)">    </p:cNvPr>
          <p:cNvPicPr>
            <a:picLocks noChangeAspect="1"/>
          </p:cNvPicPr>
          <p:nvPr/>
        </p:nvPicPr>
        <p:blipFill>
          <a:blip r:embed="rId1"/>
          <a:stretch>
            <a:fillRect/>
          </a:stretch>
        </p:blipFill>
        <p:spPr>
          <a:xfrm>
            <a:off x="868680" y="1463040"/>
            <a:ext cx="5486400" cy="3303965"/>
          </a:xfrm>
          <a:prstGeom prst="rect">
            <a:avLst/>
          </a:prstGeom>
        </p:spPr>
      </p:pic>
      <p:sp>
        <p:nvSpPr>
          <p:cNvPr id="6" name="Shape 2"/>
          <p:cNvSpPr/>
          <p:nvPr/>
        </p:nvSpPr>
        <p:spPr>
          <a:xfrm>
            <a:off x="868680" y="1463040"/>
            <a:ext cx="5486400" cy="3303965"/>
          </a:xfrm>
          <a:prstGeom prst="rect">
            <a:avLst/>
          </a:prstGeom>
          <a:solidFill>
            <a:srgbClr val="FFFFFF">
              <a:alpha val="0"/>
            </a:srgbClr>
          </a:solidFill>
          <a:ln w="9525">
            <a:solidFill>
              <a:srgbClr val="D5DBE5"/>
            </a:solidFill>
            <a:prstDash val="solid"/>
          </a:ln>
        </p:spPr>
      </p:sp>
      <p:sp>
        <p:nvSpPr>
          <p:cNvPr id="7" name="Callout 5"/>
          <p:cNvSpPr txBox="1"/>
          <p:nvPr/>
        </p:nvSpPr>
        <p:spPr>
          <a:xfrm>
            <a:off x="512064" y="2138281"/>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5</a:t>
            </a:r>
            <a:endParaRPr lang="en-US" sz="1050" dirty="0"/>
          </a:p>
        </p:txBody>
      </p:sp>
      <p:sp>
        <p:nvSpPr>
          <p:cNvPr id="8" name="Callout 6"/>
          <p:cNvSpPr txBox="1"/>
          <p:nvPr/>
        </p:nvSpPr>
        <p:spPr>
          <a:xfrm>
            <a:off x="512064" y="3161298"/>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6</a:t>
            </a:r>
            <a:endParaRPr lang="en-US" sz="1050" dirty="0"/>
          </a:p>
        </p:txBody>
      </p:sp>
      <p:sp>
        <p:nvSpPr>
          <p:cNvPr id="9" name="Callout 7"/>
          <p:cNvSpPr txBox="1"/>
          <p:nvPr/>
        </p:nvSpPr>
        <p:spPr>
          <a:xfrm>
            <a:off x="512064" y="3987289"/>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7</a:t>
            </a:r>
            <a:endParaRPr lang="en-US" sz="1050" dirty="0"/>
          </a:p>
        </p:txBody>
      </p:sp>
      <p:pic>
        <p:nvPicPr>
          <p:cNvPr id="10" name="Image 1" descr="Email screenshot (s1-new)">    </p:cNvPr>
          <p:cNvPicPr>
            <a:picLocks noChangeAspect="1"/>
          </p:cNvPicPr>
          <p:nvPr/>
        </p:nvPicPr>
        <p:blipFill>
          <a:blip r:embed="rId2"/>
          <a:stretch>
            <a:fillRect/>
          </a:stretch>
        </p:blipFill>
        <p:spPr>
          <a:xfrm>
            <a:off x="6537960" y="1463040"/>
            <a:ext cx="5102352" cy="2403180"/>
          </a:xfrm>
          <a:prstGeom prst="rect">
            <a:avLst/>
          </a:prstGeom>
        </p:spPr>
      </p:pic>
      <p:sp>
        <p:nvSpPr>
          <p:cNvPr id="11" name="Shape 6"/>
          <p:cNvSpPr/>
          <p:nvPr/>
        </p:nvSpPr>
        <p:spPr>
          <a:xfrm>
            <a:off x="6537960" y="1463040"/>
            <a:ext cx="5102352" cy="2403180"/>
          </a:xfrm>
          <a:prstGeom prst="rect">
            <a:avLst/>
          </a:prstGeom>
          <a:solidFill>
            <a:srgbClr val="FFFFFF">
              <a:alpha val="0"/>
            </a:srgbClr>
          </a:solidFill>
          <a:ln w="9525">
            <a:solidFill>
              <a:srgbClr val="D5DBE5"/>
            </a:solidFill>
            <a:prstDash val="solid"/>
          </a:ln>
        </p:spPr>
      </p:sp>
      <p:sp>
        <p:nvSpPr>
          <p:cNvPr id="12" name="SSH rule highlight"/>
          <p:cNvSpPr/>
          <p:nvPr/>
        </p:nvSpPr>
        <p:spPr>
          <a:xfrm>
            <a:off x="6848048" y="3210807"/>
            <a:ext cx="1451774" cy="521511"/>
          </a:xfrm>
          <a:prstGeom prst="rect">
            <a:avLst/>
          </a:prstGeom>
          <a:solidFill>
            <a:srgbClr val="F04438">
              <a:alpha val="28000"/>
            </a:srgbClr>
          </a:solidFill>
          <a:ln w="12700">
            <a:solidFill>
              <a:srgbClr val="F97066"/>
            </a:solidFill>
            <a:prstDash val="solid"/>
          </a:ln>
        </p:spPr>
      </p:sp>
      <p:sp>
        <p:nvSpPr>
          <p:cNvPr id="13" name="Callout 8"/>
          <p:cNvSpPr txBox="1"/>
          <p:nvPr/>
        </p:nvSpPr>
        <p:spPr>
          <a:xfrm>
            <a:off x="8326850" y="3343547"/>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8</a:t>
            </a:r>
            <a:endParaRPr lang="en-US" sz="1050" dirty="0"/>
          </a:p>
        </p:txBody>
      </p:sp>
      <p:sp>
        <p:nvSpPr>
          <p:cNvPr id="14" name="Callout 5"/>
          <p:cNvSpPr txBox="1"/>
          <p:nvPr/>
        </p:nvSpPr>
        <p:spPr>
          <a:xfrm>
            <a:off x="6547104" y="4087368"/>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5</a:t>
            </a:r>
            <a:endParaRPr lang="en-US" sz="1050" dirty="0"/>
          </a:p>
        </p:txBody>
      </p:sp>
      <p:sp>
        <p:nvSpPr>
          <p:cNvPr id="15" name="Text 10"/>
          <p:cNvSpPr txBox="1"/>
          <p:nvPr/>
        </p:nvSpPr>
        <p:spPr>
          <a:xfrm>
            <a:off x="6903720" y="4050792"/>
            <a:ext cx="4736592" cy="512064"/>
          </a:xfrm>
          <a:prstGeom prst="rect">
            <a:avLst/>
          </a:prstGeom>
          <a:noFill/>
          <a:ln/>
        </p:spPr>
        <p:txBody>
          <a:bodyPr wrap="square" lIns="0" tIns="0" rIns="0" bIns="0" rtlCol="0" anchor="t"/>
          <a:lstStyle/>
          <a:p>
            <a:pPr indent="0" marL="0">
              <a:buNone/>
            </a:pPr>
            <a:r>
              <a:rPr lang="en-US" sz="1200" b="1" dirty="0">
                <a:solidFill>
                  <a:srgbClr val="16243A"/>
                </a:solidFill>
              </a:rPr>
              <a:t>Every change, rated.  </a:t>
            </a:r>
            <a:pPr indent="0" marL="0">
              <a:buNone/>
            </a:pPr>
            <a:r>
              <a:rPr lang="en-US" sz="1200" dirty="0">
                <a:solidFill>
                  <a:srgbClr val="131925"/>
                </a:solidFill>
              </a:rPr>
              <a:t>Add, Modify or Remove for each resource, with LOW, MEDIUM or HIGH risk.</a:t>
            </a:r>
            <a:endParaRPr lang="en-US" sz="1200" dirty="0"/>
          </a:p>
        </p:txBody>
      </p:sp>
      <p:sp>
        <p:nvSpPr>
          <p:cNvPr id="16" name="Callout 6"/>
          <p:cNvSpPr txBox="1"/>
          <p:nvPr/>
        </p:nvSpPr>
        <p:spPr>
          <a:xfrm>
            <a:off x="6547104" y="4654296"/>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6</a:t>
            </a:r>
            <a:endParaRPr lang="en-US" sz="1050" dirty="0"/>
          </a:p>
        </p:txBody>
      </p:sp>
      <p:sp>
        <p:nvSpPr>
          <p:cNvPr id="17" name="Text 12"/>
          <p:cNvSpPr txBox="1"/>
          <p:nvPr/>
        </p:nvSpPr>
        <p:spPr>
          <a:xfrm>
            <a:off x="6903720" y="4617720"/>
            <a:ext cx="4736592" cy="512064"/>
          </a:xfrm>
          <a:prstGeom prst="rect">
            <a:avLst/>
          </a:prstGeom>
          <a:noFill/>
          <a:ln/>
        </p:spPr>
        <p:txBody>
          <a:bodyPr wrap="square" lIns="0" tIns="0" rIns="0" bIns="0" rtlCol="0" anchor="t"/>
          <a:lstStyle/>
          <a:p>
            <a:pPr indent="0" marL="0">
              <a:buNone/>
            </a:pPr>
            <a:r>
              <a:rPr lang="en-US" sz="1200" b="1" dirty="0">
                <a:solidFill>
                  <a:srgbClr val="16243A"/>
                </a:solidFill>
              </a:rPr>
              <a:t>Why the risk is MEDIUM.  </a:t>
            </a:r>
            <a:pPr indent="0" marL="0">
              <a:buNone/>
            </a:pPr>
            <a:r>
              <a:rPr lang="en-US" sz="1200" dirty="0">
                <a:solidFill>
                  <a:srgbClr val="131925"/>
                </a:solidFill>
              </a:rPr>
              <a:t>Security groups are network-sensitive.</a:t>
            </a:r>
            <a:endParaRPr lang="en-US" sz="1200" dirty="0"/>
          </a:p>
        </p:txBody>
      </p:sp>
      <p:sp>
        <p:nvSpPr>
          <p:cNvPr id="18" name="Callout 7"/>
          <p:cNvSpPr txBox="1"/>
          <p:nvPr/>
        </p:nvSpPr>
        <p:spPr>
          <a:xfrm>
            <a:off x="6547104" y="5221224"/>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7</a:t>
            </a:r>
            <a:endParaRPr lang="en-US" sz="1050" dirty="0"/>
          </a:p>
        </p:txBody>
      </p:sp>
      <p:sp>
        <p:nvSpPr>
          <p:cNvPr id="19" name="Text 14"/>
          <p:cNvSpPr txBox="1"/>
          <p:nvPr/>
        </p:nvSpPr>
        <p:spPr>
          <a:xfrm>
            <a:off x="6903720" y="5184648"/>
            <a:ext cx="4736592" cy="512064"/>
          </a:xfrm>
          <a:prstGeom prst="rect">
            <a:avLst/>
          </a:prstGeom>
          <a:noFill/>
          <a:ln/>
        </p:spPr>
        <p:txBody>
          <a:bodyPr wrap="square" lIns="0" tIns="0" rIns="0" bIns="0" rtlCol="0" anchor="t"/>
          <a:lstStyle/>
          <a:p>
            <a:pPr indent="0" marL="0">
              <a:buNone/>
            </a:pPr>
            <a:r>
              <a:rPr lang="en-US" sz="1200" b="1" dirty="0">
                <a:solidFill>
                  <a:srgbClr val="16243A"/>
                </a:solidFill>
              </a:rPr>
              <a:t>The scan finding, in plain words.  </a:t>
            </a:r>
            <a:pPr indent="0" marL="0">
              <a:buNone/>
            </a:pPr>
            <a:r>
              <a:rPr lang="en-US" sz="1200" dirty="0">
                <a:solidFill>
                  <a:srgbClr val="131925"/>
                </a:solidFill>
              </a:rPr>
              <a:t>CKV_AWS_24: SSH open to 0.0.0.0/0 on AppSecurityGroup.</a:t>
            </a:r>
            <a:endParaRPr lang="en-US" sz="1200" dirty="0"/>
          </a:p>
        </p:txBody>
      </p:sp>
      <p:sp>
        <p:nvSpPr>
          <p:cNvPr id="20" name="Callout 8"/>
          <p:cNvSpPr txBox="1"/>
          <p:nvPr/>
        </p:nvSpPr>
        <p:spPr>
          <a:xfrm>
            <a:off x="6547104" y="5788152"/>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8</a:t>
            </a:r>
            <a:endParaRPr lang="en-US" sz="1050" dirty="0"/>
          </a:p>
        </p:txBody>
      </p:sp>
      <p:sp>
        <p:nvSpPr>
          <p:cNvPr id="21" name="Text 16"/>
          <p:cNvSpPr txBox="1"/>
          <p:nvPr/>
        </p:nvSpPr>
        <p:spPr>
          <a:xfrm>
            <a:off x="6903720" y="5751576"/>
            <a:ext cx="4736592" cy="512064"/>
          </a:xfrm>
          <a:prstGeom prst="rect">
            <a:avLst/>
          </a:prstGeom>
          <a:noFill/>
          <a:ln/>
        </p:spPr>
        <p:txBody>
          <a:bodyPr wrap="square" lIns="0" tIns="0" rIns="0" bIns="0" rtlCol="0" anchor="t"/>
          <a:lstStyle/>
          <a:p>
            <a:pPr indent="0" marL="0">
              <a:buNone/>
            </a:pPr>
            <a:r>
              <a:rPr lang="en-US" sz="1200" b="1" dirty="0">
                <a:solidFill>
                  <a:srgbClr val="16243A"/>
                </a:solidFill>
              </a:rPr>
              <a:t>Exactly what will be created.  </a:t>
            </a:r>
            <a:pPr indent="0" marL="0">
              <a:buNone/>
            </a:pPr>
            <a:r>
              <a:rPr lang="en-US" sz="1200" dirty="0">
                <a:solidFill>
                  <a:srgbClr val="131925"/>
                </a:solidFill>
              </a:rPr>
              <a:t>Every property of each new resource, SSH rule included.</a:t>
            </a:r>
            <a:endParaRPr lang="en-US" sz="1200" dirty="0"/>
          </a:p>
        </p:txBody>
      </p:sp>
      <p:sp>
        <p:nvSpPr>
          <p:cNvPr id="22" name="Shape 17"/>
          <p:cNvSpPr/>
          <p:nvPr/>
        </p:nvSpPr>
        <p:spPr>
          <a:xfrm>
            <a:off x="868680" y="4956048"/>
            <a:ext cx="5486400" cy="1280160"/>
          </a:xfrm>
          <a:prstGeom prst="roundRect">
            <a:avLst>
              <a:gd name="adj" fmla="val 7143"/>
            </a:avLst>
          </a:prstGeom>
          <a:solidFill>
            <a:srgbClr val="F4FAF6"/>
          </a:solidFill>
          <a:ln w="6350">
            <a:solidFill>
              <a:srgbClr val="F4FAF6"/>
            </a:solidFill>
            <a:prstDash val="solid"/>
          </a:ln>
        </p:spPr>
      </p:sp>
      <p:sp>
        <p:nvSpPr>
          <p:cNvPr id="23" name="Shape 18"/>
          <p:cNvSpPr/>
          <p:nvPr/>
        </p:nvSpPr>
        <p:spPr>
          <a:xfrm>
            <a:off x="1014984" y="5394960"/>
            <a:ext cx="402336" cy="402336"/>
          </a:xfrm>
          <a:prstGeom prst="ellipse">
            <a:avLst/>
          </a:prstGeom>
          <a:solidFill>
            <a:srgbClr val="2E8946"/>
          </a:solidFill>
          <a:ln w="6350">
            <a:solidFill>
              <a:srgbClr val="2E8946"/>
            </a:solidFill>
            <a:prstDash val="solid"/>
          </a:ln>
        </p:spPr>
      </p:sp>
      <p:pic>
        <p:nvPicPr>
          <p:cNvPr id="24" name="Image 2" descr="Icon">    </p:cNvPr>
          <p:cNvPicPr>
            <a:picLocks noChangeAspect="1"/>
          </p:cNvPicPr>
          <p:nvPr/>
        </p:nvPicPr>
        <p:blipFill>
          <a:blip r:embed="rId3"/>
          <a:stretch>
            <a:fillRect/>
          </a:stretch>
        </p:blipFill>
        <p:spPr>
          <a:xfrm>
            <a:off x="1111545" y="5491521"/>
            <a:ext cx="209215" cy="209215"/>
          </a:xfrm>
          <a:prstGeom prst="rect">
            <a:avLst/>
          </a:prstGeom>
        </p:spPr>
      </p:pic>
      <p:sp>
        <p:nvSpPr>
          <p:cNvPr id="25" name="Text 19"/>
          <p:cNvSpPr txBox="1"/>
          <p:nvPr/>
        </p:nvSpPr>
        <p:spPr>
          <a:xfrm>
            <a:off x="1581912" y="4956048"/>
            <a:ext cx="4617720" cy="1280160"/>
          </a:xfrm>
          <a:prstGeom prst="rect">
            <a:avLst/>
          </a:prstGeom>
          <a:noFill/>
          <a:ln/>
        </p:spPr>
        <p:txBody>
          <a:bodyPr wrap="square" lIns="0" tIns="0" rIns="0" bIns="0" rtlCol="0" anchor="ctr"/>
          <a:lstStyle/>
          <a:p>
            <a:pPr indent="0" marL="0">
              <a:buNone/>
            </a:pPr>
            <a:r>
              <a:rPr lang="en-US" sz="1250" b="1" dirty="0">
                <a:solidFill>
                  <a:srgbClr val="165229"/>
                </a:solidFill>
              </a:rPr>
              <a:t>Approve or reject from here.  </a:t>
            </a:r>
            <a:pPr indent="0" marL="0">
              <a:buNone/>
            </a:pPr>
            <a:r>
              <a:rPr lang="en-US" sz="1250" dirty="0">
                <a:solidFill>
                  <a:srgbClr val="131925"/>
                </a:solidFill>
              </a:rPr>
              <a:t>The approver approves the GitHub gate in the run, or rejects it and deletes the change set; the email gives the CLI commands for both. Nothing exists until then.</a:t>
            </a:r>
            <a:endParaRPr lang="en-US" sz="12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After approval: every outcome lands in the inbox</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Run 3's result, a create that fails half-way, and the run after that failure</a:t>
            </a:r>
            <a:endParaRPr lang="en-US" sz="1400" dirty="0"/>
          </a:p>
        </p:txBody>
      </p:sp>
      <p:sp>
        <p:nvSpPr>
          <p:cNvPr id="5" name="Text 2"/>
          <p:cNvSpPr txBox="1"/>
          <p:nvPr/>
        </p:nvSpPr>
        <p:spPr>
          <a:xfrm>
            <a:off x="548640" y="1417320"/>
            <a:ext cx="3502152" cy="274320"/>
          </a:xfrm>
          <a:prstGeom prst="rect">
            <a:avLst/>
          </a:prstGeom>
          <a:noFill/>
          <a:ln/>
        </p:spPr>
        <p:txBody>
          <a:bodyPr wrap="square" lIns="0" tIns="0" rIns="0" bIns="0" rtlCol="0" anchor="ctr"/>
          <a:lstStyle/>
          <a:p>
            <a:pPr indent="0" marL="0">
              <a:buNone/>
            </a:pPr>
            <a:r>
              <a:rPr lang="en-US" sz="1400" b="1" dirty="0">
                <a:solidFill>
                  <a:srgbClr val="2E8946"/>
                </a:solidFill>
              </a:rPr>
              <a:t>Run 3 · deployed</a:t>
            </a:r>
            <a:endParaRPr lang="en-US" sz="1400" dirty="0"/>
          </a:p>
        </p:txBody>
      </p:sp>
      <p:sp>
        <p:nvSpPr>
          <p:cNvPr id="6" name="Shape 3"/>
          <p:cNvSpPr/>
          <p:nvPr/>
        </p:nvSpPr>
        <p:spPr>
          <a:xfrm>
            <a:off x="548640" y="1755648"/>
            <a:ext cx="3502152" cy="329184"/>
          </a:xfrm>
          <a:prstGeom prst="roundRect">
            <a:avLst>
              <a:gd name="adj" fmla="val 13889"/>
            </a:avLst>
          </a:prstGeom>
          <a:solidFill>
            <a:srgbClr val="F5F7FA"/>
          </a:solidFill>
          <a:ln w="9525">
            <a:solidFill>
              <a:srgbClr val="D5DBE5"/>
            </a:solidFill>
            <a:prstDash val="solid"/>
          </a:ln>
        </p:spPr>
      </p:sp>
      <p:sp>
        <p:nvSpPr>
          <p:cNvPr id="7" name="Text 4"/>
          <p:cNvSpPr txBox="1"/>
          <p:nvPr/>
        </p:nvSpPr>
        <p:spPr>
          <a:xfrm>
            <a:off x="640080" y="1755648"/>
            <a:ext cx="3319272" cy="329184"/>
          </a:xfrm>
          <a:prstGeom prst="rect">
            <a:avLst/>
          </a:prstGeom>
          <a:noFill/>
          <a:ln/>
        </p:spPr>
        <p:txBody>
          <a:bodyPr wrap="square" lIns="0" tIns="0" rIns="0" bIns="0" rtlCol="0" anchor="ctr"/>
          <a:lstStyle/>
          <a:p>
            <a:pPr indent="0" marL="0">
              <a:buNone/>
            </a:pPr>
            <a:r>
              <a:rPr lang="en-US" sz="900" b="1" dirty="0">
                <a:solidFill>
                  <a:srgbClr val="131925"/>
                </a:solidFill>
              </a:rPr>
              <a:t>[DEPLOYED][PRD] app-web — CREATE_COMPLETE</a:t>
            </a:r>
            <a:endParaRPr lang="en-US" sz="900" dirty="0"/>
          </a:p>
        </p:txBody>
      </p:sp>
      <p:pic>
        <p:nvPicPr>
          <p:cNvPr id="8" name="Image 0" descr="Email screenshot (res-deployed-top)">    </p:cNvPr>
          <p:cNvPicPr>
            <a:picLocks noChangeAspect="1"/>
          </p:cNvPicPr>
          <p:nvPr/>
        </p:nvPicPr>
        <p:blipFill>
          <a:blip r:embed="rId1"/>
          <a:stretch>
            <a:fillRect/>
          </a:stretch>
        </p:blipFill>
        <p:spPr>
          <a:xfrm>
            <a:off x="548640" y="2157984"/>
            <a:ext cx="3502152" cy="917011"/>
          </a:xfrm>
          <a:prstGeom prst="rect">
            <a:avLst/>
          </a:prstGeom>
        </p:spPr>
      </p:pic>
      <p:sp>
        <p:nvSpPr>
          <p:cNvPr id="9" name="Shape 5"/>
          <p:cNvSpPr/>
          <p:nvPr/>
        </p:nvSpPr>
        <p:spPr>
          <a:xfrm>
            <a:off x="548640" y="2157984"/>
            <a:ext cx="3502152" cy="917011"/>
          </a:xfrm>
          <a:prstGeom prst="rect">
            <a:avLst/>
          </a:prstGeom>
          <a:solidFill>
            <a:srgbClr val="FFFFFF">
              <a:alpha val="0"/>
            </a:srgbClr>
          </a:solidFill>
          <a:ln w="9525">
            <a:solidFill>
              <a:srgbClr val="D5DBE5"/>
            </a:solidFill>
            <a:prstDash val="solid"/>
          </a:ln>
        </p:spPr>
      </p:sp>
      <p:pic>
        <p:nvPicPr>
          <p:cNvPr id="10" name="Image 1" descr="Email screenshot (res-deployed-key)">    </p:cNvPr>
          <p:cNvPicPr>
            <a:picLocks noChangeAspect="1"/>
          </p:cNvPicPr>
          <p:nvPr/>
        </p:nvPicPr>
        <p:blipFill>
          <a:blip r:embed="rId2"/>
          <a:stretch>
            <a:fillRect/>
          </a:stretch>
        </p:blipFill>
        <p:spPr>
          <a:xfrm>
            <a:off x="548640" y="3129859"/>
            <a:ext cx="3502152" cy="824849"/>
          </a:xfrm>
          <a:prstGeom prst="rect">
            <a:avLst/>
          </a:prstGeom>
        </p:spPr>
      </p:pic>
      <p:sp>
        <p:nvSpPr>
          <p:cNvPr id="11" name="Shape 6"/>
          <p:cNvSpPr/>
          <p:nvPr/>
        </p:nvSpPr>
        <p:spPr>
          <a:xfrm>
            <a:off x="548640" y="3129859"/>
            <a:ext cx="3502152" cy="824849"/>
          </a:xfrm>
          <a:prstGeom prst="rect">
            <a:avLst/>
          </a:prstGeom>
          <a:solidFill>
            <a:srgbClr val="FFFFFF">
              <a:alpha val="0"/>
            </a:srgbClr>
          </a:solidFill>
          <a:ln w="9525">
            <a:solidFill>
              <a:srgbClr val="D5DBE5"/>
            </a:solidFill>
            <a:prstDash val="solid"/>
          </a:ln>
        </p:spPr>
      </p:sp>
      <p:sp>
        <p:nvSpPr>
          <p:cNvPr id="12" name="Text 7"/>
          <p:cNvSpPr txBox="1"/>
          <p:nvPr/>
        </p:nvSpPr>
        <p:spPr>
          <a:xfrm>
            <a:off x="4343400" y="1417320"/>
            <a:ext cx="3502152" cy="274320"/>
          </a:xfrm>
          <a:prstGeom prst="rect">
            <a:avLst/>
          </a:prstGeom>
          <a:noFill/>
          <a:ln/>
        </p:spPr>
        <p:txBody>
          <a:bodyPr wrap="square" lIns="0" tIns="0" rIns="0" bIns="0" rtlCol="0" anchor="ctr"/>
          <a:lstStyle/>
          <a:p>
            <a:pPr indent="0" marL="0">
              <a:buNone/>
            </a:pPr>
            <a:r>
              <a:rPr lang="en-US" sz="1400" b="1" dirty="0">
                <a:solidFill>
                  <a:srgbClr val="C93A32"/>
                </a:solidFill>
              </a:rPr>
              <a:t>If the create fails half-way</a:t>
            </a:r>
            <a:endParaRPr lang="en-US" sz="1400" dirty="0"/>
          </a:p>
        </p:txBody>
      </p:sp>
      <p:sp>
        <p:nvSpPr>
          <p:cNvPr id="13" name="Shape 8"/>
          <p:cNvSpPr/>
          <p:nvPr/>
        </p:nvSpPr>
        <p:spPr>
          <a:xfrm>
            <a:off x="4343400" y="1755648"/>
            <a:ext cx="3502152" cy="329184"/>
          </a:xfrm>
          <a:prstGeom prst="roundRect">
            <a:avLst>
              <a:gd name="adj" fmla="val 13889"/>
            </a:avLst>
          </a:prstGeom>
          <a:solidFill>
            <a:srgbClr val="F5F7FA"/>
          </a:solidFill>
          <a:ln w="9525">
            <a:solidFill>
              <a:srgbClr val="D5DBE5"/>
            </a:solidFill>
            <a:prstDash val="solid"/>
          </a:ln>
        </p:spPr>
      </p:sp>
      <p:sp>
        <p:nvSpPr>
          <p:cNvPr id="14" name="Text 9"/>
          <p:cNvSpPr txBox="1"/>
          <p:nvPr/>
        </p:nvSpPr>
        <p:spPr>
          <a:xfrm>
            <a:off x="4434840" y="1755648"/>
            <a:ext cx="3319272" cy="329184"/>
          </a:xfrm>
          <a:prstGeom prst="rect">
            <a:avLst/>
          </a:prstGeom>
          <a:noFill/>
          <a:ln/>
        </p:spPr>
        <p:txBody>
          <a:bodyPr wrap="square" lIns="0" tIns="0" rIns="0" bIns="0" rtlCol="0" anchor="ctr"/>
          <a:lstStyle/>
          <a:p>
            <a:pPr indent="0" marL="0">
              <a:buNone/>
            </a:pPr>
            <a:r>
              <a:rPr lang="en-US" sz="900" b="1" dirty="0">
                <a:solidFill>
                  <a:srgbClr val="131925"/>
                </a:solidFill>
              </a:rPr>
              <a:t>[DEPLOY FAILED][PRD] app-web — ROLLBACK_COMPLETE</a:t>
            </a:r>
            <a:endParaRPr lang="en-US" sz="900" dirty="0"/>
          </a:p>
        </p:txBody>
      </p:sp>
      <p:pic>
        <p:nvPicPr>
          <p:cNvPr id="15" name="Image 2" descr="Email screenshot (res-failed-top)">    </p:cNvPr>
          <p:cNvPicPr>
            <a:picLocks noChangeAspect="1"/>
          </p:cNvPicPr>
          <p:nvPr/>
        </p:nvPicPr>
        <p:blipFill>
          <a:blip r:embed="rId3"/>
          <a:stretch>
            <a:fillRect/>
          </a:stretch>
        </p:blipFill>
        <p:spPr>
          <a:xfrm>
            <a:off x="4343400" y="2157984"/>
            <a:ext cx="3502152" cy="1018389"/>
          </a:xfrm>
          <a:prstGeom prst="rect">
            <a:avLst/>
          </a:prstGeom>
        </p:spPr>
      </p:pic>
      <p:sp>
        <p:nvSpPr>
          <p:cNvPr id="16" name="Shape 10"/>
          <p:cNvSpPr/>
          <p:nvPr/>
        </p:nvSpPr>
        <p:spPr>
          <a:xfrm>
            <a:off x="4343400" y="2157984"/>
            <a:ext cx="3502152" cy="1018389"/>
          </a:xfrm>
          <a:prstGeom prst="rect">
            <a:avLst/>
          </a:prstGeom>
          <a:solidFill>
            <a:srgbClr val="FFFFFF">
              <a:alpha val="0"/>
            </a:srgbClr>
          </a:solidFill>
          <a:ln w="9525">
            <a:solidFill>
              <a:srgbClr val="D5DBE5"/>
            </a:solidFill>
            <a:prstDash val="solid"/>
          </a:ln>
        </p:spPr>
      </p:sp>
      <p:pic>
        <p:nvPicPr>
          <p:cNvPr id="17" name="Image 3" descr="Email screenshot (res-failed-key)">    </p:cNvPr>
          <p:cNvPicPr>
            <a:picLocks noChangeAspect="1"/>
          </p:cNvPicPr>
          <p:nvPr/>
        </p:nvPicPr>
        <p:blipFill>
          <a:blip r:embed="rId4"/>
          <a:stretch>
            <a:fillRect/>
          </a:stretch>
        </p:blipFill>
        <p:spPr>
          <a:xfrm>
            <a:off x="4343400" y="3231237"/>
            <a:ext cx="3502152" cy="668174"/>
          </a:xfrm>
          <a:prstGeom prst="rect">
            <a:avLst/>
          </a:prstGeom>
        </p:spPr>
      </p:pic>
      <p:sp>
        <p:nvSpPr>
          <p:cNvPr id="18" name="Shape 11"/>
          <p:cNvSpPr/>
          <p:nvPr/>
        </p:nvSpPr>
        <p:spPr>
          <a:xfrm>
            <a:off x="4343400" y="3231237"/>
            <a:ext cx="3502152" cy="668174"/>
          </a:xfrm>
          <a:prstGeom prst="rect">
            <a:avLst/>
          </a:prstGeom>
          <a:solidFill>
            <a:srgbClr val="FFFFFF">
              <a:alpha val="0"/>
            </a:srgbClr>
          </a:solidFill>
          <a:ln w="9525">
            <a:solidFill>
              <a:srgbClr val="D5DBE5"/>
            </a:solidFill>
            <a:prstDash val="solid"/>
          </a:ln>
        </p:spPr>
      </p:sp>
      <p:sp>
        <p:nvSpPr>
          <p:cNvPr id="19" name="Text 12"/>
          <p:cNvSpPr txBox="1"/>
          <p:nvPr/>
        </p:nvSpPr>
        <p:spPr>
          <a:xfrm>
            <a:off x="8138160" y="1417320"/>
            <a:ext cx="3502152" cy="274320"/>
          </a:xfrm>
          <a:prstGeom prst="rect">
            <a:avLst/>
          </a:prstGeom>
          <a:noFill/>
          <a:ln/>
        </p:spPr>
        <p:txBody>
          <a:bodyPr wrap="square" lIns="0" tIns="0" rIns="0" bIns="0" rtlCol="0" anchor="ctr"/>
          <a:lstStyle/>
          <a:p>
            <a:pPr indent="0" marL="0">
              <a:buNone/>
            </a:pPr>
            <a:r>
              <a:rPr lang="en-US" sz="1400" b="1" dirty="0">
                <a:solidFill>
                  <a:srgbClr val="C93A32"/>
                </a:solidFill>
              </a:rPr>
              <a:t>The next run</a:t>
            </a:r>
            <a:endParaRPr lang="en-US" sz="1400" dirty="0"/>
          </a:p>
        </p:txBody>
      </p:sp>
      <p:sp>
        <p:nvSpPr>
          <p:cNvPr id="20" name="Shape 13"/>
          <p:cNvSpPr/>
          <p:nvPr/>
        </p:nvSpPr>
        <p:spPr>
          <a:xfrm>
            <a:off x="8138160" y="1755648"/>
            <a:ext cx="3502152" cy="329184"/>
          </a:xfrm>
          <a:prstGeom prst="roundRect">
            <a:avLst>
              <a:gd name="adj" fmla="val 13889"/>
            </a:avLst>
          </a:prstGeom>
          <a:solidFill>
            <a:srgbClr val="F5F7FA"/>
          </a:solidFill>
          <a:ln w="9525">
            <a:solidFill>
              <a:srgbClr val="D5DBE5"/>
            </a:solidFill>
            <a:prstDash val="solid"/>
          </a:ln>
        </p:spPr>
      </p:sp>
      <p:sp>
        <p:nvSpPr>
          <p:cNvPr id="21" name="Text 14"/>
          <p:cNvSpPr txBox="1"/>
          <p:nvPr/>
        </p:nvSpPr>
        <p:spPr>
          <a:xfrm>
            <a:off x="8229600" y="1755648"/>
            <a:ext cx="3319272" cy="329184"/>
          </a:xfrm>
          <a:prstGeom prst="rect">
            <a:avLst/>
          </a:prstGeom>
          <a:noFill/>
          <a:ln/>
        </p:spPr>
        <p:txBody>
          <a:bodyPr wrap="square" lIns="0" tIns="0" rIns="0" bIns="0" rtlCol="0" anchor="ctr"/>
          <a:lstStyle/>
          <a:p>
            <a:pPr indent="0" marL="0">
              <a:buNone/>
            </a:pPr>
            <a:r>
              <a:rPr lang="en-US" sz="900" b="1" dirty="0">
                <a:solidFill>
                  <a:srgbClr val="131925"/>
                </a:solidFill>
              </a:rPr>
              <a:t>[BLOCKED][PRD] app-web — stack is ROLLBACK_COMPLETE</a:t>
            </a:r>
            <a:endParaRPr lang="en-US" sz="900" dirty="0"/>
          </a:p>
        </p:txBody>
      </p:sp>
      <p:pic>
        <p:nvPicPr>
          <p:cNvPr id="22" name="Image 4" descr="Email screenshot (res-blocked-top)">    </p:cNvPr>
          <p:cNvPicPr>
            <a:picLocks noChangeAspect="1"/>
          </p:cNvPicPr>
          <p:nvPr/>
        </p:nvPicPr>
        <p:blipFill>
          <a:blip r:embed="rId5"/>
          <a:stretch>
            <a:fillRect/>
          </a:stretch>
        </p:blipFill>
        <p:spPr>
          <a:xfrm>
            <a:off x="8138160" y="2157984"/>
            <a:ext cx="3502152" cy="1465374"/>
          </a:xfrm>
          <a:prstGeom prst="rect">
            <a:avLst/>
          </a:prstGeom>
        </p:spPr>
      </p:pic>
      <p:sp>
        <p:nvSpPr>
          <p:cNvPr id="23" name="Shape 15"/>
          <p:cNvSpPr/>
          <p:nvPr/>
        </p:nvSpPr>
        <p:spPr>
          <a:xfrm>
            <a:off x="8138160" y="2157984"/>
            <a:ext cx="3502152" cy="1465374"/>
          </a:xfrm>
          <a:prstGeom prst="rect">
            <a:avLst/>
          </a:prstGeom>
          <a:solidFill>
            <a:srgbClr val="FFFFFF">
              <a:alpha val="0"/>
            </a:srgbClr>
          </a:solidFill>
          <a:ln w="9525">
            <a:solidFill>
              <a:srgbClr val="D5DBE5"/>
            </a:solidFill>
            <a:prstDash val="solid"/>
          </a:ln>
        </p:spPr>
      </p:sp>
      <p:sp>
        <p:nvSpPr>
          <p:cNvPr id="24" name="Text 16"/>
          <p:cNvSpPr txBox="1"/>
          <p:nvPr/>
        </p:nvSpPr>
        <p:spPr>
          <a:xfrm>
            <a:off x="548640" y="4101012"/>
            <a:ext cx="3502152" cy="731520"/>
          </a:xfrm>
          <a:prstGeom prst="rect">
            <a:avLst/>
          </a:prstGeom>
          <a:noFill/>
          <a:ln/>
        </p:spPr>
        <p:txBody>
          <a:bodyPr wrap="square" lIns="0" tIns="0" rIns="0" bIns="0" rtlCol="0" anchor="t"/>
          <a:lstStyle/>
          <a:p>
            <a:pPr indent="0" marL="0">
              <a:buNone/>
            </a:pPr>
            <a:r>
              <a:rPr lang="en-US" sz="1250" dirty="0">
                <a:solidFill>
                  <a:srgbClr val="131925"/>
                </a:solidFill>
              </a:rPr>
              <a:t>Who approved it, how long it took, and the stack outputs: instance ID, private IP and security group.</a:t>
            </a:r>
            <a:endParaRPr lang="en-US" sz="1250" dirty="0"/>
          </a:p>
        </p:txBody>
      </p:sp>
      <p:sp>
        <p:nvSpPr>
          <p:cNvPr id="25" name="Text 17"/>
          <p:cNvSpPr txBox="1"/>
          <p:nvPr/>
        </p:nvSpPr>
        <p:spPr>
          <a:xfrm>
            <a:off x="4343400" y="4101012"/>
            <a:ext cx="3502152" cy="731520"/>
          </a:xfrm>
          <a:prstGeom prst="rect">
            <a:avLst/>
          </a:prstGeom>
          <a:noFill/>
          <a:ln/>
        </p:spPr>
        <p:txBody>
          <a:bodyPr wrap="square" lIns="0" tIns="0" rIns="0" bIns="0" rtlCol="0" anchor="t"/>
          <a:lstStyle/>
          <a:p>
            <a:pPr indent="0" marL="0">
              <a:buNone/>
            </a:pPr>
            <a:r>
              <a:rPr lang="en-US" sz="1250" dirty="0">
                <a:solidFill>
                  <a:srgbClr val="131925"/>
                </a:solidFill>
              </a:rPr>
              <a:t>CloudFormation's reason for the failed resource, at the top of the email, instead of a generic CLI error.</a:t>
            </a:r>
            <a:endParaRPr lang="en-US" sz="1250" dirty="0"/>
          </a:p>
        </p:txBody>
      </p:sp>
      <p:sp>
        <p:nvSpPr>
          <p:cNvPr id="26" name="Text 18"/>
          <p:cNvSpPr txBox="1"/>
          <p:nvPr/>
        </p:nvSpPr>
        <p:spPr>
          <a:xfrm>
            <a:off x="8138160" y="4101012"/>
            <a:ext cx="3502152" cy="731520"/>
          </a:xfrm>
          <a:prstGeom prst="rect">
            <a:avLst/>
          </a:prstGeom>
          <a:noFill/>
          <a:ln/>
        </p:spPr>
        <p:txBody>
          <a:bodyPr wrap="square" lIns="0" tIns="0" rIns="0" bIns="0" rtlCol="0" anchor="t"/>
          <a:lstStyle/>
          <a:p>
            <a:pPr indent="0" marL="0">
              <a:buNone/>
            </a:pPr>
            <a:r>
              <a:rPr lang="en-US" sz="1250" dirty="0">
                <a:solidFill>
                  <a:srgbClr val="131925"/>
                </a:solidFill>
              </a:rPr>
              <a:t>The run stops before touching AWS and gives the exact command to clear the failed stack.</a:t>
            </a:r>
            <a:endParaRPr lang="en-US" sz="1250" dirty="0"/>
          </a:p>
        </p:txBody>
      </p:sp>
      <p:sp>
        <p:nvSpPr>
          <p:cNvPr id="27" name="Shape 19"/>
          <p:cNvSpPr/>
          <p:nvPr/>
        </p:nvSpPr>
        <p:spPr>
          <a:xfrm>
            <a:off x="548640" y="4969692"/>
            <a:ext cx="11091672" cy="658368"/>
          </a:xfrm>
          <a:prstGeom prst="roundRect">
            <a:avLst>
              <a:gd name="adj" fmla="val 13889"/>
            </a:avLst>
          </a:prstGeom>
          <a:solidFill>
            <a:srgbClr val="FDF4F3"/>
          </a:solidFill>
          <a:ln w="6350">
            <a:solidFill>
              <a:srgbClr val="FDF4F3"/>
            </a:solidFill>
            <a:prstDash val="solid"/>
          </a:ln>
        </p:spPr>
      </p:sp>
      <p:sp>
        <p:nvSpPr>
          <p:cNvPr id="28" name="Shape 20"/>
          <p:cNvSpPr/>
          <p:nvPr/>
        </p:nvSpPr>
        <p:spPr>
          <a:xfrm>
            <a:off x="694944" y="5097708"/>
            <a:ext cx="402336" cy="402336"/>
          </a:xfrm>
          <a:prstGeom prst="ellipse">
            <a:avLst/>
          </a:prstGeom>
          <a:solidFill>
            <a:srgbClr val="C93A32"/>
          </a:solidFill>
          <a:ln w="6350">
            <a:solidFill>
              <a:srgbClr val="C93A32"/>
            </a:solidFill>
            <a:prstDash val="solid"/>
          </a:ln>
        </p:spPr>
      </p:sp>
      <p:pic>
        <p:nvPicPr>
          <p:cNvPr id="29" name="Image 5" descr="Icon">    </p:cNvPr>
          <p:cNvPicPr>
            <a:picLocks noChangeAspect="1"/>
          </p:cNvPicPr>
          <p:nvPr/>
        </p:nvPicPr>
        <p:blipFill>
          <a:blip r:embed="rId6"/>
          <a:stretch>
            <a:fillRect/>
          </a:stretch>
        </p:blipFill>
        <p:spPr>
          <a:xfrm>
            <a:off x="791505" y="5194268"/>
            <a:ext cx="209215" cy="209215"/>
          </a:xfrm>
          <a:prstGeom prst="rect">
            <a:avLst/>
          </a:prstGeom>
        </p:spPr>
      </p:pic>
      <p:sp>
        <p:nvSpPr>
          <p:cNvPr id="30" name="Text 21"/>
          <p:cNvSpPr txBox="1"/>
          <p:nvPr/>
        </p:nvSpPr>
        <p:spPr>
          <a:xfrm>
            <a:off x="1261872" y="4969692"/>
            <a:ext cx="10222992" cy="658368"/>
          </a:xfrm>
          <a:prstGeom prst="rect">
            <a:avLst/>
          </a:prstGeom>
          <a:noFill/>
          <a:ln/>
        </p:spPr>
        <p:txBody>
          <a:bodyPr wrap="square" lIns="0" tIns="0" rIns="0" bIns="0" rtlCol="0" anchor="ctr"/>
          <a:lstStyle/>
          <a:p>
            <a:pPr indent="0" marL="0">
              <a:buNone/>
            </a:pPr>
            <a:r>
              <a:rPr lang="en-US" sz="1250" b="1" dirty="0">
                <a:solidFill>
                  <a:srgbClr val="7D1C16"/>
                </a:solidFill>
              </a:rPr>
              <a:t>Today, for the same failure:  </a:t>
            </a:r>
            <a:pPr indent="0" marL="0">
              <a:buNone/>
            </a:pPr>
            <a:r>
              <a:rPr lang="en-US" sz="1250" dirty="0">
                <a:solidFill>
                  <a:srgbClr val="131925"/>
                </a:solidFill>
              </a:rPr>
              <a:t>a generic CLI error in the job log, and every re-run fails until someone deletes the stack in the console.</a:t>
            </a:r>
            <a:endParaRPr lang="en-US" sz="12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Deploying an instance: side by side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Same template, same mistakes</a:t>
            </a:r>
            <a:endParaRPr lang="en-US" sz="1400" dirty="0"/>
          </a:p>
        </p:txBody>
      </p:sp>
      <p:sp>
        <p:nvSpPr>
          <p:cNvPr id="5" name="Text 2"/>
          <p:cNvSpPr txBox="1"/>
          <p:nvPr/>
        </p:nvSpPr>
        <p:spPr>
          <a:xfrm>
            <a:off x="548640" y="1371600"/>
            <a:ext cx="1828800" cy="237744"/>
          </a:xfrm>
          <a:prstGeom prst="rect">
            <a:avLst/>
          </a:prstGeom>
          <a:noFill/>
          <a:ln/>
        </p:spPr>
        <p:txBody>
          <a:bodyPr wrap="square" lIns="0" tIns="0" rIns="0" bIns="0" rtlCol="0" anchor="ctr"/>
          <a:lstStyle/>
          <a:p>
            <a:pPr indent="0" marL="0">
              <a:buNone/>
            </a:pPr>
            <a:r>
              <a:rPr lang="en-US" sz="1150" dirty="0">
                <a:solidFill>
                  <a:srgbClr val="2E8946"/>
                </a:solidFill>
              </a:rPr>
              <a:t>●  </a:t>
            </a:r>
            <a:pPr indent="0" marL="0">
              <a:buNone/>
            </a:pPr>
            <a:r>
              <a:rPr lang="en-US" sz="1150" dirty="0">
                <a:solidFill>
                  <a:srgbClr val="586275"/>
                </a:solidFill>
              </a:rPr>
              <a:t>Handled well</a:t>
            </a:r>
            <a:endParaRPr lang="en-US" sz="1150" dirty="0"/>
          </a:p>
        </p:txBody>
      </p:sp>
      <p:sp>
        <p:nvSpPr>
          <p:cNvPr id="6" name="Text 3"/>
          <p:cNvSpPr txBox="1"/>
          <p:nvPr/>
        </p:nvSpPr>
        <p:spPr>
          <a:xfrm>
            <a:off x="2468880" y="1371600"/>
            <a:ext cx="1828800" cy="237744"/>
          </a:xfrm>
          <a:prstGeom prst="rect">
            <a:avLst/>
          </a:prstGeom>
          <a:noFill/>
          <a:ln/>
        </p:spPr>
        <p:txBody>
          <a:bodyPr wrap="square" lIns="0" tIns="0" rIns="0" bIns="0" rtlCol="0" anchor="ctr"/>
          <a:lstStyle/>
          <a:p>
            <a:pPr indent="0" marL="0">
              <a:buNone/>
            </a:pPr>
            <a:r>
              <a:rPr lang="en-US" sz="1150" dirty="0">
                <a:solidFill>
                  <a:srgbClr val="BF8418"/>
                </a:solidFill>
              </a:rPr>
              <a:t>●  </a:t>
            </a:r>
            <a:pPr indent="0" marL="0">
              <a:buNone/>
            </a:pPr>
            <a:r>
              <a:rPr lang="en-US" sz="1150" dirty="0">
                <a:solidFill>
                  <a:srgbClr val="586275"/>
                </a:solidFill>
              </a:rPr>
              <a:t>Partly handled</a:t>
            </a:r>
            <a:endParaRPr lang="en-US" sz="1150" dirty="0"/>
          </a:p>
        </p:txBody>
      </p:sp>
      <p:sp>
        <p:nvSpPr>
          <p:cNvPr id="7" name="Text 4"/>
          <p:cNvSpPr txBox="1"/>
          <p:nvPr/>
        </p:nvSpPr>
        <p:spPr>
          <a:xfrm>
            <a:off x="4389120" y="1371600"/>
            <a:ext cx="1828800" cy="237744"/>
          </a:xfrm>
          <a:prstGeom prst="rect">
            <a:avLst/>
          </a:prstGeom>
          <a:noFill/>
          <a:ln/>
        </p:spPr>
        <p:txBody>
          <a:bodyPr wrap="square" lIns="0" tIns="0" rIns="0" bIns="0" rtlCol="0" anchor="ctr"/>
          <a:lstStyle/>
          <a:p>
            <a:pPr indent="0" marL="0">
              <a:buNone/>
            </a:pPr>
            <a:r>
              <a:rPr lang="en-US" sz="1150" dirty="0">
                <a:solidFill>
                  <a:srgbClr val="C93A32"/>
                </a:solidFill>
              </a:rPr>
              <a:t>●  </a:t>
            </a:r>
            <a:pPr indent="0" marL="0">
              <a:buNone/>
            </a:pPr>
            <a:r>
              <a:rPr lang="en-US" sz="1150" dirty="0">
                <a:solidFill>
                  <a:srgbClr val="586275"/>
                </a:solidFill>
              </a:rPr>
              <a:t>Not handled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743200"/>
                <a:gridCol w="4114800"/>
                <a:gridCol w="4233672"/>
              </a:tblGrid>
              <a:tr h="0">
                <a:tc>
                  <a:txBody>
                    <a:bodyPr/>
                    <a:lstStyle/>
                    <a:p>
                      <a:pPr indent="0" marL="0">
                        <a:buNone/>
                      </a:pPr>
                      <a:r>
                        <a:rPr lang="en-US" sz="1100" b="1" dirty="0">
                          <a:solidFill>
                            <a:srgbClr val="586275"/>
                          </a:solidFill>
                        </a:rPr>
                        <a:t>Situation</a:t>
                      </a:r>
                      <a:endParaRPr lang="en-US" sz="11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Current workflow</a:t>
                      </a:r>
                      <a:endParaRPr lang="en-US" sz="11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Proposed pipeline</a:t>
                      </a:r>
                      <a:endParaRPr lang="en-US" sz="11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50" b="1" dirty="0">
                          <a:solidFill>
                            <a:srgbClr val="131925"/>
                          </a:solidFill>
                        </a:rPr>
                        <a:t>Typo in params.json</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CloudFormation rejects it at once; nothing is created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Preflight stops it before AWS is called; nothing is created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SSH open to 0.0.0.0/0</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Goes live; nobody is told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Flagged by the security scan and shown to the approver</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What gets created</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Whatever the template says, at once</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A rated CREATE change set, executed only after approval</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Create fails half-way</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Generic CLI error; every re-run fails until someone deletes the stack by hand</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Failed resource and reason emailed; the next run says how to recover</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Record afterwards</a:t>
                      </a:r>
                      <a:endParaRPr lang="en-US" sz="135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BF8418"/>
                          </a:solidFill>
                        </a:rPr>
                        <a:t>●  </a:t>
                      </a:r>
                      <a:pPr indent="0" marL="0">
                        <a:buNone/>
                      </a:pPr>
                      <a:r>
                        <a:rPr lang="en-US" sz="1350" dirty="0">
                          <a:solidFill>
                            <a:srgbClr val="131925"/>
                          </a:solidFill>
                        </a:rPr>
                        <a:t>Outputs in the job log</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Approval email; result and outputs emailed through the GitHub gate</a:t>
                      </a:r>
                      <a:endParaRPr lang="en-US" sz="1200" dirty="0"/>
                    </a:p>
                  </a:txBody>
                  <a:tcPr marL="127000" marR="127000" marT="152400" marB="1524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02</a:t>
            </a: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lIns="0" tIns="0" rIns="0" bIns="0" rtlCol="0" anchor="t"/>
          <a:lstStyle/>
          <a:p>
            <a:pPr algn="l" indent="0" marL="0">
              <a:buNone/>
            </a:pPr>
            <a:r>
              <a:rPr lang="en-US" sz="4000" b="1" dirty="0">
                <a:solidFill>
                  <a:schemeClr val="bg1"/>
                </a:solidFill>
              </a:rPr>
              <a:t>An instance has drifted</a:t>
            </a: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lIns="0" tIns="0" rIns="0" bIns="0" rtlCol="0" anchor="t"/>
          <a:lstStyle/>
          <a:p>
            <a:pPr indent="0" marL="0">
              <a:buNone/>
            </a:pPr>
            <a:r>
              <a:rPr lang="en-US" sz="1800" dirty="0">
                <a:solidFill>
                  <a:srgbClr val="C9D3E3"/>
                </a:solidFill>
              </a:rPr>
              <a:t>Console changes made during an incident, then a routine tag change through the pipeline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example: console changes during an incident</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Day 10's change only adds a tag; the question is what happens to the console changes</a:t>
            </a:r>
            <a:endParaRPr lang="en-US" sz="1400" dirty="0"/>
          </a:p>
        </p:txBody>
      </p:sp>
      <p:sp>
        <p:nvSpPr>
          <p:cNvPr id="5" name="Shape 2"/>
          <p:cNvSpPr/>
          <p:nvPr/>
        </p:nvSpPr>
        <p:spPr>
          <a:xfrm>
            <a:off x="1097280" y="2331720"/>
            <a:ext cx="9966960" cy="0"/>
          </a:xfrm>
          <a:prstGeom prst="line">
            <a:avLst/>
          </a:prstGeom>
          <a:noFill/>
          <a:ln w="25400">
            <a:solidFill>
              <a:srgbClr val="A9B3C3"/>
            </a:solidFill>
            <a:prstDash val="solid"/>
          </a:ln>
        </p:spPr>
      </p:sp>
      <p:sp>
        <p:nvSpPr>
          <p:cNvPr id="6" name="Shape 3"/>
          <p:cNvSpPr/>
          <p:nvPr/>
        </p:nvSpPr>
        <p:spPr>
          <a:xfrm>
            <a:off x="2084832" y="2176272"/>
            <a:ext cx="310896" cy="310896"/>
          </a:xfrm>
          <a:prstGeom prst="ellipse">
            <a:avLst/>
          </a:prstGeom>
          <a:solidFill>
            <a:srgbClr val="2E8946"/>
          </a:solidFill>
          <a:ln w="25400">
            <a:solidFill>
              <a:srgbClr val="FFFFFF"/>
            </a:solidFill>
            <a:prstDash val="solid"/>
          </a:ln>
        </p:spPr>
      </p:sp>
      <p:sp>
        <p:nvSpPr>
          <p:cNvPr id="7" name="Text 4"/>
          <p:cNvSpPr txBox="1"/>
          <p:nvPr/>
        </p:nvSpPr>
        <p:spPr>
          <a:xfrm>
            <a:off x="1325880" y="1554480"/>
            <a:ext cx="1828800" cy="365760"/>
          </a:xfrm>
          <a:prstGeom prst="rect">
            <a:avLst/>
          </a:prstGeom>
          <a:noFill/>
          <a:ln/>
        </p:spPr>
        <p:txBody>
          <a:bodyPr wrap="square" lIns="0" tIns="0" rIns="0" bIns="0" rtlCol="0" anchor="ctr"/>
          <a:lstStyle/>
          <a:p>
            <a:pPr algn="ctr" indent="0" marL="0">
              <a:buNone/>
            </a:pPr>
            <a:r>
              <a:rPr lang="en-US" sz="1600" b="1" dirty="0">
                <a:solidFill>
                  <a:srgbClr val="2E8946"/>
                </a:solidFill>
              </a:rPr>
              <a:t>Day 1</a:t>
            </a:r>
            <a:endParaRPr lang="en-US" sz="1600" dirty="0"/>
          </a:p>
        </p:txBody>
      </p:sp>
      <p:sp>
        <p:nvSpPr>
          <p:cNvPr id="8" name="Shape 5"/>
          <p:cNvSpPr/>
          <p:nvPr/>
        </p:nvSpPr>
        <p:spPr>
          <a:xfrm>
            <a:off x="594360" y="2743200"/>
            <a:ext cx="3291840" cy="1234440"/>
          </a:xfrm>
          <a:prstGeom prst="roundRect">
            <a:avLst>
              <a:gd name="adj" fmla="val 888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9" name="Text 6"/>
          <p:cNvSpPr txBox="1"/>
          <p:nvPr/>
        </p:nvSpPr>
        <p:spPr>
          <a:xfrm>
            <a:off x="777240" y="2871216"/>
            <a:ext cx="2926080" cy="310896"/>
          </a:xfrm>
          <a:prstGeom prst="rect">
            <a:avLst/>
          </a:prstGeom>
          <a:noFill/>
          <a:ln/>
        </p:spPr>
        <p:txBody>
          <a:bodyPr wrap="square" lIns="0" tIns="0" rIns="0" bIns="0" rtlCol="0" anchor="ctr"/>
          <a:lstStyle/>
          <a:p>
            <a:pPr indent="0" marL="0">
              <a:buNone/>
            </a:pPr>
            <a:r>
              <a:rPr lang="en-US" sz="1450" b="1" dirty="0">
                <a:solidFill>
                  <a:srgbClr val="16243A"/>
                </a:solidFill>
              </a:rPr>
              <a:t>Deployed</a:t>
            </a:r>
            <a:endParaRPr lang="en-US" sz="1450" dirty="0"/>
          </a:p>
        </p:txBody>
      </p:sp>
      <p:sp>
        <p:nvSpPr>
          <p:cNvPr id="10" name="Text 7"/>
          <p:cNvSpPr txBox="1"/>
          <p:nvPr/>
        </p:nvSpPr>
        <p:spPr>
          <a:xfrm>
            <a:off x="777240" y="3218688"/>
            <a:ext cx="2926080" cy="685800"/>
          </a:xfrm>
          <a:prstGeom prst="rect">
            <a:avLst/>
          </a:prstGeom>
          <a:noFill/>
          <a:ln/>
        </p:spPr>
        <p:txBody>
          <a:bodyPr wrap="square" lIns="0" tIns="0" rIns="0" bIns="0" rtlCol="0" anchor="t"/>
          <a:lstStyle/>
          <a:p>
            <a:pPr indent="0" marL="0">
              <a:buNone/>
            </a:pPr>
            <a:r>
              <a:rPr lang="en-US" sz="1250" dirty="0">
                <a:solidFill>
                  <a:srgbClr val="131925"/>
                </a:solidFill>
              </a:rPr>
              <a:t>t3.micro; the security group allows HTTPS from the VPC only.</a:t>
            </a:r>
            <a:endParaRPr lang="en-US" sz="1250" dirty="0"/>
          </a:p>
        </p:txBody>
      </p:sp>
      <p:sp>
        <p:nvSpPr>
          <p:cNvPr id="11" name="Shape 8"/>
          <p:cNvSpPr/>
          <p:nvPr/>
        </p:nvSpPr>
        <p:spPr>
          <a:xfrm>
            <a:off x="5939028" y="2176272"/>
            <a:ext cx="310896" cy="310896"/>
          </a:xfrm>
          <a:prstGeom prst="ellipse">
            <a:avLst/>
          </a:prstGeom>
          <a:solidFill>
            <a:srgbClr val="C93A32"/>
          </a:solidFill>
          <a:ln w="25400">
            <a:solidFill>
              <a:srgbClr val="FFFFFF"/>
            </a:solidFill>
            <a:prstDash val="solid"/>
          </a:ln>
        </p:spPr>
      </p:sp>
      <p:sp>
        <p:nvSpPr>
          <p:cNvPr id="12" name="Text 9"/>
          <p:cNvSpPr txBox="1"/>
          <p:nvPr/>
        </p:nvSpPr>
        <p:spPr>
          <a:xfrm>
            <a:off x="5180076" y="1554480"/>
            <a:ext cx="1828800" cy="365760"/>
          </a:xfrm>
          <a:prstGeom prst="rect">
            <a:avLst/>
          </a:prstGeom>
          <a:noFill/>
          <a:ln/>
        </p:spPr>
        <p:txBody>
          <a:bodyPr wrap="square" lIns="0" tIns="0" rIns="0" bIns="0" rtlCol="0" anchor="ctr"/>
          <a:lstStyle/>
          <a:p>
            <a:pPr algn="ctr" indent="0" marL="0">
              <a:buNone/>
            </a:pPr>
            <a:r>
              <a:rPr lang="en-US" sz="1600" b="1" dirty="0">
                <a:solidFill>
                  <a:srgbClr val="C93A32"/>
                </a:solidFill>
              </a:rPr>
              <a:t>Day 3</a:t>
            </a:r>
            <a:endParaRPr lang="en-US" sz="1600" dirty="0"/>
          </a:p>
        </p:txBody>
      </p:sp>
      <p:sp>
        <p:nvSpPr>
          <p:cNvPr id="13" name="Shape 10"/>
          <p:cNvSpPr/>
          <p:nvPr/>
        </p:nvSpPr>
        <p:spPr>
          <a:xfrm>
            <a:off x="4448556" y="2743200"/>
            <a:ext cx="3291840" cy="1234440"/>
          </a:xfrm>
          <a:prstGeom prst="roundRect">
            <a:avLst>
              <a:gd name="adj" fmla="val 888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4" name="Text 11"/>
          <p:cNvSpPr txBox="1"/>
          <p:nvPr/>
        </p:nvSpPr>
        <p:spPr>
          <a:xfrm>
            <a:off x="4631436" y="2871216"/>
            <a:ext cx="2926080" cy="310896"/>
          </a:xfrm>
          <a:prstGeom prst="rect">
            <a:avLst/>
          </a:prstGeom>
          <a:noFill/>
          <a:ln/>
        </p:spPr>
        <p:txBody>
          <a:bodyPr wrap="square" lIns="0" tIns="0" rIns="0" bIns="0" rtlCol="0" anchor="ctr"/>
          <a:lstStyle/>
          <a:p>
            <a:pPr indent="0" marL="0">
              <a:buNone/>
            </a:pPr>
            <a:r>
              <a:rPr lang="en-US" sz="1450" b="1" dirty="0">
                <a:solidFill>
                  <a:srgbClr val="16243A"/>
                </a:solidFill>
              </a:rPr>
              <a:t>Incident</a:t>
            </a:r>
            <a:endParaRPr lang="en-US" sz="1450" dirty="0"/>
          </a:p>
        </p:txBody>
      </p:sp>
      <p:sp>
        <p:nvSpPr>
          <p:cNvPr id="15" name="Text 12"/>
          <p:cNvSpPr txBox="1"/>
          <p:nvPr/>
        </p:nvSpPr>
        <p:spPr>
          <a:xfrm>
            <a:off x="4631436" y="3218688"/>
            <a:ext cx="2926080" cy="685800"/>
          </a:xfrm>
          <a:prstGeom prst="rect">
            <a:avLst/>
          </a:prstGeom>
          <a:noFill/>
          <a:ln/>
        </p:spPr>
        <p:txBody>
          <a:bodyPr wrap="square" lIns="0" tIns="0" rIns="0" bIns="0" rtlCol="0" anchor="t"/>
          <a:lstStyle/>
          <a:p>
            <a:pPr indent="0" marL="0">
              <a:buNone/>
            </a:pPr>
            <a:r>
              <a:rPr lang="en-US" sz="1250" dirty="0">
                <a:solidFill>
                  <a:srgbClr val="131925"/>
                </a:solidFill>
              </a:rPr>
              <a:t>In the console: resized to t3.medium, and SSH opened to 0.0.0.0/0.</a:t>
            </a:r>
            <a:endParaRPr lang="en-US" sz="1250" dirty="0"/>
          </a:p>
        </p:txBody>
      </p:sp>
      <p:sp>
        <p:nvSpPr>
          <p:cNvPr id="16" name="Shape 13"/>
          <p:cNvSpPr/>
          <p:nvPr/>
        </p:nvSpPr>
        <p:spPr>
          <a:xfrm>
            <a:off x="9793224" y="2176272"/>
            <a:ext cx="310896" cy="310896"/>
          </a:xfrm>
          <a:prstGeom prst="ellipse">
            <a:avLst/>
          </a:prstGeom>
          <a:solidFill>
            <a:srgbClr val="2A5BD7"/>
          </a:solidFill>
          <a:ln w="25400">
            <a:solidFill>
              <a:srgbClr val="FFFFFF"/>
            </a:solidFill>
            <a:prstDash val="solid"/>
          </a:ln>
        </p:spPr>
      </p:sp>
      <p:sp>
        <p:nvSpPr>
          <p:cNvPr id="17" name="Text 14"/>
          <p:cNvSpPr txBox="1"/>
          <p:nvPr/>
        </p:nvSpPr>
        <p:spPr>
          <a:xfrm>
            <a:off x="9034272" y="1554480"/>
            <a:ext cx="1828800" cy="365760"/>
          </a:xfrm>
          <a:prstGeom prst="rect">
            <a:avLst/>
          </a:prstGeom>
          <a:noFill/>
          <a:ln/>
        </p:spPr>
        <p:txBody>
          <a:bodyPr wrap="square" lIns="0" tIns="0" rIns="0" bIns="0" rtlCol="0" anchor="ctr"/>
          <a:lstStyle/>
          <a:p>
            <a:pPr algn="ctr" indent="0" marL="0">
              <a:buNone/>
            </a:pPr>
            <a:r>
              <a:rPr lang="en-US" sz="1600" b="1" dirty="0">
                <a:solidFill>
                  <a:srgbClr val="2A5BD7"/>
                </a:solidFill>
              </a:rPr>
              <a:t>Day 10</a:t>
            </a:r>
            <a:endParaRPr lang="en-US" sz="1600" dirty="0"/>
          </a:p>
        </p:txBody>
      </p:sp>
      <p:sp>
        <p:nvSpPr>
          <p:cNvPr id="18" name="Shape 15"/>
          <p:cNvSpPr/>
          <p:nvPr/>
        </p:nvSpPr>
        <p:spPr>
          <a:xfrm>
            <a:off x="8302752" y="2743200"/>
            <a:ext cx="3291840" cy="1234440"/>
          </a:xfrm>
          <a:prstGeom prst="roundRect">
            <a:avLst>
              <a:gd name="adj" fmla="val 888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9" name="Text 16"/>
          <p:cNvSpPr txBox="1"/>
          <p:nvPr/>
        </p:nvSpPr>
        <p:spPr>
          <a:xfrm>
            <a:off x="8485632" y="2871216"/>
            <a:ext cx="2926080" cy="310896"/>
          </a:xfrm>
          <a:prstGeom prst="rect">
            <a:avLst/>
          </a:prstGeom>
          <a:noFill/>
          <a:ln/>
        </p:spPr>
        <p:txBody>
          <a:bodyPr wrap="square" lIns="0" tIns="0" rIns="0" bIns="0" rtlCol="0" anchor="ctr"/>
          <a:lstStyle/>
          <a:p>
            <a:pPr indent="0" marL="0">
              <a:buNone/>
            </a:pPr>
            <a:r>
              <a:rPr lang="en-US" sz="1450" b="1" dirty="0">
                <a:solidFill>
                  <a:srgbClr val="16243A"/>
                </a:solidFill>
              </a:rPr>
              <a:t>Routine change</a:t>
            </a:r>
            <a:endParaRPr lang="en-US" sz="1450" dirty="0"/>
          </a:p>
        </p:txBody>
      </p:sp>
      <p:sp>
        <p:nvSpPr>
          <p:cNvPr id="20" name="Text 17"/>
          <p:cNvSpPr txBox="1"/>
          <p:nvPr/>
        </p:nvSpPr>
        <p:spPr>
          <a:xfrm>
            <a:off x="8485632" y="3218688"/>
            <a:ext cx="2926080" cy="685800"/>
          </a:xfrm>
          <a:prstGeom prst="rect">
            <a:avLst/>
          </a:prstGeom>
          <a:noFill/>
          <a:ln/>
        </p:spPr>
        <p:txBody>
          <a:bodyPr wrap="square" lIns="0" tIns="0" rIns="0" bIns="0" rtlCol="0" anchor="t"/>
          <a:lstStyle/>
          <a:p>
            <a:pPr indent="0" marL="0">
              <a:buNone/>
            </a:pPr>
            <a:r>
              <a:rPr lang="en-US" sz="1250" dirty="0">
                <a:solidFill>
                  <a:srgbClr val="131925"/>
                </a:solidFill>
              </a:rPr>
              <a:t>The template adds a CostCentre tag and is deployed.</a:t>
            </a:r>
            <a:endParaRPr lang="en-US" sz="1250" dirty="0"/>
          </a:p>
        </p:txBody>
      </p:sp>
      <p:sp>
        <p:nvSpPr>
          <p:cNvPr id="21" name="Text 18"/>
          <p:cNvSpPr txBox="1"/>
          <p:nvPr/>
        </p:nvSpPr>
        <p:spPr>
          <a:xfrm>
            <a:off x="548640" y="4297680"/>
            <a:ext cx="3657600" cy="310896"/>
          </a:xfrm>
          <a:prstGeom prst="rect">
            <a:avLst/>
          </a:prstGeom>
          <a:noFill/>
          <a:ln/>
        </p:spPr>
        <p:txBody>
          <a:bodyPr wrap="square" lIns="0" tIns="0" rIns="0" bIns="0" rtlCol="0" anchor="ctr"/>
          <a:lstStyle/>
          <a:p>
            <a:pPr indent="0" marL="0">
              <a:buNone/>
            </a:pPr>
            <a:r>
              <a:rPr lang="en-US" sz="1500" b="1" dirty="0">
                <a:solidFill>
                  <a:srgbClr val="16243A"/>
                </a:solidFill>
              </a:rPr>
              <a:t>On day 10</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11091672" cy="914400"/>
        </p:xfrm>
        <a:graphic>
          <a:graphicData uri="http://schemas.openxmlformats.org/drawingml/2006/table">
            <a:tbl>
              <a:tblPr/>
              <a:tblGrid>
                <a:gridCol w="2743200"/>
                <a:gridCol w="3840480"/>
                <a:gridCol w="4507992"/>
              </a:tblGrid>
              <a:tr h="0">
                <a:tc>
                  <a:txBody>
                    <a:bodyPr/>
                    <a:lstStyle/>
                    <a:p>
                      <a:pPr indent="0" marL="0">
                        <a:buNone/>
                      </a:pPr>
                      <a:r>
                        <a:rPr lang="en-US" sz="1100" b="1" dirty="0">
                          <a:solidFill>
                            <a:srgbClr val="586275"/>
                          </a:solidFill>
                        </a:rPr>
                        <a:t>Property</a:t>
                      </a:r>
                      <a:endParaRPr lang="en-US" sz="11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The stack's last deployment says</a:t>
                      </a:r>
                      <a:endParaRPr lang="en-US" sz="11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Live in AWS</a:t>
                      </a:r>
                      <a:endParaRPr lang="en-US" sz="11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00" b="1" dirty="0">
                          <a:solidFill>
                            <a:srgbClr val="131925"/>
                          </a:solidFill>
                        </a:rPr>
                        <a:t>Instance type</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t3.micro</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b="1" dirty="0">
                          <a:solidFill>
                            <a:srgbClr val="A1332C"/>
                          </a:solidFill>
                        </a:rPr>
                        <a:t>t3.medium</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Security group ingress</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HTTPS (443) from the VPC</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b="1" dirty="0">
                          <a:solidFill>
                            <a:srgbClr val="A1332C"/>
                          </a:solidFill>
                        </a:rPr>
                        <a:t>HTTPS from the VPC, plus SSH (22) from anywhere</a:t>
                      </a:r>
                      <a:endParaRPr lang="en-US" sz="1300" dirty="0"/>
                    </a:p>
                  </a:txBody>
                  <a:tcPr marL="127000" marR="127000" marT="101600" marB="1016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the tag goes on and the drift stays hidden</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A standard deployment compares the new template with the last one, not with what is running</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Day 10</a:t>
            </a:r>
            <a:pPr indent="0" marL="0">
              <a:buNone/>
            </a:pPr>
            <a:r>
              <a:rPr lang="en-US" sz="1300" dirty="0">
                <a:solidFill>
                  <a:srgbClr val="586275"/>
                </a:solidFill>
              </a:rPr>
              <a:t>   add a CostCentre tag</a:t>
            </a:r>
            <a:endParaRPr lang="en-US" sz="1300" dirty="0"/>
          </a:p>
        </p:txBody>
      </p:sp>
      <p:sp>
        <p:nvSpPr>
          <p:cNvPr id="6" name="Engineer runs the workflow"/>
          <p:cNvSpPr txBox="1"/>
          <p:nvPr/>
        </p:nvSpPr>
        <p:spPr>
          <a:xfrm>
            <a:off x="548640"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Template with the new tag</a:t>
            </a:r>
            <a:endParaRPr lang="en-US" sz="1200" dirty="0"/>
          </a:p>
        </p:txBody>
      </p:sp>
      <p:sp>
        <p:nvSpPr>
          <p:cNvPr id="7" name="Shape 4"/>
          <p:cNvSpPr/>
          <p:nvPr/>
        </p:nvSpPr>
        <p:spPr>
          <a:xfrm>
            <a:off x="3063240" y="2217420"/>
            <a:ext cx="292608" cy="0"/>
          </a:xfrm>
          <a:prstGeom prst="line">
            <a:avLst/>
          </a:prstGeom>
          <a:noFill/>
          <a:ln w="15875">
            <a:solidFill>
              <a:srgbClr val="7D889B"/>
            </a:solidFill>
            <a:prstDash val="solid"/>
            <a:tailEnd type="triangle"/>
          </a:ln>
        </p:spPr>
      </p:sp>
      <p:sp>
        <p:nvSpPr>
          <p:cNvPr id="8" name="Change set compares templates"/>
          <p:cNvSpPr txBox="1"/>
          <p:nvPr/>
        </p:nvSpPr>
        <p:spPr>
          <a:xfrm>
            <a:off x="3355848" y="1828800"/>
            <a:ext cx="25146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Change set compares templates</a:t>
            </a:r>
            <a:endParaRPr lang="en-US" sz="1200" dirty="0"/>
          </a:p>
          <a:p>
            <a:pPr algn="ctr" indent="0" marL="0">
              <a:buNone/>
            </a:pPr>
            <a:r>
              <a:rPr lang="en-US" sz="1050" dirty="0">
                <a:solidFill>
                  <a:srgbClr val="8F4F17"/>
                </a:solidFill>
              </a:rPr>
              <a:t>Old template against new, not live</a:t>
            </a:r>
            <a:endParaRPr lang="en-US" sz="1200" dirty="0"/>
          </a:p>
        </p:txBody>
      </p:sp>
      <p:sp>
        <p:nvSpPr>
          <p:cNvPr id="9" name="Shape 6"/>
          <p:cNvSpPr/>
          <p:nvPr/>
        </p:nvSpPr>
        <p:spPr>
          <a:xfrm>
            <a:off x="5870448" y="2217420"/>
            <a:ext cx="292608" cy="0"/>
          </a:xfrm>
          <a:prstGeom prst="line">
            <a:avLst/>
          </a:prstGeom>
          <a:noFill/>
          <a:ln w="15875">
            <a:solidFill>
              <a:srgbClr val="7D889B"/>
            </a:solidFill>
            <a:prstDash val="solid"/>
            <a:tailEnd type="triangle"/>
          </a:ln>
        </p:spPr>
      </p:sp>
      <p:sp>
        <p:nvSpPr>
          <p:cNvPr id="10" name="Tag added"/>
          <p:cNvSpPr txBox="1"/>
          <p:nvPr/>
        </p:nvSpPr>
        <p:spPr>
          <a:xfrm>
            <a:off x="6163056"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Tag added</a:t>
            </a:r>
            <a:endParaRPr lang="en-US" sz="1200" dirty="0"/>
          </a:p>
          <a:p>
            <a:pPr algn="ctr" indent="0" marL="0">
              <a:buNone/>
            </a:pPr>
            <a:r>
              <a:rPr lang="en-US" sz="1050" dirty="0">
                <a:solidFill>
                  <a:srgbClr val="586275"/>
                </a:solidFill>
              </a:rPr>
              <a:t>Nothing else is looked at</a:t>
            </a:r>
            <a:endParaRPr lang="en-US" sz="1200" dirty="0"/>
          </a:p>
        </p:txBody>
      </p:sp>
      <p:sp>
        <p:nvSpPr>
          <p:cNvPr id="11" name="Shape 8"/>
          <p:cNvSpPr/>
          <p:nvPr/>
        </p:nvSpPr>
        <p:spPr>
          <a:xfrm>
            <a:off x="8677656" y="2217420"/>
            <a:ext cx="292608" cy="0"/>
          </a:xfrm>
          <a:prstGeom prst="line">
            <a:avLst/>
          </a:prstGeom>
          <a:noFill/>
          <a:ln w="15875">
            <a:solidFill>
              <a:srgbClr val="7D889B"/>
            </a:solidFill>
            <a:prstDash val="solid"/>
            <a:tailEnd type="triangle"/>
          </a:ln>
        </p:spPr>
      </p:sp>
      <p:sp>
        <p:nvSpPr>
          <p:cNvPr id="12" name="Drift stays hidden"/>
          <p:cNvSpPr txBox="1"/>
          <p:nvPr/>
        </p:nvSpPr>
        <p:spPr>
          <a:xfrm>
            <a:off x="8970264" y="1828800"/>
            <a:ext cx="25146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Drift stays hidden</a:t>
            </a:r>
            <a:endParaRPr lang="en-US" sz="1200" dirty="0"/>
          </a:p>
          <a:p>
            <a:pPr algn="ctr" indent="0" marL="0">
              <a:buNone/>
            </a:pPr>
            <a:r>
              <a:rPr lang="en-US" sz="1050" dirty="0">
                <a:solidFill>
                  <a:srgbClr val="A1332C"/>
                </a:solidFill>
              </a:rPr>
              <a:t>t3.medium and open SSH, unreported</a:t>
            </a:r>
            <a:endParaRPr lang="en-US" sz="1200" dirty="0"/>
          </a:p>
        </p:txBody>
      </p:sp>
      <p:sp>
        <p:nvSpPr>
          <p:cNvPr id="13" name="Text 10"/>
          <p:cNvSpPr txBox="1"/>
          <p:nvPr/>
        </p:nvSpPr>
        <p:spPr>
          <a:xfrm>
            <a:off x="548640" y="297180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Weeks later</a:t>
            </a:r>
            <a:pPr indent="0" marL="0">
              <a:buNone/>
            </a:pPr>
            <a:r>
              <a:rPr lang="en-US" sz="1300" dirty="0">
                <a:solidFill>
                  <a:srgbClr val="586275"/>
                </a:solidFill>
              </a:rPr>
              <a:t>   someone sets InstanceType to t3.small in params.json</a:t>
            </a:r>
            <a:endParaRPr lang="en-US" sz="1300" dirty="0"/>
          </a:p>
        </p:txBody>
      </p:sp>
      <p:sp>
        <p:nvSpPr>
          <p:cNvPr id="14" name="Engineer runs the workflow"/>
          <p:cNvSpPr txBox="1"/>
          <p:nvPr/>
        </p:nvSpPr>
        <p:spPr>
          <a:xfrm>
            <a:off x="548640" y="333756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params.json with t3.small</a:t>
            </a:r>
            <a:endParaRPr lang="en-US" sz="1200" dirty="0"/>
          </a:p>
        </p:txBody>
      </p:sp>
      <p:sp>
        <p:nvSpPr>
          <p:cNvPr id="15" name="Shape 12"/>
          <p:cNvSpPr/>
          <p:nvPr/>
        </p:nvSpPr>
        <p:spPr>
          <a:xfrm>
            <a:off x="3291840" y="3726180"/>
            <a:ext cx="292608" cy="0"/>
          </a:xfrm>
          <a:prstGeom prst="line">
            <a:avLst/>
          </a:prstGeom>
          <a:noFill/>
          <a:ln w="15875">
            <a:solidFill>
              <a:srgbClr val="7D889B"/>
            </a:solidFill>
            <a:prstDash val="solid"/>
            <a:tailEnd type="triangle"/>
          </a:ln>
        </p:spPr>
      </p:sp>
      <p:sp>
        <p:nvSpPr>
          <p:cNvPr id="16" name="Instance stopped and resized"/>
          <p:cNvSpPr txBox="1"/>
          <p:nvPr/>
        </p:nvSpPr>
        <p:spPr>
          <a:xfrm>
            <a:off x="3584448" y="3337560"/>
            <a:ext cx="27432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Instance stopped and resized</a:t>
            </a:r>
            <a:endParaRPr lang="en-US" sz="1200" dirty="0"/>
          </a:p>
          <a:p>
            <a:pPr algn="ctr" indent="0" marL="0">
              <a:buNone/>
            </a:pPr>
            <a:r>
              <a:rPr lang="en-US" sz="1050" dirty="0">
                <a:solidFill>
                  <a:srgbClr val="8F4F17"/>
                </a:solidFill>
              </a:rPr>
              <a:t>Live t3.medium becomes t3.small, unseen</a:t>
            </a:r>
            <a:endParaRPr lang="en-US" sz="1200" dirty="0"/>
          </a:p>
        </p:txBody>
      </p:sp>
      <p:sp>
        <p:nvSpPr>
          <p:cNvPr id="17" name="Shape 14"/>
          <p:cNvSpPr/>
          <p:nvPr/>
        </p:nvSpPr>
        <p:spPr>
          <a:xfrm>
            <a:off x="6327648" y="3726180"/>
            <a:ext cx="292608" cy="0"/>
          </a:xfrm>
          <a:prstGeom prst="line">
            <a:avLst/>
          </a:prstGeom>
          <a:noFill/>
          <a:ln w="15875">
            <a:solidFill>
              <a:srgbClr val="7D889B"/>
            </a:solidFill>
            <a:prstDash val="solid"/>
            <a:tailEnd type="triangle"/>
          </a:ln>
        </p:spPr>
      </p:sp>
      <p:sp>
        <p:nvSpPr>
          <p:cNvPr id="18" name="Incident change undone"/>
          <p:cNvSpPr txBox="1"/>
          <p:nvPr/>
        </p:nvSpPr>
        <p:spPr>
          <a:xfrm>
            <a:off x="6620256" y="3337560"/>
            <a:ext cx="27432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Incident change undone</a:t>
            </a:r>
            <a:endParaRPr lang="en-US" sz="1200" dirty="0"/>
          </a:p>
          <a:p>
            <a:pPr algn="ctr" indent="0" marL="0">
              <a:buNone/>
            </a:pPr>
            <a:r>
              <a:rPr lang="en-US" sz="1050" dirty="0">
                <a:solidFill>
                  <a:srgbClr val="A1332C"/>
                </a:solidFill>
              </a:rPr>
              <a:t>Nobody knew it was there</a:t>
            </a:r>
            <a:endParaRPr lang="en-US" sz="1200" dirty="0"/>
          </a:p>
        </p:txBody>
      </p:sp>
      <p:sp>
        <p:nvSpPr>
          <p:cNvPr id="19" name="Shape 16"/>
          <p:cNvSpPr/>
          <p:nvPr/>
        </p:nvSpPr>
        <p:spPr>
          <a:xfrm>
            <a:off x="548640" y="4617720"/>
            <a:ext cx="11091672" cy="868680"/>
          </a:xfrm>
          <a:prstGeom prst="roundRect">
            <a:avLst>
              <a:gd name="adj" fmla="val 10526"/>
            </a:avLst>
          </a:prstGeom>
          <a:solidFill>
            <a:srgbClr val="FDF4F3"/>
          </a:solidFill>
          <a:ln w="6350">
            <a:solidFill>
              <a:srgbClr val="FDF4F3"/>
            </a:solidFill>
            <a:prstDash val="solid"/>
          </a:ln>
        </p:spPr>
      </p:sp>
      <p:sp>
        <p:nvSpPr>
          <p:cNvPr id="20" name="Shape 17"/>
          <p:cNvSpPr/>
          <p:nvPr/>
        </p:nvSpPr>
        <p:spPr>
          <a:xfrm>
            <a:off x="694944" y="4850892"/>
            <a:ext cx="402336" cy="402336"/>
          </a:xfrm>
          <a:prstGeom prst="ellipse">
            <a:avLst/>
          </a:prstGeom>
          <a:solidFill>
            <a:srgbClr val="C93A32"/>
          </a:solidFill>
          <a:ln w="6350">
            <a:solidFill>
              <a:srgbClr val="C93A32"/>
            </a:solidFill>
            <a:prstDash val="solid"/>
          </a:ln>
        </p:spPr>
      </p:sp>
      <p:pic>
        <p:nvPicPr>
          <p:cNvPr id="21" name="Image 0" descr="Icon">    </p:cNvPr>
          <p:cNvPicPr>
            <a:picLocks noChangeAspect="1"/>
          </p:cNvPicPr>
          <p:nvPr/>
        </p:nvPicPr>
        <p:blipFill>
          <a:blip r:embed="rId1"/>
          <a:stretch>
            <a:fillRect/>
          </a:stretch>
        </p:blipFill>
        <p:spPr>
          <a:xfrm>
            <a:off x="791505" y="4947453"/>
            <a:ext cx="209215" cy="209215"/>
          </a:xfrm>
          <a:prstGeom prst="rect">
            <a:avLst/>
          </a:prstGeom>
        </p:spPr>
      </p:pic>
      <p:sp>
        <p:nvSpPr>
          <p:cNvPr id="22" name="Text 18"/>
          <p:cNvSpPr txBox="1"/>
          <p:nvPr/>
        </p:nvSpPr>
        <p:spPr>
          <a:xfrm>
            <a:off x="1261872" y="4617720"/>
            <a:ext cx="10222992" cy="868680"/>
          </a:xfrm>
          <a:prstGeom prst="rect">
            <a:avLst/>
          </a:prstGeom>
          <a:noFill/>
          <a:ln/>
        </p:spPr>
        <p:txBody>
          <a:bodyPr wrap="square" lIns="0" tIns="0" rIns="0" bIns="0" rtlCol="0" anchor="ctr"/>
          <a:lstStyle/>
          <a:p>
            <a:pPr indent="0" marL="0">
              <a:buNone/>
            </a:pPr>
            <a:r>
              <a:rPr lang="en-US" sz="1300" b="1" dirty="0">
                <a:solidFill>
                  <a:srgbClr val="7D1C16"/>
                </a:solidFill>
              </a:rPr>
              <a:t>Meanwhile SSH stays open to the internet.  </a:t>
            </a:r>
            <a:pPr indent="0" marL="0">
              <a:buNone/>
            </a:pPr>
            <a:r>
              <a:rPr lang="en-US" sz="1300" dirty="0">
                <a:solidFill>
                  <a:srgbClr val="131925"/>
                </a:solidFill>
              </a:rPr>
              <a:t>Nothing in any run reports it, because the template never mentions the extra rule and the deployment never compares with live state.</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Proposed: drift stops the run until the team decides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Then one approved change set keeps the resize, closes SSH and adds the tag</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Day 10</a:t>
            </a:r>
            <a:pPr indent="0" marL="0">
              <a:buNone/>
            </a:pPr>
            <a:r>
              <a:rPr lang="en-US" sz="1300" dirty="0">
                <a:solidFill>
                  <a:srgbClr val="586275"/>
                </a:solidFill>
              </a:rPr>
              <a:t>   first run</a:t>
            </a:r>
            <a:endParaRPr lang="en-US" sz="1300" dirty="0"/>
          </a:p>
        </p:txBody>
      </p:sp>
      <p:sp>
        <p:nvSpPr>
          <p:cNvPr id="6" name="Engineer runs the pipeline"/>
          <p:cNvSpPr txBox="1"/>
          <p:nvPr/>
        </p:nvSpPr>
        <p:spPr>
          <a:xfrm>
            <a:off x="548640" y="182880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50" dirty="0">
                <a:solidFill>
                  <a:srgbClr val="586275"/>
                </a:solidFill>
              </a:rPr>
              <a:t>Template with the new tag</a:t>
            </a:r>
            <a:endParaRPr lang="en-US" sz="1200" dirty="0"/>
          </a:p>
        </p:txBody>
      </p:sp>
      <p:sp>
        <p:nvSpPr>
          <p:cNvPr id="7" name="Shape 4"/>
          <p:cNvSpPr/>
          <p:nvPr/>
        </p:nvSpPr>
        <p:spPr>
          <a:xfrm>
            <a:off x="2532888" y="2217420"/>
            <a:ext cx="292608" cy="0"/>
          </a:xfrm>
          <a:prstGeom prst="line">
            <a:avLst/>
          </a:prstGeom>
          <a:noFill/>
          <a:ln w="15875">
            <a:solidFill>
              <a:srgbClr val="7D889B"/>
            </a:solidFill>
            <a:prstDash val="solid"/>
            <a:tailEnd type="triangle"/>
          </a:ln>
        </p:spPr>
      </p:sp>
      <p:sp>
        <p:nvSpPr>
          <p:cNvPr id="8" name="Drift detection"/>
          <p:cNvSpPr txBox="1"/>
          <p:nvPr/>
        </p:nvSpPr>
        <p:spPr>
          <a:xfrm>
            <a:off x="2825496" y="1828800"/>
            <a:ext cx="1984248" cy="777240"/>
          </a:xfrm>
          <a:prstGeom prst="roundRect">
            <a:avLst>
              <a:gd name="adj" fmla="val 10588"/>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Drift detection</a:t>
            </a:r>
            <a:endParaRPr lang="en-US" sz="1200" dirty="0"/>
          </a:p>
          <a:p>
            <a:pPr algn="ctr" indent="0" marL="0">
              <a:buNone/>
            </a:pPr>
            <a:r>
              <a:rPr lang="en-US" sz="1050" dirty="0">
                <a:solidFill>
                  <a:srgbClr val="2B6C59"/>
                </a:solidFill>
              </a:rPr>
              <a:t>2 resources changed outside CloudFormation</a:t>
            </a:r>
            <a:endParaRPr lang="en-US" sz="1200" dirty="0"/>
          </a:p>
        </p:txBody>
      </p:sp>
      <p:sp>
        <p:nvSpPr>
          <p:cNvPr id="9" name="Shape 6"/>
          <p:cNvSpPr/>
          <p:nvPr/>
        </p:nvSpPr>
        <p:spPr>
          <a:xfrm>
            <a:off x="4809744" y="2217420"/>
            <a:ext cx="292608" cy="0"/>
          </a:xfrm>
          <a:prstGeom prst="line">
            <a:avLst/>
          </a:prstGeom>
          <a:noFill/>
          <a:ln w="15875">
            <a:solidFill>
              <a:srgbClr val="7D889B"/>
            </a:solidFill>
            <a:prstDash val="solid"/>
            <a:tailEnd type="triangle"/>
          </a:ln>
        </p:spPr>
      </p:sp>
      <p:sp>
        <p:nvSpPr>
          <p:cNvPr id="10" name="Amazon Q drafts fixes"/>
          <p:cNvSpPr txBox="1"/>
          <p:nvPr/>
        </p:nvSpPr>
        <p:spPr>
          <a:xfrm>
            <a:off x="5102352" y="182880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Amazon Q drafts fixes</a:t>
            </a:r>
            <a:endParaRPr lang="en-US" sz="1200" dirty="0"/>
          </a:p>
          <a:p>
            <a:pPr algn="ctr" indent="0" marL="0">
              <a:buNone/>
            </a:pPr>
            <a:r>
              <a:rPr lang="en-US" sz="1050" dirty="0">
                <a:solidFill>
                  <a:srgbClr val="586275"/>
                </a:solidFill>
              </a:rPr>
              <a:t>Template code; keep or revert each</a:t>
            </a:r>
            <a:endParaRPr lang="en-US" sz="1200" dirty="0"/>
          </a:p>
        </p:txBody>
      </p:sp>
      <p:sp>
        <p:nvSpPr>
          <p:cNvPr id="11" name="Shape 8"/>
          <p:cNvSpPr/>
          <p:nvPr/>
        </p:nvSpPr>
        <p:spPr>
          <a:xfrm>
            <a:off x="7086600" y="2217420"/>
            <a:ext cx="292608" cy="0"/>
          </a:xfrm>
          <a:prstGeom prst="line">
            <a:avLst/>
          </a:prstGeom>
          <a:noFill/>
          <a:ln w="15875">
            <a:solidFill>
              <a:srgbClr val="7D889B"/>
            </a:solidFill>
            <a:prstDash val="solid"/>
            <a:tailEnd type="triangle"/>
          </a:ln>
        </p:spPr>
      </p:sp>
      <p:sp>
        <p:nvSpPr>
          <p:cNvPr id="12" name="Drift email"/>
          <p:cNvSpPr txBox="1"/>
          <p:nvPr/>
        </p:nvSpPr>
        <p:spPr>
          <a:xfrm>
            <a:off x="7379208" y="1828800"/>
            <a:ext cx="1984248"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Drift email</a:t>
            </a:r>
            <a:endParaRPr lang="en-US" sz="1200" dirty="0"/>
          </a:p>
          <a:p>
            <a:pPr algn="ctr" indent="0" marL="0">
              <a:buNone/>
            </a:pPr>
            <a:r>
              <a:rPr lang="en-US" sz="1050" dirty="0">
                <a:solidFill>
                  <a:srgbClr val="586275"/>
                </a:solidFill>
              </a:rPr>
              <a:t>Expected vs actual, live YAML</a:t>
            </a:r>
            <a:endParaRPr lang="en-US" sz="1200" dirty="0"/>
          </a:p>
        </p:txBody>
      </p:sp>
      <p:sp>
        <p:nvSpPr>
          <p:cNvPr id="13" name="Email sent"/>
          <p:cNvSpPr/>
          <p:nvPr/>
        </p:nvSpPr>
        <p:spPr>
          <a:xfrm>
            <a:off x="7434072" y="1682496"/>
            <a:ext cx="292608" cy="292608"/>
          </a:xfrm>
          <a:prstGeom prst="ellipse">
            <a:avLst/>
          </a:prstGeom>
          <a:solidFill>
            <a:srgbClr val="FFFFFF"/>
          </a:solidFill>
          <a:ln w="15875">
            <a:solidFill>
              <a:srgbClr val="2A5BD7"/>
            </a:solidFill>
            <a:prstDash val="solid"/>
          </a:ln>
        </p:spPr>
      </p:sp>
      <p:pic>
        <p:nvPicPr>
          <p:cNvPr id="14" name="Image 0" descr="Email sent">    </p:cNvPr>
          <p:cNvPicPr>
            <a:picLocks noChangeAspect="1"/>
          </p:cNvPicPr>
          <p:nvPr/>
        </p:nvPicPr>
        <p:blipFill>
          <a:blip r:embed="rId1"/>
          <a:stretch>
            <a:fillRect/>
          </a:stretch>
        </p:blipFill>
        <p:spPr>
          <a:xfrm>
            <a:off x="7489668" y="1738092"/>
            <a:ext cx="181417" cy="181417"/>
          </a:xfrm>
          <a:prstGeom prst="rect">
            <a:avLst/>
          </a:prstGeom>
        </p:spPr>
      </p:pic>
      <p:sp>
        <p:nvSpPr>
          <p:cNvPr id="15" name="Shape 11"/>
          <p:cNvSpPr/>
          <p:nvPr/>
        </p:nvSpPr>
        <p:spPr>
          <a:xfrm>
            <a:off x="9363456" y="2217420"/>
            <a:ext cx="292608" cy="0"/>
          </a:xfrm>
          <a:prstGeom prst="line">
            <a:avLst/>
          </a:prstGeom>
          <a:noFill/>
          <a:ln w="15875">
            <a:solidFill>
              <a:srgbClr val="7D889B"/>
            </a:solidFill>
            <a:prstDash val="solid"/>
            <a:tailEnd type="triangle"/>
          </a:ln>
        </p:spPr>
      </p:sp>
      <p:sp>
        <p:nvSpPr>
          <p:cNvPr id="16" name="Stopped"/>
          <p:cNvSpPr txBox="1"/>
          <p:nvPr/>
        </p:nvSpPr>
        <p:spPr>
          <a:xfrm>
            <a:off x="9656064" y="1828800"/>
            <a:ext cx="1984248" cy="777240"/>
          </a:xfrm>
          <a:prstGeom prst="roundRect">
            <a:avLst>
              <a:gd name="adj" fmla="val 50000"/>
            </a:avLst>
          </a:prstGeom>
          <a:solidFill>
            <a:srgbClr val="EBEEFC"/>
          </a:solidFill>
          <a:ln w="15875">
            <a:solidFill>
              <a:srgbClr val="4F5ED0"/>
            </a:solidFill>
          </a:ln>
        </p:spPr>
        <p:txBody>
          <a:bodyPr wrap="square" lIns="127000" tIns="25400" rIns="127000" bIns="25400" rtlCol="0" anchor="ctr"/>
          <a:lstStyle/>
          <a:p>
            <a:pPr algn="ctr" indent="0" marL="0">
              <a:buNone/>
            </a:pPr>
            <a:r>
              <a:rPr lang="en-US" sz="1200" b="1" dirty="0">
                <a:solidFill>
                  <a:srgbClr val="252D86"/>
                </a:solidFill>
              </a:rPr>
              <a:t>Stopped</a:t>
            </a:r>
            <a:endParaRPr lang="en-US" sz="1200" dirty="0"/>
          </a:p>
          <a:p>
            <a:pPr algn="ctr" indent="0" marL="0">
              <a:buNone/>
            </a:pPr>
            <a:r>
              <a:rPr lang="en-US" sz="1050" dirty="0">
                <a:solidFill>
                  <a:srgbClr val="4650A9"/>
                </a:solidFill>
              </a:rPr>
              <a:t>Nothing changed in AWS</a:t>
            </a:r>
            <a:endParaRPr lang="en-US" sz="1200" dirty="0"/>
          </a:p>
        </p:txBody>
      </p:sp>
      <p:sp>
        <p:nvSpPr>
          <p:cNvPr id="17" name="Text 13"/>
          <p:cNvSpPr txBox="1"/>
          <p:nvPr/>
        </p:nvSpPr>
        <p:spPr>
          <a:xfrm>
            <a:off x="548640" y="292608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Next run</a:t>
            </a:r>
            <a:pPr indent="0" marL="0">
              <a:buNone/>
            </a:pPr>
            <a:r>
              <a:rPr lang="en-US" sz="1300" dirty="0">
                <a:solidFill>
                  <a:srgbClr val="586275"/>
                </a:solidFill>
              </a:rPr>
              <a:t>   the team keeps t3.medium and closes SSH</a:t>
            </a:r>
            <a:endParaRPr lang="en-US" sz="1300" dirty="0"/>
          </a:p>
        </p:txBody>
      </p:sp>
      <p:sp>
        <p:nvSpPr>
          <p:cNvPr id="18" name="params.json: t3.medium"/>
          <p:cNvSpPr txBox="1"/>
          <p:nvPr/>
        </p:nvSpPr>
        <p:spPr>
          <a:xfrm>
            <a:off x="548640"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params.json: t3.medium</a:t>
            </a:r>
            <a:endParaRPr lang="en-US" sz="1200" dirty="0"/>
          </a:p>
          <a:p>
            <a:pPr algn="ctr" indent="0" marL="0">
              <a:buNone/>
            </a:pPr>
            <a:r>
              <a:rPr lang="en-US" sz="1050" dirty="0">
                <a:solidFill>
                  <a:srgbClr val="586275"/>
                </a:solidFill>
              </a:rPr>
              <a:t>PR reviewed and merged</a:t>
            </a:r>
            <a:endParaRPr lang="en-US" sz="1200" dirty="0"/>
          </a:p>
        </p:txBody>
      </p:sp>
      <p:sp>
        <p:nvSpPr>
          <p:cNvPr id="19" name="Shape 15"/>
          <p:cNvSpPr/>
          <p:nvPr/>
        </p:nvSpPr>
        <p:spPr>
          <a:xfrm>
            <a:off x="2199132" y="3726180"/>
            <a:ext cx="237744" cy="0"/>
          </a:xfrm>
          <a:prstGeom prst="line">
            <a:avLst/>
          </a:prstGeom>
          <a:noFill/>
          <a:ln w="15875">
            <a:solidFill>
              <a:srgbClr val="7D889B"/>
            </a:solidFill>
            <a:prstDash val="solid"/>
            <a:tailEnd type="triangle"/>
          </a:ln>
        </p:spPr>
      </p:sp>
      <p:sp>
        <p:nvSpPr>
          <p:cNvPr id="20" name="Re-run"/>
          <p:cNvSpPr txBox="1"/>
          <p:nvPr/>
        </p:nvSpPr>
        <p:spPr>
          <a:xfrm>
            <a:off x="2436876"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Re-run</a:t>
            </a:r>
            <a:endParaRPr lang="en-US" sz="1200" dirty="0"/>
          </a:p>
          <a:p>
            <a:pPr algn="ctr" indent="0" marL="0">
              <a:buNone/>
            </a:pPr>
            <a:r>
              <a:rPr lang="en-US" sz="1050" dirty="0">
                <a:solidFill>
                  <a:srgbClr val="586275"/>
                </a:solidFill>
              </a:rPr>
              <a:t>driftPolicy = revert-drift</a:t>
            </a:r>
            <a:endParaRPr lang="en-US" sz="1200" dirty="0"/>
          </a:p>
        </p:txBody>
      </p:sp>
      <p:sp>
        <p:nvSpPr>
          <p:cNvPr id="21" name="Shape 17"/>
          <p:cNvSpPr/>
          <p:nvPr/>
        </p:nvSpPr>
        <p:spPr>
          <a:xfrm>
            <a:off x="4087368" y="3726180"/>
            <a:ext cx="237744" cy="0"/>
          </a:xfrm>
          <a:prstGeom prst="line">
            <a:avLst/>
          </a:prstGeom>
          <a:noFill/>
          <a:ln w="15875">
            <a:solidFill>
              <a:srgbClr val="7D889B"/>
            </a:solidFill>
            <a:prstDash val="solid"/>
            <a:tailEnd type="triangle"/>
          </a:ln>
        </p:spPr>
      </p:sp>
      <p:sp>
        <p:nvSpPr>
          <p:cNvPr id="22" name="Drift-aware change set"/>
          <p:cNvSpPr txBox="1"/>
          <p:nvPr/>
        </p:nvSpPr>
        <p:spPr>
          <a:xfrm>
            <a:off x="4325112" y="3291840"/>
            <a:ext cx="1650492" cy="868680"/>
          </a:xfrm>
          <a:prstGeom prst="roundRect">
            <a:avLst>
              <a:gd name="adj" fmla="val 9474"/>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Drift-aware change set</a:t>
            </a:r>
            <a:endParaRPr lang="en-US" sz="1200" dirty="0"/>
          </a:p>
          <a:p>
            <a:pPr algn="ctr" indent="0" marL="0">
              <a:buNone/>
            </a:pPr>
            <a:r>
              <a:rPr lang="en-US" sz="1050" dirty="0">
                <a:solidFill>
                  <a:srgbClr val="2B6C59"/>
                </a:solidFill>
              </a:rPr>
              <a:t>Keep instance, add tag, remove SSH</a:t>
            </a:r>
            <a:endParaRPr lang="en-US" sz="1200" dirty="0"/>
          </a:p>
        </p:txBody>
      </p:sp>
      <p:sp>
        <p:nvSpPr>
          <p:cNvPr id="23" name="Shape 19"/>
          <p:cNvSpPr/>
          <p:nvPr/>
        </p:nvSpPr>
        <p:spPr>
          <a:xfrm>
            <a:off x="5975604" y="3726180"/>
            <a:ext cx="237744" cy="0"/>
          </a:xfrm>
          <a:prstGeom prst="line">
            <a:avLst/>
          </a:prstGeom>
          <a:noFill/>
          <a:ln w="15875">
            <a:solidFill>
              <a:srgbClr val="7D889B"/>
            </a:solidFill>
            <a:prstDash val="solid"/>
            <a:tailEnd type="triangle"/>
          </a:ln>
        </p:spPr>
      </p:sp>
      <p:sp>
        <p:nvSpPr>
          <p:cNvPr id="24" name="Approval email"/>
          <p:cNvSpPr txBox="1"/>
          <p:nvPr/>
        </p:nvSpPr>
        <p:spPr>
          <a:xfrm>
            <a:off x="6213348"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Each change rated</a:t>
            </a:r>
            <a:endParaRPr lang="en-US" sz="1200" dirty="0"/>
          </a:p>
        </p:txBody>
      </p:sp>
      <p:sp>
        <p:nvSpPr>
          <p:cNvPr id="25" name="Email sent"/>
          <p:cNvSpPr/>
          <p:nvPr/>
        </p:nvSpPr>
        <p:spPr>
          <a:xfrm>
            <a:off x="6268212" y="3145536"/>
            <a:ext cx="292608" cy="292608"/>
          </a:xfrm>
          <a:prstGeom prst="ellipse">
            <a:avLst/>
          </a:prstGeom>
          <a:solidFill>
            <a:srgbClr val="FFFFFF"/>
          </a:solidFill>
          <a:ln w="15875">
            <a:solidFill>
              <a:srgbClr val="2A5BD7"/>
            </a:solidFill>
            <a:prstDash val="solid"/>
          </a:ln>
        </p:spPr>
      </p:sp>
      <p:pic>
        <p:nvPicPr>
          <p:cNvPr id="26" name="Image 1" descr="Email sent">    </p:cNvPr>
          <p:cNvPicPr>
            <a:picLocks noChangeAspect="1"/>
          </p:cNvPicPr>
          <p:nvPr/>
        </p:nvPicPr>
        <p:blipFill>
          <a:blip r:embed="rId2"/>
          <a:stretch>
            <a:fillRect/>
          </a:stretch>
        </p:blipFill>
        <p:spPr>
          <a:xfrm>
            <a:off x="6323808" y="3201132"/>
            <a:ext cx="181417" cy="181417"/>
          </a:xfrm>
          <a:prstGeom prst="rect">
            <a:avLst/>
          </a:prstGeom>
        </p:spPr>
      </p:pic>
      <p:sp>
        <p:nvSpPr>
          <p:cNvPr id="27" name="Shape 22"/>
          <p:cNvSpPr/>
          <p:nvPr/>
        </p:nvSpPr>
        <p:spPr>
          <a:xfrm>
            <a:off x="7863840" y="3726180"/>
            <a:ext cx="237744" cy="0"/>
          </a:xfrm>
          <a:prstGeom prst="line">
            <a:avLst/>
          </a:prstGeom>
          <a:noFill/>
          <a:ln w="15875">
            <a:solidFill>
              <a:srgbClr val="7D889B"/>
            </a:solidFill>
            <a:prstDash val="solid"/>
            <a:tailEnd type="triangle"/>
          </a:ln>
        </p:spPr>
      </p:sp>
      <p:sp>
        <p:nvSpPr>
          <p:cNvPr id="28" name="Approver approves"/>
          <p:cNvSpPr txBox="1"/>
          <p:nvPr/>
        </p:nvSpPr>
        <p:spPr>
          <a:xfrm>
            <a:off x="8101584" y="3291840"/>
            <a:ext cx="1650492"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Approver approves</a:t>
            </a:r>
            <a:endParaRPr lang="en-US" sz="1200" dirty="0"/>
          </a:p>
          <a:p>
            <a:pPr algn="ctr" indent="0" marL="0">
              <a:buNone/>
            </a:pPr>
            <a:r>
              <a:rPr lang="en-US" sz="1050" dirty="0">
                <a:solidFill>
                  <a:srgbClr val="586275"/>
                </a:solidFill>
              </a:rPr>
              <a:t>GitHub gate</a:t>
            </a:r>
            <a:endParaRPr lang="en-US" sz="1200" dirty="0"/>
          </a:p>
        </p:txBody>
      </p:sp>
      <p:sp>
        <p:nvSpPr>
          <p:cNvPr id="29" name="Shape 24"/>
          <p:cNvSpPr/>
          <p:nvPr/>
        </p:nvSpPr>
        <p:spPr>
          <a:xfrm>
            <a:off x="9752076" y="3726180"/>
            <a:ext cx="237744" cy="0"/>
          </a:xfrm>
          <a:prstGeom prst="line">
            <a:avLst/>
          </a:prstGeom>
          <a:noFill/>
          <a:ln w="15875">
            <a:solidFill>
              <a:srgbClr val="7D889B"/>
            </a:solidFill>
            <a:prstDash val="solid"/>
            <a:tailEnd type="triangle"/>
          </a:ln>
        </p:spPr>
      </p:sp>
      <p:sp>
        <p:nvSpPr>
          <p:cNvPr id="30" name="In sync"/>
          <p:cNvSpPr txBox="1"/>
          <p:nvPr/>
        </p:nvSpPr>
        <p:spPr>
          <a:xfrm>
            <a:off x="9989820" y="3291840"/>
            <a:ext cx="1650492" cy="868680"/>
          </a:xfrm>
          <a:prstGeom prst="roundRect">
            <a:avLst>
              <a:gd name="adj" fmla="val 50000"/>
            </a:avLst>
          </a:prstGeom>
          <a:solidFill>
            <a:srgbClr val="E3F4E7"/>
          </a:solidFill>
          <a:ln w="15875">
            <a:solidFill>
              <a:srgbClr val="2E8946"/>
            </a:solidFill>
          </a:ln>
        </p:spPr>
        <p:txBody>
          <a:bodyPr wrap="square" lIns="127000" tIns="25400" rIns="127000" bIns="25400" rtlCol="0" anchor="ctr"/>
          <a:lstStyle/>
          <a:p>
            <a:pPr algn="ctr" indent="0" marL="0">
              <a:buNone/>
            </a:pPr>
            <a:r>
              <a:rPr lang="en-US" sz="1200" b="1" dirty="0">
                <a:solidFill>
                  <a:srgbClr val="165229"/>
                </a:solidFill>
              </a:rPr>
              <a:t>In sync</a:t>
            </a:r>
            <a:endParaRPr lang="en-US" sz="1200" dirty="0"/>
          </a:p>
          <a:p>
            <a:pPr algn="ctr" indent="0" marL="0">
              <a:buNone/>
            </a:pPr>
            <a:r>
              <a:rPr lang="en-US" sz="1050" dirty="0">
                <a:solidFill>
                  <a:srgbClr val="2C6D3F"/>
                </a:solidFill>
              </a:rPr>
              <a:t>SSH closed; result emailed</a:t>
            </a:r>
            <a:endParaRPr lang="en-US" sz="1200" dirty="0"/>
          </a:p>
        </p:txBody>
      </p:sp>
      <p:sp>
        <p:nvSpPr>
          <p:cNvPr id="31" name="Email sent"/>
          <p:cNvSpPr/>
          <p:nvPr/>
        </p:nvSpPr>
        <p:spPr>
          <a:xfrm>
            <a:off x="10277856" y="3145536"/>
            <a:ext cx="292608" cy="292608"/>
          </a:xfrm>
          <a:prstGeom prst="ellipse">
            <a:avLst/>
          </a:prstGeom>
          <a:solidFill>
            <a:srgbClr val="FFFFFF"/>
          </a:solidFill>
          <a:ln w="15875">
            <a:solidFill>
              <a:srgbClr val="2A5BD7"/>
            </a:solidFill>
            <a:prstDash val="solid"/>
          </a:ln>
        </p:spPr>
      </p:sp>
      <p:pic>
        <p:nvPicPr>
          <p:cNvPr id="32" name="Image 2" descr="Email sent">    </p:cNvPr>
          <p:cNvPicPr>
            <a:picLocks noChangeAspect="1"/>
          </p:cNvPicPr>
          <p:nvPr/>
        </p:nvPicPr>
        <p:blipFill>
          <a:blip r:embed="rId3"/>
          <a:stretch>
            <a:fillRect/>
          </a:stretch>
        </p:blipFill>
        <p:spPr>
          <a:xfrm>
            <a:off x="10333452" y="3201132"/>
            <a:ext cx="181417" cy="181417"/>
          </a:xfrm>
          <a:prstGeom prst="rect">
            <a:avLst/>
          </a:prstGeom>
        </p:spPr>
      </p:pic>
      <p:sp>
        <p:nvSpPr>
          <p:cNvPr id="33" name="Shape 27"/>
          <p:cNvSpPr/>
          <p:nvPr/>
        </p:nvSpPr>
        <p:spPr>
          <a:xfrm>
            <a:off x="548640" y="4572000"/>
            <a:ext cx="11091672" cy="960120"/>
          </a:xfrm>
          <a:prstGeom prst="roundRect">
            <a:avLst>
              <a:gd name="adj" fmla="val 9524"/>
            </a:avLst>
          </a:prstGeom>
          <a:solidFill>
            <a:srgbClr val="EAF0FD"/>
          </a:solidFill>
          <a:ln w="6350">
            <a:solidFill>
              <a:srgbClr val="EAF0FD"/>
            </a:solidFill>
            <a:prstDash val="solid"/>
          </a:ln>
        </p:spPr>
      </p:sp>
      <p:sp>
        <p:nvSpPr>
          <p:cNvPr id="34" name="Shape 28"/>
          <p:cNvSpPr/>
          <p:nvPr/>
        </p:nvSpPr>
        <p:spPr>
          <a:xfrm>
            <a:off x="694944" y="4850892"/>
            <a:ext cx="402336" cy="402336"/>
          </a:xfrm>
          <a:prstGeom prst="ellipse">
            <a:avLst/>
          </a:prstGeom>
          <a:solidFill>
            <a:srgbClr val="2A5BD7"/>
          </a:solidFill>
          <a:ln w="6350">
            <a:solidFill>
              <a:srgbClr val="2A5BD7"/>
            </a:solidFill>
            <a:prstDash val="solid"/>
          </a:ln>
        </p:spPr>
      </p:sp>
      <p:pic>
        <p:nvPicPr>
          <p:cNvPr id="35" name="Image 3" descr="Icon">    </p:cNvPr>
          <p:cNvPicPr>
            <a:picLocks noChangeAspect="1"/>
          </p:cNvPicPr>
          <p:nvPr/>
        </p:nvPicPr>
        <p:blipFill>
          <a:blip r:embed="rId4"/>
          <a:stretch>
            <a:fillRect/>
          </a:stretch>
        </p:blipFill>
        <p:spPr>
          <a:xfrm>
            <a:off x="791505" y="4947453"/>
            <a:ext cx="209215" cy="209215"/>
          </a:xfrm>
          <a:prstGeom prst="rect">
            <a:avLst/>
          </a:prstGeom>
        </p:spPr>
      </p:pic>
      <p:sp>
        <p:nvSpPr>
          <p:cNvPr id="36" name="Text 29"/>
          <p:cNvSpPr txBox="1"/>
          <p:nvPr/>
        </p:nvSpPr>
        <p:spPr>
          <a:xfrm>
            <a:off x="1261872" y="4572000"/>
            <a:ext cx="10222992" cy="960120"/>
          </a:xfrm>
          <a:prstGeom prst="rect">
            <a:avLst/>
          </a:prstGeom>
          <a:noFill/>
          <a:ln/>
        </p:spPr>
        <p:txBody>
          <a:bodyPr wrap="square" lIns="0" tIns="0" rIns="0" bIns="0" rtlCol="0" anchor="ctr"/>
          <a:lstStyle/>
          <a:p>
            <a:pPr indent="0" marL="0">
              <a:buNone/>
            </a:pPr>
            <a:r>
              <a:rPr lang="en-US" sz="1300" b="1" dirty="0">
                <a:solidFill>
                  <a:srgbClr val="173A8F"/>
                </a:solidFill>
              </a:rPr>
              <a:t>Why one run settles both.  </a:t>
            </a:r>
            <a:pPr indent="0" marL="0">
              <a:buNone/>
            </a:pPr>
            <a:r>
              <a:rPr lang="en-US" sz="1300" dirty="0">
                <a:solidFill>
                  <a:srgbClr val="131925"/>
                </a:solidFill>
              </a:rPr>
              <a:t>A drift-aware change set compares the template, the last deployment and what is live. Where the template now matches live (the resize), CloudFormation leaves the resource as it is; where it doesn't (the SSH rule), it puts live back to the template.</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Day 10's drift email: the run stops and says why</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Sent instead of an approval email · nothing was changed in AWS</a:t>
            </a:r>
            <a:endParaRPr lang="en-US" sz="1400" dirty="0"/>
          </a:p>
        </p:txBody>
      </p:sp>
      <p:sp>
        <p:nvSpPr>
          <p:cNvPr id="5" name="Email window"/>
          <p:cNvSpPr/>
          <p:nvPr/>
        </p:nvSpPr>
        <p:spPr>
          <a:xfrm>
            <a:off x="868680" y="1417320"/>
            <a:ext cx="4206240" cy="4787606"/>
          </a:xfrm>
          <a:prstGeom prst="roundRect">
            <a:avLst>
              <a:gd name="adj" fmla="val 1739"/>
            </a:avLst>
          </a:prstGeom>
          <a:solidFill>
            <a:srgbClr val="F5F7FA"/>
          </a:solidFill>
          <a:ln w="12700">
            <a:solidFill>
              <a:srgbClr val="D5DBE5"/>
            </a:solidFill>
            <a:prstDash val="solid"/>
          </a:ln>
          <a:effectLst>
            <a:outerShdw sx="100000" sy="100000" kx="0" ky="0" algn="bl" rotWithShape="0" blurRad="101600" dist="25400" dir="5400000">
              <a:srgbClr val="1B2A41">
                <a:alpha val="12000"/>
              </a:srgbClr>
            </a:outerShdw>
          </a:effectLst>
        </p:spPr>
      </p:sp>
      <p:sp>
        <p:nvSpPr>
          <p:cNvPr id="6" name="Text 3"/>
          <p:cNvSpPr txBox="1"/>
          <p:nvPr/>
        </p:nvSpPr>
        <p:spPr>
          <a:xfrm>
            <a:off x="1014984" y="1499616"/>
            <a:ext cx="3913632" cy="256032"/>
          </a:xfrm>
          <a:prstGeom prst="rect">
            <a:avLst/>
          </a:prstGeom>
          <a:noFill/>
          <a:ln/>
        </p:spPr>
        <p:txBody>
          <a:bodyPr wrap="square" lIns="0" tIns="0" rIns="0" bIns="0" rtlCol="0" anchor="ctr"/>
          <a:lstStyle/>
          <a:p>
            <a:pPr indent="0" marL="0">
              <a:buNone/>
            </a:pPr>
            <a:r>
              <a:rPr lang="en-US" sz="1050" b="1" dirty="0">
                <a:solidFill>
                  <a:srgbClr val="131925"/>
                </a:solidFill>
              </a:rPr>
              <a:t>[DRIFT][PRD] app-web — deployment halted, 2 drifted resources</a:t>
            </a:r>
            <a:endParaRPr lang="en-US" sz="1050" dirty="0"/>
          </a:p>
        </p:txBody>
      </p:sp>
      <p:sp>
        <p:nvSpPr>
          <p:cNvPr id="7" name="Text 4"/>
          <p:cNvSpPr txBox="1"/>
          <p:nvPr/>
        </p:nvSpPr>
        <p:spPr>
          <a:xfrm>
            <a:off x="1014984" y="1755648"/>
            <a:ext cx="3913632" cy="182880"/>
          </a:xfrm>
          <a:prstGeom prst="rect">
            <a:avLst/>
          </a:prstGeom>
          <a:noFill/>
          <a:ln/>
        </p:spPr>
        <p:txBody>
          <a:bodyPr wrap="square" lIns="0" tIns="0" rIns="0" bIns="0" rtlCol="0" anchor="ctr"/>
          <a:lstStyle/>
          <a:p>
            <a:pPr indent="0" marL="0">
              <a:buNone/>
            </a:pPr>
            <a:r>
              <a:rPr lang="en-US" sz="950" dirty="0">
                <a:solidFill>
                  <a:srgbClr val="7D889B"/>
                </a:solidFill>
              </a:rPr>
              <a:t>From  </a:t>
            </a:r>
            <a:pPr indent="0" marL="0">
              <a:buNone/>
            </a:pPr>
            <a:r>
              <a:rPr lang="en-US" sz="950" dirty="0">
                <a:solidFill>
                  <a:srgbClr val="586275"/>
                </a:solidFill>
              </a:rPr>
              <a:t>CloudFormation pipeline</a:t>
            </a:r>
            <a:pPr indent="0" marL="0">
              <a:buNone/>
            </a:pPr>
            <a:r>
              <a:rPr lang="en-US" sz="950" dirty="0">
                <a:solidFill>
                  <a:srgbClr val="7D889B"/>
                </a:solidFill>
              </a:rPr>
              <a:t>     To  </a:t>
            </a:r>
            <a:pPr indent="0" marL="0">
              <a:buNone/>
            </a:pPr>
            <a:r>
              <a:rPr lang="en-US" sz="950" dirty="0">
                <a:solidFill>
                  <a:srgbClr val="586275"/>
                </a:solidFill>
              </a:rPr>
              <a:t>platform-approvers@example.com</a:t>
            </a:r>
            <a:endParaRPr lang="en-US" sz="950" dirty="0"/>
          </a:p>
        </p:txBody>
      </p:sp>
      <p:pic>
        <p:nvPicPr>
          <p:cNvPr id="8" name="Image 0" descr="Attachments">    </p:cNvPr>
          <p:cNvPicPr>
            <a:picLocks noChangeAspect="1"/>
          </p:cNvPicPr>
          <p:nvPr/>
        </p:nvPicPr>
        <p:blipFill>
          <a:blip r:embed="rId1"/>
          <a:stretch>
            <a:fillRect/>
          </a:stretch>
        </p:blipFill>
        <p:spPr>
          <a:xfrm>
            <a:off x="1014984" y="1965960"/>
            <a:ext cx="118872" cy="118872"/>
          </a:xfrm>
          <a:prstGeom prst="rect">
            <a:avLst/>
          </a:prstGeom>
        </p:spPr>
      </p:pic>
      <p:sp>
        <p:nvSpPr>
          <p:cNvPr id="9" name="Text 5"/>
          <p:cNvSpPr txBox="1"/>
          <p:nvPr/>
        </p:nvSpPr>
        <p:spPr>
          <a:xfrm>
            <a:off x="1170432" y="1938528"/>
            <a:ext cx="3758184" cy="182880"/>
          </a:xfrm>
          <a:prstGeom prst="rect">
            <a:avLst/>
          </a:prstGeom>
          <a:noFill/>
          <a:ln/>
        </p:spPr>
        <p:txBody>
          <a:bodyPr wrap="square" lIns="0" tIns="0" rIns="0" bIns="0" rtlCol="0" anchor="ctr"/>
          <a:lstStyle/>
          <a:p>
            <a:pPr indent="0" marL="0">
              <a:buNone/>
            </a:pPr>
            <a:r>
              <a:rPr lang="en-US" sz="950" dirty="0">
                <a:solidFill>
                  <a:srgbClr val="586275"/>
                </a:solidFill>
              </a:rPr>
              <a:t>drifted-resources-live.yaml   ·   +3 more</a:t>
            </a:r>
            <a:endParaRPr lang="en-US" sz="950" dirty="0"/>
          </a:p>
        </p:txBody>
      </p:sp>
      <p:pic>
        <p:nvPicPr>
          <p:cNvPr id="10" name="Image 1" descr="Email screenshot (s2d-top)">    </p:cNvPr>
          <p:cNvPicPr>
            <a:picLocks noChangeAspect="1"/>
          </p:cNvPicPr>
          <p:nvPr/>
        </p:nvPicPr>
        <p:blipFill>
          <a:blip r:embed="rId2"/>
          <a:stretch>
            <a:fillRect/>
          </a:stretch>
        </p:blipFill>
        <p:spPr>
          <a:xfrm>
            <a:off x="960120" y="2185416"/>
            <a:ext cx="4023360" cy="3928070"/>
          </a:xfrm>
          <a:prstGeom prst="rect">
            <a:avLst/>
          </a:prstGeom>
        </p:spPr>
      </p:pic>
      <p:sp>
        <p:nvSpPr>
          <p:cNvPr id="11" name="Shape 6"/>
          <p:cNvSpPr/>
          <p:nvPr/>
        </p:nvSpPr>
        <p:spPr>
          <a:xfrm>
            <a:off x="960120" y="2185416"/>
            <a:ext cx="4023360" cy="3928070"/>
          </a:xfrm>
          <a:prstGeom prst="rect">
            <a:avLst/>
          </a:prstGeom>
          <a:solidFill>
            <a:srgbClr val="FFFFFF">
              <a:alpha val="0"/>
            </a:srgbClr>
          </a:solidFill>
          <a:ln w="9525">
            <a:solidFill>
              <a:srgbClr val="E3E7EE"/>
            </a:solidFill>
            <a:prstDash val="solid"/>
          </a:ln>
        </p:spPr>
      </p:sp>
      <p:sp>
        <p:nvSpPr>
          <p:cNvPr id="12" name="Callout 1"/>
          <p:cNvSpPr txBox="1"/>
          <p:nvPr/>
        </p:nvSpPr>
        <p:spPr>
          <a:xfrm>
            <a:off x="512064" y="2364446"/>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3" name="Callout 2"/>
          <p:cNvSpPr txBox="1"/>
          <p:nvPr/>
        </p:nvSpPr>
        <p:spPr>
          <a:xfrm>
            <a:off x="512064" y="2947304"/>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4" name="Callout 3"/>
          <p:cNvSpPr txBox="1"/>
          <p:nvPr/>
        </p:nvSpPr>
        <p:spPr>
          <a:xfrm>
            <a:off x="512064" y="3931439"/>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15" name="Callout 4"/>
          <p:cNvSpPr txBox="1"/>
          <p:nvPr/>
        </p:nvSpPr>
        <p:spPr>
          <a:xfrm>
            <a:off x="512064" y="4781109"/>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16" name="Callout 5"/>
          <p:cNvSpPr txBox="1"/>
          <p:nvPr/>
        </p:nvSpPr>
        <p:spPr>
          <a:xfrm>
            <a:off x="512064" y="5583134"/>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5</a:t>
            </a:r>
            <a:endParaRPr lang="en-US" sz="1050" dirty="0"/>
          </a:p>
        </p:txBody>
      </p:sp>
      <p:sp>
        <p:nvSpPr>
          <p:cNvPr id="17" name="Callout 1"/>
          <p:cNvSpPr txBox="1"/>
          <p:nvPr/>
        </p:nvSpPr>
        <p:spPr>
          <a:xfrm>
            <a:off x="5440680" y="157276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8" name="Text 13"/>
          <p:cNvSpPr txBox="1"/>
          <p:nvPr/>
        </p:nvSpPr>
        <p:spPr>
          <a:xfrm>
            <a:off x="5824728" y="1554480"/>
            <a:ext cx="5815584" cy="310896"/>
          </a:xfrm>
          <a:prstGeom prst="rect">
            <a:avLst/>
          </a:prstGeom>
          <a:noFill/>
          <a:ln/>
        </p:spPr>
        <p:txBody>
          <a:bodyPr wrap="square" lIns="0" tIns="0" rIns="0" bIns="0" rtlCol="0" anchor="ctr"/>
          <a:lstStyle/>
          <a:p>
            <a:pPr indent="0" marL="0">
              <a:buNone/>
            </a:pPr>
            <a:r>
              <a:rPr lang="en-US" sz="1400" b="1" dirty="0">
                <a:solidFill>
                  <a:srgbClr val="16243A"/>
                </a:solidFill>
              </a:rPr>
              <a:t>Drift found, deployment halted</a:t>
            </a:r>
            <a:endParaRPr lang="en-US" sz="1400" dirty="0"/>
          </a:p>
        </p:txBody>
      </p:sp>
      <p:sp>
        <p:nvSpPr>
          <p:cNvPr id="19" name="Text 14"/>
          <p:cNvSpPr txBox="1"/>
          <p:nvPr/>
        </p:nvSpPr>
        <p:spPr>
          <a:xfrm>
            <a:off x="5824728" y="1874520"/>
            <a:ext cx="5815584" cy="502920"/>
          </a:xfrm>
          <a:prstGeom prst="rect">
            <a:avLst/>
          </a:prstGeom>
          <a:noFill/>
          <a:ln/>
        </p:spPr>
        <p:txBody>
          <a:bodyPr wrap="square" lIns="0" tIns="0" rIns="0" bIns="0" rtlCol="0" anchor="t"/>
          <a:lstStyle/>
          <a:p>
            <a:pPr indent="0" marL="0">
              <a:buNone/>
            </a:pPr>
            <a:r>
              <a:rPr lang="en-US" sz="1200" dirty="0">
                <a:solidFill>
                  <a:srgbClr val="131925"/>
                </a:solidFill>
              </a:rPr>
              <a:t>Red header; the subject names the stack and how many resources drifted.</a:t>
            </a:r>
            <a:endParaRPr lang="en-US" sz="1200" dirty="0"/>
          </a:p>
        </p:txBody>
      </p:sp>
      <p:sp>
        <p:nvSpPr>
          <p:cNvPr id="20" name="Callout 2"/>
          <p:cNvSpPr txBox="1"/>
          <p:nvPr/>
        </p:nvSpPr>
        <p:spPr>
          <a:xfrm>
            <a:off x="5440680" y="248716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21" name="Text 16"/>
          <p:cNvSpPr txBox="1"/>
          <p:nvPr/>
        </p:nvSpPr>
        <p:spPr>
          <a:xfrm>
            <a:off x="5824728" y="2468880"/>
            <a:ext cx="5815584" cy="310896"/>
          </a:xfrm>
          <a:prstGeom prst="rect">
            <a:avLst/>
          </a:prstGeom>
          <a:noFill/>
          <a:ln/>
        </p:spPr>
        <p:txBody>
          <a:bodyPr wrap="square" lIns="0" tIns="0" rIns="0" bIns="0" rtlCol="0" anchor="ctr"/>
          <a:lstStyle/>
          <a:p>
            <a:pPr indent="0" marL="0">
              <a:buNone/>
            </a:pPr>
            <a:r>
              <a:rPr lang="en-US" sz="1400" b="1" dirty="0">
                <a:solidFill>
                  <a:srgbClr val="16243A"/>
                </a:solidFill>
              </a:rPr>
              <a:t>Nothing changed in AWS</a:t>
            </a:r>
            <a:endParaRPr lang="en-US" sz="1400" dirty="0"/>
          </a:p>
        </p:txBody>
      </p:sp>
      <p:sp>
        <p:nvSpPr>
          <p:cNvPr id="22" name="Text 17"/>
          <p:cNvSpPr txBox="1"/>
          <p:nvPr/>
        </p:nvSpPr>
        <p:spPr>
          <a:xfrm>
            <a:off x="5824728" y="2788920"/>
            <a:ext cx="5815584" cy="502920"/>
          </a:xfrm>
          <a:prstGeom prst="rect">
            <a:avLst/>
          </a:prstGeom>
          <a:noFill/>
          <a:ln/>
        </p:spPr>
        <p:txBody>
          <a:bodyPr wrap="square" lIns="0" tIns="0" rIns="0" bIns="0" rtlCol="0" anchor="t"/>
          <a:lstStyle/>
          <a:p>
            <a:pPr indent="0" marL="0">
              <a:buNone/>
            </a:pPr>
            <a:r>
              <a:rPr lang="en-US" sz="1200" dirty="0">
                <a:solidFill>
                  <a:srgbClr val="131925"/>
                </a:solidFill>
              </a:rPr>
              <a:t>No change set was created, so the run touched nothing.</a:t>
            </a:r>
            <a:endParaRPr lang="en-US" sz="1200" dirty="0"/>
          </a:p>
        </p:txBody>
      </p:sp>
      <p:sp>
        <p:nvSpPr>
          <p:cNvPr id="23" name="Callout 3"/>
          <p:cNvSpPr txBox="1"/>
          <p:nvPr/>
        </p:nvSpPr>
        <p:spPr>
          <a:xfrm>
            <a:off x="5440680" y="340156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24" name="Text 19"/>
          <p:cNvSpPr txBox="1"/>
          <p:nvPr/>
        </p:nvSpPr>
        <p:spPr>
          <a:xfrm>
            <a:off x="5824728" y="3383280"/>
            <a:ext cx="5815584" cy="310896"/>
          </a:xfrm>
          <a:prstGeom prst="rect">
            <a:avLst/>
          </a:prstGeom>
          <a:noFill/>
          <a:ln/>
        </p:spPr>
        <p:txBody>
          <a:bodyPr wrap="square" lIns="0" tIns="0" rIns="0" bIns="0" rtlCol="0" anchor="ctr"/>
          <a:lstStyle/>
          <a:p>
            <a:pPr indent="0" marL="0">
              <a:buNone/>
            </a:pPr>
            <a:r>
              <a:rPr lang="en-US" sz="1400" b="1" dirty="0">
                <a:solidFill>
                  <a:srgbClr val="16243A"/>
                </a:solidFill>
              </a:rPr>
              <a:t>Where and when</a:t>
            </a:r>
            <a:endParaRPr lang="en-US" sz="1400" dirty="0"/>
          </a:p>
        </p:txBody>
      </p:sp>
      <p:sp>
        <p:nvSpPr>
          <p:cNvPr id="25" name="Text 20"/>
          <p:cNvSpPr txBox="1"/>
          <p:nvPr/>
        </p:nvSpPr>
        <p:spPr>
          <a:xfrm>
            <a:off x="5824728" y="3703320"/>
            <a:ext cx="5815584" cy="502920"/>
          </a:xfrm>
          <a:prstGeom prst="rect">
            <a:avLst/>
          </a:prstGeom>
          <a:noFill/>
          <a:ln/>
        </p:spPr>
        <p:txBody>
          <a:bodyPr wrap="square" lIns="0" tIns="0" rIns="0" bIns="0" rtlCol="0" anchor="t"/>
          <a:lstStyle/>
          <a:p>
            <a:pPr indent="0" marL="0">
              <a:buNone/>
            </a:pPr>
            <a:r>
              <a:rPr lang="en-US" sz="1200" dirty="0">
                <a:solidFill>
                  <a:srgbClr val="131925"/>
                </a:solidFill>
              </a:rPr>
              <a:t>Stack, account, region, when drift was checked, and the drift policy that stopped the run.</a:t>
            </a:r>
            <a:endParaRPr lang="en-US" sz="1200" dirty="0"/>
          </a:p>
        </p:txBody>
      </p:sp>
      <p:sp>
        <p:nvSpPr>
          <p:cNvPr id="26" name="Callout 4"/>
          <p:cNvSpPr txBox="1"/>
          <p:nvPr/>
        </p:nvSpPr>
        <p:spPr>
          <a:xfrm>
            <a:off x="5440680" y="431596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7" name="Text 22"/>
          <p:cNvSpPr txBox="1"/>
          <p:nvPr/>
        </p:nvSpPr>
        <p:spPr>
          <a:xfrm>
            <a:off x="5824728" y="4297680"/>
            <a:ext cx="5815584" cy="310896"/>
          </a:xfrm>
          <a:prstGeom prst="rect">
            <a:avLst/>
          </a:prstGeom>
          <a:noFill/>
          <a:ln/>
        </p:spPr>
        <p:txBody>
          <a:bodyPr wrap="square" lIns="0" tIns="0" rIns="0" bIns="0" rtlCol="0" anchor="ctr"/>
          <a:lstStyle/>
          <a:p>
            <a:pPr indent="0" marL="0">
              <a:buNone/>
            </a:pPr>
            <a:r>
              <a:rPr lang="en-US" sz="1400" b="1" dirty="0">
                <a:solidFill>
                  <a:srgbClr val="16243A"/>
                </a:solidFill>
              </a:rPr>
              <a:t>Straight to the evidence</a:t>
            </a:r>
            <a:endParaRPr lang="en-US" sz="1400" dirty="0"/>
          </a:p>
        </p:txBody>
      </p:sp>
      <p:sp>
        <p:nvSpPr>
          <p:cNvPr id="28" name="Text 23"/>
          <p:cNvSpPr txBox="1"/>
          <p:nvPr/>
        </p:nvSpPr>
        <p:spPr>
          <a:xfrm>
            <a:off x="5824728" y="4617720"/>
            <a:ext cx="5815584" cy="502920"/>
          </a:xfrm>
          <a:prstGeom prst="rect">
            <a:avLst/>
          </a:prstGeom>
          <a:noFill/>
          <a:ln/>
        </p:spPr>
        <p:txBody>
          <a:bodyPr wrap="square" lIns="0" tIns="0" rIns="0" bIns="0" rtlCol="0" anchor="t"/>
          <a:lstStyle/>
          <a:p>
            <a:pPr indent="0" marL="0">
              <a:buNone/>
            </a:pPr>
            <a:r>
              <a:rPr lang="en-US" sz="1200" dirty="0">
                <a:solidFill>
                  <a:srgbClr val="131925"/>
                </a:solidFill>
              </a:rPr>
              <a:t>The drift view in the AWS console, or the pipeline run.</a:t>
            </a:r>
            <a:endParaRPr lang="en-US" sz="1200" dirty="0"/>
          </a:p>
        </p:txBody>
      </p:sp>
      <p:sp>
        <p:nvSpPr>
          <p:cNvPr id="29" name="Callout 5"/>
          <p:cNvSpPr txBox="1"/>
          <p:nvPr/>
        </p:nvSpPr>
        <p:spPr>
          <a:xfrm>
            <a:off x="5440680" y="523036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5</a:t>
            </a:r>
            <a:endParaRPr lang="en-US" sz="1050" dirty="0"/>
          </a:p>
        </p:txBody>
      </p:sp>
      <p:sp>
        <p:nvSpPr>
          <p:cNvPr id="30" name="Text 25"/>
          <p:cNvSpPr txBox="1"/>
          <p:nvPr/>
        </p:nvSpPr>
        <p:spPr>
          <a:xfrm>
            <a:off x="5824728" y="5212080"/>
            <a:ext cx="5815584" cy="310896"/>
          </a:xfrm>
          <a:prstGeom prst="rect">
            <a:avLst/>
          </a:prstGeom>
          <a:noFill/>
          <a:ln/>
        </p:spPr>
        <p:txBody>
          <a:bodyPr wrap="square" lIns="0" tIns="0" rIns="0" bIns="0" rtlCol="0" anchor="ctr"/>
          <a:lstStyle/>
          <a:p>
            <a:pPr indent="0" marL="0">
              <a:buNone/>
            </a:pPr>
            <a:r>
              <a:rPr lang="en-US" sz="1400" b="1" dirty="0">
                <a:solidFill>
                  <a:srgbClr val="16243A"/>
                </a:solidFill>
              </a:rPr>
              <a:t>Every drifted resource, with Amazon Q's verdict</a:t>
            </a:r>
            <a:endParaRPr lang="en-US" sz="1400" dirty="0"/>
          </a:p>
        </p:txBody>
      </p:sp>
      <p:sp>
        <p:nvSpPr>
          <p:cNvPr id="31" name="Text 26"/>
          <p:cNvSpPr txBox="1"/>
          <p:nvPr/>
        </p:nvSpPr>
        <p:spPr>
          <a:xfrm>
            <a:off x="5824728" y="5532120"/>
            <a:ext cx="5815584" cy="502920"/>
          </a:xfrm>
          <a:prstGeom prst="rect">
            <a:avLst/>
          </a:prstGeom>
          <a:noFill/>
          <a:ln/>
        </p:spPr>
        <p:txBody>
          <a:bodyPr wrap="square" lIns="0" tIns="0" rIns="0" bIns="0" rtlCol="0" anchor="t"/>
          <a:lstStyle/>
          <a:p>
            <a:pPr indent="0" marL="0">
              <a:buNone/>
            </a:pPr>
            <a:r>
              <a:rPr lang="en-US" sz="1200" dirty="0">
                <a:solidFill>
                  <a:srgbClr val="131925"/>
                </a:solidFill>
              </a:rPr>
              <a:t>REVERT TO TEMPLATE for the SSH rule; ADOPT LIVE for the resize.</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Further down: Amazon Q's suggested fix for each resource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Expected and live values, a recommendation, and template code ready to paste</a:t>
            </a:r>
            <a:endParaRPr lang="en-US" sz="1400" dirty="0"/>
          </a:p>
        </p:txBody>
      </p:sp>
      <p:pic>
        <p:nvPicPr>
          <p:cNvPr id="5" name="Image 0" descr="Email screenshot (s2d-sg)">    </p:cNvPr>
          <p:cNvPicPr>
            <a:picLocks noChangeAspect="1"/>
          </p:cNvPicPr>
          <p:nvPr/>
        </p:nvPicPr>
        <p:blipFill>
          <a:blip r:embed="rId1"/>
          <a:stretch>
            <a:fillRect/>
          </a:stretch>
        </p:blipFill>
        <p:spPr>
          <a:xfrm>
            <a:off x="868680" y="1463040"/>
            <a:ext cx="5257800" cy="2650686"/>
          </a:xfrm>
          <a:prstGeom prst="rect">
            <a:avLst/>
          </a:prstGeom>
        </p:spPr>
      </p:pic>
      <p:sp>
        <p:nvSpPr>
          <p:cNvPr id="6" name="Shape 2"/>
          <p:cNvSpPr/>
          <p:nvPr/>
        </p:nvSpPr>
        <p:spPr>
          <a:xfrm>
            <a:off x="868680" y="1463040"/>
            <a:ext cx="5257800" cy="2650686"/>
          </a:xfrm>
          <a:prstGeom prst="rect">
            <a:avLst/>
          </a:prstGeom>
          <a:solidFill>
            <a:srgbClr val="FFFFFF">
              <a:alpha val="0"/>
            </a:srgbClr>
          </a:solidFill>
          <a:ln w="9525">
            <a:solidFill>
              <a:srgbClr val="D5DBE5"/>
            </a:solidFill>
            <a:prstDash val="solid"/>
          </a:ln>
        </p:spPr>
      </p:sp>
      <p:pic>
        <p:nvPicPr>
          <p:cNvPr id="7" name="Image 1" descr="Email screenshot (s2d-inst)">    </p:cNvPr>
          <p:cNvPicPr>
            <a:picLocks noChangeAspect="1"/>
          </p:cNvPicPr>
          <p:nvPr/>
        </p:nvPicPr>
        <p:blipFill>
          <a:blip r:embed="rId2"/>
          <a:stretch>
            <a:fillRect/>
          </a:stretch>
        </p:blipFill>
        <p:spPr>
          <a:xfrm>
            <a:off x="6382512" y="1463040"/>
            <a:ext cx="5257800" cy="2745094"/>
          </a:xfrm>
          <a:prstGeom prst="rect">
            <a:avLst/>
          </a:prstGeom>
        </p:spPr>
      </p:pic>
      <p:sp>
        <p:nvSpPr>
          <p:cNvPr id="8" name="Shape 3"/>
          <p:cNvSpPr/>
          <p:nvPr/>
        </p:nvSpPr>
        <p:spPr>
          <a:xfrm>
            <a:off x="6382512" y="1463040"/>
            <a:ext cx="5257800" cy="2745094"/>
          </a:xfrm>
          <a:prstGeom prst="rect">
            <a:avLst/>
          </a:prstGeom>
          <a:solidFill>
            <a:srgbClr val="FFFFFF">
              <a:alpha val="0"/>
            </a:srgbClr>
          </a:solidFill>
          <a:ln w="9525">
            <a:solidFill>
              <a:srgbClr val="D5DBE5"/>
            </a:solidFill>
            <a:prstDash val="solid"/>
          </a:ln>
        </p:spPr>
      </p:sp>
      <p:pic>
        <p:nvPicPr>
          <p:cNvPr id="9" name="Image 2" descr="Email screenshot (s2d-inst-param)">    </p:cNvPr>
          <p:cNvPicPr>
            <a:picLocks noChangeAspect="1"/>
          </p:cNvPicPr>
          <p:nvPr/>
        </p:nvPicPr>
        <p:blipFill>
          <a:blip r:embed="rId3"/>
          <a:stretch>
            <a:fillRect/>
          </a:stretch>
        </p:blipFill>
        <p:spPr>
          <a:xfrm>
            <a:off x="6382512" y="4281286"/>
            <a:ext cx="5257800" cy="602759"/>
          </a:xfrm>
          <a:prstGeom prst="rect">
            <a:avLst/>
          </a:prstGeom>
        </p:spPr>
      </p:pic>
      <p:sp>
        <p:nvSpPr>
          <p:cNvPr id="10" name="Shape 4"/>
          <p:cNvSpPr/>
          <p:nvPr/>
        </p:nvSpPr>
        <p:spPr>
          <a:xfrm>
            <a:off x="6382512" y="4281286"/>
            <a:ext cx="5257800" cy="602759"/>
          </a:xfrm>
          <a:prstGeom prst="rect">
            <a:avLst/>
          </a:prstGeom>
          <a:solidFill>
            <a:srgbClr val="FFFFFF">
              <a:alpha val="0"/>
            </a:srgbClr>
          </a:solidFill>
          <a:ln w="9525">
            <a:solidFill>
              <a:srgbClr val="D5DBE5"/>
            </a:solidFill>
            <a:prstDash val="solid"/>
          </a:ln>
        </p:spPr>
      </p:sp>
      <p:sp>
        <p:nvSpPr>
          <p:cNvPr id="11" name="Callout 1"/>
          <p:cNvSpPr txBox="1"/>
          <p:nvPr/>
        </p:nvSpPr>
        <p:spPr>
          <a:xfrm>
            <a:off x="512064" y="2315415"/>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2" name="Callout 2"/>
          <p:cNvSpPr txBox="1"/>
          <p:nvPr/>
        </p:nvSpPr>
        <p:spPr>
          <a:xfrm>
            <a:off x="512064" y="2769300"/>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3" name="Callout 3"/>
          <p:cNvSpPr txBox="1"/>
          <p:nvPr/>
        </p:nvSpPr>
        <p:spPr>
          <a:xfrm>
            <a:off x="512064" y="3692319"/>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14" name="Callout 1"/>
          <p:cNvSpPr txBox="1"/>
          <p:nvPr/>
        </p:nvSpPr>
        <p:spPr>
          <a:xfrm>
            <a:off x="6135624" y="2217079"/>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5" name="Callout 2"/>
          <p:cNvSpPr txBox="1"/>
          <p:nvPr/>
        </p:nvSpPr>
        <p:spPr>
          <a:xfrm>
            <a:off x="6135624" y="2554769"/>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6" name="Callout 4"/>
          <p:cNvSpPr txBox="1"/>
          <p:nvPr/>
        </p:nvSpPr>
        <p:spPr>
          <a:xfrm>
            <a:off x="6135624" y="4577084"/>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17" name="Callout 1"/>
          <p:cNvSpPr txBox="1"/>
          <p:nvPr/>
        </p:nvSpPr>
        <p:spPr>
          <a:xfrm>
            <a:off x="877824" y="4315968"/>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18" name="Text 12"/>
          <p:cNvSpPr txBox="1"/>
          <p:nvPr/>
        </p:nvSpPr>
        <p:spPr>
          <a:xfrm>
            <a:off x="1234440" y="4279392"/>
            <a:ext cx="4892040" cy="493776"/>
          </a:xfrm>
          <a:prstGeom prst="rect">
            <a:avLst/>
          </a:prstGeom>
          <a:noFill/>
          <a:ln/>
        </p:spPr>
        <p:txBody>
          <a:bodyPr wrap="square" lIns="0" tIns="0" rIns="0" bIns="0" rtlCol="0" anchor="t"/>
          <a:lstStyle/>
          <a:p>
            <a:pPr indent="0" marL="0">
              <a:buNone/>
            </a:pPr>
            <a:r>
              <a:rPr lang="en-US" sz="1200" b="1" dirty="0">
                <a:solidFill>
                  <a:srgbClr val="16243A"/>
                </a:solidFill>
              </a:rPr>
              <a:t>What drifted.  </a:t>
            </a:r>
            <a:pPr indent="0" marL="0">
              <a:buNone/>
            </a:pPr>
            <a:r>
              <a:rPr lang="en-US" sz="1200" dirty="0">
                <a:solidFill>
                  <a:srgbClr val="131925"/>
                </a:solidFill>
              </a:rPr>
              <a:t>Template value against live value, for each changed property.</a:t>
            </a:r>
            <a:endParaRPr lang="en-US" sz="1200" dirty="0"/>
          </a:p>
        </p:txBody>
      </p:sp>
      <p:sp>
        <p:nvSpPr>
          <p:cNvPr id="19" name="Callout 2"/>
          <p:cNvSpPr txBox="1"/>
          <p:nvPr/>
        </p:nvSpPr>
        <p:spPr>
          <a:xfrm>
            <a:off x="877824" y="4818888"/>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20" name="Text 14"/>
          <p:cNvSpPr txBox="1"/>
          <p:nvPr/>
        </p:nvSpPr>
        <p:spPr>
          <a:xfrm>
            <a:off x="1234440" y="4782312"/>
            <a:ext cx="4892040" cy="493776"/>
          </a:xfrm>
          <a:prstGeom prst="rect">
            <a:avLst/>
          </a:prstGeom>
          <a:noFill/>
          <a:ln/>
        </p:spPr>
        <p:txBody>
          <a:bodyPr wrap="square" lIns="0" tIns="0" rIns="0" bIns="0" rtlCol="0" anchor="t"/>
          <a:lstStyle/>
          <a:p>
            <a:pPr indent="0" marL="0">
              <a:buNone/>
            </a:pPr>
            <a:r>
              <a:rPr lang="en-US" sz="1200" b="1" dirty="0">
                <a:solidFill>
                  <a:srgbClr val="16243A"/>
                </a:solidFill>
              </a:rPr>
              <a:t>Amazon Q's verdict.  </a:t>
            </a:r>
            <a:pPr indent="0" marL="0">
              <a:buNone/>
            </a:pPr>
            <a:r>
              <a:rPr lang="en-US" sz="1200" dirty="0">
                <a:solidFill>
                  <a:srgbClr val="131925"/>
                </a:solidFill>
              </a:rPr>
              <a:t>Revert the SSH rule (risk HIGH); keep the resize (risk LOW).</a:t>
            </a:r>
            <a:endParaRPr lang="en-US" sz="1200" dirty="0"/>
          </a:p>
        </p:txBody>
      </p:sp>
      <p:sp>
        <p:nvSpPr>
          <p:cNvPr id="21" name="Callout 3"/>
          <p:cNvSpPr txBox="1"/>
          <p:nvPr/>
        </p:nvSpPr>
        <p:spPr>
          <a:xfrm>
            <a:off x="877824" y="5321808"/>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22" name="Text 16"/>
          <p:cNvSpPr txBox="1"/>
          <p:nvPr/>
        </p:nvSpPr>
        <p:spPr>
          <a:xfrm>
            <a:off x="1234440" y="5285232"/>
            <a:ext cx="4892040" cy="493776"/>
          </a:xfrm>
          <a:prstGeom prst="rect">
            <a:avLst/>
          </a:prstGeom>
          <a:noFill/>
          <a:ln/>
        </p:spPr>
        <p:txBody>
          <a:bodyPr wrap="square" lIns="0" tIns="0" rIns="0" bIns="0" rtlCol="0" anchor="t"/>
          <a:lstStyle/>
          <a:p>
            <a:pPr indent="0" marL="0">
              <a:buNone/>
            </a:pPr>
            <a:r>
              <a:rPr lang="en-US" sz="1200" b="1" dirty="0">
                <a:solidFill>
                  <a:srgbClr val="16243A"/>
                </a:solidFill>
              </a:rPr>
              <a:t>The reasoning.  </a:t>
            </a:r>
            <a:pPr indent="0" marL="0">
              <a:buNone/>
            </a:pPr>
            <a:r>
              <a:rPr lang="en-US" sz="1200" dirty="0">
                <a:solidFill>
                  <a:srgbClr val="131925"/>
                </a:solidFill>
              </a:rPr>
              <a:t>Impact and why, in plain words, for the approver and the owner.</a:t>
            </a:r>
            <a:endParaRPr lang="en-US" sz="1200" dirty="0"/>
          </a:p>
        </p:txBody>
      </p:sp>
      <p:sp>
        <p:nvSpPr>
          <p:cNvPr id="23" name="Callout 4"/>
          <p:cNvSpPr txBox="1"/>
          <p:nvPr/>
        </p:nvSpPr>
        <p:spPr>
          <a:xfrm>
            <a:off x="877824" y="5824728"/>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4" name="Text 18"/>
          <p:cNvSpPr txBox="1"/>
          <p:nvPr/>
        </p:nvSpPr>
        <p:spPr>
          <a:xfrm>
            <a:off x="1234440" y="5788152"/>
            <a:ext cx="4892040" cy="493776"/>
          </a:xfrm>
          <a:prstGeom prst="rect">
            <a:avLst/>
          </a:prstGeom>
          <a:noFill/>
          <a:ln/>
        </p:spPr>
        <p:txBody>
          <a:bodyPr wrap="square" lIns="0" tIns="0" rIns="0" bIns="0" rtlCol="0" anchor="t"/>
          <a:lstStyle/>
          <a:p>
            <a:pPr indent="0" marL="0">
              <a:buNone/>
            </a:pPr>
            <a:r>
              <a:rPr lang="en-US" sz="1200" b="1" dirty="0">
                <a:solidFill>
                  <a:srgbClr val="16243A"/>
                </a:solidFill>
              </a:rPr>
              <a:t>The fix, ready to use.  </a:t>
            </a:r>
            <a:pPr indent="0" marL="0">
              <a:buNone/>
            </a:pPr>
            <a:r>
              <a:rPr lang="en-US" sz="1200" dirty="0">
                <a:solidFill>
                  <a:srgbClr val="131925"/>
                </a:solidFill>
              </a:rPr>
              <a:t>Template code for each resource, plus the params.json change InstanceType → t3.medium.</a:t>
            </a:r>
            <a:endParaRPr lang="en-US" sz="1200" dirty="0"/>
          </a:p>
        </p:txBody>
      </p:sp>
      <p:sp>
        <p:nvSpPr>
          <p:cNvPr id="25" name="Shape 19"/>
          <p:cNvSpPr/>
          <p:nvPr/>
        </p:nvSpPr>
        <p:spPr>
          <a:xfrm>
            <a:off x="6382512" y="5066925"/>
            <a:ext cx="5257800" cy="1188720"/>
          </a:xfrm>
          <a:prstGeom prst="roundRect">
            <a:avLst>
              <a:gd name="adj" fmla="val 7692"/>
            </a:avLst>
          </a:prstGeom>
          <a:solidFill>
            <a:srgbClr val="EEF1F6"/>
          </a:solidFill>
          <a:ln w="6350">
            <a:solidFill>
              <a:srgbClr val="EEF1F6"/>
            </a:solidFill>
            <a:prstDash val="solid"/>
          </a:ln>
        </p:spPr>
      </p:sp>
      <p:sp>
        <p:nvSpPr>
          <p:cNvPr id="26" name="Shape 20"/>
          <p:cNvSpPr/>
          <p:nvPr/>
        </p:nvSpPr>
        <p:spPr>
          <a:xfrm>
            <a:off x="6528816" y="5460117"/>
            <a:ext cx="402336" cy="402336"/>
          </a:xfrm>
          <a:prstGeom prst="ellipse">
            <a:avLst/>
          </a:prstGeom>
          <a:solidFill>
            <a:srgbClr val="16243A"/>
          </a:solidFill>
          <a:ln w="6350">
            <a:solidFill>
              <a:srgbClr val="16243A"/>
            </a:solidFill>
            <a:prstDash val="solid"/>
          </a:ln>
        </p:spPr>
      </p:sp>
      <p:pic>
        <p:nvPicPr>
          <p:cNvPr id="27" name="Image 3" descr="Icon">    </p:cNvPr>
          <p:cNvPicPr>
            <a:picLocks noChangeAspect="1"/>
          </p:cNvPicPr>
          <p:nvPr/>
        </p:nvPicPr>
        <p:blipFill>
          <a:blip r:embed="rId4"/>
          <a:stretch>
            <a:fillRect/>
          </a:stretch>
        </p:blipFill>
        <p:spPr>
          <a:xfrm>
            <a:off x="6625377" y="5556678"/>
            <a:ext cx="209215" cy="209215"/>
          </a:xfrm>
          <a:prstGeom prst="rect">
            <a:avLst/>
          </a:prstGeom>
        </p:spPr>
      </p:pic>
      <p:sp>
        <p:nvSpPr>
          <p:cNvPr id="28" name="Text 21"/>
          <p:cNvSpPr txBox="1"/>
          <p:nvPr/>
        </p:nvSpPr>
        <p:spPr>
          <a:xfrm>
            <a:off x="7095744" y="5066925"/>
            <a:ext cx="4389120" cy="1188720"/>
          </a:xfrm>
          <a:prstGeom prst="rect">
            <a:avLst/>
          </a:prstGeom>
          <a:noFill/>
          <a:ln/>
        </p:spPr>
        <p:txBody>
          <a:bodyPr wrap="square" lIns="0" tIns="0" rIns="0" bIns="0" rtlCol="0" anchor="ctr"/>
          <a:lstStyle/>
          <a:p>
            <a:pPr indent="0" marL="0">
              <a:buNone/>
            </a:pPr>
            <a:r>
              <a:rPr lang="en-US" sz="1200" b="1" dirty="0">
                <a:solidFill>
                  <a:srgbClr val="16243A"/>
                </a:solidFill>
              </a:rPr>
              <a:t>Amazon Q in the pipeline.  </a:t>
            </a:r>
            <a:pPr indent="0" marL="0">
              <a:buNone/>
            </a:pPr>
            <a:r>
              <a:rPr lang="en-US" sz="1200" dirty="0">
                <a:solidFill>
                  <a:srgbClr val="131925"/>
                </a:solidFill>
              </a:rPr>
              <a:t>Amazon Q Developer runs headless (Kiro CLI), with Amazon Bedrock as the fallback. A person reviews every suggestion before anything changes.</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Next run's approval email: keep the resize, remove SSH</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A drift-aware change set, approved like any other</a:t>
            </a:r>
            <a:endParaRPr lang="en-US" sz="1400" dirty="0"/>
          </a:p>
        </p:txBody>
      </p:sp>
      <p:sp>
        <p:nvSpPr>
          <p:cNvPr id="5" name="Email window"/>
          <p:cNvSpPr/>
          <p:nvPr/>
        </p:nvSpPr>
        <p:spPr>
          <a:xfrm>
            <a:off x="868680" y="1417320"/>
            <a:ext cx="4937760" cy="2536257"/>
          </a:xfrm>
          <a:prstGeom prst="roundRect">
            <a:avLst>
              <a:gd name="adj" fmla="val 2884"/>
            </a:avLst>
          </a:prstGeom>
          <a:solidFill>
            <a:srgbClr val="F5F7FA"/>
          </a:solidFill>
          <a:ln w="12700">
            <a:solidFill>
              <a:srgbClr val="D5DBE5"/>
            </a:solidFill>
            <a:prstDash val="solid"/>
          </a:ln>
          <a:effectLst>
            <a:outerShdw sx="100000" sy="100000" kx="0" ky="0" algn="bl" rotWithShape="0" blurRad="101600" dist="25400" dir="5400000">
              <a:srgbClr val="1B2A41">
                <a:alpha val="12000"/>
              </a:srgbClr>
            </a:outerShdw>
          </a:effectLst>
        </p:spPr>
      </p:sp>
      <p:sp>
        <p:nvSpPr>
          <p:cNvPr id="6" name="Text 3"/>
          <p:cNvSpPr txBox="1"/>
          <p:nvPr/>
        </p:nvSpPr>
        <p:spPr>
          <a:xfrm>
            <a:off x="1014984" y="1499616"/>
            <a:ext cx="4645152" cy="256032"/>
          </a:xfrm>
          <a:prstGeom prst="rect">
            <a:avLst/>
          </a:prstGeom>
          <a:noFill/>
          <a:ln/>
        </p:spPr>
        <p:txBody>
          <a:bodyPr wrap="square" lIns="0" tIns="0" rIns="0" bIns="0" rtlCol="0" anchor="ctr"/>
          <a:lstStyle/>
          <a:p>
            <a:pPr indent="0" marL="0">
              <a:buNone/>
            </a:pPr>
            <a:r>
              <a:rPr lang="en-US" sz="1050" b="1" dirty="0">
                <a:solidFill>
                  <a:srgbClr val="131925"/>
                </a:solidFill>
              </a:rPr>
              <a:t>[APPROVAL NEEDED][PRD] app-web — 2 changes, risk MEDIUM</a:t>
            </a:r>
            <a:endParaRPr lang="en-US" sz="1050" dirty="0"/>
          </a:p>
        </p:txBody>
      </p:sp>
      <p:sp>
        <p:nvSpPr>
          <p:cNvPr id="7" name="Text 4"/>
          <p:cNvSpPr txBox="1"/>
          <p:nvPr/>
        </p:nvSpPr>
        <p:spPr>
          <a:xfrm>
            <a:off x="1014984" y="1755648"/>
            <a:ext cx="4645152" cy="182880"/>
          </a:xfrm>
          <a:prstGeom prst="rect">
            <a:avLst/>
          </a:prstGeom>
          <a:noFill/>
          <a:ln/>
        </p:spPr>
        <p:txBody>
          <a:bodyPr wrap="square" lIns="0" tIns="0" rIns="0" bIns="0" rtlCol="0" anchor="ctr"/>
          <a:lstStyle/>
          <a:p>
            <a:pPr indent="0" marL="0">
              <a:buNone/>
            </a:pPr>
            <a:r>
              <a:rPr lang="en-US" sz="950" dirty="0">
                <a:solidFill>
                  <a:srgbClr val="7D889B"/>
                </a:solidFill>
              </a:rPr>
              <a:t>From  </a:t>
            </a:r>
            <a:pPr indent="0" marL="0">
              <a:buNone/>
            </a:pPr>
            <a:r>
              <a:rPr lang="en-US" sz="950" dirty="0">
                <a:solidFill>
                  <a:srgbClr val="586275"/>
                </a:solidFill>
              </a:rPr>
              <a:t>CloudFormation pipeline</a:t>
            </a:r>
            <a:pPr indent="0" marL="0">
              <a:buNone/>
            </a:pPr>
            <a:r>
              <a:rPr lang="en-US" sz="950" dirty="0">
                <a:solidFill>
                  <a:srgbClr val="7D889B"/>
                </a:solidFill>
              </a:rPr>
              <a:t>     To  </a:t>
            </a:r>
            <a:pPr indent="0" marL="0">
              <a:buNone/>
            </a:pPr>
            <a:r>
              <a:rPr lang="en-US" sz="950" dirty="0">
                <a:solidFill>
                  <a:srgbClr val="586275"/>
                </a:solidFill>
              </a:rPr>
              <a:t>platform-approvers@example.com</a:t>
            </a:r>
            <a:endParaRPr lang="en-US" sz="950" dirty="0"/>
          </a:p>
        </p:txBody>
      </p:sp>
      <p:pic>
        <p:nvPicPr>
          <p:cNvPr id="8" name="Image 0" descr="Attachments">    </p:cNvPr>
          <p:cNvPicPr>
            <a:picLocks noChangeAspect="1"/>
          </p:cNvPicPr>
          <p:nvPr/>
        </p:nvPicPr>
        <p:blipFill>
          <a:blip r:embed="rId1"/>
          <a:stretch>
            <a:fillRect/>
          </a:stretch>
        </p:blipFill>
        <p:spPr>
          <a:xfrm>
            <a:off x="1014984" y="1965960"/>
            <a:ext cx="118872" cy="118872"/>
          </a:xfrm>
          <a:prstGeom prst="rect">
            <a:avLst/>
          </a:prstGeom>
        </p:spPr>
      </p:pic>
      <p:sp>
        <p:nvSpPr>
          <p:cNvPr id="9" name="Text 5"/>
          <p:cNvSpPr txBox="1"/>
          <p:nvPr/>
        </p:nvSpPr>
        <p:spPr>
          <a:xfrm>
            <a:off x="1170432" y="1938528"/>
            <a:ext cx="4489704" cy="182880"/>
          </a:xfrm>
          <a:prstGeom prst="rect">
            <a:avLst/>
          </a:prstGeom>
          <a:noFill/>
          <a:ln/>
        </p:spPr>
        <p:txBody>
          <a:bodyPr wrap="square" lIns="0" tIns="0" rIns="0" bIns="0" rtlCol="0" anchor="ctr"/>
          <a:lstStyle/>
          <a:p>
            <a:pPr indent="0" marL="0">
              <a:buNone/>
            </a:pPr>
            <a:r>
              <a:rPr lang="en-US" sz="950" dirty="0">
                <a:solidFill>
                  <a:srgbClr val="586275"/>
                </a:solidFill>
              </a:rPr>
              <a:t>changes.csv   ·   changeset.json</a:t>
            </a:r>
            <a:endParaRPr lang="en-US" sz="950" dirty="0"/>
          </a:p>
        </p:txBody>
      </p:sp>
      <p:pic>
        <p:nvPicPr>
          <p:cNvPr id="10" name="Image 1" descr="Email screenshot (s2a-head)">    </p:cNvPr>
          <p:cNvPicPr>
            <a:picLocks noChangeAspect="1"/>
          </p:cNvPicPr>
          <p:nvPr/>
        </p:nvPicPr>
        <p:blipFill>
          <a:blip r:embed="rId2"/>
          <a:stretch>
            <a:fillRect/>
          </a:stretch>
        </p:blipFill>
        <p:spPr>
          <a:xfrm>
            <a:off x="960120" y="2185416"/>
            <a:ext cx="4754880" cy="1676721"/>
          </a:xfrm>
          <a:prstGeom prst="rect">
            <a:avLst/>
          </a:prstGeom>
        </p:spPr>
      </p:pic>
      <p:sp>
        <p:nvSpPr>
          <p:cNvPr id="11" name="Shape 6"/>
          <p:cNvSpPr/>
          <p:nvPr/>
        </p:nvSpPr>
        <p:spPr>
          <a:xfrm>
            <a:off x="960120" y="2185416"/>
            <a:ext cx="4754880" cy="1676721"/>
          </a:xfrm>
          <a:prstGeom prst="rect">
            <a:avLst/>
          </a:prstGeom>
          <a:solidFill>
            <a:srgbClr val="FFFFFF">
              <a:alpha val="0"/>
            </a:srgbClr>
          </a:solidFill>
          <a:ln w="9525">
            <a:solidFill>
              <a:srgbClr val="E3E7EE"/>
            </a:solidFill>
            <a:prstDash val="solid"/>
          </a:ln>
        </p:spPr>
      </p:sp>
      <p:sp>
        <p:nvSpPr>
          <p:cNvPr id="12" name="Callout 1"/>
          <p:cNvSpPr txBox="1"/>
          <p:nvPr/>
        </p:nvSpPr>
        <p:spPr>
          <a:xfrm>
            <a:off x="512064" y="3405659"/>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pic>
        <p:nvPicPr>
          <p:cNvPr id="13" name="Image 2" descr="Email screenshot (s2a-changes)">    </p:cNvPr>
          <p:cNvPicPr>
            <a:picLocks noChangeAspect="1"/>
          </p:cNvPicPr>
          <p:nvPr/>
        </p:nvPicPr>
        <p:blipFill>
          <a:blip r:embed="rId3"/>
          <a:stretch>
            <a:fillRect/>
          </a:stretch>
        </p:blipFill>
        <p:spPr>
          <a:xfrm>
            <a:off x="6263640" y="1463040"/>
            <a:ext cx="5376672" cy="1351594"/>
          </a:xfrm>
          <a:prstGeom prst="rect">
            <a:avLst/>
          </a:prstGeom>
        </p:spPr>
      </p:pic>
      <p:sp>
        <p:nvSpPr>
          <p:cNvPr id="14" name="Shape 8"/>
          <p:cNvSpPr/>
          <p:nvPr/>
        </p:nvSpPr>
        <p:spPr>
          <a:xfrm>
            <a:off x="6263640" y="1463040"/>
            <a:ext cx="5376672" cy="1351594"/>
          </a:xfrm>
          <a:prstGeom prst="rect">
            <a:avLst/>
          </a:prstGeom>
          <a:solidFill>
            <a:srgbClr val="FFFFFF">
              <a:alpha val="0"/>
            </a:srgbClr>
          </a:solidFill>
          <a:ln w="9525">
            <a:solidFill>
              <a:srgbClr val="D5DBE5"/>
            </a:solidFill>
            <a:prstDash val="solid"/>
          </a:ln>
        </p:spPr>
      </p:sp>
      <p:pic>
        <p:nvPicPr>
          <p:cNvPr id="15" name="Image 3" descr="Email screenshot (s2a-props)">    </p:cNvPr>
          <p:cNvPicPr>
            <a:picLocks noChangeAspect="1"/>
          </p:cNvPicPr>
          <p:nvPr/>
        </p:nvPicPr>
        <p:blipFill>
          <a:blip r:embed="rId4"/>
          <a:stretch>
            <a:fillRect/>
          </a:stretch>
        </p:blipFill>
        <p:spPr>
          <a:xfrm>
            <a:off x="6263640" y="2924362"/>
            <a:ext cx="5376672" cy="1834307"/>
          </a:xfrm>
          <a:prstGeom prst="rect">
            <a:avLst/>
          </a:prstGeom>
        </p:spPr>
      </p:pic>
      <p:sp>
        <p:nvSpPr>
          <p:cNvPr id="16" name="Shape 9"/>
          <p:cNvSpPr/>
          <p:nvPr/>
        </p:nvSpPr>
        <p:spPr>
          <a:xfrm>
            <a:off x="6263640" y="2924362"/>
            <a:ext cx="5376672" cy="1834307"/>
          </a:xfrm>
          <a:prstGeom prst="rect">
            <a:avLst/>
          </a:prstGeom>
          <a:solidFill>
            <a:srgbClr val="FFFFFF">
              <a:alpha val="0"/>
            </a:srgbClr>
          </a:solidFill>
          <a:ln w="9525">
            <a:solidFill>
              <a:srgbClr val="D5DBE5"/>
            </a:solidFill>
            <a:prstDash val="solid"/>
          </a:ln>
        </p:spPr>
      </p:sp>
      <p:sp>
        <p:nvSpPr>
          <p:cNvPr id="17" name="Callout 2"/>
          <p:cNvSpPr txBox="1"/>
          <p:nvPr/>
        </p:nvSpPr>
        <p:spPr>
          <a:xfrm>
            <a:off x="5916168" y="2185573"/>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8" name="Callout 3"/>
          <p:cNvSpPr txBox="1"/>
          <p:nvPr/>
        </p:nvSpPr>
        <p:spPr>
          <a:xfrm>
            <a:off x="5916168" y="3511736"/>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19" name="Callout 4"/>
          <p:cNvSpPr txBox="1"/>
          <p:nvPr/>
        </p:nvSpPr>
        <p:spPr>
          <a:xfrm>
            <a:off x="5916168" y="4432602"/>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0" name="Callout 1"/>
          <p:cNvSpPr txBox="1"/>
          <p:nvPr/>
        </p:nvSpPr>
        <p:spPr>
          <a:xfrm>
            <a:off x="868680" y="422452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21" name="Text 14"/>
          <p:cNvSpPr txBox="1"/>
          <p:nvPr/>
        </p:nvSpPr>
        <p:spPr>
          <a:xfrm>
            <a:off x="1252728" y="4206240"/>
            <a:ext cx="4553712" cy="310896"/>
          </a:xfrm>
          <a:prstGeom prst="rect">
            <a:avLst/>
          </a:prstGeom>
          <a:noFill/>
          <a:ln/>
        </p:spPr>
        <p:txBody>
          <a:bodyPr wrap="square" lIns="0" tIns="0" rIns="0" bIns="0" rtlCol="0" anchor="ctr"/>
          <a:lstStyle/>
          <a:p>
            <a:pPr indent="0" marL="0">
              <a:buNone/>
            </a:pPr>
            <a:r>
              <a:rPr lang="en-US" sz="1400" b="1" dirty="0">
                <a:solidFill>
                  <a:srgbClr val="16243A"/>
                </a:solidFill>
              </a:rPr>
              <a:t>Drift-aware, and says so</a:t>
            </a:r>
            <a:endParaRPr lang="en-US" sz="1400" dirty="0"/>
          </a:p>
        </p:txBody>
      </p:sp>
      <p:sp>
        <p:nvSpPr>
          <p:cNvPr id="22" name="Text 15"/>
          <p:cNvSpPr txBox="1"/>
          <p:nvPr/>
        </p:nvSpPr>
        <p:spPr>
          <a:xfrm>
            <a:off x="1252728" y="4526280"/>
            <a:ext cx="4553712" cy="566928"/>
          </a:xfrm>
          <a:prstGeom prst="rect">
            <a:avLst/>
          </a:prstGeom>
          <a:noFill/>
          <a:ln/>
        </p:spPr>
        <p:txBody>
          <a:bodyPr wrap="square" lIns="0" tIns="0" rIns="0" bIns="0" rtlCol="0" anchor="t"/>
          <a:lstStyle/>
          <a:p>
            <a:pPr indent="0" marL="0">
              <a:buNone/>
            </a:pPr>
            <a:r>
              <a:rPr lang="en-US" sz="1200" dirty="0">
                <a:solidFill>
                  <a:srgbClr val="131925"/>
                </a:solidFill>
              </a:rPr>
              <a:t>Drifted resources go back to the template, except where the template now matches live.</a:t>
            </a:r>
            <a:endParaRPr lang="en-US" sz="1200" dirty="0"/>
          </a:p>
        </p:txBody>
      </p:sp>
      <p:sp>
        <p:nvSpPr>
          <p:cNvPr id="23" name="Callout 2"/>
          <p:cNvSpPr txBox="1"/>
          <p:nvPr/>
        </p:nvSpPr>
        <p:spPr>
          <a:xfrm>
            <a:off x="868680" y="5276088"/>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24" name="Text 17"/>
          <p:cNvSpPr txBox="1"/>
          <p:nvPr/>
        </p:nvSpPr>
        <p:spPr>
          <a:xfrm>
            <a:off x="1252728" y="5257800"/>
            <a:ext cx="4553712" cy="310896"/>
          </a:xfrm>
          <a:prstGeom prst="rect">
            <a:avLst/>
          </a:prstGeom>
          <a:noFill/>
          <a:ln/>
        </p:spPr>
        <p:txBody>
          <a:bodyPr wrap="square" lIns="0" tIns="0" rIns="0" bIns="0" rtlCol="0" anchor="ctr"/>
          <a:lstStyle/>
          <a:p>
            <a:pPr indent="0" marL="0">
              <a:buNone/>
            </a:pPr>
            <a:r>
              <a:rPr lang="en-US" sz="1400" b="1" dirty="0">
                <a:solidFill>
                  <a:srgbClr val="16243A"/>
                </a:solidFill>
              </a:rPr>
              <a:t>Two changes, one decision</a:t>
            </a:r>
            <a:endParaRPr lang="en-US" sz="1400" dirty="0"/>
          </a:p>
        </p:txBody>
      </p:sp>
      <p:sp>
        <p:nvSpPr>
          <p:cNvPr id="25" name="Text 18"/>
          <p:cNvSpPr txBox="1"/>
          <p:nvPr/>
        </p:nvSpPr>
        <p:spPr>
          <a:xfrm>
            <a:off x="1252728" y="5577840"/>
            <a:ext cx="4553712" cy="566928"/>
          </a:xfrm>
          <a:prstGeom prst="rect">
            <a:avLst/>
          </a:prstGeom>
          <a:noFill/>
          <a:ln/>
        </p:spPr>
        <p:txBody>
          <a:bodyPr wrap="square" lIns="0" tIns="0" rIns="0" bIns="0" rtlCol="0" anchor="t"/>
          <a:lstStyle/>
          <a:p>
            <a:pPr indent="0" marL="0">
              <a:buNone/>
            </a:pPr>
            <a:r>
              <a:rPr lang="en-US" sz="1200" dirty="0">
                <a:solidFill>
                  <a:srgbClr val="131925"/>
                </a:solidFill>
              </a:rPr>
              <a:t>Modify the security group (MEDIUM); sync the instance with live (LOW).</a:t>
            </a:r>
            <a:endParaRPr lang="en-US" sz="1200" dirty="0"/>
          </a:p>
        </p:txBody>
      </p:sp>
      <p:sp>
        <p:nvSpPr>
          <p:cNvPr id="26" name="Callout 3"/>
          <p:cNvSpPr txBox="1"/>
          <p:nvPr/>
        </p:nvSpPr>
        <p:spPr>
          <a:xfrm>
            <a:off x="6272784" y="4959837"/>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27" name="Text 20"/>
          <p:cNvSpPr txBox="1"/>
          <p:nvPr/>
        </p:nvSpPr>
        <p:spPr>
          <a:xfrm>
            <a:off x="6629400" y="4923261"/>
            <a:ext cx="5010912" cy="512064"/>
          </a:xfrm>
          <a:prstGeom prst="rect">
            <a:avLst/>
          </a:prstGeom>
          <a:noFill/>
          <a:ln/>
        </p:spPr>
        <p:txBody>
          <a:bodyPr wrap="square" lIns="0" tIns="0" rIns="0" bIns="0" rtlCol="0" anchor="t"/>
          <a:lstStyle/>
          <a:p>
            <a:pPr indent="0" marL="0">
              <a:buNone/>
            </a:pPr>
            <a:r>
              <a:rPr lang="en-US" sz="1200" b="1" dirty="0">
                <a:solidFill>
                  <a:srgbClr val="16243A"/>
                </a:solidFill>
              </a:rPr>
              <a:t>Drift revert.  </a:t>
            </a:r>
            <a:pPr indent="0" marL="0">
              <a:buNone/>
            </a:pPr>
            <a:r>
              <a:rPr lang="en-US" sz="1200" dirty="0">
                <a:solidFill>
                  <a:srgbClr val="131925"/>
                </a:solidFill>
              </a:rPr>
              <a:t>The SSH rule added in the console is removed; the tag is added.</a:t>
            </a:r>
            <a:endParaRPr lang="en-US" sz="1200" dirty="0"/>
          </a:p>
        </p:txBody>
      </p:sp>
      <p:sp>
        <p:nvSpPr>
          <p:cNvPr id="28" name="Callout 4"/>
          <p:cNvSpPr txBox="1"/>
          <p:nvPr/>
        </p:nvSpPr>
        <p:spPr>
          <a:xfrm>
            <a:off x="6272784" y="5526765"/>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9" name="Text 22"/>
          <p:cNvSpPr txBox="1"/>
          <p:nvPr/>
        </p:nvSpPr>
        <p:spPr>
          <a:xfrm>
            <a:off x="6629400" y="5490189"/>
            <a:ext cx="5010912" cy="512064"/>
          </a:xfrm>
          <a:prstGeom prst="rect">
            <a:avLst/>
          </a:prstGeom>
          <a:noFill/>
          <a:ln/>
        </p:spPr>
        <p:txBody>
          <a:bodyPr wrap="square" lIns="0" tIns="0" rIns="0" bIns="0" rtlCol="0" anchor="t"/>
          <a:lstStyle/>
          <a:p>
            <a:pPr indent="0" marL="0">
              <a:buNone/>
            </a:pPr>
            <a:r>
              <a:rPr lang="en-US" sz="1200" b="1" dirty="0">
                <a:solidFill>
                  <a:srgbClr val="16243A"/>
                </a:solidFill>
              </a:rPr>
              <a:t>Sync with live.  </a:t>
            </a:r>
            <a:pPr indent="0" marL="0">
              <a:buNone/>
            </a:pPr>
            <a:r>
              <a:rPr lang="en-US" sz="1200" dirty="0">
                <a:solidFill>
                  <a:srgbClr val="131925"/>
                </a:solidFill>
              </a:rPr>
              <a:t>The instance stays t3.medium; CloudFormation only updates its record.</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A drifted instance: side by side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Same console changes, same tag change</a:t>
            </a:r>
            <a:endParaRPr lang="en-US" sz="1400" dirty="0"/>
          </a:p>
        </p:txBody>
      </p:sp>
      <p:sp>
        <p:nvSpPr>
          <p:cNvPr id="5" name="Text 2"/>
          <p:cNvSpPr txBox="1"/>
          <p:nvPr/>
        </p:nvSpPr>
        <p:spPr>
          <a:xfrm>
            <a:off x="548640" y="1371600"/>
            <a:ext cx="1828800" cy="237744"/>
          </a:xfrm>
          <a:prstGeom prst="rect">
            <a:avLst/>
          </a:prstGeom>
          <a:noFill/>
          <a:ln/>
        </p:spPr>
        <p:txBody>
          <a:bodyPr wrap="square" lIns="0" tIns="0" rIns="0" bIns="0" rtlCol="0" anchor="ctr"/>
          <a:lstStyle/>
          <a:p>
            <a:pPr indent="0" marL="0">
              <a:buNone/>
            </a:pPr>
            <a:r>
              <a:rPr lang="en-US" sz="1150" dirty="0">
                <a:solidFill>
                  <a:srgbClr val="2E8946"/>
                </a:solidFill>
              </a:rPr>
              <a:t>●  </a:t>
            </a:r>
            <a:pPr indent="0" marL="0">
              <a:buNone/>
            </a:pPr>
            <a:r>
              <a:rPr lang="en-US" sz="1150" dirty="0">
                <a:solidFill>
                  <a:srgbClr val="586275"/>
                </a:solidFill>
              </a:rPr>
              <a:t>Handled well</a:t>
            </a:r>
            <a:endParaRPr lang="en-US" sz="1150" dirty="0"/>
          </a:p>
        </p:txBody>
      </p:sp>
      <p:sp>
        <p:nvSpPr>
          <p:cNvPr id="6" name="Text 3"/>
          <p:cNvSpPr txBox="1"/>
          <p:nvPr/>
        </p:nvSpPr>
        <p:spPr>
          <a:xfrm>
            <a:off x="2468880" y="1371600"/>
            <a:ext cx="1828800" cy="237744"/>
          </a:xfrm>
          <a:prstGeom prst="rect">
            <a:avLst/>
          </a:prstGeom>
          <a:noFill/>
          <a:ln/>
        </p:spPr>
        <p:txBody>
          <a:bodyPr wrap="square" lIns="0" tIns="0" rIns="0" bIns="0" rtlCol="0" anchor="ctr"/>
          <a:lstStyle/>
          <a:p>
            <a:pPr indent="0" marL="0">
              <a:buNone/>
            </a:pPr>
            <a:r>
              <a:rPr lang="en-US" sz="1150" dirty="0">
                <a:solidFill>
                  <a:srgbClr val="BF8418"/>
                </a:solidFill>
              </a:rPr>
              <a:t>●  </a:t>
            </a:r>
            <a:pPr indent="0" marL="0">
              <a:buNone/>
            </a:pPr>
            <a:r>
              <a:rPr lang="en-US" sz="1150" dirty="0">
                <a:solidFill>
                  <a:srgbClr val="586275"/>
                </a:solidFill>
              </a:rPr>
              <a:t>Partly handled</a:t>
            </a:r>
            <a:endParaRPr lang="en-US" sz="1150" dirty="0"/>
          </a:p>
        </p:txBody>
      </p:sp>
      <p:sp>
        <p:nvSpPr>
          <p:cNvPr id="7" name="Text 4"/>
          <p:cNvSpPr txBox="1"/>
          <p:nvPr/>
        </p:nvSpPr>
        <p:spPr>
          <a:xfrm>
            <a:off x="4389120" y="1371600"/>
            <a:ext cx="1828800" cy="237744"/>
          </a:xfrm>
          <a:prstGeom prst="rect">
            <a:avLst/>
          </a:prstGeom>
          <a:noFill/>
          <a:ln/>
        </p:spPr>
        <p:txBody>
          <a:bodyPr wrap="square" lIns="0" tIns="0" rIns="0" bIns="0" rtlCol="0" anchor="ctr"/>
          <a:lstStyle/>
          <a:p>
            <a:pPr indent="0" marL="0">
              <a:buNone/>
            </a:pPr>
            <a:r>
              <a:rPr lang="en-US" sz="1150" dirty="0">
                <a:solidFill>
                  <a:srgbClr val="C93A32"/>
                </a:solidFill>
              </a:rPr>
              <a:t>●  </a:t>
            </a:r>
            <a:pPr indent="0" marL="0">
              <a:buNone/>
            </a:pPr>
            <a:r>
              <a:rPr lang="en-US" sz="1150" dirty="0">
                <a:solidFill>
                  <a:srgbClr val="586275"/>
                </a:solidFill>
              </a:rPr>
              <a:t>Not handled</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971800"/>
                <a:gridCol w="3977640"/>
                <a:gridCol w="4142232"/>
              </a:tblGrid>
              <a:tr h="0">
                <a:tc>
                  <a:txBody>
                    <a:bodyPr/>
                    <a:lstStyle/>
                    <a:p>
                      <a:pPr indent="0" marL="0">
                        <a:buNone/>
                      </a:pPr>
                      <a:r>
                        <a:rPr lang="en-US" sz="1100" b="1" dirty="0">
                          <a:solidFill>
                            <a:srgbClr val="586275"/>
                          </a:solidFill>
                        </a:rPr>
                        <a:t>Situation</a:t>
                      </a:r>
                      <a:endParaRPr lang="en-US" sz="11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Current workflow</a:t>
                      </a:r>
                      <a:endParaRPr lang="en-US" sz="11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Proposed pipeline</a:t>
                      </a:r>
                      <a:endParaRPr lang="en-US" sz="11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00" b="1" dirty="0">
                          <a:solidFill>
                            <a:srgbClr val="131925"/>
                          </a:solidFill>
                        </a:rPr>
                        <a:t>Console changes found before deploying</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No; deploy compares old and new templates only</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Yes; drift on the stack and nested stacks stops the run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Who made the change</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Not shown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CloudTrail lookup in the drift email</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SSH opened to the world</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Stays open and unreported</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Reported, then removed through an approved change set</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Instance resized to t3.medium</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Kept until a later change silently undoes it</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Kept on purpose, or reverted, by an approved decision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Template code for the fix</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C93A32"/>
                          </a:solidFill>
                        </a:rPr>
                        <a:t>●  </a:t>
                      </a:r>
                      <a:pPr indent="0" marL="0">
                        <a:buNone/>
                      </a:pPr>
                      <a:r>
                        <a:rPr lang="en-US" sz="130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Live YAML and an Amazon Q suggestion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00" b="1" dirty="0">
                          <a:solidFill>
                            <a:srgbClr val="131925"/>
                          </a:solidFill>
                        </a:rPr>
                        <a:t>What changes in AWS on day 10</a:t>
                      </a:r>
                      <a:endParaRPr lang="en-US" sz="13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BF8418"/>
                          </a:solidFill>
                        </a:rPr>
                        <a:t>●  </a:t>
                      </a:r>
                      <a:pPr indent="0" marL="0">
                        <a:buNone/>
                      </a:pPr>
                      <a:r>
                        <a:rPr lang="en-US" sz="1300" dirty="0">
                          <a:solidFill>
                            <a:srgbClr val="131925"/>
                          </a:solidFill>
                        </a:rPr>
                        <a:t>The tag, with the drift left in place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E8946"/>
                          </a:solidFill>
                        </a:rPr>
                        <a:t>●  </a:t>
                      </a:r>
                      <a:pPr indent="0" marL="0">
                        <a:buNone/>
                      </a:pPr>
                      <a:r>
                        <a:rPr lang="en-US" sz="1300" dirty="0">
                          <a:solidFill>
                            <a:srgbClr val="131925"/>
                          </a:solidFill>
                        </a:rPr>
                        <a:t>Nothing, until the team decides</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03</a:t>
            </a:r>
            <a:endParaRPr lang="en-US" sz="4000" dirty="0"/>
          </a:p>
        </p:txBody>
      </p:sp>
      <p:sp>
        <p:nvSpPr>
          <p:cNvPr id="3" name="Text 0"/>
          <p:cNvSpPr/>
          <p:nvPr>
            <p:ph idx="101" type="title" hasCustomPrompt="1"/>
          </p:nvPr>
        </p:nvSpPr>
        <p:spPr>
          <a:xfrm>
            <a:off x="731520" y="2606040"/>
            <a:ext cx="10241280" cy="1005840"/>
          </a:xfrm>
          <a:prstGeom prst="rect">
            <a:avLst/>
          </a:prstGeom>
          <a:noFill/>
          <a:ln/>
        </p:spPr>
        <p:txBody>
          <a:bodyPr wrap="square" lIns="0" tIns="0" rIns="0" bIns="0" rtlCol="0" anchor="t"/>
          <a:lstStyle/>
          <a:p>
            <a:pPr algn="l" indent="0" marL="0">
              <a:buNone/>
            </a:pPr>
            <a:r>
              <a:rPr lang="en-US" sz="4000" b="1" dirty="0">
                <a:solidFill>
                  <a:schemeClr val="bg1"/>
                </a:solidFill>
              </a:rPr>
              <a:t>Add or update a DNS record</a:t>
            </a:r>
            <a:endParaRPr lang="en-US" sz="4000" dirty="0"/>
          </a:p>
        </p:txBody>
      </p:sp>
      <p:sp>
        <p:nvSpPr>
          <p:cNvPr id="4" name="Text 0"/>
          <p:cNvSpPr/>
          <p:nvPr>
            <p:ph idx="102" type="body" hasCustomPrompt="1"/>
          </p:nvPr>
        </p:nvSpPr>
        <p:spPr>
          <a:xfrm>
            <a:off x="731520" y="3703320"/>
            <a:ext cx="9509760" cy="914400"/>
          </a:xfrm>
          <a:prstGeom prst="rect">
            <a:avLst/>
          </a:prstGeom>
          <a:noFill/>
          <a:ln/>
        </p:spPr>
        <p:txBody>
          <a:bodyPr wrap="square" lIns="0" tIns="0" rIns="0" bIns="0" rtlCol="0" anchor="t"/>
          <a:lstStyle/>
          <a:p>
            <a:pPr indent="0" marL="0">
              <a:buNone/>
            </a:pPr>
            <a:r>
              <a:rPr lang="en-US" sz="1800" dirty="0">
                <a:solidFill>
                  <a:srgbClr val="C9D3E3"/>
                </a:solidFill>
              </a:rPr>
              <a:t>A new A record and a changed CNAME, in a zone that other tools also write to</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example: two changes in a busy zone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example.com · two records change; three others must be left exactly as they are</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514600"/>
                <a:gridCol w="1234440"/>
                <a:gridCol w="3794760"/>
                <a:gridCol w="3547872"/>
              </a:tblGrid>
              <a:tr h="0">
                <a:tc>
                  <a:txBody>
                    <a:bodyPr/>
                    <a:lstStyle/>
                    <a:p>
                      <a:pPr indent="0" marL="0">
                        <a:buNone/>
                      </a:pPr>
                      <a:r>
                        <a:rPr lang="en-US" sz="1100" b="1" dirty="0">
                          <a:solidFill>
                            <a:srgbClr val="586275"/>
                          </a:solidFill>
                        </a:rPr>
                        <a:t>Record</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Type</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Value</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In this example</a:t>
                      </a:r>
                      <a:endParaRPr lang="en-US" sz="11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latin typeface="Courier New" pitchFamily="34" charset="0"/>
                          <a:ea typeface="Courier New" pitchFamily="34" charset="-122"/>
                          <a:cs typeface="Courier New" pitchFamily="34" charset="-120"/>
                        </a:rPr>
                        <a:t>app.example.com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A</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10.20.1.15</a:t>
                      </a:r>
                      <a:endParaRPr lang="en-US" sz="120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A5BD7"/>
                          </a:solidFill>
                        </a:rPr>
                        <a:t>●  </a:t>
                      </a:r>
                      <a:pPr indent="0" marL="0">
                        <a:buNone/>
                      </a:pPr>
                      <a:r>
                        <a:rPr lang="en-US" sz="1300" b="1" dirty="0">
                          <a:solidFill>
                            <a:srgbClr val="173A8F"/>
                          </a:solidFill>
                        </a:rPr>
                        <a:t>Add</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latin typeface="Courier New" pitchFamily="34" charset="0"/>
                          <a:ea typeface="Courier New" pitchFamily="34" charset="-122"/>
                          <a:cs typeface="Courier New" pitchFamily="34" charset="-120"/>
                        </a:rPr>
                        <a:t>www.example.com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CNAME</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web-old.example.net</a:t>
                      </a:r>
                      <a:endParaRPr lang="en-US" sz="1200" dirty="0"/>
                    </a:p>
                    <a:p>
                      <a:pPr indent="0" marL="0">
                        <a:buNone/>
                      </a:pPr>
                      <a:r>
                        <a:rPr lang="en-US" sz="1200" dirty="0">
                          <a:solidFill>
                            <a:srgbClr val="131925"/>
                          </a:solidFill>
                          <a:latin typeface="Courier New" pitchFamily="34" charset="0"/>
                          <a:ea typeface="Courier New" pitchFamily="34" charset="-122"/>
                          <a:cs typeface="Courier New" pitchFamily="34" charset="-120"/>
                        </a:rPr>
                        <a:t>→ web-new.example.net</a:t>
                      </a:r>
                      <a:endParaRPr lang="en-US" sz="12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2A5BD7"/>
                          </a:solidFill>
                        </a:rPr>
                        <a:t>●  </a:t>
                      </a:r>
                      <a:pPr indent="0" marL="0">
                        <a:buNone/>
                      </a:pPr>
                      <a:r>
                        <a:rPr lang="en-US" sz="1300" b="1" dirty="0">
                          <a:solidFill>
                            <a:srgbClr val="173A8F"/>
                          </a:solidFill>
                        </a:rPr>
                        <a:t>Change</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dirty="0">
                          <a:solidFill>
                            <a:srgbClr val="131925"/>
                          </a:solidFill>
                          <a:latin typeface="Courier New" pitchFamily="34" charset="0"/>
                          <a:ea typeface="Courier New" pitchFamily="34" charset="-122"/>
                          <a:cs typeface="Courier New" pitchFamily="34" charset="-120"/>
                        </a:rPr>
                        <a:t>status.example.com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A</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10.20.9.41</a:t>
                      </a:r>
                      <a:endParaRPr lang="en-US" sz="1200" dirty="0"/>
                    </a:p>
                    <a:p>
                      <a:pPr indent="0" marL="0">
                        <a:buNone/>
                      </a:pPr>
                      <a:r>
                        <a:rPr lang="en-US" sz="1200" dirty="0">
                          <a:solidFill>
                            <a:srgbClr val="586275"/>
                          </a:solidFill>
                          <a:latin typeface="Courier New" pitchFamily="34" charset="0"/>
                          <a:ea typeface="Courier New" pitchFamily="34" charset="-122"/>
                          <a:cs typeface="Courier New" pitchFamily="34" charset="-120"/>
                        </a:rPr>
                        <a:t>(was 10.20.9.40)</a:t>
                      </a:r>
                      <a:endParaRPr lang="en-US" sz="12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66728A"/>
                          </a:solidFill>
                        </a:rPr>
                        <a:t>●  </a:t>
                      </a:r>
                      <a:pPr indent="0" marL="0">
                        <a:buNone/>
                      </a:pPr>
                      <a:r>
                        <a:rPr lang="en-US" sz="1300" dirty="0">
                          <a:solidFill>
                            <a:srgbClr val="586275"/>
                          </a:solidFill>
                        </a:rPr>
                        <a:t>Leave alone: repointed in the console during a failover, while the PR was in review</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dirty="0">
                          <a:solidFill>
                            <a:srgbClr val="131925"/>
                          </a:solidFill>
                          <a:latin typeface="Courier New" pitchFamily="34" charset="0"/>
                          <a:ea typeface="Courier New" pitchFamily="34" charset="-122"/>
                          <a:cs typeface="Courier New" pitchFamily="34" charset="-120"/>
                        </a:rPr>
                        <a:t>_3f2a9c.example.com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CNAME</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_9b1d…acm-validations.aws</a:t>
                      </a:r>
                      <a:endParaRPr lang="en-US" sz="120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66728A"/>
                          </a:solidFill>
                        </a:rPr>
                        <a:t>●  </a:t>
                      </a:r>
                      <a:pPr indent="0" marL="0">
                        <a:buNone/>
                      </a:pPr>
                      <a:r>
                        <a:rPr lang="en-US" sz="1300" dirty="0">
                          <a:solidFill>
                            <a:srgbClr val="586275"/>
                          </a:solidFill>
                        </a:rPr>
                        <a:t>Leave alone: ACM certificate validation</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dirty="0">
                          <a:solidFill>
                            <a:srgbClr val="131925"/>
                          </a:solidFill>
                          <a:latin typeface="Courier New" pitchFamily="34" charset="0"/>
                          <a:ea typeface="Courier New" pitchFamily="34" charset="-122"/>
                          <a:cs typeface="Courier New" pitchFamily="34" charset="-120"/>
                        </a:rPr>
                        <a:t>example.com</a:t>
                      </a:r>
                      <a:endParaRPr lang="en-US" sz="125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131925"/>
                          </a:solidFill>
                        </a:rPr>
                        <a:t>A (ALIAS)</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00" dirty="0">
                          <a:solidFill>
                            <a:srgbClr val="131925"/>
                          </a:solidFill>
                          <a:latin typeface="Courier New" pitchFamily="34" charset="0"/>
                          <a:ea typeface="Courier New" pitchFamily="34" charset="-122"/>
                          <a:cs typeface="Courier New" pitchFamily="34" charset="-120"/>
                        </a:rPr>
                        <a:t>CloudFront distribution</a:t>
                      </a:r>
                      <a:endParaRPr lang="en-US" sz="1200" dirty="0">
                        <a:latin typeface="Courier New" charset="0"/>
                        <a:ea typeface="Courier New" charset="0"/>
                        <a:cs typeface="Courier New" charset="0"/>
                      </a:endParaRPr>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66728A"/>
                          </a:solidFill>
                        </a:rPr>
                        <a:t>●  </a:t>
                      </a:r>
                      <a:pPr indent="0" marL="0">
                        <a:buNone/>
                      </a:pPr>
                      <a:r>
                        <a:rPr lang="en-US" sz="1300" dirty="0">
                          <a:solidFill>
                            <a:srgbClr val="586275"/>
                          </a:solidFill>
                        </a:rPr>
                        <a:t>Leave alone: managed by another CloudFormation stack</a:t>
                      </a:r>
                      <a:endParaRPr lang="en-US" sz="1300" dirty="0"/>
                    </a:p>
                  </a:txBody>
                  <a:tcPr marL="127000" marR="127000" marT="139700" marB="1397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6" name="Shape 2"/>
          <p:cNvSpPr/>
          <p:nvPr/>
        </p:nvSpPr>
        <p:spPr>
          <a:xfrm>
            <a:off x="548640" y="5120640"/>
            <a:ext cx="11091672" cy="731520"/>
          </a:xfrm>
          <a:prstGeom prst="roundRect">
            <a:avLst>
              <a:gd name="adj" fmla="val 12500"/>
            </a:avLst>
          </a:prstGeom>
          <a:solidFill>
            <a:srgbClr val="F4FAF6"/>
          </a:solidFill>
          <a:ln w="6350">
            <a:solidFill>
              <a:srgbClr val="F4FAF6"/>
            </a:solidFill>
            <a:prstDash val="solid"/>
          </a:ln>
        </p:spPr>
      </p:sp>
      <p:sp>
        <p:nvSpPr>
          <p:cNvPr id="7" name="Shape 3"/>
          <p:cNvSpPr/>
          <p:nvPr/>
        </p:nvSpPr>
        <p:spPr>
          <a:xfrm>
            <a:off x="694944" y="5285232"/>
            <a:ext cx="402336" cy="402336"/>
          </a:xfrm>
          <a:prstGeom prst="ellipse">
            <a:avLst/>
          </a:prstGeom>
          <a:solidFill>
            <a:srgbClr val="2E8946"/>
          </a:solidFill>
          <a:ln w="6350">
            <a:solidFill>
              <a:srgbClr val="2E8946"/>
            </a:solidFill>
            <a:prstDash val="solid"/>
          </a:ln>
        </p:spPr>
      </p:sp>
      <p:pic>
        <p:nvPicPr>
          <p:cNvPr id="8" name="Image 0" descr="Icon">    </p:cNvPr>
          <p:cNvPicPr>
            <a:picLocks noChangeAspect="1"/>
          </p:cNvPicPr>
          <p:nvPr/>
        </p:nvPicPr>
        <p:blipFill>
          <a:blip r:embed="rId1"/>
          <a:stretch>
            <a:fillRect/>
          </a:stretch>
        </p:blipFill>
        <p:spPr>
          <a:xfrm>
            <a:off x="791505" y="5381793"/>
            <a:ext cx="209215" cy="209215"/>
          </a:xfrm>
          <a:prstGeom prst="rect">
            <a:avLst/>
          </a:prstGeom>
        </p:spPr>
      </p:pic>
      <p:sp>
        <p:nvSpPr>
          <p:cNvPr id="9" name="Text 4"/>
          <p:cNvSpPr txBox="1"/>
          <p:nvPr/>
        </p:nvSpPr>
        <p:spPr>
          <a:xfrm>
            <a:off x="1261872" y="5120640"/>
            <a:ext cx="10222992" cy="731520"/>
          </a:xfrm>
          <a:prstGeom prst="rect">
            <a:avLst/>
          </a:prstGeom>
          <a:noFill/>
          <a:ln/>
        </p:spPr>
        <p:txBody>
          <a:bodyPr wrap="square" lIns="0" tIns="0" rIns="0" bIns="0" rtlCol="0" anchor="ctr"/>
          <a:lstStyle/>
          <a:p>
            <a:pPr indent="0" marL="0">
              <a:buNone/>
            </a:pPr>
            <a:r>
              <a:rPr lang="en-US" sz="1300" b="1" dirty="0">
                <a:solidFill>
                  <a:srgbClr val="165229"/>
                </a:solidFill>
              </a:rPr>
              <a:t>What good looks like.  </a:t>
            </a:r>
            <a:pPr indent="0" marL="0">
              <a:buNone/>
            </a:pPr>
            <a:r>
              <a:rPr lang="en-US" sz="1300" dirty="0">
                <a:solidFill>
                  <a:srgbClr val="131925"/>
                </a:solidFill>
              </a:rPr>
              <a:t>The first two records change, exactly as reviewed; the other three stay exactly as they are.</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with the DNS workflows: two workflows and a pull request</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ws2-dns-records-export.yml, then ws2-dns-records-apply.yml</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Export</a:t>
            </a:r>
            <a:pPr indent="0" marL="0">
              <a:buNone/>
            </a:pPr>
            <a:r>
              <a:rPr lang="en-US" sz="1300" dirty="0">
                <a:solidFill>
                  <a:srgbClr val="586275"/>
                </a:solidFill>
              </a:rPr>
              <a:t>   get the zone into Git</a:t>
            </a:r>
            <a:endParaRPr lang="en-US" sz="1300" dirty="0"/>
          </a:p>
        </p:txBody>
      </p:sp>
      <p:sp>
        <p:nvSpPr>
          <p:cNvPr id="6" name="Run Export"/>
          <p:cNvSpPr txBox="1"/>
          <p:nvPr/>
        </p:nvSpPr>
        <p:spPr>
          <a:xfrm>
            <a:off x="548640"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Run Export</a:t>
            </a:r>
            <a:endParaRPr lang="en-US" sz="1200" dirty="0"/>
          </a:p>
          <a:p>
            <a:pPr algn="ctr" indent="0" marL="0">
              <a:buNone/>
            </a:pPr>
            <a:r>
              <a:rPr lang="en-US" sz="1050" dirty="0">
                <a:solidFill>
                  <a:srgbClr val="586275"/>
                </a:solidFill>
              </a:rPr>
              <a:t>One zone</a:t>
            </a:r>
            <a:endParaRPr lang="en-US" sz="1200" dirty="0"/>
          </a:p>
        </p:txBody>
      </p:sp>
      <p:sp>
        <p:nvSpPr>
          <p:cNvPr id="7" name="Shape 4"/>
          <p:cNvSpPr/>
          <p:nvPr/>
        </p:nvSpPr>
        <p:spPr>
          <a:xfrm>
            <a:off x="3063240" y="2217420"/>
            <a:ext cx="292608" cy="0"/>
          </a:xfrm>
          <a:prstGeom prst="line">
            <a:avLst/>
          </a:prstGeom>
          <a:noFill/>
          <a:ln w="15875">
            <a:solidFill>
              <a:srgbClr val="7D889B"/>
            </a:solidFill>
            <a:prstDash val="solid"/>
            <a:tailEnd type="triangle"/>
          </a:ln>
        </p:spPr>
      </p:sp>
      <p:sp>
        <p:nvSpPr>
          <p:cNvPr id="8" name="New branch and PR"/>
          <p:cNvSpPr txBox="1"/>
          <p:nvPr/>
        </p:nvSpPr>
        <p:spPr>
          <a:xfrm>
            <a:off x="3355848"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New branch and PR</a:t>
            </a:r>
            <a:endParaRPr lang="en-US" sz="1200" dirty="0"/>
          </a:p>
          <a:p>
            <a:pPr algn="ctr" indent="0" marL="0">
              <a:buNone/>
            </a:pPr>
            <a:r>
              <a:rPr lang="en-US" sz="1050" dirty="0">
                <a:solidFill>
                  <a:srgbClr val="586275"/>
                </a:solidFill>
              </a:rPr>
              <a:t>Large diff, even with nothing changed</a:t>
            </a:r>
            <a:endParaRPr lang="en-US" sz="1200" dirty="0"/>
          </a:p>
        </p:txBody>
      </p:sp>
      <p:sp>
        <p:nvSpPr>
          <p:cNvPr id="9" name="Shape 6"/>
          <p:cNvSpPr/>
          <p:nvPr/>
        </p:nvSpPr>
        <p:spPr>
          <a:xfrm>
            <a:off x="5870448" y="2217420"/>
            <a:ext cx="292608" cy="0"/>
          </a:xfrm>
          <a:prstGeom prst="line">
            <a:avLst/>
          </a:prstGeom>
          <a:noFill/>
          <a:ln w="15875">
            <a:solidFill>
              <a:srgbClr val="7D889B"/>
            </a:solidFill>
            <a:prstDash val="solid"/>
            <a:tailEnd type="triangle"/>
          </a:ln>
        </p:spPr>
      </p:sp>
      <p:sp>
        <p:nvSpPr>
          <p:cNvPr id="10" name="Edit the zone file"/>
          <p:cNvSpPr txBox="1"/>
          <p:nvPr/>
        </p:nvSpPr>
        <p:spPr>
          <a:xfrm>
            <a:off x="6163056"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Edit the zone file</a:t>
            </a:r>
            <a:endParaRPr lang="en-US" sz="1200" dirty="0"/>
          </a:p>
          <a:p>
            <a:pPr algn="ctr" indent="0" marL="0">
              <a:buNone/>
            </a:pPr>
            <a:r>
              <a:rPr lang="en-US" sz="1050" dirty="0">
                <a:solidFill>
                  <a:srgbClr val="586275"/>
                </a:solidFill>
              </a:rPr>
              <a:t>Add app; change www</a:t>
            </a:r>
            <a:endParaRPr lang="en-US" sz="1200" dirty="0"/>
          </a:p>
        </p:txBody>
      </p:sp>
      <p:sp>
        <p:nvSpPr>
          <p:cNvPr id="11" name="Shape 8"/>
          <p:cNvSpPr/>
          <p:nvPr/>
        </p:nvSpPr>
        <p:spPr>
          <a:xfrm>
            <a:off x="8677656" y="2217420"/>
            <a:ext cx="292608" cy="0"/>
          </a:xfrm>
          <a:prstGeom prst="line">
            <a:avLst/>
          </a:prstGeom>
          <a:noFill/>
          <a:ln w="15875">
            <a:solidFill>
              <a:srgbClr val="7D889B"/>
            </a:solidFill>
            <a:prstDash val="solid"/>
            <a:tailEnd type="triangle"/>
          </a:ln>
        </p:spPr>
      </p:sp>
      <p:sp>
        <p:nvSpPr>
          <p:cNvPr id="12" name="Review and merge"/>
          <p:cNvSpPr txBox="1"/>
          <p:nvPr/>
        </p:nvSpPr>
        <p:spPr>
          <a:xfrm>
            <a:off x="8970264" y="1828800"/>
            <a:ext cx="25146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Review and merge</a:t>
            </a:r>
            <a:endParaRPr lang="en-US" sz="1200" dirty="0"/>
          </a:p>
          <a:p>
            <a:pPr algn="ctr" indent="0" marL="0">
              <a:buNone/>
            </a:pPr>
            <a:r>
              <a:rPr lang="en-US" sz="1050" dirty="0">
                <a:solidFill>
                  <a:srgbClr val="586275"/>
                </a:solidFill>
              </a:rPr>
              <a:t>PR checks don't run on the bot PR</a:t>
            </a:r>
            <a:endParaRPr lang="en-US" sz="1200" dirty="0"/>
          </a:p>
        </p:txBody>
      </p:sp>
      <p:sp>
        <p:nvSpPr>
          <p:cNvPr id="13" name="Text 10"/>
          <p:cNvSpPr txBox="1"/>
          <p:nvPr/>
        </p:nvSpPr>
        <p:spPr>
          <a:xfrm>
            <a:off x="548640" y="292608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Apply</a:t>
            </a:r>
            <a:pPr indent="0" marL="0">
              <a:buNone/>
            </a:pPr>
            <a:r>
              <a:rPr lang="en-US" sz="1300" dirty="0">
                <a:solidFill>
                  <a:srgbClr val="586275"/>
                </a:solidFill>
              </a:rPr>
              <a:t>   status.example.com was repointed in the console while the PR was in review</a:t>
            </a:r>
            <a:endParaRPr lang="en-US" sz="1300" dirty="0"/>
          </a:p>
        </p:txBody>
      </p:sp>
      <p:sp>
        <p:nvSpPr>
          <p:cNvPr id="14" name="Run Apply"/>
          <p:cNvSpPr txBox="1"/>
          <p:nvPr/>
        </p:nvSpPr>
        <p:spPr>
          <a:xfrm>
            <a:off x="548640" y="3291840"/>
            <a:ext cx="1984248"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Run Apply</a:t>
            </a:r>
            <a:endParaRPr lang="en-US" sz="1200" dirty="0"/>
          </a:p>
          <a:p>
            <a:pPr algn="ctr" indent="0" marL="0">
              <a:buNone/>
            </a:pPr>
            <a:r>
              <a:rPr lang="en-US" sz="1050" dirty="0">
                <a:solidFill>
                  <a:srgbClr val="586275"/>
                </a:solidFill>
              </a:rPr>
              <a:t>Execute changes ticked</a:t>
            </a:r>
            <a:endParaRPr lang="en-US" sz="1200" dirty="0"/>
          </a:p>
        </p:txBody>
      </p:sp>
      <p:sp>
        <p:nvSpPr>
          <p:cNvPr id="15" name="Shape 12"/>
          <p:cNvSpPr/>
          <p:nvPr/>
        </p:nvSpPr>
        <p:spPr>
          <a:xfrm>
            <a:off x="2532888" y="3726180"/>
            <a:ext cx="292608" cy="0"/>
          </a:xfrm>
          <a:prstGeom prst="line">
            <a:avLst/>
          </a:prstGeom>
          <a:noFill/>
          <a:ln w="15875">
            <a:solidFill>
              <a:srgbClr val="7D889B"/>
            </a:solidFill>
            <a:prstDash val="solid"/>
            <a:tailEnd type="triangle"/>
          </a:ln>
        </p:spPr>
      </p:sp>
      <p:sp>
        <p:nvSpPr>
          <p:cNvPr id="16" name="Preview"/>
          <p:cNvSpPr txBox="1"/>
          <p:nvPr/>
        </p:nvSpPr>
        <p:spPr>
          <a:xfrm>
            <a:off x="2825496" y="3291840"/>
            <a:ext cx="1984248" cy="868680"/>
          </a:xfrm>
          <a:prstGeom prst="roundRect">
            <a:avLst>
              <a:gd name="adj" fmla="val 9474"/>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Preview</a:t>
            </a:r>
            <a:endParaRPr lang="en-US" sz="1200" dirty="0"/>
          </a:p>
          <a:p>
            <a:pPr algn="ctr" indent="0" marL="0">
              <a:buNone/>
            </a:pPr>
            <a:r>
              <a:rPr lang="en-US" sz="1050" dirty="0">
                <a:solidFill>
                  <a:srgbClr val="2B6C59"/>
                </a:solidFill>
              </a:rPr>
              <a:t>UPSERT app and www, and status back to its old value</a:t>
            </a:r>
            <a:endParaRPr lang="en-US" sz="1200" dirty="0"/>
          </a:p>
        </p:txBody>
      </p:sp>
      <p:sp>
        <p:nvSpPr>
          <p:cNvPr id="17" name="Shape 14"/>
          <p:cNvSpPr/>
          <p:nvPr/>
        </p:nvSpPr>
        <p:spPr>
          <a:xfrm>
            <a:off x="4809744" y="3726180"/>
            <a:ext cx="292608" cy="0"/>
          </a:xfrm>
          <a:prstGeom prst="line">
            <a:avLst/>
          </a:prstGeom>
          <a:noFill/>
          <a:ln w="15875">
            <a:solidFill>
              <a:srgbClr val="7D889B"/>
            </a:solidFill>
            <a:prstDash val="solid"/>
            <a:tailEnd type="triangle"/>
          </a:ln>
        </p:spPr>
      </p:sp>
      <p:sp>
        <p:nvSpPr>
          <p:cNvPr id="18" name="Approval"/>
          <p:cNvSpPr txBox="1"/>
          <p:nvPr/>
        </p:nvSpPr>
        <p:spPr>
          <a:xfrm>
            <a:off x="5102352" y="3291840"/>
            <a:ext cx="1984248" cy="868680"/>
          </a:xfrm>
          <a:prstGeom prst="roundRect">
            <a:avLst>
              <a:gd name="adj" fmla="val 9474"/>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a:t>
            </a:r>
            <a:endParaRPr lang="en-US" sz="1200" dirty="0"/>
          </a:p>
          <a:p>
            <a:pPr algn="ctr" indent="0" marL="0">
              <a:buNone/>
            </a:pPr>
            <a:r>
              <a:rPr lang="en-US" sz="1050" dirty="0">
                <a:solidFill>
                  <a:srgbClr val="586275"/>
                </a:solidFill>
              </a:rPr>
              <a:t>Shared production gate; can wait up to 30 days</a:t>
            </a:r>
            <a:endParaRPr lang="en-US" sz="1200" dirty="0"/>
          </a:p>
        </p:txBody>
      </p:sp>
      <p:sp>
        <p:nvSpPr>
          <p:cNvPr id="19" name="Shape 16"/>
          <p:cNvSpPr/>
          <p:nvPr/>
        </p:nvSpPr>
        <p:spPr>
          <a:xfrm>
            <a:off x="7086600" y="3726180"/>
            <a:ext cx="292608" cy="0"/>
          </a:xfrm>
          <a:prstGeom prst="line">
            <a:avLst/>
          </a:prstGeom>
          <a:noFill/>
          <a:ln w="15875">
            <a:solidFill>
              <a:srgbClr val="7D889B"/>
            </a:solidFill>
            <a:prstDash val="solid"/>
            <a:tailEnd type="triangle"/>
          </a:ln>
        </p:spPr>
      </p:sp>
      <p:sp>
        <p:nvSpPr>
          <p:cNvPr id="20" name="Change batch sent"/>
          <p:cNvSpPr txBox="1"/>
          <p:nvPr/>
        </p:nvSpPr>
        <p:spPr>
          <a:xfrm>
            <a:off x="7379208" y="3291840"/>
            <a:ext cx="1984248" cy="868680"/>
          </a:xfrm>
          <a:prstGeom prst="roundRect">
            <a:avLst>
              <a:gd name="adj" fmla="val 9474"/>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Change batch sent</a:t>
            </a:r>
            <a:endParaRPr lang="en-US" sz="1200" dirty="0"/>
          </a:p>
          <a:p>
            <a:pPr algn="ctr" indent="0" marL="0">
              <a:buNone/>
            </a:pPr>
            <a:r>
              <a:rPr lang="en-US" sz="1050" dirty="0">
                <a:solidFill>
                  <a:srgbClr val="8F4F17"/>
                </a:solidFill>
              </a:rPr>
              <a:t>Difference worked out again first</a:t>
            </a:r>
            <a:endParaRPr lang="en-US" sz="1200" dirty="0"/>
          </a:p>
        </p:txBody>
      </p:sp>
      <p:sp>
        <p:nvSpPr>
          <p:cNvPr id="21" name="Shape 18"/>
          <p:cNvSpPr/>
          <p:nvPr/>
        </p:nvSpPr>
        <p:spPr>
          <a:xfrm>
            <a:off x="9363456" y="3726180"/>
            <a:ext cx="292608" cy="0"/>
          </a:xfrm>
          <a:prstGeom prst="line">
            <a:avLst/>
          </a:prstGeom>
          <a:noFill/>
          <a:ln w="15875">
            <a:solidFill>
              <a:srgbClr val="7D889B"/>
            </a:solidFill>
            <a:prstDash val="solid"/>
            <a:tailEnd type="triangle"/>
          </a:ln>
        </p:spPr>
      </p:sp>
      <p:sp>
        <p:nvSpPr>
          <p:cNvPr id="22" name="Marked APPLIED"/>
          <p:cNvSpPr txBox="1"/>
          <p:nvPr/>
        </p:nvSpPr>
        <p:spPr>
          <a:xfrm>
            <a:off x="9656064" y="3291840"/>
            <a:ext cx="1984248" cy="86868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Marked APPLIED</a:t>
            </a:r>
            <a:endParaRPr lang="en-US" sz="1200" dirty="0"/>
          </a:p>
          <a:p>
            <a:pPr algn="ctr" indent="0" marL="0">
              <a:buNone/>
            </a:pPr>
            <a:r>
              <a:rPr lang="en-US" sz="1050" dirty="0">
                <a:solidFill>
                  <a:srgbClr val="A1332C"/>
                </a:solidFill>
              </a:rPr>
              <a:t>The failover change is undone</a:t>
            </a:r>
            <a:endParaRPr lang="en-US" sz="1200" dirty="0"/>
          </a:p>
        </p:txBody>
      </p:sp>
      <p:sp>
        <p:nvSpPr>
          <p:cNvPr id="23" name="Shape 20"/>
          <p:cNvSpPr/>
          <p:nvPr/>
        </p:nvSpPr>
        <p:spPr>
          <a:xfrm>
            <a:off x="548640" y="4526280"/>
            <a:ext cx="11091672" cy="868680"/>
          </a:xfrm>
          <a:prstGeom prst="roundRect">
            <a:avLst>
              <a:gd name="adj" fmla="val 10526"/>
            </a:avLst>
          </a:prstGeom>
          <a:solidFill>
            <a:srgbClr val="FDF4F3"/>
          </a:solidFill>
          <a:ln w="6350">
            <a:solidFill>
              <a:srgbClr val="FDF4F3"/>
            </a:solidFill>
            <a:prstDash val="solid"/>
          </a:ln>
        </p:spPr>
      </p:sp>
      <p:sp>
        <p:nvSpPr>
          <p:cNvPr id="24" name="Shape 21"/>
          <p:cNvSpPr/>
          <p:nvPr/>
        </p:nvSpPr>
        <p:spPr>
          <a:xfrm>
            <a:off x="694944" y="4759452"/>
            <a:ext cx="402336" cy="402336"/>
          </a:xfrm>
          <a:prstGeom prst="ellipse">
            <a:avLst/>
          </a:prstGeom>
          <a:solidFill>
            <a:srgbClr val="C93A32"/>
          </a:solidFill>
          <a:ln w="6350">
            <a:solidFill>
              <a:srgbClr val="C93A32"/>
            </a:solidFill>
            <a:prstDash val="solid"/>
          </a:ln>
        </p:spPr>
      </p:sp>
      <p:pic>
        <p:nvPicPr>
          <p:cNvPr id="25" name="Image 0" descr="Icon">    </p:cNvPr>
          <p:cNvPicPr>
            <a:picLocks noChangeAspect="1"/>
          </p:cNvPicPr>
          <p:nvPr/>
        </p:nvPicPr>
        <p:blipFill>
          <a:blip r:embed="rId1"/>
          <a:stretch>
            <a:fillRect/>
          </a:stretch>
        </p:blipFill>
        <p:spPr>
          <a:xfrm>
            <a:off x="791505" y="4856013"/>
            <a:ext cx="209215" cy="209215"/>
          </a:xfrm>
          <a:prstGeom prst="rect">
            <a:avLst/>
          </a:prstGeom>
        </p:spPr>
      </p:pic>
      <p:sp>
        <p:nvSpPr>
          <p:cNvPr id="26" name="Text 22"/>
          <p:cNvSpPr txBox="1"/>
          <p:nvPr/>
        </p:nvSpPr>
        <p:spPr>
          <a:xfrm>
            <a:off x="1261872" y="4526280"/>
            <a:ext cx="10222992" cy="868680"/>
          </a:xfrm>
          <a:prstGeom prst="rect">
            <a:avLst/>
          </a:prstGeom>
          <a:noFill/>
          <a:ln/>
        </p:spPr>
        <p:txBody>
          <a:bodyPr wrap="square" lIns="0" tIns="0" rIns="0" bIns="0" rtlCol="0" anchor="ctr"/>
          <a:lstStyle/>
          <a:p>
            <a:pPr indent="0" marL="0">
              <a:buNone/>
            </a:pPr>
            <a:r>
              <a:rPr lang="en-US" sz="1300" b="1" dirty="0">
                <a:solidFill>
                  <a:srgbClr val="7D1C16"/>
                </a:solidFill>
              </a:rPr>
              <a:t>With Allow deletes ticked.  </a:t>
            </a:r>
            <a:pPr indent="0" marL="0">
              <a:buNone/>
            </a:pPr>
            <a:r>
              <a:rPr lang="en-US" sz="1300" dirty="0">
                <a:solidFill>
                  <a:srgbClr val="131925"/>
                </a:solidFill>
              </a:rPr>
              <a:t>Anything live but missing from the file is deleted, such as records other tools created after the last export. The ALIAS record depends on how the apply script treats records that export skips.</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Today with the current CloudFormation workflow</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latest_cft_deployment.yml, with the records defined as AWS::Route53::RecordSet in a template</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Records in a template</a:t>
            </a:r>
            <a:pPr indent="0" marL="0">
              <a:buNone/>
            </a:pPr>
            <a:r>
              <a:rPr lang="en-US" sz="1300" dirty="0">
                <a:solidFill>
                  <a:srgbClr val="586275"/>
                </a:solidFill>
              </a:rPr>
              <a:t>   the usual path</a:t>
            </a:r>
            <a:endParaRPr lang="en-US" sz="1300" dirty="0"/>
          </a:p>
        </p:txBody>
      </p:sp>
      <p:sp>
        <p:nvSpPr>
          <p:cNvPr id="6" name="Engineer runs the workflow"/>
          <p:cNvSpPr txBox="1"/>
          <p:nvPr/>
        </p:nvSpPr>
        <p:spPr>
          <a:xfrm>
            <a:off x="548640" y="182880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50" dirty="0">
                <a:solidFill>
                  <a:srgbClr val="586275"/>
                </a:solidFill>
              </a:rPr>
              <a:t>Inputs typed by hand</a:t>
            </a:r>
            <a:endParaRPr lang="en-US" sz="1200" dirty="0"/>
          </a:p>
        </p:txBody>
      </p:sp>
      <p:sp>
        <p:nvSpPr>
          <p:cNvPr id="7" name="Shape 4"/>
          <p:cNvSpPr/>
          <p:nvPr/>
        </p:nvSpPr>
        <p:spPr>
          <a:xfrm>
            <a:off x="3291840" y="2217420"/>
            <a:ext cx="292608" cy="0"/>
          </a:xfrm>
          <a:prstGeom prst="line">
            <a:avLst/>
          </a:prstGeom>
          <a:noFill/>
          <a:ln w="15875">
            <a:solidFill>
              <a:srgbClr val="7D889B"/>
            </a:solidFill>
            <a:prstDash val="solid"/>
            <a:tailEnd type="triangle"/>
          </a:ln>
        </p:spPr>
      </p:sp>
      <p:sp>
        <p:nvSpPr>
          <p:cNvPr id="8" name="Records changed at once"/>
          <p:cNvSpPr txBox="1"/>
          <p:nvPr/>
        </p:nvSpPr>
        <p:spPr>
          <a:xfrm>
            <a:off x="3584448" y="1828800"/>
            <a:ext cx="2743200" cy="777240"/>
          </a:xfrm>
          <a:prstGeom prst="roundRect">
            <a:avLst>
              <a:gd name="adj" fmla="val 10588"/>
            </a:avLst>
          </a:prstGeom>
          <a:solidFill>
            <a:srgbClr val="FFF0E1"/>
          </a:solidFill>
          <a:ln w="25400">
            <a:solidFill>
              <a:srgbClr val="C46A1B"/>
            </a:solidFill>
          </a:ln>
        </p:spPr>
        <p:txBody>
          <a:bodyPr wrap="square" lIns="50800" tIns="25400" rIns="50800" bIns="25400" rtlCol="0" anchor="ctr"/>
          <a:lstStyle/>
          <a:p>
            <a:pPr algn="ctr" indent="0" marL="0">
              <a:buNone/>
            </a:pPr>
            <a:r>
              <a:rPr lang="en-US" sz="1200" b="1" dirty="0">
                <a:solidFill>
                  <a:srgbClr val="6E3608"/>
                </a:solidFill>
              </a:rPr>
              <a:t>Records changed at once</a:t>
            </a:r>
            <a:endParaRPr lang="en-US" sz="1200" dirty="0"/>
          </a:p>
          <a:p>
            <a:pPr algn="ctr" indent="0" marL="0">
              <a:buNone/>
            </a:pPr>
            <a:r>
              <a:rPr lang="en-US" sz="1050" dirty="0">
                <a:solidFill>
                  <a:srgbClr val="8F4F17"/>
                </a:solidFill>
              </a:rPr>
              <a:t>No preview, no approval</a:t>
            </a:r>
            <a:endParaRPr lang="en-US" sz="1200" dirty="0"/>
          </a:p>
        </p:txBody>
      </p:sp>
      <p:sp>
        <p:nvSpPr>
          <p:cNvPr id="9" name="Shape 6"/>
          <p:cNvSpPr/>
          <p:nvPr/>
        </p:nvSpPr>
        <p:spPr>
          <a:xfrm>
            <a:off x="6327648" y="2217420"/>
            <a:ext cx="292608" cy="0"/>
          </a:xfrm>
          <a:prstGeom prst="line">
            <a:avLst/>
          </a:prstGeom>
          <a:noFill/>
          <a:ln w="15875">
            <a:solidFill>
              <a:srgbClr val="7D889B"/>
            </a:solidFill>
            <a:prstDash val="solid"/>
            <a:tailEnd type="triangle"/>
          </a:ln>
        </p:spPr>
      </p:sp>
      <p:sp>
        <p:nvSpPr>
          <p:cNvPr id="10" name="Live in Route 53"/>
          <p:cNvSpPr txBox="1"/>
          <p:nvPr/>
        </p:nvSpPr>
        <p:spPr>
          <a:xfrm>
            <a:off x="6620256" y="1828800"/>
            <a:ext cx="27432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Live in Route 53</a:t>
            </a:r>
            <a:endParaRPr lang="en-US" sz="1200" dirty="0"/>
          </a:p>
          <a:p>
            <a:pPr algn="ctr" indent="0" marL="0">
              <a:buNone/>
            </a:pPr>
            <a:r>
              <a:rPr lang="en-US" sz="1050" dirty="0">
                <a:solidFill>
                  <a:srgbClr val="A1332C"/>
                </a:solidFill>
              </a:rPr>
              <a:t>A typo goes live too</a:t>
            </a:r>
            <a:endParaRPr lang="en-US" sz="1200" dirty="0"/>
          </a:p>
        </p:txBody>
      </p:sp>
      <p:sp>
        <p:nvSpPr>
          <p:cNvPr id="11" name="Text 8"/>
          <p:cNvSpPr txBox="1"/>
          <p:nvPr/>
        </p:nvSpPr>
        <p:spPr>
          <a:xfrm>
            <a:off x="548640" y="292608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www.example.com isn't in the stack yet</a:t>
            </a:r>
            <a:pPr indent="0" marL="0">
              <a:buNone/>
            </a:pPr>
            <a:r>
              <a:rPr lang="en-US" sz="1300" dirty="0">
                <a:solidFill>
                  <a:srgbClr val="586275"/>
                </a:solidFill>
              </a:rPr>
              <a:t>   it was created outside CloudFormation</a:t>
            </a:r>
            <a:endParaRPr lang="en-US" sz="1300" dirty="0"/>
          </a:p>
        </p:txBody>
      </p:sp>
      <p:sp>
        <p:nvSpPr>
          <p:cNvPr id="12" name="Add it to the template"/>
          <p:cNvSpPr txBox="1"/>
          <p:nvPr/>
        </p:nvSpPr>
        <p:spPr>
          <a:xfrm>
            <a:off x="548640" y="329184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Add it to the template</a:t>
            </a:r>
            <a:endParaRPr lang="en-US" sz="1200" dirty="0"/>
          </a:p>
          <a:p>
            <a:pPr algn="ctr" indent="0" marL="0">
              <a:buNone/>
            </a:pPr>
            <a:r>
              <a:rPr lang="en-US" sz="1050" dirty="0">
                <a:solidFill>
                  <a:srgbClr val="586275"/>
                </a:solidFill>
              </a:rPr>
              <a:t>Then run the workflow</a:t>
            </a:r>
            <a:endParaRPr lang="en-US" sz="1200" dirty="0"/>
          </a:p>
        </p:txBody>
      </p:sp>
      <p:sp>
        <p:nvSpPr>
          <p:cNvPr id="13" name="Shape 10"/>
          <p:cNvSpPr/>
          <p:nvPr/>
        </p:nvSpPr>
        <p:spPr>
          <a:xfrm>
            <a:off x="3291840" y="3680460"/>
            <a:ext cx="292608" cy="0"/>
          </a:xfrm>
          <a:prstGeom prst="line">
            <a:avLst/>
          </a:prstGeom>
          <a:noFill/>
          <a:ln w="15875">
            <a:solidFill>
              <a:srgbClr val="7D889B"/>
            </a:solidFill>
            <a:prstDash val="solid"/>
            <a:tailEnd type="triangle"/>
          </a:ln>
        </p:spPr>
      </p:sp>
      <p:sp>
        <p:nvSpPr>
          <p:cNvPr id="14" name="Fails: already exists"/>
          <p:cNvSpPr txBox="1"/>
          <p:nvPr/>
        </p:nvSpPr>
        <p:spPr>
          <a:xfrm>
            <a:off x="3584448" y="3291840"/>
            <a:ext cx="2743200" cy="777240"/>
          </a:xfrm>
          <a:prstGeom prst="roundRect">
            <a:avLst>
              <a:gd name="adj" fmla="val 50000"/>
            </a:avLst>
          </a:prstGeom>
          <a:solidFill>
            <a:srgbClr val="FCEAE9"/>
          </a:solidFill>
          <a:ln w="25400">
            <a:solidFill>
              <a:srgbClr val="C93A32"/>
            </a:solidFill>
          </a:ln>
        </p:spPr>
        <p:txBody>
          <a:bodyPr wrap="square" lIns="127000" tIns="25400" rIns="127000" bIns="25400" rtlCol="0" anchor="ctr"/>
          <a:lstStyle/>
          <a:p>
            <a:pPr algn="ctr" indent="0" marL="0">
              <a:buNone/>
            </a:pPr>
            <a:r>
              <a:rPr lang="en-US" sz="1200" b="1" dirty="0">
                <a:solidFill>
                  <a:srgbClr val="7D1C16"/>
                </a:solidFill>
              </a:rPr>
              <a:t>Fails: already exists</a:t>
            </a:r>
            <a:endParaRPr lang="en-US" sz="1200" dirty="0"/>
          </a:p>
          <a:p>
            <a:pPr algn="ctr" indent="0" marL="0">
              <a:buNone/>
            </a:pPr>
            <a:r>
              <a:rPr lang="en-US" sz="1050" dirty="0">
                <a:solidFill>
                  <a:srgbClr val="A1332C"/>
                </a:solidFill>
              </a:rPr>
              <a:t>CloudFormation won't take over a record it didn't create</a:t>
            </a:r>
            <a:endParaRPr lang="en-US" sz="1200" dirty="0"/>
          </a:p>
        </p:txBody>
      </p:sp>
      <p:sp>
        <p:nvSpPr>
          <p:cNvPr id="15" name="Shape 12"/>
          <p:cNvSpPr/>
          <p:nvPr/>
        </p:nvSpPr>
        <p:spPr>
          <a:xfrm>
            <a:off x="6327648" y="3680460"/>
            <a:ext cx="292608" cy="0"/>
          </a:xfrm>
          <a:prstGeom prst="line">
            <a:avLst/>
          </a:prstGeom>
          <a:noFill/>
          <a:ln w="15875">
            <a:solidFill>
              <a:srgbClr val="7D889B"/>
            </a:solidFill>
            <a:prstDash val="solid"/>
            <a:tailEnd type="triangle"/>
          </a:ln>
        </p:spPr>
      </p:sp>
      <p:sp>
        <p:nvSpPr>
          <p:cNvPr id="16" name="Sorted out by hand"/>
          <p:cNvSpPr txBox="1"/>
          <p:nvPr/>
        </p:nvSpPr>
        <p:spPr>
          <a:xfrm>
            <a:off x="6620256" y="3291840"/>
            <a:ext cx="2743200" cy="777240"/>
          </a:xfrm>
          <a:prstGeom prst="roundRect">
            <a:avLst>
              <a:gd name="adj" fmla="val 10588"/>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Sorted out by hand</a:t>
            </a:r>
            <a:endParaRPr lang="en-US" sz="1200" dirty="0"/>
          </a:p>
          <a:p>
            <a:pPr algn="ctr" indent="0" marL="0">
              <a:buNone/>
            </a:pPr>
            <a:r>
              <a:rPr lang="en-US" sz="1050" dirty="0">
                <a:solidFill>
                  <a:srgbClr val="586275"/>
                </a:solidFill>
              </a:rPr>
              <a:t>Delete the old record and re-run, or leave it out</a:t>
            </a:r>
            <a:endParaRPr lang="en-US" sz="1200" dirty="0"/>
          </a:p>
        </p:txBody>
      </p:sp>
      <p:sp>
        <p:nvSpPr>
          <p:cNvPr id="17" name="Shape 14"/>
          <p:cNvSpPr/>
          <p:nvPr/>
        </p:nvSpPr>
        <p:spPr>
          <a:xfrm>
            <a:off x="548640" y="4526280"/>
            <a:ext cx="11091672" cy="868680"/>
          </a:xfrm>
          <a:prstGeom prst="roundRect">
            <a:avLst>
              <a:gd name="adj" fmla="val 10526"/>
            </a:avLst>
          </a:prstGeom>
          <a:solidFill>
            <a:srgbClr val="EAF0FD"/>
          </a:solidFill>
          <a:ln w="6350">
            <a:solidFill>
              <a:srgbClr val="EAF0FD"/>
            </a:solidFill>
            <a:prstDash val="solid"/>
          </a:ln>
        </p:spPr>
      </p:sp>
      <p:sp>
        <p:nvSpPr>
          <p:cNvPr id="18" name="Shape 15"/>
          <p:cNvSpPr/>
          <p:nvPr/>
        </p:nvSpPr>
        <p:spPr>
          <a:xfrm>
            <a:off x="694944" y="4759452"/>
            <a:ext cx="402336" cy="402336"/>
          </a:xfrm>
          <a:prstGeom prst="ellipse">
            <a:avLst/>
          </a:prstGeom>
          <a:solidFill>
            <a:srgbClr val="2A5BD7"/>
          </a:solidFill>
          <a:ln w="6350">
            <a:solidFill>
              <a:srgbClr val="2A5BD7"/>
            </a:solidFill>
            <a:prstDash val="solid"/>
          </a:ln>
        </p:spPr>
      </p:sp>
      <p:pic>
        <p:nvPicPr>
          <p:cNvPr id="19" name="Image 0" descr="Icon">    </p:cNvPr>
          <p:cNvPicPr>
            <a:picLocks noChangeAspect="1"/>
          </p:cNvPicPr>
          <p:nvPr/>
        </p:nvPicPr>
        <p:blipFill>
          <a:blip r:embed="rId1"/>
          <a:stretch>
            <a:fillRect/>
          </a:stretch>
        </p:blipFill>
        <p:spPr>
          <a:xfrm>
            <a:off x="791505" y="4856013"/>
            <a:ext cx="209215" cy="209215"/>
          </a:xfrm>
          <a:prstGeom prst="rect">
            <a:avLst/>
          </a:prstGeom>
        </p:spPr>
      </p:pic>
      <p:sp>
        <p:nvSpPr>
          <p:cNvPr id="20" name="Text 16"/>
          <p:cNvSpPr txBox="1"/>
          <p:nvPr/>
        </p:nvSpPr>
        <p:spPr>
          <a:xfrm>
            <a:off x="1261872" y="4526280"/>
            <a:ext cx="10222992" cy="868680"/>
          </a:xfrm>
          <a:prstGeom prst="rect">
            <a:avLst/>
          </a:prstGeom>
          <a:noFill/>
          <a:ln/>
        </p:spPr>
        <p:txBody>
          <a:bodyPr wrap="square" lIns="0" tIns="0" rIns="0" bIns="0" rtlCol="0" anchor="ctr"/>
          <a:lstStyle/>
          <a:p>
            <a:pPr indent="0" marL="0">
              <a:buNone/>
            </a:pPr>
            <a:r>
              <a:rPr lang="en-US" sz="1300" b="1" dirty="0">
                <a:solidFill>
                  <a:srgbClr val="173A8F"/>
                </a:solidFill>
              </a:rPr>
              <a:t>What it gets right.  </a:t>
            </a:r>
            <a:pPr indent="0" marL="0">
              <a:buNone/>
            </a:pPr>
            <a:r>
              <a:rPr lang="en-US" sz="1300" dirty="0">
                <a:solidFill>
                  <a:srgbClr val="131925"/>
                </a:solidFill>
              </a:rPr>
              <a:t>Records outside the template, such as the failover change on status, the ACM validation record and the CloudFront ALIAS, are never touched.</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Proposed: one run, reviewed as it will happen</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cfn-deploy-pipeline.yml, with the zone's records in a CloudFormation stack</a:t>
            </a:r>
            <a:endParaRPr lang="en-US" sz="1400" dirty="0"/>
          </a:p>
        </p:txBody>
      </p:sp>
      <p:sp>
        <p:nvSpPr>
          <p:cNvPr id="5" name="Text 2"/>
          <p:cNvSpPr txBox="1"/>
          <p:nvPr/>
        </p:nvSpPr>
        <p:spPr>
          <a:xfrm>
            <a:off x="548640" y="1463040"/>
            <a:ext cx="11091672" cy="274320"/>
          </a:xfrm>
          <a:prstGeom prst="rect">
            <a:avLst/>
          </a:prstGeom>
          <a:noFill/>
          <a:ln/>
        </p:spPr>
        <p:txBody>
          <a:bodyPr wrap="square" lIns="0" tIns="0" rIns="0" bIns="0" rtlCol="0" anchor="ctr"/>
          <a:lstStyle/>
          <a:p>
            <a:pPr indent="0" marL="0">
              <a:buNone/>
            </a:pPr>
            <a:r>
              <a:rPr lang="en-US" sz="1300" b="1" dirty="0">
                <a:solidFill>
                  <a:srgbClr val="2A5BD7"/>
                </a:solidFill>
              </a:rPr>
              <a:t>One run</a:t>
            </a:r>
            <a:pPr indent="0" marL="0">
              <a:buNone/>
            </a:pPr>
            <a:r>
              <a:rPr lang="en-US" sz="1300" dirty="0">
                <a:solidFill>
                  <a:srgbClr val="586275"/>
                </a:solidFill>
              </a:rPr>
              <a:t>   stack dns-records-example-com</a:t>
            </a:r>
            <a:endParaRPr lang="en-US" sz="1300" dirty="0"/>
          </a:p>
        </p:txBody>
      </p:sp>
      <p:sp>
        <p:nvSpPr>
          <p:cNvPr id="6" name="Engineer runs the pipeline"/>
          <p:cNvSpPr txBox="1"/>
          <p:nvPr/>
        </p:nvSpPr>
        <p:spPr>
          <a:xfrm>
            <a:off x="54864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50" dirty="0">
                <a:solidFill>
                  <a:srgbClr val="586275"/>
                </a:solidFill>
              </a:rPr>
              <a:t>Account picked from a list</a:t>
            </a:r>
            <a:endParaRPr lang="en-US" sz="1200" dirty="0"/>
          </a:p>
        </p:txBody>
      </p:sp>
      <p:sp>
        <p:nvSpPr>
          <p:cNvPr id="7" name="Shape 4"/>
          <p:cNvSpPr/>
          <p:nvPr/>
        </p:nvSpPr>
        <p:spPr>
          <a:xfrm>
            <a:off x="2153412" y="2286000"/>
            <a:ext cx="292608" cy="0"/>
          </a:xfrm>
          <a:prstGeom prst="line">
            <a:avLst/>
          </a:prstGeom>
          <a:noFill/>
          <a:ln w="15875">
            <a:solidFill>
              <a:srgbClr val="7D889B"/>
            </a:solidFill>
            <a:prstDash val="solid"/>
            <a:tailEnd type="triangle"/>
          </a:ln>
        </p:spPr>
      </p:sp>
      <p:sp>
        <p:nvSpPr>
          <p:cNvPr id="8" name="Checks"/>
          <p:cNvSpPr txBox="1"/>
          <p:nvPr/>
        </p:nvSpPr>
        <p:spPr>
          <a:xfrm>
            <a:off x="2446020" y="1828800"/>
            <a:ext cx="1604772" cy="914400"/>
          </a:xfrm>
          <a:prstGeom prst="roundRect">
            <a:avLst>
              <a:gd name="adj" fmla="val 9000"/>
            </a:avLst>
          </a:prstGeom>
          <a:solidFill>
            <a:srgbClr val="E2F3EC"/>
          </a:solidFill>
          <a:ln w="15875">
            <a:solidFill>
              <a:srgbClr val="22866A"/>
            </a:solidFill>
          </a:ln>
        </p:spPr>
        <p:txBody>
          <a:bodyPr wrap="square" lIns="50800" tIns="25400" rIns="50800" bIns="25400" rtlCol="0" anchor="ctr"/>
          <a:lstStyle/>
          <a:p>
            <a:pPr algn="ctr" indent="0" marL="0">
              <a:buNone/>
            </a:pPr>
            <a:r>
              <a:rPr lang="en-US" sz="1200" b="1" dirty="0">
                <a:solidFill>
                  <a:srgbClr val="0C4D3C"/>
                </a:solidFill>
              </a:rPr>
              <a:t>Checks</a:t>
            </a:r>
            <a:endParaRPr lang="en-US" sz="1200" dirty="0"/>
          </a:p>
          <a:p>
            <a:pPr algn="ctr" indent="0" marL="0">
              <a:buNone/>
            </a:pPr>
            <a:r>
              <a:rPr lang="en-US" sz="1050" dirty="0">
                <a:solidFill>
                  <a:srgbClr val="2B6C59"/>
                </a:solidFill>
              </a:rPr>
              <a:t>Preflight, lint, drift on the stack*</a:t>
            </a:r>
            <a:endParaRPr lang="en-US" sz="1200" dirty="0"/>
          </a:p>
        </p:txBody>
      </p:sp>
      <p:sp>
        <p:nvSpPr>
          <p:cNvPr id="9" name="Shape 6"/>
          <p:cNvSpPr/>
          <p:nvPr/>
        </p:nvSpPr>
        <p:spPr>
          <a:xfrm>
            <a:off x="4050792" y="2286000"/>
            <a:ext cx="292608" cy="0"/>
          </a:xfrm>
          <a:prstGeom prst="line">
            <a:avLst/>
          </a:prstGeom>
          <a:noFill/>
          <a:ln w="15875">
            <a:solidFill>
              <a:srgbClr val="7D889B"/>
            </a:solidFill>
            <a:prstDash val="solid"/>
            <a:tailEnd type="triangle"/>
          </a:ln>
        </p:spPr>
      </p:sp>
      <p:sp>
        <p:nvSpPr>
          <p:cNvPr id="10" name="Change set"/>
          <p:cNvSpPr txBox="1"/>
          <p:nvPr/>
        </p:nvSpPr>
        <p:spPr>
          <a:xfrm>
            <a:off x="434340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Change set</a:t>
            </a:r>
            <a:endParaRPr lang="en-US" sz="1200" dirty="0"/>
          </a:p>
          <a:p>
            <a:pPr algn="ctr" indent="0" marL="0">
              <a:buNone/>
            </a:pPr>
            <a:r>
              <a:rPr lang="en-US" sz="1050" dirty="0">
                <a:solidFill>
                  <a:srgbClr val="586275"/>
                </a:solidFill>
              </a:rPr>
              <a:t>Add app · Modify www, old → new</a:t>
            </a:r>
            <a:endParaRPr lang="en-US" sz="1200" dirty="0"/>
          </a:p>
        </p:txBody>
      </p:sp>
      <p:sp>
        <p:nvSpPr>
          <p:cNvPr id="11" name="Shape 8"/>
          <p:cNvSpPr/>
          <p:nvPr/>
        </p:nvSpPr>
        <p:spPr>
          <a:xfrm>
            <a:off x="5948172" y="2286000"/>
            <a:ext cx="292608" cy="0"/>
          </a:xfrm>
          <a:prstGeom prst="line">
            <a:avLst/>
          </a:prstGeom>
          <a:noFill/>
          <a:ln w="15875">
            <a:solidFill>
              <a:srgbClr val="7D889B"/>
            </a:solidFill>
            <a:prstDash val="solid"/>
            <a:tailEnd type="triangle"/>
          </a:ln>
        </p:spPr>
      </p:sp>
      <p:sp>
        <p:nvSpPr>
          <p:cNvPr id="12" name="Approval email"/>
          <p:cNvSpPr txBox="1"/>
          <p:nvPr/>
        </p:nvSpPr>
        <p:spPr>
          <a:xfrm>
            <a:off x="624078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Approval email</a:t>
            </a:r>
            <a:endParaRPr lang="en-US" sz="1200" dirty="0"/>
          </a:p>
          <a:p>
            <a:pPr algn="ctr" indent="0" marL="0">
              <a:buNone/>
            </a:pPr>
            <a:r>
              <a:rPr lang="en-US" sz="1050" dirty="0">
                <a:solidFill>
                  <a:srgbClr val="586275"/>
                </a:solidFill>
              </a:rPr>
              <a:t>Route 53 changes rated MEDIUM</a:t>
            </a:r>
            <a:endParaRPr lang="en-US" sz="1200" dirty="0"/>
          </a:p>
        </p:txBody>
      </p:sp>
      <p:sp>
        <p:nvSpPr>
          <p:cNvPr id="13" name="Email sent"/>
          <p:cNvSpPr/>
          <p:nvPr/>
        </p:nvSpPr>
        <p:spPr>
          <a:xfrm>
            <a:off x="6295644" y="1682496"/>
            <a:ext cx="292608" cy="292608"/>
          </a:xfrm>
          <a:prstGeom prst="ellipse">
            <a:avLst/>
          </a:prstGeom>
          <a:solidFill>
            <a:srgbClr val="FFFFFF"/>
          </a:solidFill>
          <a:ln w="15875">
            <a:solidFill>
              <a:srgbClr val="2A5BD7"/>
            </a:solidFill>
            <a:prstDash val="solid"/>
          </a:ln>
        </p:spPr>
      </p:sp>
      <p:pic>
        <p:nvPicPr>
          <p:cNvPr id="14" name="Image 0" descr="Email sent">    </p:cNvPr>
          <p:cNvPicPr>
            <a:picLocks noChangeAspect="1"/>
          </p:cNvPicPr>
          <p:nvPr/>
        </p:nvPicPr>
        <p:blipFill>
          <a:blip r:embed="rId1"/>
          <a:stretch>
            <a:fillRect/>
          </a:stretch>
        </p:blipFill>
        <p:spPr>
          <a:xfrm>
            <a:off x="6351240" y="1738092"/>
            <a:ext cx="181417" cy="181417"/>
          </a:xfrm>
          <a:prstGeom prst="rect">
            <a:avLst/>
          </a:prstGeom>
        </p:spPr>
      </p:pic>
      <p:sp>
        <p:nvSpPr>
          <p:cNvPr id="15" name="Shape 11"/>
          <p:cNvSpPr/>
          <p:nvPr/>
        </p:nvSpPr>
        <p:spPr>
          <a:xfrm>
            <a:off x="7845552" y="2286000"/>
            <a:ext cx="292608" cy="0"/>
          </a:xfrm>
          <a:prstGeom prst="line">
            <a:avLst/>
          </a:prstGeom>
          <a:noFill/>
          <a:ln w="15875">
            <a:solidFill>
              <a:srgbClr val="7D889B"/>
            </a:solidFill>
            <a:prstDash val="solid"/>
            <a:tailEnd type="triangle"/>
          </a:ln>
        </p:spPr>
      </p:sp>
      <p:sp>
        <p:nvSpPr>
          <p:cNvPr id="16" name="Approver approves"/>
          <p:cNvSpPr txBox="1"/>
          <p:nvPr/>
        </p:nvSpPr>
        <p:spPr>
          <a:xfrm>
            <a:off x="8138160" y="1828800"/>
            <a:ext cx="1604772" cy="914400"/>
          </a:xfrm>
          <a:prstGeom prst="roundRect">
            <a:avLst>
              <a:gd name="adj" fmla="val 9000"/>
            </a:avLst>
          </a:prstGeom>
          <a:solidFill>
            <a:srgbClr val="FFFFFF"/>
          </a:solidFill>
          <a:ln w="15875">
            <a:solidFill>
              <a:srgbClr val="A9B3C3"/>
            </a:solidFill>
          </a:ln>
        </p:spPr>
        <p:txBody>
          <a:bodyPr wrap="square" lIns="50800" tIns="25400" rIns="50800" bIns="25400" rtlCol="0" anchor="ctr"/>
          <a:lstStyle/>
          <a:p>
            <a:pPr algn="ctr" indent="0" marL="0">
              <a:buNone/>
            </a:pPr>
            <a:r>
              <a:rPr lang="en-US" sz="1200" b="1" dirty="0">
                <a:solidFill>
                  <a:srgbClr val="131925"/>
                </a:solidFill>
              </a:rPr>
              <a:t>Approver approves</a:t>
            </a:r>
            <a:endParaRPr lang="en-US" sz="1200" dirty="0"/>
          </a:p>
          <a:p>
            <a:pPr algn="ctr" indent="0" marL="0">
              <a:buNone/>
            </a:pPr>
            <a:r>
              <a:rPr lang="en-US" sz="1050" dirty="0">
                <a:solidFill>
                  <a:srgbClr val="586275"/>
                </a:solidFill>
              </a:rPr>
              <a:t>GitHub gate</a:t>
            </a:r>
            <a:endParaRPr lang="en-US" sz="1200" dirty="0"/>
          </a:p>
        </p:txBody>
      </p:sp>
      <p:sp>
        <p:nvSpPr>
          <p:cNvPr id="17" name="Shape 13"/>
          <p:cNvSpPr/>
          <p:nvPr/>
        </p:nvSpPr>
        <p:spPr>
          <a:xfrm>
            <a:off x="9742932" y="2286000"/>
            <a:ext cx="292608" cy="0"/>
          </a:xfrm>
          <a:prstGeom prst="line">
            <a:avLst/>
          </a:prstGeom>
          <a:noFill/>
          <a:ln w="15875">
            <a:solidFill>
              <a:srgbClr val="7D889B"/>
            </a:solidFill>
            <a:prstDash val="solid"/>
            <a:tailEnd type="triangle"/>
          </a:ln>
        </p:spPr>
      </p:sp>
      <p:sp>
        <p:nvSpPr>
          <p:cNvPr id="18" name="Applied"/>
          <p:cNvSpPr txBox="1"/>
          <p:nvPr/>
        </p:nvSpPr>
        <p:spPr>
          <a:xfrm>
            <a:off x="10035540" y="1828800"/>
            <a:ext cx="1604772" cy="914400"/>
          </a:xfrm>
          <a:prstGeom prst="roundRect">
            <a:avLst>
              <a:gd name="adj" fmla="val 50000"/>
            </a:avLst>
          </a:prstGeom>
          <a:solidFill>
            <a:srgbClr val="E3F4E7"/>
          </a:solidFill>
          <a:ln w="15875">
            <a:solidFill>
              <a:srgbClr val="2E8946"/>
            </a:solidFill>
          </a:ln>
        </p:spPr>
        <p:txBody>
          <a:bodyPr wrap="square" lIns="127000" tIns="25400" rIns="127000" bIns="25400" rtlCol="0" anchor="ctr"/>
          <a:lstStyle/>
          <a:p>
            <a:pPr algn="ctr" indent="0" marL="0">
              <a:buNone/>
            </a:pPr>
            <a:r>
              <a:rPr lang="en-US" sz="1200" b="1" dirty="0">
                <a:solidFill>
                  <a:srgbClr val="165229"/>
                </a:solidFill>
              </a:rPr>
              <a:t>Applied</a:t>
            </a:r>
            <a:endParaRPr lang="en-US" sz="1200" dirty="0"/>
          </a:p>
          <a:p>
            <a:pPr algn="ctr" indent="0" marL="0">
              <a:buNone/>
            </a:pPr>
            <a:r>
              <a:rPr lang="en-US" sz="1050" dirty="0">
                <a:solidFill>
                  <a:srgbClr val="2C6D3F"/>
                </a:solidFill>
              </a:rPr>
              <a:t>Result emailed; rolls back on failure</a:t>
            </a:r>
            <a:endParaRPr lang="en-US" sz="1200" dirty="0"/>
          </a:p>
        </p:txBody>
      </p:sp>
      <p:sp>
        <p:nvSpPr>
          <p:cNvPr id="19" name="Email sent"/>
          <p:cNvSpPr/>
          <p:nvPr/>
        </p:nvSpPr>
        <p:spPr>
          <a:xfrm>
            <a:off x="10346436" y="1682496"/>
            <a:ext cx="292608" cy="292608"/>
          </a:xfrm>
          <a:prstGeom prst="ellipse">
            <a:avLst/>
          </a:prstGeom>
          <a:solidFill>
            <a:srgbClr val="FFFFFF"/>
          </a:solidFill>
          <a:ln w="15875">
            <a:solidFill>
              <a:srgbClr val="2A5BD7"/>
            </a:solidFill>
            <a:prstDash val="solid"/>
          </a:ln>
        </p:spPr>
      </p:sp>
      <p:pic>
        <p:nvPicPr>
          <p:cNvPr id="20" name="Image 1" descr="Email sent">    </p:cNvPr>
          <p:cNvPicPr>
            <a:picLocks noChangeAspect="1"/>
          </p:cNvPicPr>
          <p:nvPr/>
        </p:nvPicPr>
        <p:blipFill>
          <a:blip r:embed="rId2"/>
          <a:stretch>
            <a:fillRect/>
          </a:stretch>
        </p:blipFill>
        <p:spPr>
          <a:xfrm>
            <a:off x="10402032" y="1738092"/>
            <a:ext cx="181417" cy="181417"/>
          </a:xfrm>
          <a:prstGeom prst="rect">
            <a:avLst/>
          </a:prstGeom>
        </p:spPr>
      </p:pic>
      <p:sp>
        <p:nvSpPr>
          <p:cNvPr id="21" name="Shape 16"/>
          <p:cNvSpPr/>
          <p:nvPr/>
        </p:nvSpPr>
        <p:spPr>
          <a:xfrm>
            <a:off x="548640" y="3246120"/>
            <a:ext cx="5449824" cy="1600200"/>
          </a:xfrm>
          <a:prstGeom prst="roundRect">
            <a:avLst>
              <a:gd name="adj" fmla="val 6857"/>
            </a:avLst>
          </a:prstGeom>
          <a:solidFill>
            <a:srgbClr val="F4FAF6"/>
          </a:solidFill>
          <a:ln w="6350">
            <a:solidFill>
              <a:srgbClr val="F4FAF6"/>
            </a:solidFill>
            <a:prstDash val="solid"/>
          </a:ln>
        </p:spPr>
      </p:sp>
      <p:sp>
        <p:nvSpPr>
          <p:cNvPr id="22" name="Shape 17"/>
          <p:cNvSpPr/>
          <p:nvPr/>
        </p:nvSpPr>
        <p:spPr>
          <a:xfrm>
            <a:off x="777240" y="3429000"/>
            <a:ext cx="457200" cy="457200"/>
          </a:xfrm>
          <a:prstGeom prst="ellipse">
            <a:avLst/>
          </a:prstGeom>
          <a:solidFill>
            <a:srgbClr val="2E8946"/>
          </a:solidFill>
          <a:ln w="6350">
            <a:solidFill>
              <a:srgbClr val="2E8946"/>
            </a:solidFill>
            <a:prstDash val="solid"/>
          </a:ln>
        </p:spPr>
      </p:sp>
      <p:pic>
        <p:nvPicPr>
          <p:cNvPr id="23" name="Image 2" descr="Icon">    </p:cNvPr>
          <p:cNvPicPr>
            <a:picLocks noChangeAspect="1"/>
          </p:cNvPicPr>
          <p:nvPr/>
        </p:nvPicPr>
        <p:blipFill>
          <a:blip r:embed="rId3"/>
          <a:stretch>
            <a:fillRect/>
          </a:stretch>
        </p:blipFill>
        <p:spPr>
          <a:xfrm>
            <a:off x="886968" y="3538728"/>
            <a:ext cx="237744" cy="237744"/>
          </a:xfrm>
          <a:prstGeom prst="rect">
            <a:avLst/>
          </a:prstGeom>
        </p:spPr>
      </p:pic>
      <p:sp>
        <p:nvSpPr>
          <p:cNvPr id="24" name="Text 18"/>
          <p:cNvSpPr txBox="1"/>
          <p:nvPr/>
        </p:nvSpPr>
        <p:spPr>
          <a:xfrm>
            <a:off x="1417320" y="3429000"/>
            <a:ext cx="4389120" cy="457200"/>
          </a:xfrm>
          <a:prstGeom prst="rect">
            <a:avLst/>
          </a:prstGeom>
          <a:noFill/>
          <a:ln/>
        </p:spPr>
        <p:txBody>
          <a:bodyPr wrap="square" lIns="0" tIns="0" rIns="0" bIns="0" rtlCol="0" anchor="ctr"/>
          <a:lstStyle/>
          <a:p>
            <a:pPr indent="0" marL="0">
              <a:buNone/>
            </a:pPr>
            <a:r>
              <a:rPr lang="en-US" sz="1500" b="1" dirty="0">
                <a:solidFill>
                  <a:srgbClr val="16243A"/>
                </a:solidFill>
              </a:rPr>
              <a:t>Only this stack's records change</a:t>
            </a:r>
            <a:endParaRPr lang="en-US" sz="1500" dirty="0"/>
          </a:p>
        </p:txBody>
      </p:sp>
      <p:sp>
        <p:nvSpPr>
          <p:cNvPr id="25" name="Text 19"/>
          <p:cNvSpPr txBox="1"/>
          <p:nvPr/>
        </p:nvSpPr>
        <p:spPr>
          <a:xfrm>
            <a:off x="1417320" y="3931920"/>
            <a:ext cx="4389120" cy="822960"/>
          </a:xfrm>
          <a:prstGeom prst="rect">
            <a:avLst/>
          </a:prstGeom>
          <a:noFill/>
          <a:ln/>
        </p:spPr>
        <p:txBody>
          <a:bodyPr wrap="square" lIns="0" tIns="0" rIns="0" bIns="0" rtlCol="0" anchor="t"/>
          <a:lstStyle/>
          <a:p>
            <a:pPr indent="0" marL="0">
              <a:buNone/>
            </a:pPr>
            <a:r>
              <a:rPr lang="en-US" sz="1300" dirty="0">
                <a:solidFill>
                  <a:srgbClr val="131925"/>
                </a:solidFill>
              </a:rPr>
              <a:t>The failover change on status, the ACM validation record and the CloudFront ALIAS are left alone.</a:t>
            </a:r>
            <a:endParaRPr lang="en-US" sz="1300" dirty="0"/>
          </a:p>
        </p:txBody>
      </p:sp>
      <p:sp>
        <p:nvSpPr>
          <p:cNvPr id="26" name="Shape 20"/>
          <p:cNvSpPr/>
          <p:nvPr/>
        </p:nvSpPr>
        <p:spPr>
          <a:xfrm>
            <a:off x="6190488" y="3246120"/>
            <a:ext cx="5449824" cy="1600200"/>
          </a:xfrm>
          <a:prstGeom prst="roundRect">
            <a:avLst>
              <a:gd name="adj" fmla="val 6857"/>
            </a:avLst>
          </a:prstGeom>
          <a:solidFill>
            <a:srgbClr val="EEF1F6"/>
          </a:solidFill>
          <a:ln w="6350">
            <a:solidFill>
              <a:srgbClr val="EEF1F6"/>
            </a:solidFill>
            <a:prstDash val="solid"/>
          </a:ln>
        </p:spPr>
      </p:sp>
      <p:sp>
        <p:nvSpPr>
          <p:cNvPr id="27" name="Shape 21"/>
          <p:cNvSpPr/>
          <p:nvPr/>
        </p:nvSpPr>
        <p:spPr>
          <a:xfrm>
            <a:off x="6419088" y="3429000"/>
            <a:ext cx="457200" cy="457200"/>
          </a:xfrm>
          <a:prstGeom prst="ellipse">
            <a:avLst/>
          </a:prstGeom>
          <a:solidFill>
            <a:srgbClr val="16243A"/>
          </a:solidFill>
          <a:ln w="6350">
            <a:solidFill>
              <a:srgbClr val="16243A"/>
            </a:solidFill>
            <a:prstDash val="solid"/>
          </a:ln>
        </p:spPr>
      </p:sp>
      <p:pic>
        <p:nvPicPr>
          <p:cNvPr id="28" name="Image 3" descr="Icon">    </p:cNvPr>
          <p:cNvPicPr>
            <a:picLocks noChangeAspect="1"/>
          </p:cNvPicPr>
          <p:nvPr/>
        </p:nvPicPr>
        <p:blipFill>
          <a:blip r:embed="rId4"/>
          <a:stretch>
            <a:fillRect/>
          </a:stretch>
        </p:blipFill>
        <p:spPr>
          <a:xfrm>
            <a:off x="6528816" y="3538728"/>
            <a:ext cx="237744" cy="237744"/>
          </a:xfrm>
          <a:prstGeom prst="rect">
            <a:avLst/>
          </a:prstGeom>
        </p:spPr>
      </p:pic>
      <p:sp>
        <p:nvSpPr>
          <p:cNvPr id="29" name="Text 22"/>
          <p:cNvSpPr txBox="1"/>
          <p:nvPr/>
        </p:nvSpPr>
        <p:spPr>
          <a:xfrm>
            <a:off x="7059168" y="3429000"/>
            <a:ext cx="4389120" cy="457200"/>
          </a:xfrm>
          <a:prstGeom prst="rect">
            <a:avLst/>
          </a:prstGeom>
          <a:noFill/>
          <a:ln/>
        </p:spPr>
        <p:txBody>
          <a:bodyPr wrap="square" lIns="0" tIns="0" rIns="0" bIns="0" rtlCol="0" anchor="ctr"/>
          <a:lstStyle/>
          <a:p>
            <a:pPr indent="0" marL="0">
              <a:buNone/>
            </a:pPr>
            <a:r>
              <a:rPr lang="en-US" sz="1500" b="1" dirty="0">
                <a:solidFill>
                  <a:srgbClr val="16243A"/>
                </a:solidFill>
              </a:rPr>
              <a:t>Getting records into a stack</a:t>
            </a:r>
            <a:endParaRPr lang="en-US" sz="1500" dirty="0"/>
          </a:p>
        </p:txBody>
      </p:sp>
      <p:sp>
        <p:nvSpPr>
          <p:cNvPr id="30" name="Text 23"/>
          <p:cNvSpPr txBox="1"/>
          <p:nvPr/>
        </p:nvSpPr>
        <p:spPr>
          <a:xfrm>
            <a:off x="7059168" y="3931920"/>
            <a:ext cx="4389120" cy="822960"/>
          </a:xfrm>
          <a:prstGeom prst="rect">
            <a:avLst/>
          </a:prstGeom>
          <a:noFill/>
          <a:ln/>
        </p:spPr>
        <p:txBody>
          <a:bodyPr wrap="square" lIns="0" tIns="0" rIns="0" bIns="0" rtlCol="0" anchor="t"/>
          <a:lstStyle/>
          <a:p>
            <a:pPr indent="0" marL="0">
              <a:buNone/>
            </a:pPr>
            <a:r>
              <a:rPr lang="en-US" sz="1300" dirty="0">
                <a:solidFill>
                  <a:srgbClr val="131925"/>
                </a:solidFill>
              </a:rPr>
              <a:t>New records can start in a stack today. Existing records need a planned move per zone, because record sets can't be imported into a stack.</a:t>
            </a:r>
            <a:endParaRPr lang="en-US" sz="1300" dirty="0"/>
          </a:p>
        </p:txBody>
      </p:sp>
      <p:sp>
        <p:nvSpPr>
          <p:cNvPr id="31" name="Text 24"/>
          <p:cNvSpPr txBox="1"/>
          <p:nvPr/>
        </p:nvSpPr>
        <p:spPr>
          <a:xfrm>
            <a:off x="548640" y="5074920"/>
            <a:ext cx="11091672" cy="274320"/>
          </a:xfrm>
          <a:prstGeom prst="rect">
            <a:avLst/>
          </a:prstGeom>
          <a:noFill/>
          <a:ln/>
        </p:spPr>
        <p:txBody>
          <a:bodyPr wrap="square" lIns="0" tIns="0" rIns="0" bIns="0" rtlCol="0" anchor="ctr"/>
          <a:lstStyle/>
          <a:p>
            <a:pPr indent="0" marL="0">
              <a:buNone/>
            </a:pPr>
            <a:r>
              <a:rPr lang="en-US" sz="1100" i="1" dirty="0">
                <a:solidFill>
                  <a:srgbClr val="586275"/>
                </a:solidFill>
              </a:rPr>
              <a:t>* Confirm in CloudFormation's resource type support table that drift detection covers Route 53 record sets.</a:t>
            </a:r>
            <a:endParaRPr lang="en-US" sz="11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The DNS change's approval email: one Add, one Modify</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Only the stack's own records appear · nothing else in the zone can change</a:t>
            </a:r>
            <a:endParaRPr lang="en-US" sz="1400" dirty="0"/>
          </a:p>
        </p:txBody>
      </p:sp>
      <p:sp>
        <p:nvSpPr>
          <p:cNvPr id="5" name="Email window"/>
          <p:cNvSpPr/>
          <p:nvPr/>
        </p:nvSpPr>
        <p:spPr>
          <a:xfrm>
            <a:off x="868680" y="1417320"/>
            <a:ext cx="4937760" cy="2267231"/>
          </a:xfrm>
          <a:prstGeom prst="roundRect">
            <a:avLst>
              <a:gd name="adj" fmla="val 3226"/>
            </a:avLst>
          </a:prstGeom>
          <a:solidFill>
            <a:srgbClr val="F5F7FA"/>
          </a:solidFill>
          <a:ln w="12700">
            <a:solidFill>
              <a:srgbClr val="D5DBE5"/>
            </a:solidFill>
            <a:prstDash val="solid"/>
          </a:ln>
          <a:effectLst>
            <a:outerShdw sx="100000" sy="100000" kx="0" ky="0" algn="bl" rotWithShape="0" blurRad="101600" dist="25400" dir="5400000">
              <a:srgbClr val="1B2A41">
                <a:alpha val="12000"/>
              </a:srgbClr>
            </a:outerShdw>
          </a:effectLst>
        </p:spPr>
      </p:sp>
      <p:sp>
        <p:nvSpPr>
          <p:cNvPr id="6" name="Text 3"/>
          <p:cNvSpPr txBox="1"/>
          <p:nvPr/>
        </p:nvSpPr>
        <p:spPr>
          <a:xfrm>
            <a:off x="1014984" y="1499616"/>
            <a:ext cx="4645152" cy="256032"/>
          </a:xfrm>
          <a:prstGeom prst="rect">
            <a:avLst/>
          </a:prstGeom>
          <a:noFill/>
          <a:ln/>
        </p:spPr>
        <p:txBody>
          <a:bodyPr wrap="square" lIns="0" tIns="0" rIns="0" bIns="0" rtlCol="0" anchor="ctr"/>
          <a:lstStyle/>
          <a:p>
            <a:pPr indent="0" marL="0">
              <a:buNone/>
            </a:pPr>
            <a:r>
              <a:rPr lang="en-US" sz="950" b="1" dirty="0">
                <a:solidFill>
                  <a:srgbClr val="131925"/>
                </a:solidFill>
              </a:rPr>
              <a:t>[APPROVAL NEEDED][PRD] dns-records-example-com — 2 changes, risk MEDIUM</a:t>
            </a:r>
            <a:endParaRPr lang="en-US" sz="950" dirty="0"/>
          </a:p>
        </p:txBody>
      </p:sp>
      <p:sp>
        <p:nvSpPr>
          <p:cNvPr id="7" name="Text 4"/>
          <p:cNvSpPr txBox="1"/>
          <p:nvPr/>
        </p:nvSpPr>
        <p:spPr>
          <a:xfrm>
            <a:off x="1014984" y="1755648"/>
            <a:ext cx="4645152" cy="182880"/>
          </a:xfrm>
          <a:prstGeom prst="rect">
            <a:avLst/>
          </a:prstGeom>
          <a:noFill/>
          <a:ln/>
        </p:spPr>
        <p:txBody>
          <a:bodyPr wrap="square" lIns="0" tIns="0" rIns="0" bIns="0" rtlCol="0" anchor="ctr"/>
          <a:lstStyle/>
          <a:p>
            <a:pPr indent="0" marL="0">
              <a:buNone/>
            </a:pPr>
            <a:r>
              <a:rPr lang="en-US" sz="950" dirty="0">
                <a:solidFill>
                  <a:srgbClr val="7D889B"/>
                </a:solidFill>
              </a:rPr>
              <a:t>From  </a:t>
            </a:r>
            <a:pPr indent="0" marL="0">
              <a:buNone/>
            </a:pPr>
            <a:r>
              <a:rPr lang="en-US" sz="950" dirty="0">
                <a:solidFill>
                  <a:srgbClr val="586275"/>
                </a:solidFill>
              </a:rPr>
              <a:t>CloudFormation pipeline</a:t>
            </a:r>
            <a:pPr indent="0" marL="0">
              <a:buNone/>
            </a:pPr>
            <a:r>
              <a:rPr lang="en-US" sz="950" dirty="0">
                <a:solidFill>
                  <a:srgbClr val="7D889B"/>
                </a:solidFill>
              </a:rPr>
              <a:t>     To  </a:t>
            </a:r>
            <a:pPr indent="0" marL="0">
              <a:buNone/>
            </a:pPr>
            <a:r>
              <a:rPr lang="en-US" sz="950" dirty="0">
                <a:solidFill>
                  <a:srgbClr val="586275"/>
                </a:solidFill>
              </a:rPr>
              <a:t>platform-approvers@example.com</a:t>
            </a:r>
            <a:endParaRPr lang="en-US" sz="950" dirty="0"/>
          </a:p>
        </p:txBody>
      </p:sp>
      <p:pic>
        <p:nvPicPr>
          <p:cNvPr id="8" name="Image 0" descr="Attachments">    </p:cNvPr>
          <p:cNvPicPr>
            <a:picLocks noChangeAspect="1"/>
          </p:cNvPicPr>
          <p:nvPr/>
        </p:nvPicPr>
        <p:blipFill>
          <a:blip r:embed="rId1"/>
          <a:stretch>
            <a:fillRect/>
          </a:stretch>
        </p:blipFill>
        <p:spPr>
          <a:xfrm>
            <a:off x="1014984" y="1965960"/>
            <a:ext cx="118872" cy="118872"/>
          </a:xfrm>
          <a:prstGeom prst="rect">
            <a:avLst/>
          </a:prstGeom>
        </p:spPr>
      </p:pic>
      <p:sp>
        <p:nvSpPr>
          <p:cNvPr id="9" name="Text 5"/>
          <p:cNvSpPr txBox="1"/>
          <p:nvPr/>
        </p:nvSpPr>
        <p:spPr>
          <a:xfrm>
            <a:off x="1170432" y="1938528"/>
            <a:ext cx="4489704" cy="182880"/>
          </a:xfrm>
          <a:prstGeom prst="rect">
            <a:avLst/>
          </a:prstGeom>
          <a:noFill/>
          <a:ln/>
        </p:spPr>
        <p:txBody>
          <a:bodyPr wrap="square" lIns="0" tIns="0" rIns="0" bIns="0" rtlCol="0" anchor="ctr"/>
          <a:lstStyle/>
          <a:p>
            <a:pPr indent="0" marL="0">
              <a:buNone/>
            </a:pPr>
            <a:r>
              <a:rPr lang="en-US" sz="950" dirty="0">
                <a:solidFill>
                  <a:srgbClr val="586275"/>
                </a:solidFill>
              </a:rPr>
              <a:t>changes.csv   ·   changeset.json</a:t>
            </a:r>
            <a:endParaRPr lang="en-US" sz="950" dirty="0"/>
          </a:p>
        </p:txBody>
      </p:sp>
      <p:pic>
        <p:nvPicPr>
          <p:cNvPr id="10" name="Image 1" descr="Email screenshot (s3-head)">    </p:cNvPr>
          <p:cNvPicPr>
            <a:picLocks noChangeAspect="1"/>
          </p:cNvPicPr>
          <p:nvPr/>
        </p:nvPicPr>
        <p:blipFill>
          <a:blip r:embed="rId2"/>
          <a:stretch>
            <a:fillRect/>
          </a:stretch>
        </p:blipFill>
        <p:spPr>
          <a:xfrm>
            <a:off x="960120" y="2185416"/>
            <a:ext cx="4754880" cy="1407695"/>
          </a:xfrm>
          <a:prstGeom prst="rect">
            <a:avLst/>
          </a:prstGeom>
        </p:spPr>
      </p:pic>
      <p:sp>
        <p:nvSpPr>
          <p:cNvPr id="11" name="Shape 6"/>
          <p:cNvSpPr/>
          <p:nvPr/>
        </p:nvSpPr>
        <p:spPr>
          <a:xfrm>
            <a:off x="960120" y="2185416"/>
            <a:ext cx="4754880" cy="1407695"/>
          </a:xfrm>
          <a:prstGeom prst="rect">
            <a:avLst/>
          </a:prstGeom>
          <a:solidFill>
            <a:srgbClr val="FFFFFF">
              <a:alpha val="0"/>
            </a:srgbClr>
          </a:solidFill>
          <a:ln w="9525">
            <a:solidFill>
              <a:srgbClr val="E3E7EE"/>
            </a:solidFill>
            <a:prstDash val="solid"/>
          </a:ln>
        </p:spPr>
      </p:sp>
      <p:sp>
        <p:nvSpPr>
          <p:cNvPr id="12" name="Callout 1"/>
          <p:cNvSpPr txBox="1"/>
          <p:nvPr/>
        </p:nvSpPr>
        <p:spPr>
          <a:xfrm>
            <a:off x="512064" y="3269894"/>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pic>
        <p:nvPicPr>
          <p:cNvPr id="13" name="Image 2" descr="Email screenshot (s3-changes)">    </p:cNvPr>
          <p:cNvPicPr>
            <a:picLocks noChangeAspect="1"/>
          </p:cNvPicPr>
          <p:nvPr/>
        </p:nvPicPr>
        <p:blipFill>
          <a:blip r:embed="rId3"/>
          <a:stretch>
            <a:fillRect/>
          </a:stretch>
        </p:blipFill>
        <p:spPr>
          <a:xfrm>
            <a:off x="6263640" y="1463040"/>
            <a:ext cx="5376672" cy="1351594"/>
          </a:xfrm>
          <a:prstGeom prst="rect">
            <a:avLst/>
          </a:prstGeom>
        </p:spPr>
      </p:pic>
      <p:sp>
        <p:nvSpPr>
          <p:cNvPr id="14" name="Shape 8"/>
          <p:cNvSpPr/>
          <p:nvPr/>
        </p:nvSpPr>
        <p:spPr>
          <a:xfrm>
            <a:off x="6263640" y="1463040"/>
            <a:ext cx="5376672" cy="1351594"/>
          </a:xfrm>
          <a:prstGeom prst="rect">
            <a:avLst/>
          </a:prstGeom>
          <a:solidFill>
            <a:srgbClr val="FFFFFF">
              <a:alpha val="0"/>
            </a:srgbClr>
          </a:solidFill>
          <a:ln w="9525">
            <a:solidFill>
              <a:srgbClr val="D5DBE5"/>
            </a:solidFill>
            <a:prstDash val="solid"/>
          </a:ln>
        </p:spPr>
      </p:sp>
      <p:pic>
        <p:nvPicPr>
          <p:cNvPr id="15" name="Image 3" descr="Email screenshot (s3-props)">    </p:cNvPr>
          <p:cNvPicPr>
            <a:picLocks noChangeAspect="1"/>
          </p:cNvPicPr>
          <p:nvPr/>
        </p:nvPicPr>
        <p:blipFill>
          <a:blip r:embed="rId4"/>
          <a:stretch>
            <a:fillRect/>
          </a:stretch>
        </p:blipFill>
        <p:spPr>
          <a:xfrm>
            <a:off x="6263640" y="2924362"/>
            <a:ext cx="5376672" cy="972851"/>
          </a:xfrm>
          <a:prstGeom prst="rect">
            <a:avLst/>
          </a:prstGeom>
        </p:spPr>
      </p:pic>
      <p:sp>
        <p:nvSpPr>
          <p:cNvPr id="16" name="Shape 9"/>
          <p:cNvSpPr/>
          <p:nvPr/>
        </p:nvSpPr>
        <p:spPr>
          <a:xfrm>
            <a:off x="6263640" y="2924362"/>
            <a:ext cx="5376672" cy="972851"/>
          </a:xfrm>
          <a:prstGeom prst="rect">
            <a:avLst/>
          </a:prstGeom>
          <a:solidFill>
            <a:srgbClr val="FFFFFF">
              <a:alpha val="0"/>
            </a:srgbClr>
          </a:solidFill>
          <a:ln w="9525">
            <a:solidFill>
              <a:srgbClr val="D5DBE5"/>
            </a:solidFill>
            <a:prstDash val="solid"/>
          </a:ln>
        </p:spPr>
      </p:sp>
      <p:sp>
        <p:nvSpPr>
          <p:cNvPr id="17" name="Callout 2"/>
          <p:cNvSpPr txBox="1"/>
          <p:nvPr/>
        </p:nvSpPr>
        <p:spPr>
          <a:xfrm>
            <a:off x="5916168" y="1990260"/>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8" name="Callout 3"/>
          <p:cNvSpPr txBox="1"/>
          <p:nvPr/>
        </p:nvSpPr>
        <p:spPr>
          <a:xfrm>
            <a:off x="5916168" y="3452325"/>
            <a:ext cx="237744" cy="237744"/>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19" name="Callout 1"/>
          <p:cNvSpPr txBox="1"/>
          <p:nvPr/>
        </p:nvSpPr>
        <p:spPr>
          <a:xfrm>
            <a:off x="868680" y="3839999"/>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20" name="Text 13"/>
          <p:cNvSpPr txBox="1"/>
          <p:nvPr/>
        </p:nvSpPr>
        <p:spPr>
          <a:xfrm>
            <a:off x="1252728" y="3821711"/>
            <a:ext cx="4553712" cy="310896"/>
          </a:xfrm>
          <a:prstGeom prst="rect">
            <a:avLst/>
          </a:prstGeom>
          <a:noFill/>
          <a:ln/>
        </p:spPr>
        <p:txBody>
          <a:bodyPr wrap="square" lIns="0" tIns="0" rIns="0" bIns="0" rtlCol="0" anchor="ctr"/>
          <a:lstStyle/>
          <a:p>
            <a:pPr indent="0" marL="0">
              <a:buNone/>
            </a:pPr>
            <a:r>
              <a:rPr lang="en-US" sz="1400" b="1" dirty="0">
                <a:solidFill>
                  <a:srgbClr val="16243A"/>
                </a:solidFill>
              </a:rPr>
              <a:t>Risk MEDIUM, stated up front</a:t>
            </a:r>
            <a:endParaRPr lang="en-US" sz="1400" dirty="0"/>
          </a:p>
        </p:txBody>
      </p:sp>
      <p:sp>
        <p:nvSpPr>
          <p:cNvPr id="21" name="Text 14"/>
          <p:cNvSpPr txBox="1"/>
          <p:nvPr/>
        </p:nvSpPr>
        <p:spPr>
          <a:xfrm>
            <a:off x="1252728" y="4141751"/>
            <a:ext cx="4553712" cy="566928"/>
          </a:xfrm>
          <a:prstGeom prst="rect">
            <a:avLst/>
          </a:prstGeom>
          <a:noFill/>
          <a:ln/>
        </p:spPr>
        <p:txBody>
          <a:bodyPr wrap="square" lIns="0" tIns="0" rIns="0" bIns="0" rtlCol="0" anchor="t"/>
          <a:lstStyle/>
          <a:p>
            <a:pPr indent="0" marL="0">
              <a:buNone/>
            </a:pPr>
            <a:r>
              <a:rPr lang="en-US" sz="1200" dirty="0">
                <a:solidFill>
                  <a:srgbClr val="131925"/>
                </a:solidFill>
              </a:rPr>
              <a:t>Route 53 records are network-sensitive, so both changes are rated MEDIUM.</a:t>
            </a:r>
            <a:endParaRPr lang="en-US" sz="1200" dirty="0"/>
          </a:p>
        </p:txBody>
      </p:sp>
      <p:sp>
        <p:nvSpPr>
          <p:cNvPr id="22" name="Callout 2"/>
          <p:cNvSpPr txBox="1"/>
          <p:nvPr/>
        </p:nvSpPr>
        <p:spPr>
          <a:xfrm>
            <a:off x="868680" y="4845839"/>
            <a:ext cx="274320" cy="274320"/>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23" name="Text 16"/>
          <p:cNvSpPr txBox="1"/>
          <p:nvPr/>
        </p:nvSpPr>
        <p:spPr>
          <a:xfrm>
            <a:off x="1252728" y="4827551"/>
            <a:ext cx="4553712" cy="310896"/>
          </a:xfrm>
          <a:prstGeom prst="rect">
            <a:avLst/>
          </a:prstGeom>
          <a:noFill/>
          <a:ln/>
        </p:spPr>
        <p:txBody>
          <a:bodyPr wrap="square" lIns="0" tIns="0" rIns="0" bIns="0" rtlCol="0" anchor="ctr"/>
          <a:lstStyle/>
          <a:p>
            <a:pPr indent="0" marL="0">
              <a:buNone/>
            </a:pPr>
            <a:r>
              <a:rPr lang="en-US" sz="1400" b="1" dirty="0">
                <a:solidFill>
                  <a:srgbClr val="16243A"/>
                </a:solidFill>
              </a:rPr>
              <a:t>Add app.example.com</a:t>
            </a:r>
            <a:endParaRPr lang="en-US" sz="1400" dirty="0"/>
          </a:p>
        </p:txBody>
      </p:sp>
      <p:sp>
        <p:nvSpPr>
          <p:cNvPr id="24" name="Text 17"/>
          <p:cNvSpPr txBox="1"/>
          <p:nvPr/>
        </p:nvSpPr>
        <p:spPr>
          <a:xfrm>
            <a:off x="1252728" y="5147591"/>
            <a:ext cx="4553712" cy="566928"/>
          </a:xfrm>
          <a:prstGeom prst="rect">
            <a:avLst/>
          </a:prstGeom>
          <a:noFill/>
          <a:ln/>
        </p:spPr>
        <p:txBody>
          <a:bodyPr wrap="square" lIns="0" tIns="0" rIns="0" bIns="0" rtlCol="0" anchor="t"/>
          <a:lstStyle/>
          <a:p>
            <a:pPr indent="0" marL="0">
              <a:buNone/>
            </a:pPr>
            <a:r>
              <a:rPr lang="en-US" sz="1200" dirty="0">
                <a:solidFill>
                  <a:srgbClr val="131925"/>
                </a:solidFill>
              </a:rPr>
              <a:t>A new A record; its full properties follow further down the email.</a:t>
            </a:r>
            <a:endParaRPr lang="en-US" sz="1200" dirty="0"/>
          </a:p>
        </p:txBody>
      </p:sp>
      <p:sp>
        <p:nvSpPr>
          <p:cNvPr id="25" name="Callout 3"/>
          <p:cNvSpPr txBox="1"/>
          <p:nvPr/>
        </p:nvSpPr>
        <p:spPr>
          <a:xfrm>
            <a:off x="6272784" y="4098381"/>
            <a:ext cx="256032" cy="256032"/>
          </a:xfrm>
          <a:prstGeom prst="ellipse">
            <a:avLst/>
          </a:prstGeom>
          <a:solidFill>
            <a:srgbClr val="2A5BD7"/>
          </a:solidFill>
          <a:ln w="19050">
            <a:solidFill>
              <a:srgbClr val="FFFFFF"/>
            </a:solid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26" name="Text 19"/>
          <p:cNvSpPr txBox="1"/>
          <p:nvPr/>
        </p:nvSpPr>
        <p:spPr>
          <a:xfrm>
            <a:off x="6629400" y="4061805"/>
            <a:ext cx="5010912" cy="512064"/>
          </a:xfrm>
          <a:prstGeom prst="rect">
            <a:avLst/>
          </a:prstGeom>
          <a:noFill/>
          <a:ln/>
        </p:spPr>
        <p:txBody>
          <a:bodyPr wrap="square" lIns="0" tIns="0" rIns="0" bIns="0" rtlCol="0" anchor="t"/>
          <a:lstStyle/>
          <a:p>
            <a:pPr indent="0" marL="0">
              <a:buNone/>
            </a:pPr>
            <a:r>
              <a:rPr lang="en-US" sz="1200" b="1" dirty="0">
                <a:solidFill>
                  <a:srgbClr val="16243A"/>
                </a:solidFill>
              </a:rPr>
              <a:t>Repoint www.  </a:t>
            </a:r>
            <a:pPr indent="0" marL="0">
              <a:buNone/>
            </a:pPr>
            <a:r>
              <a:rPr lang="en-US" sz="1200" dirty="0">
                <a:solidFill>
                  <a:srgbClr val="131925"/>
                </a:solidFill>
              </a:rPr>
              <a:t>web-old.example.net → web-new.example.net</a:t>
            </a:r>
            <a:endParaRPr lang="en-US" sz="1200" dirty="0"/>
          </a:p>
        </p:txBody>
      </p:sp>
      <p:sp>
        <p:nvSpPr>
          <p:cNvPr id="27" name="Shape 20"/>
          <p:cNvSpPr/>
          <p:nvPr/>
        </p:nvSpPr>
        <p:spPr>
          <a:xfrm>
            <a:off x="6263640" y="4765893"/>
            <a:ext cx="5376672" cy="960120"/>
          </a:xfrm>
          <a:prstGeom prst="roundRect">
            <a:avLst>
              <a:gd name="adj" fmla="val 9524"/>
            </a:avLst>
          </a:prstGeom>
          <a:solidFill>
            <a:srgbClr val="F4FAF6"/>
          </a:solidFill>
          <a:ln w="6350">
            <a:solidFill>
              <a:srgbClr val="F4FAF6"/>
            </a:solidFill>
            <a:prstDash val="solid"/>
          </a:ln>
        </p:spPr>
      </p:sp>
      <p:sp>
        <p:nvSpPr>
          <p:cNvPr id="28" name="Shape 21"/>
          <p:cNvSpPr/>
          <p:nvPr/>
        </p:nvSpPr>
        <p:spPr>
          <a:xfrm>
            <a:off x="6409944" y="5044785"/>
            <a:ext cx="402336" cy="402336"/>
          </a:xfrm>
          <a:prstGeom prst="ellipse">
            <a:avLst/>
          </a:prstGeom>
          <a:solidFill>
            <a:srgbClr val="2E8946"/>
          </a:solidFill>
          <a:ln w="6350">
            <a:solidFill>
              <a:srgbClr val="2E8946"/>
            </a:solidFill>
            <a:prstDash val="solid"/>
          </a:ln>
        </p:spPr>
      </p:sp>
      <p:pic>
        <p:nvPicPr>
          <p:cNvPr id="29" name="Image 4" descr="Icon">    </p:cNvPr>
          <p:cNvPicPr>
            <a:picLocks noChangeAspect="1"/>
          </p:cNvPicPr>
          <p:nvPr/>
        </p:nvPicPr>
        <p:blipFill>
          <a:blip r:embed="rId5"/>
          <a:stretch>
            <a:fillRect/>
          </a:stretch>
        </p:blipFill>
        <p:spPr>
          <a:xfrm>
            <a:off x="6506505" y="5141346"/>
            <a:ext cx="209215" cy="209215"/>
          </a:xfrm>
          <a:prstGeom prst="rect">
            <a:avLst/>
          </a:prstGeom>
        </p:spPr>
      </p:pic>
      <p:sp>
        <p:nvSpPr>
          <p:cNvPr id="30" name="Text 22"/>
          <p:cNvSpPr txBox="1"/>
          <p:nvPr/>
        </p:nvSpPr>
        <p:spPr>
          <a:xfrm>
            <a:off x="6976872" y="4765893"/>
            <a:ext cx="4507992" cy="960120"/>
          </a:xfrm>
          <a:prstGeom prst="rect">
            <a:avLst/>
          </a:prstGeom>
          <a:noFill/>
          <a:ln/>
        </p:spPr>
        <p:txBody>
          <a:bodyPr wrap="square" lIns="0" tIns="0" rIns="0" bIns="0" rtlCol="0" anchor="ctr"/>
          <a:lstStyle/>
          <a:p>
            <a:pPr indent="0" marL="0">
              <a:buNone/>
            </a:pPr>
            <a:r>
              <a:rPr lang="en-US" sz="1200" b="1" dirty="0">
                <a:solidFill>
                  <a:srgbClr val="165229"/>
                </a:solidFill>
              </a:rPr>
              <a:t>Only this stack's records.  </a:t>
            </a:r>
            <a:pPr indent="0" marL="0">
              <a:buNone/>
            </a:pPr>
            <a:r>
              <a:rPr lang="en-US" sz="1200" dirty="0">
                <a:solidFill>
                  <a:srgbClr val="131925"/>
                </a:solidFill>
              </a:rPr>
              <a:t>The failover change on status, the ACM record and the CloudFront ALIAS are not in the change set, so they can't change.</a:t>
            </a:r>
            <a:endParaRPr lang="en-US" sz="12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A DNS change: side by side</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Add app.example.com and repoint www.example.com</a:t>
            </a:r>
            <a:endParaRPr lang="en-US" sz="1400" dirty="0"/>
          </a:p>
        </p:txBody>
      </p:sp>
      <p:sp>
        <p:nvSpPr>
          <p:cNvPr id="5" name="Text 2"/>
          <p:cNvSpPr txBox="1"/>
          <p:nvPr/>
        </p:nvSpPr>
        <p:spPr>
          <a:xfrm>
            <a:off x="548640" y="1371600"/>
            <a:ext cx="1828800" cy="237744"/>
          </a:xfrm>
          <a:prstGeom prst="rect">
            <a:avLst/>
          </a:prstGeom>
          <a:noFill/>
          <a:ln/>
        </p:spPr>
        <p:txBody>
          <a:bodyPr wrap="square" lIns="0" tIns="0" rIns="0" bIns="0" rtlCol="0" anchor="ctr"/>
          <a:lstStyle/>
          <a:p>
            <a:pPr indent="0" marL="0">
              <a:buNone/>
            </a:pPr>
            <a:r>
              <a:rPr lang="en-US" sz="1150" dirty="0">
                <a:solidFill>
                  <a:srgbClr val="2E8946"/>
                </a:solidFill>
              </a:rPr>
              <a:t>●  </a:t>
            </a:r>
            <a:pPr indent="0" marL="0">
              <a:buNone/>
            </a:pPr>
            <a:r>
              <a:rPr lang="en-US" sz="1150" dirty="0">
                <a:solidFill>
                  <a:srgbClr val="586275"/>
                </a:solidFill>
              </a:rPr>
              <a:t>Handled well</a:t>
            </a:r>
            <a:endParaRPr lang="en-US" sz="1150" dirty="0"/>
          </a:p>
        </p:txBody>
      </p:sp>
      <p:sp>
        <p:nvSpPr>
          <p:cNvPr id="6" name="Text 3"/>
          <p:cNvSpPr txBox="1"/>
          <p:nvPr/>
        </p:nvSpPr>
        <p:spPr>
          <a:xfrm>
            <a:off x="2468880" y="1371600"/>
            <a:ext cx="1828800" cy="237744"/>
          </a:xfrm>
          <a:prstGeom prst="rect">
            <a:avLst/>
          </a:prstGeom>
          <a:noFill/>
          <a:ln/>
        </p:spPr>
        <p:txBody>
          <a:bodyPr wrap="square" lIns="0" tIns="0" rIns="0" bIns="0" rtlCol="0" anchor="ctr"/>
          <a:lstStyle/>
          <a:p>
            <a:pPr indent="0" marL="0">
              <a:buNone/>
            </a:pPr>
            <a:r>
              <a:rPr lang="en-US" sz="1150" dirty="0">
                <a:solidFill>
                  <a:srgbClr val="BF8418"/>
                </a:solidFill>
              </a:rPr>
              <a:t>●  </a:t>
            </a:r>
            <a:pPr indent="0" marL="0">
              <a:buNone/>
            </a:pPr>
            <a:r>
              <a:rPr lang="en-US" sz="1150" dirty="0">
                <a:solidFill>
                  <a:srgbClr val="586275"/>
                </a:solidFill>
              </a:rPr>
              <a:t>Partly handled</a:t>
            </a:r>
            <a:endParaRPr lang="en-US" sz="1150" dirty="0"/>
          </a:p>
        </p:txBody>
      </p:sp>
      <p:sp>
        <p:nvSpPr>
          <p:cNvPr id="7" name="Text 4"/>
          <p:cNvSpPr txBox="1"/>
          <p:nvPr/>
        </p:nvSpPr>
        <p:spPr>
          <a:xfrm>
            <a:off x="4389120" y="1371600"/>
            <a:ext cx="1828800" cy="237744"/>
          </a:xfrm>
          <a:prstGeom prst="rect">
            <a:avLst/>
          </a:prstGeom>
          <a:noFill/>
          <a:ln/>
        </p:spPr>
        <p:txBody>
          <a:bodyPr wrap="square" lIns="0" tIns="0" rIns="0" bIns="0" rtlCol="0" anchor="ctr"/>
          <a:lstStyle/>
          <a:p>
            <a:pPr indent="0" marL="0">
              <a:buNone/>
            </a:pPr>
            <a:r>
              <a:rPr lang="en-US" sz="1150" dirty="0">
                <a:solidFill>
                  <a:srgbClr val="C93A32"/>
                </a:solidFill>
              </a:rPr>
              <a:t>●  </a:t>
            </a:r>
            <a:pPr indent="0" marL="0">
              <a:buNone/>
            </a:pPr>
            <a:r>
              <a:rPr lang="en-US" sz="1150" dirty="0">
                <a:solidFill>
                  <a:srgbClr val="586275"/>
                </a:solidFill>
              </a:rPr>
              <a:t>Not handled</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468880"/>
                <a:gridCol w="2880360"/>
                <a:gridCol w="2834640"/>
                <a:gridCol w="2907792"/>
              </a:tblGrid>
              <a:tr h="0">
                <a:tc>
                  <a:txBody>
                    <a:bodyPr/>
                    <a:lstStyle/>
                    <a:p>
                      <a:pPr indent="0" marL="0">
                        <a:buNone/>
                      </a:pPr>
                      <a:r>
                        <a:rPr lang="en-US" sz="1100" b="1" dirty="0">
                          <a:solidFill>
                            <a:srgbClr val="586275"/>
                          </a:solidFill>
                        </a:rPr>
                        <a:t>Situation</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DNS export + apply</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Current CloudFormation workflow</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Proposed pipeline</a:t>
                      </a:r>
                      <a:endParaRPr lang="en-US" sz="11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rPr>
                        <a:t>What the reviewer sees</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A preview, worked out again after approval</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Nothing before it goes live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A change set with before → after, run as approved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Records the change doesn't mention</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Pushed back to the file; with deletes, extra records removed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Left alone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Left alone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Name already used by another tool</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Overwritten by UPSERT</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Fails safely; the reason may not reach the job log</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Fails safely; the reason is emailed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ALIAS records</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Not supported; export skips them</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Supported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Supported</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Approval record</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GitHub environment approval</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None</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Approval email, and who executed it</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Steps for the engineer</a:t>
                      </a:r>
                      <a:endParaRPr lang="en-US" sz="125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Two workflows and a pull request</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One run, no review</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One run and one approval</a:t>
                      </a:r>
                      <a:endParaRPr lang="en-US" sz="1200" dirty="0"/>
                    </a:p>
                  </a:txBody>
                  <a:tcPr marL="114300" marR="1143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Every email the pipeline sends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The subject line always names the outcome, the account tier and the stack</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057400"/>
                <a:gridCol w="2697480"/>
                <a:gridCol w="3547872"/>
                <a:gridCol w="2788920"/>
              </a:tblGrid>
              <a:tr h="0">
                <a:tc>
                  <a:txBody>
                    <a:bodyPr/>
                    <a:lstStyle/>
                    <a:p>
                      <a:pPr indent="0" marL="0">
                        <a:buNone/>
                      </a:pPr>
                      <a:r>
                        <a:rPr lang="en-US" sz="1100" b="1" dirty="0">
                          <a:solidFill>
                            <a:srgbClr val="586275"/>
                          </a:solidFill>
                        </a:rPr>
                        <a:t>Email</a:t>
                      </a:r>
                      <a:endParaRPr lang="en-US" sz="11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Sent when</a:t>
                      </a:r>
                      <a:endParaRPr lang="en-US" sz="11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What's in it</a:t>
                      </a:r>
                      <a:endParaRPr lang="en-US" sz="11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100" b="1" dirty="0">
                          <a:solidFill>
                            <a:srgbClr val="586275"/>
                          </a:solidFill>
                        </a:rPr>
                        <a:t>Subject line (example)</a:t>
                      </a:r>
                      <a:endParaRPr lang="en-US" sz="11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00" dirty="0">
                          <a:solidFill>
                            <a:srgbClr val="B42318"/>
                          </a:solidFill>
                        </a:rPr>
                        <a:t>●  </a:t>
                      </a:r>
                      <a:pPr indent="0" marL="0">
                        <a:buNone/>
                      </a:pPr>
                      <a:r>
                        <a:rPr lang="en-US" sz="1200" b="1" dirty="0">
                          <a:solidFill>
                            <a:srgbClr val="131925"/>
                          </a:solidFill>
                        </a:rPr>
                        <a:t>Drift alert</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Drift is found and driftPolicy is block</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Expected against live for each property, live YAML, Amazon Q's fix with template code, a CloudTrail command</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[DRIFT][PRD] app-web — deployment halted, 2 drifted resources</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B54708"/>
                          </a:solidFill>
                        </a:rPr>
                        <a:t>●  </a:t>
                      </a:r>
                      <a:pPr indent="0" marL="0">
                        <a:buNone/>
                      </a:pPr>
                      <a:r>
                        <a:rPr lang="en-US" sz="1200" b="1" dirty="0">
                          <a:solidFill>
                            <a:srgbClr val="131925"/>
                          </a:solidFill>
                        </a:rPr>
                        <a:t>Drift check inconclusive</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Drift detection could not check every resource</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What could not be checked, and the usual fix</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[DRIFT CHECK INCONCLUSIVE][PRD] app-web — deployment halted</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B42318"/>
                          </a:solidFill>
                        </a:rPr>
                        <a:t>●  </a:t>
                      </a:r>
                      <a:pPr indent="0" marL="0">
                        <a:buNone/>
                      </a:pPr>
                      <a:r>
                        <a:rPr lang="en-US" sz="1200" b="1" dirty="0">
                          <a:solidFill>
                            <a:srgbClr val="131925"/>
                          </a:solidFill>
                        </a:rPr>
                        <a:t>Blocked</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The stack is in a state that can't be updated</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Why, and the exact recovery command</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[BLOCKED][PRD] app-web — stack is ROLLBACK_COMPLETE</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B42318"/>
                          </a:solidFill>
                        </a:rPr>
                        <a:t>●  </a:t>
                      </a:r>
                      <a:pPr indent="0" marL="0">
                        <a:buNone/>
                      </a:pPr>
                      <a:r>
                        <a:rPr lang="en-US" sz="1200" b="1" dirty="0">
                          <a:solidFill>
                            <a:srgbClr val="131925"/>
                          </a:solidFill>
                        </a:rPr>
                        <a:t>Pipeline error</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The drift stage itself failed</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The error, and the common causes</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[PIPELINE ERROR][PRD] app-web — drift check failed</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B54708"/>
                          </a:solidFill>
                        </a:rPr>
                        <a:t>●  </a:t>
                      </a:r>
                      <a:pPr indent="0" marL="0">
                        <a:buNone/>
                      </a:pPr>
                      <a:r>
                        <a:rPr lang="en-US" sz="1200" b="1" dirty="0">
                          <a:solidFill>
                            <a:srgbClr val="131925"/>
                          </a:solidFill>
                        </a:rPr>
                        <a:t>Approval needed</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A change set is ready (header blue, amber or red by risk)</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Each change rated, why, scan findings, new resources, before → after, how to approve</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[APPROVAL NEEDED][PRD] app-web — 2 changes, risk MEDIUM</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475467"/>
                          </a:solidFill>
                        </a:rPr>
                        <a:t>●  </a:t>
                      </a:r>
                      <a:pPr indent="0" marL="0">
                        <a:buNone/>
                      </a:pPr>
                      <a:r>
                        <a:rPr lang="en-US" sz="1200" b="1" dirty="0">
                          <a:solidFill>
                            <a:srgbClr val="131925"/>
                          </a:solidFill>
                        </a:rPr>
                        <a:t>No changes</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Template and params already match what is deployed</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Confirmation; the empty change set is deleted</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[NO CHANGES][PRD] app-web — nothing to deploy</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067647"/>
                          </a:solidFill>
                        </a:rPr>
                        <a:t>●  </a:t>
                      </a:r>
                      <a:pPr indent="0" marL="0">
                        <a:buNone/>
                      </a:pPr>
                      <a:r>
                        <a:rPr lang="en-US" sz="1200" b="1" dirty="0">
                          <a:solidFill>
                            <a:srgbClr val="131925"/>
                          </a:solidFill>
                        </a:rPr>
                        <a:t>Deployed</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The pipeline executed the approved change set</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Who approved it, how long it took, the stack outputs</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[DEPLOYED][PRD] app-web — CREATE_COMPLETE</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00" dirty="0">
                          <a:solidFill>
                            <a:srgbClr val="B42318"/>
                          </a:solidFill>
                        </a:rPr>
                        <a:t>●  </a:t>
                      </a:r>
                      <a:pPr indent="0" marL="0">
                        <a:buNone/>
                      </a:pPr>
                      <a:r>
                        <a:rPr lang="en-US" sz="1200" b="1" dirty="0">
                          <a:solidFill>
                            <a:srgbClr val="131925"/>
                          </a:solidFill>
                        </a:rPr>
                        <a:t>Deploy failed</a:t>
                      </a:r>
                      <a:endParaRPr lang="en-US" sz="120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Execution failed and CloudFormation rolled back</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50" dirty="0">
                          <a:solidFill>
                            <a:srgbClr val="131925"/>
                          </a:solidFill>
                        </a:rPr>
                        <a:t>Root cause, failed resources, CloudFormation's diagnostics</a:t>
                      </a:r>
                      <a:endParaRPr lang="en-US" sz="1150" dirty="0"/>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950" dirty="0">
                          <a:solidFill>
                            <a:srgbClr val="586275"/>
                          </a:solidFill>
                          <a:latin typeface="Courier New" pitchFamily="34" charset="0"/>
                          <a:ea typeface="Courier New" pitchFamily="34" charset="-122"/>
                          <a:cs typeface="Courier New" pitchFamily="34" charset="-120"/>
                        </a:rPr>
                        <a:t>[DEPLOY FAILED][PRD] app-web — ROLLBACK_COMPLETE</a:t>
                      </a:r>
                      <a:endParaRPr lang="en-US" sz="950" dirty="0">
                        <a:latin typeface="Courier New" charset="0"/>
                        <a:ea typeface="Courier New" charset="0"/>
                        <a:cs typeface="Courier New" charset="0"/>
                      </a:endParaRPr>
                    </a:p>
                  </a:txBody>
                  <a:tcPr marL="101600" marR="101600" marT="50800" marB="508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6" name="Text 2"/>
          <p:cNvSpPr txBox="1"/>
          <p:nvPr/>
        </p:nvSpPr>
        <p:spPr>
          <a:xfrm>
            <a:off x="548640" y="5989320"/>
            <a:ext cx="11091672" cy="384048"/>
          </a:xfrm>
          <a:prstGeom prst="rect">
            <a:avLst/>
          </a:prstGeom>
          <a:noFill/>
          <a:ln/>
        </p:spPr>
        <p:txBody>
          <a:bodyPr wrap="square" lIns="0" tIns="0" rIns="0" bIns="0" rtlCol="0" anchor="t"/>
          <a:lstStyle/>
          <a:p>
            <a:pPr indent="0" marL="0">
              <a:buNone/>
            </a:pPr>
            <a:r>
              <a:rPr lang="en-US" sz="1100" i="1" dirty="0">
                <a:solidFill>
                  <a:srgbClr val="586275"/>
                </a:solidFill>
              </a:rPr>
              <a:t>Sent as HTML with attachments through Amazon SES, or as plain text through Amazon SNS. Every email is also saved with the run, so it can be previewed even when sending is switched off.</a:t>
            </a:r>
            <a:endParaRPr lang="en-US" sz="11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Where the proposed pipeline helps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The same three changes, today and with the proposed pipeline</a:t>
            </a:r>
            <a:endParaRPr lang="en-US" sz="1400" dirty="0"/>
          </a:p>
        </p:txBody>
      </p:sp>
      <p:sp>
        <p:nvSpPr>
          <p:cNvPr id="5" name="Shape 2"/>
          <p:cNvSpPr/>
          <p:nvPr/>
        </p:nvSpPr>
        <p:spPr>
          <a:xfrm>
            <a:off x="548640" y="1481328"/>
            <a:ext cx="3575304" cy="4663440"/>
          </a:xfrm>
          <a:prstGeom prst="roundRect">
            <a:avLst>
              <a:gd name="adj" fmla="val 30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91640"/>
            <a:ext cx="512064" cy="512064"/>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00135" y="1814535"/>
            <a:ext cx="266273" cy="266273"/>
          </a:xfrm>
          <a:prstGeom prst="rect">
            <a:avLst/>
          </a:prstGeom>
        </p:spPr>
      </p:pic>
      <p:sp>
        <p:nvSpPr>
          <p:cNvPr id="8" name="Text 4"/>
          <p:cNvSpPr txBox="1"/>
          <p:nvPr/>
        </p:nvSpPr>
        <p:spPr>
          <a:xfrm>
            <a:off x="1417320" y="1691640"/>
            <a:ext cx="2560320" cy="512064"/>
          </a:xfrm>
          <a:prstGeom prst="rect">
            <a:avLst/>
          </a:prstGeom>
          <a:noFill/>
          <a:ln/>
        </p:spPr>
        <p:txBody>
          <a:bodyPr wrap="square" lIns="0" tIns="0" rIns="0" bIns="0" rtlCol="0" anchor="ctr"/>
          <a:lstStyle/>
          <a:p>
            <a:pPr indent="0" marL="0">
              <a:buNone/>
            </a:pPr>
            <a:r>
              <a:rPr lang="en-US" sz="1600" b="1" dirty="0">
                <a:solidFill>
                  <a:srgbClr val="16243A"/>
                </a:solidFill>
              </a:rPr>
              <a:t>Deploy an EC2 instance</a:t>
            </a:r>
            <a:endParaRPr lang="en-US" sz="1600" dirty="0"/>
          </a:p>
        </p:txBody>
      </p:sp>
      <p:sp>
        <p:nvSpPr>
          <p:cNvPr id="9" name="Text 5"/>
          <p:cNvSpPr txBox="1"/>
          <p:nvPr/>
        </p:nvSpPr>
        <p:spPr>
          <a:xfrm>
            <a:off x="822960" y="2487168"/>
            <a:ext cx="3017520" cy="274320"/>
          </a:xfrm>
          <a:prstGeom prst="rect">
            <a:avLst/>
          </a:prstGeom>
          <a:noFill/>
          <a:ln/>
        </p:spPr>
        <p:txBody>
          <a:bodyPr wrap="square" lIns="0" tIns="0" rIns="0" bIns="0" rtlCol="0" anchor="t"/>
          <a:lstStyle/>
          <a:p>
            <a:pPr indent="0" marL="0">
              <a:buNone/>
            </a:pPr>
            <a:r>
              <a:rPr lang="en-US" sz="1250" b="1" dirty="0">
                <a:solidFill>
                  <a:srgbClr val="A1332C"/>
                </a:solidFill>
              </a:rPr>
              <a:t>Today</a:t>
            </a:r>
            <a:endParaRPr lang="en-US" sz="1250" dirty="0"/>
          </a:p>
        </p:txBody>
      </p:sp>
      <p:sp>
        <p:nvSpPr>
          <p:cNvPr id="10" name="Text 6"/>
          <p:cNvSpPr txBox="1"/>
          <p:nvPr/>
        </p:nvSpPr>
        <p:spPr>
          <a:xfrm>
            <a:off x="822960" y="2798064"/>
            <a:ext cx="3063240" cy="1417320"/>
          </a:xfrm>
          <a:prstGeom prst="rect">
            <a:avLst/>
          </a:prstGeom>
          <a:noFill/>
          <a:ln/>
        </p:spPr>
        <p:txBody>
          <a:bodyPr wrap="square" lIns="0" tIns="0" rIns="0" bIns="0" rtlCol="0" anchor="t"/>
          <a:lstStyle/>
          <a:p>
            <a:pPr indent="0" marL="0">
              <a:buNone/>
            </a:pPr>
            <a:r>
              <a:rPr lang="en-US" sz="1450" dirty="0">
                <a:solidFill>
                  <a:srgbClr val="131925"/>
                </a:solidFill>
              </a:rPr>
              <a:t>CloudFormation catches the typo, but SSH open to the world goes live unreviewed, and a failed first deploy needs clean-up by hand.</a:t>
            </a:r>
            <a:endParaRPr lang="en-US" sz="1450" dirty="0"/>
          </a:p>
        </p:txBody>
      </p:sp>
      <p:sp>
        <p:nvSpPr>
          <p:cNvPr id="11" name="Shape 7"/>
          <p:cNvSpPr/>
          <p:nvPr/>
        </p:nvSpPr>
        <p:spPr>
          <a:xfrm>
            <a:off x="822960" y="4315968"/>
            <a:ext cx="3026664" cy="0"/>
          </a:xfrm>
          <a:prstGeom prst="line">
            <a:avLst/>
          </a:prstGeom>
          <a:noFill/>
          <a:ln w="12700">
            <a:solidFill>
              <a:srgbClr val="DCE1E9"/>
            </a:solidFill>
            <a:prstDash val="solid"/>
          </a:ln>
        </p:spPr>
      </p:sp>
      <p:sp>
        <p:nvSpPr>
          <p:cNvPr id="12" name="Text 8"/>
          <p:cNvSpPr txBox="1"/>
          <p:nvPr/>
        </p:nvSpPr>
        <p:spPr>
          <a:xfrm>
            <a:off x="822960" y="4462272"/>
            <a:ext cx="3017520" cy="274320"/>
          </a:xfrm>
          <a:prstGeom prst="rect">
            <a:avLst/>
          </a:prstGeom>
          <a:noFill/>
          <a:ln/>
        </p:spPr>
        <p:txBody>
          <a:bodyPr wrap="square" lIns="0" tIns="0" rIns="0" bIns="0" rtlCol="0" anchor="t"/>
          <a:lstStyle/>
          <a:p>
            <a:pPr indent="0" marL="0">
              <a:buNone/>
            </a:pPr>
            <a:r>
              <a:rPr lang="en-US" sz="1250" b="1" dirty="0">
                <a:solidFill>
                  <a:srgbClr val="2E8946"/>
                </a:solidFill>
              </a:rPr>
              <a:t>With the proposed pipeline</a:t>
            </a:r>
            <a:endParaRPr lang="en-US" sz="1250" dirty="0"/>
          </a:p>
        </p:txBody>
      </p:sp>
      <p:sp>
        <p:nvSpPr>
          <p:cNvPr id="13" name="Text 9"/>
          <p:cNvSpPr txBox="1"/>
          <p:nvPr/>
        </p:nvSpPr>
        <p:spPr>
          <a:xfrm>
            <a:off x="822960" y="4773168"/>
            <a:ext cx="3063240" cy="1280160"/>
          </a:xfrm>
          <a:prstGeom prst="rect">
            <a:avLst/>
          </a:prstGeom>
          <a:noFill/>
          <a:ln/>
        </p:spPr>
        <p:txBody>
          <a:bodyPr wrap="square" lIns="0" tIns="0" rIns="0" bIns="0" rtlCol="0" anchor="t"/>
          <a:lstStyle/>
          <a:p>
            <a:pPr indent="0" marL="0">
              <a:buNone/>
            </a:pPr>
            <a:r>
              <a:rPr lang="en-US" sz="1450" dirty="0">
                <a:solidFill>
                  <a:srgbClr val="131925"/>
                </a:solidFill>
              </a:rPr>
              <a:t>The open SSH rule is flagged before anything exists, a person approves what gets created, and a failure comes with its reason and the fix.</a:t>
            </a:r>
            <a:endParaRPr lang="en-US" sz="1450" dirty="0"/>
          </a:p>
        </p:txBody>
      </p:sp>
      <p:sp>
        <p:nvSpPr>
          <p:cNvPr id="14" name="Shape 10"/>
          <p:cNvSpPr/>
          <p:nvPr/>
        </p:nvSpPr>
        <p:spPr>
          <a:xfrm>
            <a:off x="4306824" y="1481328"/>
            <a:ext cx="3575304" cy="4663440"/>
          </a:xfrm>
          <a:prstGeom prst="roundRect">
            <a:avLst>
              <a:gd name="adj" fmla="val 30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5" name="Shape 11"/>
          <p:cNvSpPr/>
          <p:nvPr/>
        </p:nvSpPr>
        <p:spPr>
          <a:xfrm>
            <a:off x="4535424" y="1691640"/>
            <a:ext cx="512064" cy="512064"/>
          </a:xfrm>
          <a:prstGeom prst="ellipse">
            <a:avLst/>
          </a:prstGeom>
          <a:solidFill>
            <a:srgbClr val="16243A"/>
          </a:solidFill>
          <a:ln w="6350">
            <a:solidFill>
              <a:srgbClr val="16243A"/>
            </a:solidFill>
            <a:prstDash val="solid"/>
          </a:ln>
        </p:spPr>
      </p:sp>
      <p:pic>
        <p:nvPicPr>
          <p:cNvPr id="16" name="Image 1" descr="Icon">    </p:cNvPr>
          <p:cNvPicPr>
            <a:picLocks noChangeAspect="1"/>
          </p:cNvPicPr>
          <p:nvPr/>
        </p:nvPicPr>
        <p:blipFill>
          <a:blip r:embed="rId2"/>
          <a:stretch>
            <a:fillRect/>
          </a:stretch>
        </p:blipFill>
        <p:spPr>
          <a:xfrm>
            <a:off x="4658319" y="1814535"/>
            <a:ext cx="266273" cy="266273"/>
          </a:xfrm>
          <a:prstGeom prst="rect">
            <a:avLst/>
          </a:prstGeom>
        </p:spPr>
      </p:pic>
      <p:sp>
        <p:nvSpPr>
          <p:cNvPr id="17" name="Text 12"/>
          <p:cNvSpPr txBox="1"/>
          <p:nvPr/>
        </p:nvSpPr>
        <p:spPr>
          <a:xfrm>
            <a:off x="5175504" y="1691640"/>
            <a:ext cx="2560320" cy="512064"/>
          </a:xfrm>
          <a:prstGeom prst="rect">
            <a:avLst/>
          </a:prstGeom>
          <a:noFill/>
          <a:ln/>
        </p:spPr>
        <p:txBody>
          <a:bodyPr wrap="square" lIns="0" tIns="0" rIns="0" bIns="0" rtlCol="0" anchor="ctr"/>
          <a:lstStyle/>
          <a:p>
            <a:pPr indent="0" marL="0">
              <a:buNone/>
            </a:pPr>
            <a:r>
              <a:rPr lang="en-US" sz="1600" b="1" dirty="0">
                <a:solidFill>
                  <a:srgbClr val="16243A"/>
                </a:solidFill>
              </a:rPr>
              <a:t>A drifted instance</a:t>
            </a:r>
            <a:endParaRPr lang="en-US" sz="1600" dirty="0"/>
          </a:p>
        </p:txBody>
      </p:sp>
      <p:sp>
        <p:nvSpPr>
          <p:cNvPr id="18" name="Text 13"/>
          <p:cNvSpPr txBox="1"/>
          <p:nvPr/>
        </p:nvSpPr>
        <p:spPr>
          <a:xfrm>
            <a:off x="4581144" y="2487168"/>
            <a:ext cx="3017520" cy="274320"/>
          </a:xfrm>
          <a:prstGeom prst="rect">
            <a:avLst/>
          </a:prstGeom>
          <a:noFill/>
          <a:ln/>
        </p:spPr>
        <p:txBody>
          <a:bodyPr wrap="square" lIns="0" tIns="0" rIns="0" bIns="0" rtlCol="0" anchor="t"/>
          <a:lstStyle/>
          <a:p>
            <a:pPr indent="0" marL="0">
              <a:buNone/>
            </a:pPr>
            <a:r>
              <a:rPr lang="en-US" sz="1250" b="1" dirty="0">
                <a:solidFill>
                  <a:srgbClr val="A1332C"/>
                </a:solidFill>
              </a:rPr>
              <a:t>Today</a:t>
            </a:r>
            <a:endParaRPr lang="en-US" sz="1250" dirty="0"/>
          </a:p>
        </p:txBody>
      </p:sp>
      <p:sp>
        <p:nvSpPr>
          <p:cNvPr id="19" name="Text 14"/>
          <p:cNvSpPr txBox="1"/>
          <p:nvPr/>
        </p:nvSpPr>
        <p:spPr>
          <a:xfrm>
            <a:off x="4581144" y="2798064"/>
            <a:ext cx="3063240" cy="1417320"/>
          </a:xfrm>
          <a:prstGeom prst="rect">
            <a:avLst/>
          </a:prstGeom>
          <a:noFill/>
          <a:ln/>
        </p:spPr>
        <p:txBody>
          <a:bodyPr wrap="square" lIns="0" tIns="0" rIns="0" bIns="0" rtlCol="0" anchor="t"/>
          <a:lstStyle/>
          <a:p>
            <a:pPr indent="0" marL="0">
              <a:buNone/>
            </a:pPr>
            <a:r>
              <a:rPr lang="en-US" sz="1450" dirty="0">
                <a:solidFill>
                  <a:srgbClr val="131925"/>
                </a:solidFill>
              </a:rPr>
              <a:t>Console changes stay hidden, and a later deployment overwrites them unseen.</a:t>
            </a:r>
            <a:endParaRPr lang="en-US" sz="1450" dirty="0"/>
          </a:p>
        </p:txBody>
      </p:sp>
      <p:sp>
        <p:nvSpPr>
          <p:cNvPr id="20" name="Shape 15"/>
          <p:cNvSpPr/>
          <p:nvPr/>
        </p:nvSpPr>
        <p:spPr>
          <a:xfrm>
            <a:off x="4581144" y="4315968"/>
            <a:ext cx="3026664" cy="0"/>
          </a:xfrm>
          <a:prstGeom prst="line">
            <a:avLst/>
          </a:prstGeom>
          <a:noFill/>
          <a:ln w="12700">
            <a:solidFill>
              <a:srgbClr val="DCE1E9"/>
            </a:solidFill>
            <a:prstDash val="solid"/>
          </a:ln>
        </p:spPr>
      </p:sp>
      <p:sp>
        <p:nvSpPr>
          <p:cNvPr id="21" name="Text 16"/>
          <p:cNvSpPr txBox="1"/>
          <p:nvPr/>
        </p:nvSpPr>
        <p:spPr>
          <a:xfrm>
            <a:off x="4581144" y="4462272"/>
            <a:ext cx="3017520" cy="274320"/>
          </a:xfrm>
          <a:prstGeom prst="rect">
            <a:avLst/>
          </a:prstGeom>
          <a:noFill/>
          <a:ln/>
        </p:spPr>
        <p:txBody>
          <a:bodyPr wrap="square" lIns="0" tIns="0" rIns="0" bIns="0" rtlCol="0" anchor="t"/>
          <a:lstStyle/>
          <a:p>
            <a:pPr indent="0" marL="0">
              <a:buNone/>
            </a:pPr>
            <a:r>
              <a:rPr lang="en-US" sz="1250" b="1" dirty="0">
                <a:solidFill>
                  <a:srgbClr val="2E8946"/>
                </a:solidFill>
              </a:rPr>
              <a:t>With the proposed pipeline</a:t>
            </a:r>
            <a:endParaRPr lang="en-US" sz="1250" dirty="0"/>
          </a:p>
        </p:txBody>
      </p:sp>
      <p:sp>
        <p:nvSpPr>
          <p:cNvPr id="22" name="Text 17"/>
          <p:cNvSpPr txBox="1"/>
          <p:nvPr/>
        </p:nvSpPr>
        <p:spPr>
          <a:xfrm>
            <a:off x="4581144" y="4773168"/>
            <a:ext cx="3063240" cy="1280160"/>
          </a:xfrm>
          <a:prstGeom prst="rect">
            <a:avLst/>
          </a:prstGeom>
          <a:noFill/>
          <a:ln/>
        </p:spPr>
        <p:txBody>
          <a:bodyPr wrap="square" lIns="0" tIns="0" rIns="0" bIns="0" rtlCol="0" anchor="t"/>
          <a:lstStyle/>
          <a:p>
            <a:pPr indent="0" marL="0">
              <a:buNone/>
            </a:pPr>
            <a:r>
              <a:rPr lang="en-US" sz="1450" dirty="0">
                <a:solidFill>
                  <a:srgbClr val="131925"/>
                </a:solidFill>
              </a:rPr>
              <a:t>Drift stops the run, the email shows what changed with suggested template code, and one approved change set keeps or reverts each change.</a:t>
            </a:r>
            <a:endParaRPr lang="en-US" sz="1450" dirty="0"/>
          </a:p>
        </p:txBody>
      </p:sp>
      <p:sp>
        <p:nvSpPr>
          <p:cNvPr id="23" name="Shape 18"/>
          <p:cNvSpPr/>
          <p:nvPr/>
        </p:nvSpPr>
        <p:spPr>
          <a:xfrm>
            <a:off x="8065008" y="1481328"/>
            <a:ext cx="3575304" cy="4663440"/>
          </a:xfrm>
          <a:prstGeom prst="roundRect">
            <a:avLst>
              <a:gd name="adj" fmla="val 30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24" name="Shape 19"/>
          <p:cNvSpPr/>
          <p:nvPr/>
        </p:nvSpPr>
        <p:spPr>
          <a:xfrm>
            <a:off x="8293608" y="1691640"/>
            <a:ext cx="512064" cy="512064"/>
          </a:xfrm>
          <a:prstGeom prst="ellipse">
            <a:avLst/>
          </a:prstGeom>
          <a:solidFill>
            <a:srgbClr val="16243A"/>
          </a:solidFill>
          <a:ln w="6350">
            <a:solidFill>
              <a:srgbClr val="16243A"/>
            </a:solidFill>
            <a:prstDash val="solid"/>
          </a:ln>
        </p:spPr>
      </p:sp>
      <p:pic>
        <p:nvPicPr>
          <p:cNvPr id="25" name="Image 2" descr="Icon">    </p:cNvPr>
          <p:cNvPicPr>
            <a:picLocks noChangeAspect="1"/>
          </p:cNvPicPr>
          <p:nvPr/>
        </p:nvPicPr>
        <p:blipFill>
          <a:blip r:embed="rId3"/>
          <a:stretch>
            <a:fillRect/>
          </a:stretch>
        </p:blipFill>
        <p:spPr>
          <a:xfrm>
            <a:off x="8416503" y="1814535"/>
            <a:ext cx="266273" cy="266273"/>
          </a:xfrm>
          <a:prstGeom prst="rect">
            <a:avLst/>
          </a:prstGeom>
        </p:spPr>
      </p:pic>
      <p:sp>
        <p:nvSpPr>
          <p:cNvPr id="26" name="Text 20"/>
          <p:cNvSpPr txBox="1"/>
          <p:nvPr/>
        </p:nvSpPr>
        <p:spPr>
          <a:xfrm>
            <a:off x="8933688" y="1691640"/>
            <a:ext cx="2560320" cy="512064"/>
          </a:xfrm>
          <a:prstGeom prst="rect">
            <a:avLst/>
          </a:prstGeom>
          <a:noFill/>
          <a:ln/>
        </p:spPr>
        <p:txBody>
          <a:bodyPr wrap="square" lIns="0" tIns="0" rIns="0" bIns="0" rtlCol="0" anchor="ctr"/>
          <a:lstStyle/>
          <a:p>
            <a:pPr indent="0" marL="0">
              <a:buNone/>
            </a:pPr>
            <a:r>
              <a:rPr lang="en-US" sz="1600" b="1" dirty="0">
                <a:solidFill>
                  <a:srgbClr val="16243A"/>
                </a:solidFill>
              </a:rPr>
              <a:t>A DNS record</a:t>
            </a:r>
            <a:endParaRPr lang="en-US" sz="1600" dirty="0"/>
          </a:p>
        </p:txBody>
      </p:sp>
      <p:sp>
        <p:nvSpPr>
          <p:cNvPr id="27" name="Text 21"/>
          <p:cNvSpPr txBox="1"/>
          <p:nvPr/>
        </p:nvSpPr>
        <p:spPr>
          <a:xfrm>
            <a:off x="8339328" y="2487168"/>
            <a:ext cx="3017520" cy="274320"/>
          </a:xfrm>
          <a:prstGeom prst="rect">
            <a:avLst/>
          </a:prstGeom>
          <a:noFill/>
          <a:ln/>
        </p:spPr>
        <p:txBody>
          <a:bodyPr wrap="square" lIns="0" tIns="0" rIns="0" bIns="0" rtlCol="0" anchor="t"/>
          <a:lstStyle/>
          <a:p>
            <a:pPr indent="0" marL="0">
              <a:buNone/>
            </a:pPr>
            <a:r>
              <a:rPr lang="en-US" sz="1250" b="1" dirty="0">
                <a:solidFill>
                  <a:srgbClr val="A1332C"/>
                </a:solidFill>
              </a:rPr>
              <a:t>Today</a:t>
            </a:r>
            <a:endParaRPr lang="en-US" sz="1250" dirty="0"/>
          </a:p>
        </p:txBody>
      </p:sp>
      <p:sp>
        <p:nvSpPr>
          <p:cNvPr id="28" name="Text 22"/>
          <p:cNvSpPr txBox="1"/>
          <p:nvPr/>
        </p:nvSpPr>
        <p:spPr>
          <a:xfrm>
            <a:off x="8339328" y="2798064"/>
            <a:ext cx="3063240" cy="1417320"/>
          </a:xfrm>
          <a:prstGeom prst="rect">
            <a:avLst/>
          </a:prstGeom>
          <a:noFill/>
          <a:ln/>
        </p:spPr>
        <p:txBody>
          <a:bodyPr wrap="square" lIns="0" tIns="0" rIns="0" bIns="0" rtlCol="0" anchor="t"/>
          <a:lstStyle/>
          <a:p>
            <a:pPr indent="0" marL="0">
              <a:buNone/>
            </a:pPr>
            <a:r>
              <a:rPr lang="en-US" sz="1450" dirty="0">
                <a:solidFill>
                  <a:srgbClr val="131925"/>
                </a:solidFill>
              </a:rPr>
              <a:t>Two workflows and a pull request; the change is worked out again after approval, and console changes can be undone.</a:t>
            </a:r>
            <a:endParaRPr lang="en-US" sz="1450" dirty="0"/>
          </a:p>
        </p:txBody>
      </p:sp>
      <p:sp>
        <p:nvSpPr>
          <p:cNvPr id="29" name="Shape 23"/>
          <p:cNvSpPr/>
          <p:nvPr/>
        </p:nvSpPr>
        <p:spPr>
          <a:xfrm>
            <a:off x="8339328" y="4315968"/>
            <a:ext cx="3026664" cy="0"/>
          </a:xfrm>
          <a:prstGeom prst="line">
            <a:avLst/>
          </a:prstGeom>
          <a:noFill/>
          <a:ln w="12700">
            <a:solidFill>
              <a:srgbClr val="DCE1E9"/>
            </a:solidFill>
            <a:prstDash val="solid"/>
          </a:ln>
        </p:spPr>
      </p:sp>
      <p:sp>
        <p:nvSpPr>
          <p:cNvPr id="30" name="Text 24"/>
          <p:cNvSpPr txBox="1"/>
          <p:nvPr/>
        </p:nvSpPr>
        <p:spPr>
          <a:xfrm>
            <a:off x="8339328" y="4462272"/>
            <a:ext cx="3017520" cy="274320"/>
          </a:xfrm>
          <a:prstGeom prst="rect">
            <a:avLst/>
          </a:prstGeom>
          <a:noFill/>
          <a:ln/>
        </p:spPr>
        <p:txBody>
          <a:bodyPr wrap="square" lIns="0" tIns="0" rIns="0" bIns="0" rtlCol="0" anchor="t"/>
          <a:lstStyle/>
          <a:p>
            <a:pPr indent="0" marL="0">
              <a:buNone/>
            </a:pPr>
            <a:r>
              <a:rPr lang="en-US" sz="1250" b="1" dirty="0">
                <a:solidFill>
                  <a:srgbClr val="2E8946"/>
                </a:solidFill>
              </a:rPr>
              <a:t>With the proposed pipeline</a:t>
            </a:r>
            <a:endParaRPr lang="en-US" sz="1250" dirty="0"/>
          </a:p>
        </p:txBody>
      </p:sp>
      <p:sp>
        <p:nvSpPr>
          <p:cNvPr id="31" name="Text 25"/>
          <p:cNvSpPr txBox="1"/>
          <p:nvPr/>
        </p:nvSpPr>
        <p:spPr>
          <a:xfrm>
            <a:off x="8339328" y="4773168"/>
            <a:ext cx="3063240" cy="1280160"/>
          </a:xfrm>
          <a:prstGeom prst="rect">
            <a:avLst/>
          </a:prstGeom>
          <a:noFill/>
          <a:ln/>
        </p:spPr>
        <p:txBody>
          <a:bodyPr wrap="square" lIns="0" tIns="0" rIns="0" bIns="0" rtlCol="0" anchor="t"/>
          <a:lstStyle/>
          <a:p>
            <a:pPr indent="0" marL="0">
              <a:buNone/>
            </a:pPr>
            <a:r>
              <a:rPr lang="en-US" sz="1450" dirty="0">
                <a:solidFill>
                  <a:srgbClr val="131925"/>
                </a:solidFill>
              </a:rPr>
              <a:t>One run and a change set that runs as reviewed; only the stack's own records change.</a:t>
            </a:r>
            <a:endParaRPr lang="en-US" sz="14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000" b="1" dirty="0">
                <a:solidFill>
                  <a:schemeClr val="tx2"/>
                </a:solidFill>
              </a:rPr>
              <a:t>Next steps</a:t>
            </a:r>
            <a:endParaRPr lang="en-US" sz="30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Rehearse the scenarios on a sandbox account before switching production</a:t>
            </a:r>
            <a:endParaRPr lang="en-US" sz="1400" dirty="0"/>
          </a:p>
        </p:txBody>
      </p:sp>
      <p:sp>
        <p:nvSpPr>
          <p:cNvPr id="5" name="Shape 2"/>
          <p:cNvSpPr/>
          <p:nvPr/>
        </p:nvSpPr>
        <p:spPr>
          <a:xfrm>
            <a:off x="548640" y="1481328"/>
            <a:ext cx="5413248" cy="4663440"/>
          </a:xfrm>
          <a:prstGeom prst="roundRect">
            <a:avLst>
              <a:gd name="adj" fmla="val 2353"/>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804672" y="1682496"/>
            <a:ext cx="493776" cy="493776"/>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23178" y="1801002"/>
            <a:ext cx="256764" cy="256764"/>
          </a:xfrm>
          <a:prstGeom prst="rect">
            <a:avLst/>
          </a:prstGeom>
        </p:spPr>
      </p:pic>
      <p:sp>
        <p:nvSpPr>
          <p:cNvPr id="8" name="Text 4"/>
          <p:cNvSpPr txBox="1"/>
          <p:nvPr/>
        </p:nvSpPr>
        <p:spPr>
          <a:xfrm>
            <a:off x="1444752" y="1682496"/>
            <a:ext cx="4206240" cy="493776"/>
          </a:xfrm>
          <a:prstGeom prst="rect">
            <a:avLst/>
          </a:prstGeom>
          <a:noFill/>
          <a:ln/>
        </p:spPr>
        <p:txBody>
          <a:bodyPr wrap="square" lIns="0" tIns="0" rIns="0" bIns="0" rtlCol="0" anchor="ctr"/>
          <a:lstStyle/>
          <a:p>
            <a:pPr indent="0" marL="0">
              <a:buNone/>
            </a:pPr>
            <a:r>
              <a:rPr lang="en-US" sz="2000" b="1" dirty="0">
                <a:solidFill>
                  <a:srgbClr val="16243A"/>
                </a:solidFill>
              </a:rPr>
              <a:t>CloudFormation</a:t>
            </a:r>
            <a:endParaRPr lang="en-US" sz="2000" dirty="0"/>
          </a:p>
        </p:txBody>
      </p:sp>
      <p:sp>
        <p:nvSpPr>
          <p:cNvPr id="9" name="Text 5"/>
          <p:cNvSpPr txBox="1"/>
          <p:nvPr/>
        </p:nvSpPr>
        <p:spPr>
          <a:xfrm>
            <a:off x="822960" y="251460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1</a:t>
            </a:r>
            <a:endParaRPr lang="en-US" sz="1500" dirty="0"/>
          </a:p>
        </p:txBody>
      </p:sp>
      <p:sp>
        <p:nvSpPr>
          <p:cNvPr id="10" name="Text 6"/>
          <p:cNvSpPr txBox="1"/>
          <p:nvPr/>
        </p:nvSpPr>
        <p:spPr>
          <a:xfrm>
            <a:off x="1444752" y="249631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Set up</a:t>
            </a:r>
            <a:endParaRPr lang="en-US" sz="1500" dirty="0"/>
          </a:p>
        </p:txBody>
      </p:sp>
      <p:sp>
        <p:nvSpPr>
          <p:cNvPr id="11" name="Text 7"/>
          <p:cNvSpPr txBox="1"/>
          <p:nvPr/>
        </p:nvSpPr>
        <p:spPr>
          <a:xfrm>
            <a:off x="1444752" y="2825496"/>
            <a:ext cx="4251960" cy="731520"/>
          </a:xfrm>
          <a:prstGeom prst="rect">
            <a:avLst/>
          </a:prstGeom>
          <a:noFill/>
          <a:ln/>
        </p:spPr>
        <p:txBody>
          <a:bodyPr wrap="square" lIns="0" tIns="0" rIns="0" bIns="0" rtlCol="0" anchor="t"/>
          <a:lstStyle/>
          <a:p>
            <a:pPr indent="0" marL="0">
              <a:buNone/>
            </a:pPr>
            <a:r>
              <a:rPr lang="en-US" sz="1350" dirty="0">
                <a:solidFill>
                  <a:srgbClr val="131925"/>
                </a:solidFill>
              </a:rPr>
              <a:t>Deploy the support stack; add the SES sender and the new secrets and variables.</a:t>
            </a:r>
            <a:endParaRPr lang="en-US" sz="1350" dirty="0"/>
          </a:p>
        </p:txBody>
      </p:sp>
      <p:sp>
        <p:nvSpPr>
          <p:cNvPr id="12" name="Text 8"/>
          <p:cNvSpPr txBox="1"/>
          <p:nvPr/>
        </p:nvSpPr>
        <p:spPr>
          <a:xfrm>
            <a:off x="822960" y="370332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2</a:t>
            </a:r>
            <a:endParaRPr lang="en-US" sz="1500" dirty="0"/>
          </a:p>
        </p:txBody>
      </p:sp>
      <p:sp>
        <p:nvSpPr>
          <p:cNvPr id="13" name="Text 9"/>
          <p:cNvSpPr txBox="1"/>
          <p:nvPr/>
        </p:nvSpPr>
        <p:spPr>
          <a:xfrm>
            <a:off x="1444752" y="368503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Rehearse</a:t>
            </a:r>
            <a:endParaRPr lang="en-US" sz="1500" dirty="0"/>
          </a:p>
        </p:txBody>
      </p:sp>
      <p:sp>
        <p:nvSpPr>
          <p:cNvPr id="14" name="Text 10"/>
          <p:cNvSpPr txBox="1"/>
          <p:nvPr/>
        </p:nvSpPr>
        <p:spPr>
          <a:xfrm>
            <a:off x="1444752" y="4014216"/>
            <a:ext cx="4251960" cy="731520"/>
          </a:xfrm>
          <a:prstGeom prst="rect">
            <a:avLst/>
          </a:prstGeom>
          <a:noFill/>
          <a:ln/>
        </p:spPr>
        <p:txBody>
          <a:bodyPr wrap="square" lIns="0" tIns="0" rIns="0" bIns="0" rtlCol="0" anchor="t"/>
          <a:lstStyle/>
          <a:p>
            <a:pPr indent="0" marL="0">
              <a:buNone/>
            </a:pPr>
            <a:r>
              <a:rPr lang="en-US" sz="1350" dirty="0">
                <a:solidFill>
                  <a:srgbClr val="131925"/>
                </a:solidFill>
              </a:rPr>
              <a:t>Run scenarios 1 and 2 against a sandbox EC2 stack, including a deliberate console change.</a:t>
            </a:r>
            <a:endParaRPr lang="en-US" sz="1350" dirty="0"/>
          </a:p>
        </p:txBody>
      </p:sp>
      <p:sp>
        <p:nvSpPr>
          <p:cNvPr id="15" name="Text 11"/>
          <p:cNvSpPr txBox="1"/>
          <p:nvPr/>
        </p:nvSpPr>
        <p:spPr>
          <a:xfrm>
            <a:off x="822960" y="489204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3</a:t>
            </a:r>
            <a:endParaRPr lang="en-US" sz="1500" dirty="0"/>
          </a:p>
        </p:txBody>
      </p:sp>
      <p:sp>
        <p:nvSpPr>
          <p:cNvPr id="16" name="Text 12"/>
          <p:cNvSpPr txBox="1"/>
          <p:nvPr/>
        </p:nvSpPr>
        <p:spPr>
          <a:xfrm>
            <a:off x="1444752" y="487375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Switch</a:t>
            </a:r>
            <a:endParaRPr lang="en-US" sz="1500" dirty="0"/>
          </a:p>
        </p:txBody>
      </p:sp>
      <p:sp>
        <p:nvSpPr>
          <p:cNvPr id="17" name="Text 13"/>
          <p:cNvSpPr txBox="1"/>
          <p:nvPr/>
        </p:nvSpPr>
        <p:spPr>
          <a:xfrm>
            <a:off x="1444752" y="5202936"/>
            <a:ext cx="4251960" cy="731520"/>
          </a:xfrm>
          <a:prstGeom prst="rect">
            <a:avLst/>
          </a:prstGeom>
          <a:noFill/>
          <a:ln/>
        </p:spPr>
        <p:txBody>
          <a:bodyPr wrap="square" lIns="0" tIns="0" rIns="0" bIns="0" rtlCol="0" anchor="t"/>
          <a:lstStyle/>
          <a:p>
            <a:pPr indent="0" marL="0">
              <a:buNone/>
            </a:pPr>
            <a:r>
              <a:rPr lang="en-US" sz="1350" dirty="0">
                <a:solidFill>
                  <a:srgbClr val="131925"/>
                </a:solidFill>
              </a:rPr>
              <a:t>Move production stacks across, then retire latest_cft_deployment.yml.</a:t>
            </a:r>
            <a:endParaRPr lang="en-US" sz="1350" dirty="0"/>
          </a:p>
        </p:txBody>
      </p:sp>
      <p:sp>
        <p:nvSpPr>
          <p:cNvPr id="18" name="Shape 14"/>
          <p:cNvSpPr/>
          <p:nvPr/>
        </p:nvSpPr>
        <p:spPr>
          <a:xfrm>
            <a:off x="6227064" y="1481328"/>
            <a:ext cx="5413248" cy="4663440"/>
          </a:xfrm>
          <a:prstGeom prst="roundRect">
            <a:avLst>
              <a:gd name="adj" fmla="val 2353"/>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9" name="Shape 15"/>
          <p:cNvSpPr/>
          <p:nvPr/>
        </p:nvSpPr>
        <p:spPr>
          <a:xfrm>
            <a:off x="6483096" y="1682496"/>
            <a:ext cx="493776" cy="493776"/>
          </a:xfrm>
          <a:prstGeom prst="ellipse">
            <a:avLst/>
          </a:prstGeom>
          <a:solidFill>
            <a:srgbClr val="16243A"/>
          </a:solidFill>
          <a:ln w="6350">
            <a:solidFill>
              <a:srgbClr val="16243A"/>
            </a:solidFill>
            <a:prstDash val="solid"/>
          </a:ln>
        </p:spPr>
      </p:sp>
      <p:pic>
        <p:nvPicPr>
          <p:cNvPr id="20" name="Image 1" descr="Icon">    </p:cNvPr>
          <p:cNvPicPr>
            <a:picLocks noChangeAspect="1"/>
          </p:cNvPicPr>
          <p:nvPr/>
        </p:nvPicPr>
        <p:blipFill>
          <a:blip r:embed="rId2"/>
          <a:stretch>
            <a:fillRect/>
          </a:stretch>
        </p:blipFill>
        <p:spPr>
          <a:xfrm>
            <a:off x="6601602" y="1801002"/>
            <a:ext cx="256764" cy="256764"/>
          </a:xfrm>
          <a:prstGeom prst="rect">
            <a:avLst/>
          </a:prstGeom>
        </p:spPr>
      </p:pic>
      <p:sp>
        <p:nvSpPr>
          <p:cNvPr id="21" name="Text 16"/>
          <p:cNvSpPr txBox="1"/>
          <p:nvPr/>
        </p:nvSpPr>
        <p:spPr>
          <a:xfrm>
            <a:off x="7123176" y="1682496"/>
            <a:ext cx="4206240" cy="493776"/>
          </a:xfrm>
          <a:prstGeom prst="rect">
            <a:avLst/>
          </a:prstGeom>
          <a:noFill/>
          <a:ln/>
        </p:spPr>
        <p:txBody>
          <a:bodyPr wrap="square" lIns="0" tIns="0" rIns="0" bIns="0" rtlCol="0" anchor="ctr"/>
          <a:lstStyle/>
          <a:p>
            <a:pPr indent="0" marL="0">
              <a:buNone/>
            </a:pPr>
            <a:r>
              <a:rPr lang="en-US" sz="2000" b="1" dirty="0">
                <a:solidFill>
                  <a:srgbClr val="16243A"/>
                </a:solidFill>
              </a:rPr>
              <a:t>DNS records</a:t>
            </a:r>
            <a:endParaRPr lang="en-US" sz="2000" dirty="0"/>
          </a:p>
        </p:txBody>
      </p:sp>
      <p:sp>
        <p:nvSpPr>
          <p:cNvPr id="22" name="Text 17"/>
          <p:cNvSpPr txBox="1"/>
          <p:nvPr/>
        </p:nvSpPr>
        <p:spPr>
          <a:xfrm>
            <a:off x="6501384" y="251460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1</a:t>
            </a:r>
            <a:endParaRPr lang="en-US" sz="1500" dirty="0"/>
          </a:p>
        </p:txBody>
      </p:sp>
      <p:sp>
        <p:nvSpPr>
          <p:cNvPr id="23" name="Text 18"/>
          <p:cNvSpPr txBox="1"/>
          <p:nvPr/>
        </p:nvSpPr>
        <p:spPr>
          <a:xfrm>
            <a:off x="7123176" y="249631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Fix now</a:t>
            </a:r>
            <a:endParaRPr lang="en-US" sz="1500" dirty="0"/>
          </a:p>
        </p:txBody>
      </p:sp>
      <p:sp>
        <p:nvSpPr>
          <p:cNvPr id="24" name="Text 19"/>
          <p:cNvSpPr txBox="1"/>
          <p:nvPr/>
        </p:nvSpPr>
        <p:spPr>
          <a:xfrm>
            <a:off x="7123176" y="2825496"/>
            <a:ext cx="4251960" cy="731520"/>
          </a:xfrm>
          <a:prstGeom prst="rect">
            <a:avLst/>
          </a:prstGeom>
          <a:noFill/>
          <a:ln/>
        </p:spPr>
        <p:txBody>
          <a:bodyPr wrap="square" lIns="0" tIns="0" rIns="0" bIns="0" rtlCol="0" anchor="t"/>
          <a:lstStyle/>
          <a:p>
            <a:pPr indent="0" marL="0">
              <a:buNone/>
            </a:pPr>
            <a:r>
              <a:rPr lang="en-US" sz="1350" dirty="0">
                <a:solidFill>
                  <a:srgbClr val="131925"/>
                </a:solidFill>
              </a:rPr>
              <a:t>Make the applied change the approved one, and add an ownership rule before deletes are used.</a:t>
            </a:r>
            <a:endParaRPr lang="en-US" sz="1350" dirty="0"/>
          </a:p>
        </p:txBody>
      </p:sp>
      <p:sp>
        <p:nvSpPr>
          <p:cNvPr id="25" name="Text 20"/>
          <p:cNvSpPr txBox="1"/>
          <p:nvPr/>
        </p:nvSpPr>
        <p:spPr>
          <a:xfrm>
            <a:off x="6501384" y="370332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2</a:t>
            </a:r>
            <a:endParaRPr lang="en-US" sz="1500" dirty="0"/>
          </a:p>
        </p:txBody>
      </p:sp>
      <p:sp>
        <p:nvSpPr>
          <p:cNvPr id="26" name="Text 21"/>
          <p:cNvSpPr txBox="1"/>
          <p:nvPr/>
        </p:nvSpPr>
        <p:spPr>
          <a:xfrm>
            <a:off x="7123176" y="368503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Start new records in stacks</a:t>
            </a:r>
            <a:endParaRPr lang="en-US" sz="1500" dirty="0"/>
          </a:p>
        </p:txBody>
      </p:sp>
      <p:sp>
        <p:nvSpPr>
          <p:cNvPr id="27" name="Text 22"/>
          <p:cNvSpPr txBox="1"/>
          <p:nvPr/>
        </p:nvSpPr>
        <p:spPr>
          <a:xfrm>
            <a:off x="7123176" y="4014216"/>
            <a:ext cx="4251960" cy="731520"/>
          </a:xfrm>
          <a:prstGeom prst="rect">
            <a:avLst/>
          </a:prstGeom>
          <a:noFill/>
          <a:ln/>
        </p:spPr>
        <p:txBody>
          <a:bodyPr wrap="square" lIns="0" tIns="0" rIns="0" bIns="0" rtlCol="0" anchor="t"/>
          <a:lstStyle/>
          <a:p>
            <a:pPr indent="0" marL="0">
              <a:buNone/>
            </a:pPr>
            <a:r>
              <a:rPr lang="en-US" sz="1350" dirty="0">
                <a:solidFill>
                  <a:srgbClr val="131925"/>
                </a:solidFill>
              </a:rPr>
              <a:t>Create new records through the proposed pipeline from now on.</a:t>
            </a:r>
            <a:endParaRPr lang="en-US" sz="1350" dirty="0"/>
          </a:p>
        </p:txBody>
      </p:sp>
      <p:sp>
        <p:nvSpPr>
          <p:cNvPr id="28" name="Text 23"/>
          <p:cNvSpPr txBox="1"/>
          <p:nvPr/>
        </p:nvSpPr>
        <p:spPr>
          <a:xfrm>
            <a:off x="6501384" y="489204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3</a:t>
            </a:r>
            <a:endParaRPr lang="en-US" sz="1500" dirty="0"/>
          </a:p>
        </p:txBody>
      </p:sp>
      <p:sp>
        <p:nvSpPr>
          <p:cNvPr id="29" name="Text 24"/>
          <p:cNvSpPr txBox="1"/>
          <p:nvPr/>
        </p:nvSpPr>
        <p:spPr>
          <a:xfrm>
            <a:off x="7123176" y="487375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Plan the move</a:t>
            </a:r>
            <a:endParaRPr lang="en-US" sz="1500" dirty="0"/>
          </a:p>
        </p:txBody>
      </p:sp>
      <p:sp>
        <p:nvSpPr>
          <p:cNvPr id="30" name="Text 25"/>
          <p:cNvSpPr txBox="1"/>
          <p:nvPr/>
        </p:nvSpPr>
        <p:spPr>
          <a:xfrm>
            <a:off x="7123176" y="5202936"/>
            <a:ext cx="4251960" cy="731520"/>
          </a:xfrm>
          <a:prstGeom prst="rect">
            <a:avLst/>
          </a:prstGeom>
          <a:noFill/>
          <a:ln/>
        </p:spPr>
        <p:txBody>
          <a:bodyPr wrap="square" lIns="0" tIns="0" rIns="0" bIns="0" rtlCol="0" anchor="t"/>
          <a:lstStyle/>
          <a:p>
            <a:pPr indent="0" marL="0">
              <a:buNone/>
            </a:pPr>
            <a:r>
              <a:rPr lang="en-US" sz="1350" dirty="0">
                <a:solidFill>
                  <a:srgbClr val="131925"/>
                </a:solidFill>
              </a:rPr>
              <a:t>Move existing zones one at a time; record sets can't be imported, so plan each cutover.</a:t>
            </a:r>
            <a:endParaRPr lang="en-US" sz="13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Pipeline Review">
  <a:themeElements>
    <a:clrScheme name="Pipeline Review">
      <a:dk1>
        <a:srgbClr val="131925"/>
      </a:dk1>
      <a:lt1>
        <a:srgbClr val="FFFFFF"/>
      </a:lt1>
      <a:dk2>
        <a:srgbClr val="16243A"/>
      </a:dk2>
      <a:lt2>
        <a:srgbClr val="EEF1F6"/>
      </a:lt2>
      <a:accent1>
        <a:srgbClr val="2A5BD7"/>
      </a:accent1>
      <a:accent2>
        <a:srgbClr val="22866A"/>
      </a:accent2>
      <a:accent3>
        <a:srgbClr val="BF8418"/>
      </a:accent3>
      <a:accent4>
        <a:srgbClr val="4F5ED0"/>
      </a:accent4>
      <a:accent5>
        <a:srgbClr val="2E8946"/>
      </a:accent5>
      <a:accent6>
        <a:srgbClr val="C93A32"/>
      </a:accent6>
      <a:hlink>
        <a:srgbClr val="2A5BD7"/>
      </a:hlink>
      <a:folHlink>
        <a:srgbClr val="4650A9"/>
      </a:folHlink>
    </a:clrScheme>
    <a:fontScheme name="Pipeline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everyday changes, four pipelines</dc:title>
  <dc:subject>EC2 deployment, a drifted EC2 instance and a DNS record change through each pipeline</dc:subject>
  <dc:creator>Platform engineering</dc:creator>
  <cp:lastModifiedBy>Platform engineering</cp:lastModifiedBy>
  <cp:revision>1</cp:revision>
  <dcterms:created xsi:type="dcterms:W3CDTF">2026-10-11T16:29:28Z</dcterms:created>
  <dcterms:modified xsi:type="dcterms:W3CDTF">2026-10-11T16:29:28Z</dcterms:modified>
</cp:coreProperties>
</file>