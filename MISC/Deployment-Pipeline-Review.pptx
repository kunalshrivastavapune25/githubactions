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7e3739a5-a568-d17e-c65e-e35979ab9c26}">
          <p14:sldIdLst>
            <p14:sldId id="256"/>
            <p14:sldId id="257"/>
            <p14:sldId id="258"/>
          </p14:sldIdLst>
        </p14:section>
        <p14:section name="CloudFormation deployment" id="{d683c883-7cd8-eab5-aba6-38ef4e75895c}">
          <p14:sldIdLst>
            <p14:sldId id="259"/>
            <p14:sldId id="260"/>
            <p14:sldId id="261"/>
            <p14:sldId id="262"/>
            <p14:sldId id="263"/>
            <p14:sldId id="264"/>
            <p14:sldId id="265"/>
            <p14:sldId id="266"/>
            <p14:sldId id="267"/>
          </p14:sldIdLst>
        </p14:section>
        <p14:section name="DNS record pipelines" id="{5a8080f0-841b-37f0-e4d1-5b41e29dd757}">
          <p14:sldIdLst>
            <p14:sldId id="268"/>
            <p14:sldId id="269"/>
            <p14:sldId id="270"/>
            <p14:sldId id="271"/>
            <p14:sldId id="272"/>
            <p14:sldId id="273"/>
            <p14:sldId id="274"/>
            <p14:sldId id="275"/>
            <p14:sldId id="276"/>
            <p14:sldId id="277"/>
            <p14:sldId id="278"/>
            <p14:sldId id="279"/>
          </p14:sldIdLst>
        </p14:section>
        <p14:section name="Next steps" id="{8191a99a-a83d-474f-f20c-8205de27488f}">
          <p14:sldIdLst>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covering four GitHub Actions workflows: the current CloudFormation deployment (latest_cft_deployment.yml), the proposed CloudFormation pipeline (cfn-deploy-pipeline.yml), and the two Route 53 DNS record workflows (ws2-dns-records-export.yml and ws2-dns-records-apply.yml).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card per pipeline. Current CloudFormation workflow: highest risk because it deploys straight to the live account. Proposed pipeline: recommended replacement. DNS workflows: real guardrails already, with specific gaps listed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Legend for all flow diagrams. Shapes and colours are consistent across the CloudFormation and DNS slides. Every box and arrow is a native PowerPoint shape, so diagrams can be edited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Traced from latest_cft_deployment.yml. The run finds the template, then either runs aws cloudformation deploy (small templates) or uploads to S3 and calls update-stack or create-stack (large templates). Either way the change goes live immediately. Nothing previews it, checks for drift or asks for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are what the current workflow already does well. Disadvantages are the ten risks found when tracing it; details and fixes are on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1 to 5 of the current workflow, with what can happen and how the proposed pipeline handles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6 to 10 of the current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1 to 3 of the proposed pipeline. Preflight validates inputs, the single template and params.json. Lint and the security scan run in parallel with the drift check. A new stack skips drift detection and goes straight to a CREATE change set. Drift on the stack or any nested stack stops the run: Amazon Q drafts the template fix and the drift report is emailed. Option: driftPolicy = revert-drift continues with a drift-aware change set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4 to 6. The change set is created and CloudFormation's pre-deployment validation checks new resources. Every change is rated LOW, MEDIUM or HIGH and the approval email explains what will change. Rejected change sets are deleted. On approval the change set is executed, in the AWS console or through a GitHub reviewer gate; in pipeline mode drift is checked again first. Results and root causes are emailed.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 map to the ten risks of the current flow. Trade-offs are the honest costs: more setup, slower runs, and a process change because drift now blocks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comparison of the current workflow and the proposed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 reads the live zone and writes JSON files to a pull request. After review the files are merged to main. Apply, started by hand, previews the difference and after approval changes the zone. Other tools also write to the same zones, outside both workflows, and nothing compares the live zones with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Traced from ws2-dns-records-export.yml. Inputs are checked, zones are listed and matched (split-horizon pairs get -public and -private IDs), and exporting every zone outside sandbox needs approval. Each zone is exported to JSON, uploaded as a 30-day artifact and committed to a new branch with a pull request. Then someone edits and merges the PR and runs Apply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 already checks inputs carefully and never writes straight to main. The gaps are about repeatable output, failure reporting, access and the pull requests it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Traced from ws2-dns-records-apply.yml. Inputs are checked and the zone is resolved to a stack ID, then config is compared with the live zone and every change is shown. A plain run stops there. With Execute changes ticked, sandbox goes straight on and other accounts wait for approval; a new job then works out the difference again and sends the change batch to Route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has real guardrails: preview by default, explicit zone, approval outside sandbox, opt-in deletes. The gaps sit between the preview and the change, around records other tools own, and in how approval is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Safeguards across both DNS workflows. Green is in place, amber partly, red missing, grey not applicable.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High-severity DNS risks. Items tagged Check depend on the Python scripts, the GitHub environment settings or the IAM trust policy; each takes minutes to confirm or rule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5 and 6 are high severity but depend on settings and code outside the workflow files. Risk 8 is the noisy export diff the team has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Medium-severity DNS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Remaining DNS risks. Risk 13 (export failures) was reproduced: under the default bash -e shell, the first failing zone ends the export step before its error is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CloudFormation, ExternalDNS and Terraform make the same Route 53 API calls. The question is ownership, a reviewed plan, rollback and drift checks. Two caveats for CloudFormation: existing record sets can't be imported into a stack, and drift detection support for record sets should be confirmed in CloudFormation's resource type support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CloudFormation: set up the proposed pipeline, trial it side by side, then switch. DNS: fix the high-severity risks in the current workflows, make drift visible, then decide on one owner per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confirm or rule out the DNS risks tagged Check, plus one CloudFormation fact to confirm before relying on it for DNS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10058400" cy="118872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731520" y="3200400"/>
            <a:ext cx="9326880" cy="960120"/>
          </a:xfrm>
          <a:prstGeom prst="rect">
            <a:avLst/>
          </a:prstGeom>
          <a:noFill/>
          <a:ln/>
        </p:spPr>
        <p:txBody>
          <a:bodyPr wrap="square" rtlCol="0"/>
          <a:lstStyle>
            <a:lvl1pPr indent="0" marL="0">
              <a:buNone/>
              <a:defRPr lang="en-US" sz="2000" dirty="0">
                <a:solidFill>
                  <a:srgbClr val="C9D3E3"/>
                </a:solidFill>
              </a:defRPr>
            </a:lvl1pPr>
          </a:lstStyle>
          <a:p>
            <a:pPr indent="0" marL="0">
              <a:buNone/>
            </a:pPr>
            <a:endParaRPr lang="en-US" sz="2000" dirty="0"/>
          </a:p>
        </p:txBody>
      </p:sp>
      <p:sp>
        <p:nvSpPr>
          <p:cNvPr id="4" name="Text 0"/>
          <p:cNvSpPr/>
          <p:nvPr>
            <p:ph idx="102" type="body" hasCustomPrompt="1"/>
          </p:nvPr>
        </p:nvSpPr>
        <p:spPr>
          <a:xfrm>
            <a:off x="731520" y="5806440"/>
            <a:ext cx="7315200" cy="365760"/>
          </a:xfrm>
          <a:prstGeom prst="rect">
            <a:avLst/>
          </a:prstGeom>
          <a:noFill/>
          <a:ln/>
        </p:spPr>
        <p:txBody>
          <a:bodyPr wrap="square" rtlCol="0"/>
          <a:lstStyle>
            <a:lvl1pPr indent="0" marL="0">
              <a:buNone/>
              <a:defRPr lang="en-US" sz="1400" dirty="0">
                <a:solidFill>
                  <a:srgbClr val="9FB0C8"/>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822960"/>
          </a:xfrm>
          <a:prstGeom prst="rect">
            <a:avLst/>
          </a:prstGeom>
          <a:noFill/>
          <a:ln/>
        </p:spPr>
        <p:txBody>
          <a:bodyPr wrap="square" rtlCol="0"/>
          <a:lstStyle>
            <a:lvl1pPr indent="0" marL="0">
              <a:buNone/>
              <a:defRPr lang="en-US" sz="4000" b="1" dirty="0">
                <a:solidFill>
                  <a:srgbClr val="8FB0FF"/>
                </a:solidFill>
              </a:defRPr>
            </a:lvl1pPr>
          </a:lstStyle>
          <a:p>
            <a:pPr indent="0" marL="0">
              <a:buNone/>
            </a:pPr>
            <a:endParaRPr lang="en-US" sz="4000" dirty="0"/>
          </a:p>
        </p:txBody>
      </p:sp>
      <p:sp>
        <p:nvSpPr>
          <p:cNvPr id="3" name="Text 0"/>
          <p:cNvSpPr/>
          <p:nvPr>
            <p:ph idx="101" type="title" hasCustomPrompt="1"/>
          </p:nvPr>
        </p:nvSpPr>
        <p:spPr>
          <a:xfrm>
            <a:off x="731520" y="2606040"/>
            <a:ext cx="1005840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03320"/>
            <a:ext cx="9144000" cy="914400"/>
          </a:xfrm>
          <a:prstGeom prst="rect">
            <a:avLst/>
          </a:prstGeom>
          <a:noFill/>
          <a:ln/>
        </p:spPr>
        <p:txBody>
          <a:bodyPr wrap="square" rtlCol="0"/>
          <a:lstStyle>
            <a:lvl1pPr indent="0" marL="0">
              <a:buNone/>
              <a:defRPr lang="en-US" sz="1800" dirty="0">
                <a:solidFill>
                  <a:srgbClr val="C9D3E3"/>
                </a:solidFill>
              </a:defRPr>
            </a:lvl1pPr>
          </a:lstStyle>
          <a:p>
            <a:pPr indent="0" marL="0">
              <a:buNone/>
            </a:pPr>
            <a:endParaRPr lang="en-US" sz="1800" dirty="0"/>
          </a:p>
        </p:txBody>
      </p:sp>
      <p:sp>
        <p:nvSpPr>
          <p:cNvPr id="5" name="Text 0"/>
          <p:cNvSpPr/>
          <p:nvPr/>
        </p:nvSpPr>
        <p:spPr>
          <a:xfrm>
            <a:off x="731520" y="6419088"/>
            <a:ext cx="7315200" cy="274320"/>
          </a:xfrm>
          <a:prstGeom prst="rect">
            <a:avLst/>
          </a:prstGeom>
          <a:noFill/>
          <a:ln/>
        </p:spPr>
        <p:txBody>
          <a:bodyPr wrap="square" lIns="0" tIns="0" rIns="0" bIns="0" rtlCol="0" anchor="ctr"/>
          <a:lstStyle/>
          <a:p>
            <a:pPr indent="0" marL="0">
              <a:buNone/>
            </a:pPr>
            <a:r>
              <a:rPr lang="en-US" sz="1000" dirty="0">
                <a:solidFill>
                  <a:srgbClr val="9FB0C8"/>
                </a:solidFill>
              </a:rPr>
              <a:t>Deployment pipeline review · October 2026</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rtlCol="0"/>
          <a:lstStyle>
            <a:lvl1pPr indent="0" marL="0">
              <a:buNone/>
              <a:defRPr lang="en-US" sz="1400" dirty="0">
                <a:solidFill>
                  <a:srgbClr val="586275"/>
                </a:solidFill>
              </a:defRPr>
            </a:lvl1pPr>
          </a:lstStyle>
          <a:p>
            <a:pPr indent="0" marL="0">
              <a:buNone/>
            </a:pPr>
            <a:endParaRPr lang="en-US" sz="14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1000" dirty="0">
                <a:solidFill>
                  <a:srgbClr val="7D889B"/>
                </a:solidFill>
              </a:rPr>
              <a:t>Deployment pipeline review · October 2026</a:t>
            </a:r>
            <a:endParaRPr lang="en-US" sz="10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slideLayout" Target="../slideLayouts/slideLayout4.xml"/><Relationship Id="rId1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4.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4.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10058400" cy="1188720"/>
          </a:xfrm>
          <a:prstGeom prst="rect">
            <a:avLst/>
          </a:prstGeom>
          <a:noFill/>
          <a:ln/>
        </p:spPr>
        <p:txBody>
          <a:bodyPr wrap="square" lIns="0" tIns="0" rIns="0" bIns="0" rtlCol="0" anchor="b"/>
          <a:lstStyle/>
          <a:p>
            <a:pPr algn="l" indent="0" marL="0">
              <a:buNone/>
            </a:pPr>
            <a:r>
              <a:rPr lang="en-US" sz="4600" b="1" dirty="0">
                <a:solidFill>
                  <a:schemeClr val="bg1"/>
                </a:solidFill>
              </a:rPr>
              <a:t>Deployment pipeline review</a:t>
            </a:r>
            <a:endParaRPr lang="en-US" sz="4600" dirty="0"/>
          </a:p>
        </p:txBody>
      </p:sp>
      <p:sp>
        <p:nvSpPr>
          <p:cNvPr id="3" name="Text 0"/>
          <p:cNvSpPr/>
          <p:nvPr>
            <p:ph idx="101" type="body" hasCustomPrompt="1"/>
          </p:nvPr>
        </p:nvSpPr>
        <p:spPr>
          <a:xfrm>
            <a:off x="731520" y="3200400"/>
            <a:ext cx="9326880" cy="960120"/>
          </a:xfrm>
          <a:prstGeom prst="rect">
            <a:avLst/>
          </a:prstGeom>
          <a:noFill/>
          <a:ln/>
        </p:spPr>
        <p:txBody>
          <a:bodyPr wrap="square" lIns="0" tIns="0" rIns="0" bIns="0" rtlCol="0" anchor="t"/>
          <a:lstStyle/>
          <a:p>
            <a:pPr indent="0" marL="0">
              <a:buNone/>
            </a:pPr>
            <a:r>
              <a:rPr lang="en-US" sz="2000" dirty="0">
                <a:solidFill>
                  <a:srgbClr val="C9D3E3"/>
                </a:solidFill>
              </a:rPr>
              <a:t>CloudFormation deployment and Route 53 DNS record pipelines: how they work today, the proposed pipeline, and what to fix</a:t>
            </a:r>
            <a:endParaRPr lang="en-US" sz="2000" dirty="0"/>
          </a:p>
        </p:txBody>
      </p:sp>
      <p:sp>
        <p:nvSpPr>
          <p:cNvPr id="4" name="Text 0"/>
          <p:cNvSpPr/>
          <p:nvPr>
            <p:ph idx="102" type="body" hasCustomPrompt="1"/>
          </p:nvPr>
        </p:nvSpPr>
        <p:spPr>
          <a:xfrm>
            <a:off x="731520" y="5806440"/>
            <a:ext cx="7315200" cy="365760"/>
          </a:xfrm>
          <a:prstGeom prst="rect">
            <a:avLst/>
          </a:prstGeom>
          <a:noFill/>
          <a:ln/>
        </p:spPr>
        <p:txBody>
          <a:bodyPr wrap="square" lIns="0" tIns="0" rIns="0" bIns="0" rtlCol="0" anchor="ctr"/>
          <a:lstStyle/>
          <a:p>
            <a:pPr indent="0" marL="0">
              <a:buNone/>
            </a:pPr>
            <a:r>
              <a:rPr lang="en-US" sz="1400" dirty="0">
                <a:solidFill>
                  <a:srgbClr val="9FB0C8"/>
                </a:solidFill>
              </a:rPr>
              <a:t>October 2026</a:t>
            </a:r>
            <a:endParaRPr lang="en-US" sz="1400" dirty="0"/>
          </a:p>
        </p:txBody>
      </p:sp>
      <p:sp>
        <p:nvSpPr>
          <p:cNvPr id="5" name="Shape 3"/>
          <p:cNvSpPr/>
          <p:nvPr/>
        </p:nvSpPr>
        <p:spPr>
          <a:xfrm>
            <a:off x="7452360" y="4709160"/>
            <a:ext cx="822960" cy="457200"/>
          </a:xfrm>
          <a:prstGeom prst="roundRect">
            <a:avLst>
              <a:gd name="adj" fmla="val 16000"/>
            </a:avLst>
          </a:prstGeom>
          <a:solidFill>
            <a:srgbClr val="FFFFFF">
              <a:alpha val="12000"/>
            </a:srgbClr>
          </a:solidFill>
          <a:ln w="12700">
            <a:solidFill>
              <a:srgbClr val="8FB0FF"/>
            </a:solidFill>
            <a:prstDash val="solid"/>
          </a:ln>
        </p:spPr>
      </p:sp>
      <p:sp>
        <p:nvSpPr>
          <p:cNvPr id="6" name="Shape 4"/>
          <p:cNvSpPr/>
          <p:nvPr/>
        </p:nvSpPr>
        <p:spPr>
          <a:xfrm>
            <a:off x="8275320" y="4937760"/>
            <a:ext cx="292608" cy="0"/>
          </a:xfrm>
          <a:prstGeom prst="line">
            <a:avLst/>
          </a:prstGeom>
          <a:noFill/>
          <a:ln w="15875">
            <a:solidFill>
              <a:srgbClr val="8FB0FF"/>
            </a:solidFill>
            <a:prstDash val="solid"/>
            <a:tailEnd type="triangle"/>
          </a:ln>
        </p:spPr>
      </p:sp>
      <p:sp>
        <p:nvSpPr>
          <p:cNvPr id="7" name="Shape 5"/>
          <p:cNvSpPr/>
          <p:nvPr/>
        </p:nvSpPr>
        <p:spPr>
          <a:xfrm>
            <a:off x="8567928" y="4709160"/>
            <a:ext cx="822960" cy="457200"/>
          </a:xfrm>
          <a:prstGeom prst="roundRect">
            <a:avLst>
              <a:gd name="adj" fmla="val 16000"/>
            </a:avLst>
          </a:prstGeom>
          <a:solidFill>
            <a:srgbClr val="FFFFFF">
              <a:alpha val="12000"/>
            </a:srgbClr>
          </a:solidFill>
          <a:ln w="12700">
            <a:solidFill>
              <a:srgbClr val="8FB0FF"/>
            </a:solidFill>
            <a:prstDash val="solid"/>
          </a:ln>
        </p:spPr>
      </p:sp>
      <p:sp>
        <p:nvSpPr>
          <p:cNvPr id="8" name="Shape 6"/>
          <p:cNvSpPr/>
          <p:nvPr/>
        </p:nvSpPr>
        <p:spPr>
          <a:xfrm>
            <a:off x="9390888" y="4937760"/>
            <a:ext cx="292608" cy="0"/>
          </a:xfrm>
          <a:prstGeom prst="line">
            <a:avLst/>
          </a:prstGeom>
          <a:noFill/>
          <a:ln w="15875">
            <a:solidFill>
              <a:srgbClr val="8FB0FF"/>
            </a:solidFill>
            <a:prstDash val="solid"/>
            <a:tailEnd type="triangle"/>
          </a:ln>
        </p:spPr>
      </p:sp>
      <p:sp>
        <p:nvSpPr>
          <p:cNvPr id="9" name="Shape 7"/>
          <p:cNvSpPr/>
          <p:nvPr/>
        </p:nvSpPr>
        <p:spPr>
          <a:xfrm>
            <a:off x="9683496" y="4709160"/>
            <a:ext cx="822960" cy="457200"/>
          </a:xfrm>
          <a:prstGeom prst="roundRect">
            <a:avLst>
              <a:gd name="adj" fmla="val 16000"/>
            </a:avLst>
          </a:prstGeom>
          <a:solidFill>
            <a:srgbClr val="FFFFFF">
              <a:alpha val="12000"/>
            </a:srgbClr>
          </a:solidFill>
          <a:ln w="12700">
            <a:solidFill>
              <a:srgbClr val="8FB0FF"/>
            </a:solidFill>
            <a:prstDash val="solid"/>
          </a:ln>
        </p:spPr>
      </p:sp>
      <p:sp>
        <p:nvSpPr>
          <p:cNvPr id="10" name="Shape 8"/>
          <p:cNvSpPr/>
          <p:nvPr/>
        </p:nvSpPr>
        <p:spPr>
          <a:xfrm>
            <a:off x="10506456" y="4937760"/>
            <a:ext cx="292608" cy="0"/>
          </a:xfrm>
          <a:prstGeom prst="line">
            <a:avLst/>
          </a:prstGeom>
          <a:noFill/>
          <a:ln w="15875">
            <a:solidFill>
              <a:srgbClr val="8FB0FF"/>
            </a:solidFill>
            <a:prstDash val="solid"/>
            <a:tailEnd type="triangle"/>
          </a:ln>
        </p:spPr>
      </p:sp>
      <p:sp>
        <p:nvSpPr>
          <p:cNvPr id="11" name="Shape 9"/>
          <p:cNvSpPr/>
          <p:nvPr/>
        </p:nvSpPr>
        <p:spPr>
          <a:xfrm>
            <a:off x="10799064" y="4709160"/>
            <a:ext cx="822960" cy="457200"/>
          </a:xfrm>
          <a:prstGeom prst="roundRect">
            <a:avLst>
              <a:gd name="adj" fmla="val 16000"/>
            </a:avLst>
          </a:prstGeom>
          <a:solidFill>
            <a:srgbClr val="FFFFFF">
              <a:alpha val="30000"/>
            </a:srgbClr>
          </a:solidFill>
          <a:ln w="12700">
            <a:solidFill>
              <a:srgbClr val="8FB0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Executive summary</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Four GitHub Actions workflows, traced step by step from their workflow files</a:t>
            </a:r>
            <a:endParaRPr lang="en-US" sz="1400" dirty="0"/>
          </a:p>
        </p:txBody>
      </p:sp>
      <p:sp>
        <p:nvSpPr>
          <p:cNvPr id="5" name="Shape 2"/>
          <p:cNvSpPr/>
          <p:nvPr/>
        </p:nvSpPr>
        <p:spPr>
          <a:xfrm>
            <a:off x="548640" y="1463040"/>
            <a:ext cx="5413248" cy="1901952"/>
          </a:xfrm>
          <a:prstGeom prst="roundRect">
            <a:avLst>
              <a:gd name="adj" fmla="val 576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777240" y="1691640"/>
            <a:ext cx="530352" cy="530352"/>
          </a:xfrm>
          <a:prstGeom prst="ellipse">
            <a:avLst/>
          </a:prstGeom>
          <a:solidFill>
            <a:srgbClr val="C93A32"/>
          </a:solidFill>
          <a:ln w="6350">
            <a:solidFill>
              <a:srgbClr val="C93A32"/>
            </a:solidFill>
            <a:prstDash val="solid"/>
          </a:ln>
        </p:spPr>
      </p:sp>
      <p:pic>
        <p:nvPicPr>
          <p:cNvPr id="7" name="Image 0" descr="Icon">    </p:cNvPr>
          <p:cNvPicPr>
            <a:picLocks noChangeAspect="1"/>
          </p:cNvPicPr>
          <p:nvPr/>
        </p:nvPicPr>
        <p:blipFill>
          <a:blip r:embed="rId1"/>
          <a:stretch>
            <a:fillRect/>
          </a:stretch>
        </p:blipFill>
        <p:spPr>
          <a:xfrm>
            <a:off x="904524" y="1818924"/>
            <a:ext cx="275783" cy="275783"/>
          </a:xfrm>
          <a:prstGeom prst="rect">
            <a:avLst/>
          </a:prstGeom>
        </p:spPr>
      </p:pic>
      <p:sp>
        <p:nvSpPr>
          <p:cNvPr id="8" name="Text 4"/>
          <p:cNvSpPr txBox="1"/>
          <p:nvPr/>
        </p:nvSpPr>
        <p:spPr>
          <a:xfrm>
            <a:off x="1463040" y="1664208"/>
            <a:ext cx="3108960" cy="310896"/>
          </a:xfrm>
          <a:prstGeom prst="rect">
            <a:avLst/>
          </a:prstGeom>
          <a:noFill/>
          <a:ln/>
        </p:spPr>
        <p:txBody>
          <a:bodyPr wrap="square" lIns="0" tIns="0" rIns="0" bIns="0" rtlCol="0" anchor="ctr"/>
          <a:lstStyle/>
          <a:p>
            <a:pPr indent="0" marL="0">
              <a:buNone/>
            </a:pPr>
            <a:r>
              <a:rPr lang="en-US" sz="1600" b="1" dirty="0">
                <a:solidFill>
                  <a:srgbClr val="16243A"/>
                </a:solidFill>
              </a:rPr>
              <a:t>Current CloudFormation deployment</a:t>
            </a:r>
            <a:endParaRPr lang="en-US" sz="1600" dirty="0"/>
          </a:p>
        </p:txBody>
      </p:sp>
      <p:sp>
        <p:nvSpPr>
          <p:cNvPr id="9" name="Text 5"/>
          <p:cNvSpPr txBox="1"/>
          <p:nvPr/>
        </p:nvSpPr>
        <p:spPr>
          <a:xfrm>
            <a:off x="1463040" y="1975104"/>
            <a:ext cx="3108960" cy="237744"/>
          </a:xfrm>
          <a:prstGeom prst="rect">
            <a:avLst/>
          </a:prstGeom>
          <a:noFill/>
          <a:ln/>
        </p:spPr>
        <p:txBody>
          <a:bodyPr wrap="square" lIns="0" tIns="0" rIns="0" bIns="0" rtlCol="0" anchor="ctr"/>
          <a:lstStyle/>
          <a:p>
            <a:pPr indent="0" marL="0">
              <a:buNone/>
            </a:pPr>
            <a:r>
              <a:rPr lang="en-US" sz="1100" dirty="0">
                <a:solidFill>
                  <a:srgbClr val="586275"/>
                </a:solidFill>
                <a:latin typeface="Courier New" pitchFamily="34" charset="0"/>
                <a:ea typeface="Courier New" pitchFamily="34" charset="-122"/>
                <a:cs typeface="Courier New" pitchFamily="34" charset="-120"/>
              </a:rPr>
              <a:t>latest_cft_deployment.yml</a:t>
            </a:r>
            <a:endParaRPr lang="en-US" sz="1100" dirty="0"/>
          </a:p>
        </p:txBody>
      </p:sp>
      <p:sp>
        <p:nvSpPr>
          <p:cNvPr id="10" name="Text 6"/>
          <p:cNvSpPr txBox="1"/>
          <p:nvPr/>
        </p:nvSpPr>
        <p:spPr>
          <a:xfrm>
            <a:off x="4921301" y="1709928"/>
            <a:ext cx="811987" cy="274320"/>
          </a:xfrm>
          <a:prstGeom prst="roundRect">
            <a:avLst>
              <a:gd name="adj" fmla="val 50000"/>
            </a:avLst>
          </a:prstGeom>
          <a:solidFill>
            <a:srgbClr val="FCEAE9"/>
          </a:solidFill>
          <a:ln w="6350">
            <a:solidFill>
              <a:srgbClr val="FCEAE9"/>
            </a:solidFill>
          </a:ln>
        </p:spPr>
        <p:txBody>
          <a:bodyPr wrap="square" lIns="0" tIns="0" rIns="0" bIns="0" rtlCol="0" anchor="ctr"/>
          <a:lstStyle/>
          <a:p>
            <a:pPr algn="ctr" indent="0" marL="0">
              <a:buNone/>
            </a:pPr>
            <a:r>
              <a:rPr lang="en-US" sz="1000" b="1" dirty="0">
                <a:solidFill>
                  <a:srgbClr val="7D1C16"/>
                </a:solidFill>
              </a:rPr>
              <a:t>High risk</a:t>
            </a:r>
            <a:endParaRPr lang="en-US" sz="1000" dirty="0"/>
          </a:p>
        </p:txBody>
      </p:sp>
      <p:sp>
        <p:nvSpPr>
          <p:cNvPr id="11" name="Text 7"/>
          <p:cNvSpPr txBox="1"/>
          <p:nvPr/>
        </p:nvSpPr>
        <p:spPr>
          <a:xfrm>
            <a:off x="804672" y="2377440"/>
            <a:ext cx="3794760" cy="868680"/>
          </a:xfrm>
          <a:prstGeom prst="rect">
            <a:avLst/>
          </a:prstGeom>
          <a:noFill/>
          <a:ln/>
        </p:spPr>
        <p:txBody>
          <a:bodyPr wrap="square" lIns="0" tIns="0" rIns="0" bIns="0" rtlCol="0" anchor="t"/>
          <a:lstStyle/>
          <a:p>
            <a:pPr indent="0" marL="0">
              <a:buNone/>
            </a:pPr>
            <a:r>
              <a:rPr lang="en-US" sz="1300" dirty="0">
                <a:solidFill>
                  <a:srgbClr val="131925"/>
                </a:solidFill>
              </a:rPr>
              <a:t>Deploys straight to the live account in one step, with no preview, no approval and no drift check.</a:t>
            </a:r>
            <a:endParaRPr lang="en-US" sz="1300" dirty="0"/>
          </a:p>
        </p:txBody>
      </p:sp>
      <p:sp>
        <p:nvSpPr>
          <p:cNvPr id="12" name="Text 8"/>
          <p:cNvSpPr txBox="1"/>
          <p:nvPr/>
        </p:nvSpPr>
        <p:spPr>
          <a:xfrm>
            <a:off x="4663440" y="2514600"/>
            <a:ext cx="1097280" cy="548640"/>
          </a:xfrm>
          <a:prstGeom prst="rect">
            <a:avLst/>
          </a:prstGeom>
          <a:noFill/>
          <a:ln/>
        </p:spPr>
        <p:txBody>
          <a:bodyPr wrap="square" lIns="0" tIns="0" rIns="0" bIns="0" rtlCol="0" anchor="ctr"/>
          <a:lstStyle/>
          <a:p>
            <a:pPr algn="r" indent="0" marL="0">
              <a:buNone/>
            </a:pPr>
            <a:r>
              <a:rPr lang="en-US" sz="1800" b="1" dirty="0">
                <a:solidFill>
                  <a:srgbClr val="C93A32"/>
                </a:solidFill>
              </a:rPr>
              <a:t>10 risks</a:t>
            </a:r>
            <a:endParaRPr lang="en-US" sz="1800" dirty="0"/>
          </a:p>
        </p:txBody>
      </p:sp>
      <p:sp>
        <p:nvSpPr>
          <p:cNvPr id="13" name="Shape 9"/>
          <p:cNvSpPr/>
          <p:nvPr/>
        </p:nvSpPr>
        <p:spPr>
          <a:xfrm>
            <a:off x="6227064" y="1463040"/>
            <a:ext cx="5413248" cy="1901952"/>
          </a:xfrm>
          <a:prstGeom prst="roundRect">
            <a:avLst>
              <a:gd name="adj" fmla="val 576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4" name="Shape 10"/>
          <p:cNvSpPr/>
          <p:nvPr/>
        </p:nvSpPr>
        <p:spPr>
          <a:xfrm>
            <a:off x="6455664" y="1691640"/>
            <a:ext cx="530352" cy="530352"/>
          </a:xfrm>
          <a:prstGeom prst="ellipse">
            <a:avLst/>
          </a:prstGeom>
          <a:solidFill>
            <a:srgbClr val="2E8946"/>
          </a:solidFill>
          <a:ln w="6350">
            <a:solidFill>
              <a:srgbClr val="2E8946"/>
            </a:solidFill>
            <a:prstDash val="solid"/>
          </a:ln>
        </p:spPr>
      </p:sp>
      <p:pic>
        <p:nvPicPr>
          <p:cNvPr id="15" name="Image 1" descr="Icon">    </p:cNvPr>
          <p:cNvPicPr>
            <a:picLocks noChangeAspect="1"/>
          </p:cNvPicPr>
          <p:nvPr/>
        </p:nvPicPr>
        <p:blipFill>
          <a:blip r:embed="rId2"/>
          <a:stretch>
            <a:fillRect/>
          </a:stretch>
        </p:blipFill>
        <p:spPr>
          <a:xfrm>
            <a:off x="6582948" y="1818924"/>
            <a:ext cx="275783" cy="275783"/>
          </a:xfrm>
          <a:prstGeom prst="rect">
            <a:avLst/>
          </a:prstGeom>
        </p:spPr>
      </p:pic>
      <p:sp>
        <p:nvSpPr>
          <p:cNvPr id="16" name="Text 11"/>
          <p:cNvSpPr txBox="1"/>
          <p:nvPr/>
        </p:nvSpPr>
        <p:spPr>
          <a:xfrm>
            <a:off x="7141464" y="1664208"/>
            <a:ext cx="3108960" cy="310896"/>
          </a:xfrm>
          <a:prstGeom prst="rect">
            <a:avLst/>
          </a:prstGeom>
          <a:noFill/>
          <a:ln/>
        </p:spPr>
        <p:txBody>
          <a:bodyPr wrap="square" lIns="0" tIns="0" rIns="0" bIns="0" rtlCol="0" anchor="ctr"/>
          <a:lstStyle/>
          <a:p>
            <a:pPr indent="0" marL="0">
              <a:buNone/>
            </a:pPr>
            <a:r>
              <a:rPr lang="en-US" sz="1600" b="1" dirty="0">
                <a:solidFill>
                  <a:srgbClr val="16243A"/>
                </a:solidFill>
              </a:rPr>
              <a:t>Proposed CloudFormation pipeline</a:t>
            </a:r>
            <a:endParaRPr lang="en-US" sz="1600" dirty="0"/>
          </a:p>
        </p:txBody>
      </p:sp>
      <p:sp>
        <p:nvSpPr>
          <p:cNvPr id="17" name="Text 12"/>
          <p:cNvSpPr txBox="1"/>
          <p:nvPr/>
        </p:nvSpPr>
        <p:spPr>
          <a:xfrm>
            <a:off x="7141464" y="1975104"/>
            <a:ext cx="3108960" cy="237744"/>
          </a:xfrm>
          <a:prstGeom prst="rect">
            <a:avLst/>
          </a:prstGeom>
          <a:noFill/>
          <a:ln/>
        </p:spPr>
        <p:txBody>
          <a:bodyPr wrap="square" lIns="0" tIns="0" rIns="0" bIns="0" rtlCol="0" anchor="ctr"/>
          <a:lstStyle/>
          <a:p>
            <a:pPr indent="0" marL="0">
              <a:buNone/>
            </a:pPr>
            <a:r>
              <a:rPr lang="en-US" sz="1100" dirty="0">
                <a:solidFill>
                  <a:srgbClr val="586275"/>
                </a:solidFill>
                <a:latin typeface="Courier New" pitchFamily="34" charset="0"/>
                <a:ea typeface="Courier New" pitchFamily="34" charset="-122"/>
                <a:cs typeface="Courier New" pitchFamily="34" charset="-120"/>
              </a:rPr>
              <a:t>cfn-deploy-pipeline.yml</a:t>
            </a:r>
            <a:endParaRPr lang="en-US" sz="1100" dirty="0"/>
          </a:p>
        </p:txBody>
      </p:sp>
      <p:sp>
        <p:nvSpPr>
          <p:cNvPr id="18" name="Text 13"/>
          <p:cNvSpPr txBox="1"/>
          <p:nvPr/>
        </p:nvSpPr>
        <p:spPr>
          <a:xfrm>
            <a:off x="10468051" y="1709928"/>
            <a:ext cx="943661" cy="274320"/>
          </a:xfrm>
          <a:prstGeom prst="roundRect">
            <a:avLst>
              <a:gd name="adj" fmla="val 50000"/>
            </a:avLst>
          </a:prstGeom>
          <a:solidFill>
            <a:srgbClr val="E3F4E7"/>
          </a:solidFill>
          <a:ln w="6350">
            <a:solidFill>
              <a:srgbClr val="E3F4E7"/>
            </a:solidFill>
          </a:ln>
        </p:spPr>
        <p:txBody>
          <a:bodyPr wrap="square" lIns="0" tIns="0" rIns="0" bIns="0" rtlCol="0" anchor="ctr"/>
          <a:lstStyle/>
          <a:p>
            <a:pPr algn="ctr" indent="0" marL="0">
              <a:buNone/>
            </a:pPr>
            <a:r>
              <a:rPr lang="en-US" sz="1000" b="1" dirty="0">
                <a:solidFill>
                  <a:srgbClr val="165229"/>
                </a:solidFill>
              </a:rPr>
              <a:t>Recommended</a:t>
            </a:r>
            <a:endParaRPr lang="en-US" sz="1000" dirty="0"/>
          </a:p>
        </p:txBody>
      </p:sp>
      <p:sp>
        <p:nvSpPr>
          <p:cNvPr id="19" name="Text 14"/>
          <p:cNvSpPr txBox="1"/>
          <p:nvPr/>
        </p:nvSpPr>
        <p:spPr>
          <a:xfrm>
            <a:off x="6483096" y="2377440"/>
            <a:ext cx="3794760" cy="868680"/>
          </a:xfrm>
          <a:prstGeom prst="rect">
            <a:avLst/>
          </a:prstGeom>
          <a:noFill/>
          <a:ln/>
        </p:spPr>
        <p:txBody>
          <a:bodyPr wrap="square" lIns="0" tIns="0" rIns="0" bIns="0" rtlCol="0" anchor="t"/>
          <a:lstStyle/>
          <a:p>
            <a:pPr indent="0" marL="0">
              <a:buNone/>
            </a:pPr>
            <a:r>
              <a:rPr lang="en-US" sz="1300" dirty="0">
                <a:solidFill>
                  <a:srgbClr val="131925"/>
                </a:solidFill>
              </a:rPr>
              <a:t>Nine visible stages: checks, a drift gate with an Amazon Q fix, a change set, an approval email, then a person executes.</a:t>
            </a:r>
            <a:endParaRPr lang="en-US" sz="1300" dirty="0"/>
          </a:p>
        </p:txBody>
      </p:sp>
      <p:sp>
        <p:nvSpPr>
          <p:cNvPr id="20" name="Text 15"/>
          <p:cNvSpPr txBox="1"/>
          <p:nvPr/>
        </p:nvSpPr>
        <p:spPr>
          <a:xfrm>
            <a:off x="10341864" y="2514600"/>
            <a:ext cx="1097280" cy="548640"/>
          </a:xfrm>
          <a:prstGeom prst="rect">
            <a:avLst/>
          </a:prstGeom>
          <a:noFill/>
          <a:ln/>
        </p:spPr>
        <p:txBody>
          <a:bodyPr wrap="square" lIns="0" tIns="0" rIns="0" bIns="0" rtlCol="0" anchor="ctr"/>
          <a:lstStyle/>
          <a:p>
            <a:pPr algn="r" indent="0" marL="0">
              <a:buNone/>
            </a:pPr>
            <a:r>
              <a:rPr lang="en-US" sz="1800" b="1" dirty="0">
                <a:solidFill>
                  <a:srgbClr val="2E8946"/>
                </a:solidFill>
              </a:rPr>
              <a:t>Fixes all 10</a:t>
            </a:r>
            <a:endParaRPr lang="en-US" sz="1800" dirty="0"/>
          </a:p>
        </p:txBody>
      </p:sp>
      <p:sp>
        <p:nvSpPr>
          <p:cNvPr id="21" name="Shape 16"/>
          <p:cNvSpPr/>
          <p:nvPr/>
        </p:nvSpPr>
        <p:spPr>
          <a:xfrm>
            <a:off x="548640" y="3584448"/>
            <a:ext cx="5413248" cy="1901952"/>
          </a:xfrm>
          <a:prstGeom prst="roundRect">
            <a:avLst>
              <a:gd name="adj" fmla="val 576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22" name="Shape 17"/>
          <p:cNvSpPr/>
          <p:nvPr/>
        </p:nvSpPr>
        <p:spPr>
          <a:xfrm>
            <a:off x="777240" y="3813048"/>
            <a:ext cx="530352" cy="530352"/>
          </a:xfrm>
          <a:prstGeom prst="ellipse">
            <a:avLst/>
          </a:prstGeom>
          <a:solidFill>
            <a:srgbClr val="BF8418"/>
          </a:solidFill>
          <a:ln w="6350">
            <a:solidFill>
              <a:srgbClr val="BF8418"/>
            </a:solidFill>
            <a:prstDash val="solid"/>
          </a:ln>
        </p:spPr>
      </p:sp>
      <p:pic>
        <p:nvPicPr>
          <p:cNvPr id="23" name="Image 2" descr="Icon">    </p:cNvPr>
          <p:cNvPicPr>
            <a:picLocks noChangeAspect="1"/>
          </p:cNvPicPr>
          <p:nvPr/>
        </p:nvPicPr>
        <p:blipFill>
          <a:blip r:embed="rId3"/>
          <a:stretch>
            <a:fillRect/>
          </a:stretch>
        </p:blipFill>
        <p:spPr>
          <a:xfrm>
            <a:off x="904524" y="3940332"/>
            <a:ext cx="275783" cy="275783"/>
          </a:xfrm>
          <a:prstGeom prst="rect">
            <a:avLst/>
          </a:prstGeom>
        </p:spPr>
      </p:pic>
      <p:sp>
        <p:nvSpPr>
          <p:cNvPr id="24" name="Text 18"/>
          <p:cNvSpPr txBox="1"/>
          <p:nvPr/>
        </p:nvSpPr>
        <p:spPr>
          <a:xfrm>
            <a:off x="1463040" y="3785616"/>
            <a:ext cx="3108960" cy="310896"/>
          </a:xfrm>
          <a:prstGeom prst="rect">
            <a:avLst/>
          </a:prstGeom>
          <a:noFill/>
          <a:ln/>
        </p:spPr>
        <p:txBody>
          <a:bodyPr wrap="square" lIns="0" tIns="0" rIns="0" bIns="0" rtlCol="0" anchor="ctr"/>
          <a:lstStyle/>
          <a:p>
            <a:pPr indent="0" marL="0">
              <a:buNone/>
            </a:pPr>
            <a:r>
              <a:rPr lang="en-US" sz="1600" b="1" dirty="0">
                <a:solidFill>
                  <a:srgbClr val="16243A"/>
                </a:solidFill>
              </a:rPr>
              <a:t>DNS records export</a:t>
            </a:r>
            <a:endParaRPr lang="en-US" sz="1600" dirty="0"/>
          </a:p>
        </p:txBody>
      </p:sp>
      <p:sp>
        <p:nvSpPr>
          <p:cNvPr id="25" name="Text 19"/>
          <p:cNvSpPr txBox="1"/>
          <p:nvPr/>
        </p:nvSpPr>
        <p:spPr>
          <a:xfrm>
            <a:off x="1463040" y="4096512"/>
            <a:ext cx="3108960" cy="237744"/>
          </a:xfrm>
          <a:prstGeom prst="rect">
            <a:avLst/>
          </a:prstGeom>
          <a:noFill/>
          <a:ln/>
        </p:spPr>
        <p:txBody>
          <a:bodyPr wrap="square" lIns="0" tIns="0" rIns="0" bIns="0" rtlCol="0" anchor="ctr"/>
          <a:lstStyle/>
          <a:p>
            <a:pPr indent="0" marL="0">
              <a:buNone/>
            </a:pPr>
            <a:r>
              <a:rPr lang="en-US" sz="1100" dirty="0">
                <a:solidFill>
                  <a:srgbClr val="586275"/>
                </a:solidFill>
                <a:latin typeface="Courier New" pitchFamily="34" charset="0"/>
                <a:ea typeface="Courier New" pitchFamily="34" charset="-122"/>
                <a:cs typeface="Courier New" pitchFamily="34" charset="-120"/>
              </a:rPr>
              <a:t>ws2-dns-records-export.yml</a:t>
            </a:r>
            <a:endParaRPr lang="en-US" sz="1100" dirty="0"/>
          </a:p>
        </p:txBody>
      </p:sp>
      <p:sp>
        <p:nvSpPr>
          <p:cNvPr id="26" name="Text 20"/>
          <p:cNvSpPr txBox="1"/>
          <p:nvPr/>
        </p:nvSpPr>
        <p:spPr>
          <a:xfrm>
            <a:off x="4657954" y="3831336"/>
            <a:ext cx="1075334" cy="274320"/>
          </a:xfrm>
          <a:prstGeom prst="roundRect">
            <a:avLst>
              <a:gd name="adj" fmla="val 50000"/>
            </a:avLst>
          </a:prstGeom>
          <a:solidFill>
            <a:srgbClr val="FFF3DC"/>
          </a:solidFill>
          <a:ln w="6350">
            <a:solidFill>
              <a:srgbClr val="FFF3DC"/>
            </a:solidFill>
          </a:ln>
        </p:spPr>
        <p:txBody>
          <a:bodyPr wrap="square" lIns="0" tIns="0" rIns="0" bIns="0" rtlCol="0" anchor="ctr"/>
          <a:lstStyle/>
          <a:p>
            <a:pPr algn="ctr" indent="0" marL="0">
              <a:buNone/>
            </a:pPr>
            <a:r>
              <a:rPr lang="en-US" sz="1000" b="1" dirty="0">
                <a:solidFill>
                  <a:srgbClr val="6A4200"/>
                </a:solidFill>
              </a:rPr>
              <a:t>Gaps to close</a:t>
            </a:r>
            <a:endParaRPr lang="en-US" sz="1000" dirty="0"/>
          </a:p>
        </p:txBody>
      </p:sp>
      <p:sp>
        <p:nvSpPr>
          <p:cNvPr id="27" name="Text 21"/>
          <p:cNvSpPr txBox="1"/>
          <p:nvPr/>
        </p:nvSpPr>
        <p:spPr>
          <a:xfrm>
            <a:off x="804672" y="4498848"/>
            <a:ext cx="3794760" cy="868680"/>
          </a:xfrm>
          <a:prstGeom prst="rect">
            <a:avLst/>
          </a:prstGeom>
          <a:noFill/>
          <a:ln/>
        </p:spPr>
        <p:txBody>
          <a:bodyPr wrap="square" lIns="0" tIns="0" rIns="0" bIns="0" rtlCol="0" anchor="t"/>
          <a:lstStyle/>
          <a:p>
            <a:pPr indent="0" marL="0">
              <a:buNone/>
            </a:pPr>
            <a:r>
              <a:rPr lang="en-US" sz="1300" dirty="0">
                <a:solidFill>
                  <a:srgbClr val="131925"/>
                </a:solidFill>
              </a:rPr>
              <a:t>Copies live Route 53 records into JSON through a pull request. Output changes between runs, and failures can go unreported.</a:t>
            </a:r>
            <a:endParaRPr lang="en-US" sz="1300" dirty="0"/>
          </a:p>
        </p:txBody>
      </p:sp>
      <p:sp>
        <p:nvSpPr>
          <p:cNvPr id="28" name="Text 22"/>
          <p:cNvSpPr txBox="1"/>
          <p:nvPr/>
        </p:nvSpPr>
        <p:spPr>
          <a:xfrm>
            <a:off x="4663440" y="4636008"/>
            <a:ext cx="1097280" cy="548640"/>
          </a:xfrm>
          <a:prstGeom prst="rect">
            <a:avLst/>
          </a:prstGeom>
          <a:noFill/>
          <a:ln/>
        </p:spPr>
        <p:txBody>
          <a:bodyPr wrap="square" lIns="0" tIns="0" rIns="0" bIns="0" rtlCol="0" anchor="ctr"/>
          <a:lstStyle/>
          <a:p>
            <a:pPr algn="r" indent="0" marL="0">
              <a:buNone/>
            </a:pPr>
            <a:r>
              <a:rPr lang="en-US" sz="1800" b="1" dirty="0">
                <a:solidFill>
                  <a:srgbClr val="BF8418"/>
                </a:solidFill>
              </a:rPr>
              <a:t>PR-based</a:t>
            </a:r>
            <a:endParaRPr lang="en-US" sz="1800" dirty="0"/>
          </a:p>
        </p:txBody>
      </p:sp>
      <p:sp>
        <p:nvSpPr>
          <p:cNvPr id="29" name="Shape 23"/>
          <p:cNvSpPr/>
          <p:nvPr/>
        </p:nvSpPr>
        <p:spPr>
          <a:xfrm>
            <a:off x="6227064" y="3584448"/>
            <a:ext cx="5413248" cy="1901952"/>
          </a:xfrm>
          <a:prstGeom prst="roundRect">
            <a:avLst>
              <a:gd name="adj" fmla="val 576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30" name="Shape 24"/>
          <p:cNvSpPr/>
          <p:nvPr/>
        </p:nvSpPr>
        <p:spPr>
          <a:xfrm>
            <a:off x="6455664" y="3813048"/>
            <a:ext cx="530352" cy="530352"/>
          </a:xfrm>
          <a:prstGeom prst="ellipse">
            <a:avLst/>
          </a:prstGeom>
          <a:solidFill>
            <a:srgbClr val="BF8418"/>
          </a:solidFill>
          <a:ln w="6350">
            <a:solidFill>
              <a:srgbClr val="BF8418"/>
            </a:solidFill>
            <a:prstDash val="solid"/>
          </a:ln>
        </p:spPr>
      </p:sp>
      <p:pic>
        <p:nvPicPr>
          <p:cNvPr id="31" name="Image 3" descr="Icon">    </p:cNvPr>
          <p:cNvPicPr>
            <a:picLocks noChangeAspect="1"/>
          </p:cNvPicPr>
          <p:nvPr/>
        </p:nvPicPr>
        <p:blipFill>
          <a:blip r:embed="rId4"/>
          <a:stretch>
            <a:fillRect/>
          </a:stretch>
        </p:blipFill>
        <p:spPr>
          <a:xfrm>
            <a:off x="6582948" y="3940332"/>
            <a:ext cx="275783" cy="275783"/>
          </a:xfrm>
          <a:prstGeom prst="rect">
            <a:avLst/>
          </a:prstGeom>
        </p:spPr>
      </p:pic>
      <p:sp>
        <p:nvSpPr>
          <p:cNvPr id="32" name="Text 25"/>
          <p:cNvSpPr txBox="1"/>
          <p:nvPr/>
        </p:nvSpPr>
        <p:spPr>
          <a:xfrm>
            <a:off x="7141464" y="3785616"/>
            <a:ext cx="3108960" cy="310896"/>
          </a:xfrm>
          <a:prstGeom prst="rect">
            <a:avLst/>
          </a:prstGeom>
          <a:noFill/>
          <a:ln/>
        </p:spPr>
        <p:txBody>
          <a:bodyPr wrap="square" lIns="0" tIns="0" rIns="0" bIns="0" rtlCol="0" anchor="ctr"/>
          <a:lstStyle/>
          <a:p>
            <a:pPr indent="0" marL="0">
              <a:buNone/>
            </a:pPr>
            <a:r>
              <a:rPr lang="en-US" sz="1600" b="1" dirty="0">
                <a:solidFill>
                  <a:srgbClr val="16243A"/>
                </a:solidFill>
              </a:rPr>
              <a:t>DNS records apply</a:t>
            </a:r>
            <a:endParaRPr lang="en-US" sz="1600" dirty="0"/>
          </a:p>
        </p:txBody>
      </p:sp>
      <p:sp>
        <p:nvSpPr>
          <p:cNvPr id="33" name="Text 26"/>
          <p:cNvSpPr txBox="1"/>
          <p:nvPr/>
        </p:nvSpPr>
        <p:spPr>
          <a:xfrm>
            <a:off x="7141464" y="4096512"/>
            <a:ext cx="3108960" cy="237744"/>
          </a:xfrm>
          <a:prstGeom prst="rect">
            <a:avLst/>
          </a:prstGeom>
          <a:noFill/>
          <a:ln/>
        </p:spPr>
        <p:txBody>
          <a:bodyPr wrap="square" lIns="0" tIns="0" rIns="0" bIns="0" rtlCol="0" anchor="ctr"/>
          <a:lstStyle/>
          <a:p>
            <a:pPr indent="0" marL="0">
              <a:buNone/>
            </a:pPr>
            <a:r>
              <a:rPr lang="en-US" sz="1100" dirty="0">
                <a:solidFill>
                  <a:srgbClr val="586275"/>
                </a:solidFill>
                <a:latin typeface="Courier New" pitchFamily="34" charset="0"/>
                <a:ea typeface="Courier New" pitchFamily="34" charset="-122"/>
                <a:cs typeface="Courier New" pitchFamily="34" charset="-120"/>
              </a:rPr>
              <a:t>ws2-dns-records-apply.yml</a:t>
            </a:r>
            <a:endParaRPr lang="en-US" sz="1100" dirty="0"/>
          </a:p>
        </p:txBody>
      </p:sp>
      <p:sp>
        <p:nvSpPr>
          <p:cNvPr id="34" name="Text 27"/>
          <p:cNvSpPr txBox="1"/>
          <p:nvPr/>
        </p:nvSpPr>
        <p:spPr>
          <a:xfrm>
            <a:off x="10336378" y="3831336"/>
            <a:ext cx="1075334" cy="274320"/>
          </a:xfrm>
          <a:prstGeom prst="roundRect">
            <a:avLst>
              <a:gd name="adj" fmla="val 50000"/>
            </a:avLst>
          </a:prstGeom>
          <a:solidFill>
            <a:srgbClr val="FFF3DC"/>
          </a:solidFill>
          <a:ln w="6350">
            <a:solidFill>
              <a:srgbClr val="FFF3DC"/>
            </a:solidFill>
          </a:ln>
        </p:spPr>
        <p:txBody>
          <a:bodyPr wrap="square" lIns="0" tIns="0" rIns="0" bIns="0" rtlCol="0" anchor="ctr"/>
          <a:lstStyle/>
          <a:p>
            <a:pPr algn="ctr" indent="0" marL="0">
              <a:buNone/>
            </a:pPr>
            <a:r>
              <a:rPr lang="en-US" sz="1000" b="1" dirty="0">
                <a:solidFill>
                  <a:srgbClr val="6A4200"/>
                </a:solidFill>
              </a:rPr>
              <a:t>Gaps to close</a:t>
            </a:r>
            <a:endParaRPr lang="en-US" sz="1000" dirty="0"/>
          </a:p>
        </p:txBody>
      </p:sp>
      <p:sp>
        <p:nvSpPr>
          <p:cNvPr id="35" name="Text 28"/>
          <p:cNvSpPr txBox="1"/>
          <p:nvPr/>
        </p:nvSpPr>
        <p:spPr>
          <a:xfrm>
            <a:off x="6483096" y="4498848"/>
            <a:ext cx="3794760" cy="868680"/>
          </a:xfrm>
          <a:prstGeom prst="rect">
            <a:avLst/>
          </a:prstGeom>
          <a:noFill/>
          <a:ln/>
        </p:spPr>
        <p:txBody>
          <a:bodyPr wrap="square" lIns="0" tIns="0" rIns="0" bIns="0" rtlCol="0" anchor="t"/>
          <a:lstStyle/>
          <a:p>
            <a:pPr indent="0" marL="0">
              <a:buNone/>
            </a:pPr>
            <a:r>
              <a:rPr lang="en-US" sz="1300" dirty="0">
                <a:solidFill>
                  <a:srgbClr val="131925"/>
                </a:solidFill>
              </a:rPr>
              <a:t>Previews by default and needs approval outside sandbox, but the approved preview isn't what runs, and nothing detects drift.</a:t>
            </a:r>
            <a:endParaRPr lang="en-US" sz="1300" dirty="0"/>
          </a:p>
        </p:txBody>
      </p:sp>
      <p:sp>
        <p:nvSpPr>
          <p:cNvPr id="36" name="Text 29"/>
          <p:cNvSpPr txBox="1"/>
          <p:nvPr/>
        </p:nvSpPr>
        <p:spPr>
          <a:xfrm>
            <a:off x="10341864" y="4636008"/>
            <a:ext cx="1097280" cy="548640"/>
          </a:xfrm>
          <a:prstGeom prst="rect">
            <a:avLst/>
          </a:prstGeom>
          <a:noFill/>
          <a:ln/>
        </p:spPr>
        <p:txBody>
          <a:bodyPr wrap="square" lIns="0" tIns="0" rIns="0" bIns="0" rtlCol="0" anchor="ctr"/>
          <a:lstStyle/>
          <a:p>
            <a:pPr algn="r" indent="0" marL="0">
              <a:buNone/>
            </a:pPr>
            <a:r>
              <a:rPr lang="en-US" sz="1800" b="1" dirty="0">
                <a:solidFill>
                  <a:srgbClr val="BF8418"/>
                </a:solidFill>
              </a:rPr>
              <a:t>6 high risks</a:t>
            </a:r>
            <a:endParaRPr lang="en-US" sz="1800" dirty="0"/>
          </a:p>
        </p:txBody>
      </p:sp>
      <p:sp>
        <p:nvSpPr>
          <p:cNvPr id="37" name="Shape 30"/>
          <p:cNvSpPr/>
          <p:nvPr/>
        </p:nvSpPr>
        <p:spPr>
          <a:xfrm>
            <a:off x="548640" y="5669280"/>
            <a:ext cx="11091672" cy="566928"/>
          </a:xfrm>
          <a:prstGeom prst="roundRect">
            <a:avLst>
              <a:gd name="adj" fmla="val 16129"/>
            </a:avLst>
          </a:prstGeom>
          <a:solidFill>
            <a:srgbClr val="EAF0FD"/>
          </a:solidFill>
          <a:ln w="6350">
            <a:solidFill>
              <a:srgbClr val="EAF0FD"/>
            </a:solidFill>
            <a:prstDash val="solid"/>
          </a:ln>
        </p:spPr>
      </p:sp>
      <p:sp>
        <p:nvSpPr>
          <p:cNvPr id="38" name="Shape 31"/>
          <p:cNvSpPr/>
          <p:nvPr/>
        </p:nvSpPr>
        <p:spPr>
          <a:xfrm>
            <a:off x="685800" y="5751576"/>
            <a:ext cx="402336" cy="402336"/>
          </a:xfrm>
          <a:prstGeom prst="ellipse">
            <a:avLst/>
          </a:prstGeom>
          <a:solidFill>
            <a:srgbClr val="2A5BD7"/>
          </a:solidFill>
          <a:ln w="6350">
            <a:solidFill>
              <a:srgbClr val="2A5BD7"/>
            </a:solidFill>
            <a:prstDash val="solid"/>
          </a:ln>
        </p:spPr>
      </p:sp>
      <p:pic>
        <p:nvPicPr>
          <p:cNvPr id="39" name="Image 4" descr="Icon">    </p:cNvPr>
          <p:cNvPicPr>
            <a:picLocks noChangeAspect="1"/>
          </p:cNvPicPr>
          <p:nvPr/>
        </p:nvPicPr>
        <p:blipFill>
          <a:blip r:embed="rId5"/>
          <a:stretch>
            <a:fillRect/>
          </a:stretch>
        </p:blipFill>
        <p:spPr>
          <a:xfrm>
            <a:off x="782361" y="5848137"/>
            <a:ext cx="209215" cy="209215"/>
          </a:xfrm>
          <a:prstGeom prst="rect">
            <a:avLst/>
          </a:prstGeom>
        </p:spPr>
      </p:pic>
      <p:sp>
        <p:nvSpPr>
          <p:cNvPr id="40" name="Text 32"/>
          <p:cNvSpPr txBox="1"/>
          <p:nvPr/>
        </p:nvSpPr>
        <p:spPr>
          <a:xfrm>
            <a:off x="1234440" y="5669280"/>
            <a:ext cx="10241280" cy="566928"/>
          </a:xfrm>
          <a:prstGeom prst="rect">
            <a:avLst/>
          </a:prstGeom>
          <a:noFill/>
          <a:ln/>
        </p:spPr>
        <p:txBody>
          <a:bodyPr wrap="square" lIns="0" tIns="0" rIns="0" bIns="0" rtlCol="0" anchor="ctr"/>
          <a:lstStyle/>
          <a:p>
            <a:pPr indent="0" marL="0">
              <a:buNone/>
            </a:pPr>
            <a:r>
              <a:rPr lang="en-US" sz="1400" b="1" dirty="0">
                <a:solidFill>
                  <a:srgbClr val="173A8F"/>
                </a:solidFill>
              </a:rPr>
              <a:t>Recommendation  </a:t>
            </a:r>
            <a:pPr indent="0" marL="0">
              <a:buNone/>
            </a:pPr>
            <a:r>
              <a:rPr lang="en-US" sz="1400" dirty="0">
                <a:solidFill>
                  <a:srgbClr val="131925"/>
                </a:solidFill>
              </a:rPr>
              <a:t>Adopt the proposed CloudFormation pipeline, fix the high-severity DNS risks first, then choose one owner per DNS zone.</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How to read the flow diagrams</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Every diagram uses the same shapes; red numbers point to the risk lists that follow each flow</a:t>
            </a:r>
            <a:endParaRPr lang="en-US" sz="1400" dirty="0"/>
          </a:p>
        </p:txBody>
      </p:sp>
      <p:sp>
        <p:nvSpPr>
          <p:cNvPr id="5" name="Shape 2"/>
          <p:cNvSpPr/>
          <p:nvPr/>
        </p:nvSpPr>
        <p:spPr>
          <a:xfrm>
            <a:off x="548640" y="1481328"/>
            <a:ext cx="6766560" cy="4709160"/>
          </a:xfrm>
          <a:prstGeom prst="roundRect">
            <a:avLst>
              <a:gd name="adj" fmla="val 2330"/>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6" name="Text 3"/>
          <p:cNvSpPr txBox="1"/>
          <p:nvPr/>
        </p:nvSpPr>
        <p:spPr>
          <a:xfrm>
            <a:off x="822960" y="1645920"/>
            <a:ext cx="2743200" cy="329184"/>
          </a:xfrm>
          <a:prstGeom prst="rect">
            <a:avLst/>
          </a:prstGeom>
          <a:noFill/>
          <a:ln/>
        </p:spPr>
        <p:txBody>
          <a:bodyPr wrap="square" lIns="0" tIns="0" rIns="0" bIns="0" rtlCol="0" anchor="ctr"/>
          <a:lstStyle/>
          <a:p>
            <a:pPr indent="0" marL="0">
              <a:buNone/>
            </a:pPr>
            <a:r>
              <a:rPr lang="en-US" sz="1600" b="1" dirty="0">
                <a:solidFill>
                  <a:srgbClr val="16243A"/>
                </a:solidFill>
              </a:rPr>
              <a:t>Shapes</a:t>
            </a:r>
            <a:endParaRPr lang="en-US" sz="1600" dirty="0"/>
          </a:p>
        </p:txBody>
      </p:sp>
      <p:sp>
        <p:nvSpPr>
          <p:cNvPr id="7" name="Text 4"/>
          <p:cNvSpPr txBox="1"/>
          <p:nvPr/>
        </p:nvSpPr>
        <p:spPr>
          <a:xfrm>
            <a:off x="822960" y="2148840"/>
            <a:ext cx="731520" cy="402336"/>
          </a:xfrm>
          <a:prstGeom prst="roundRect">
            <a:avLst>
              <a:gd name="adj" fmla="val 20455"/>
            </a:avLst>
          </a:prstGeom>
          <a:solidFill>
            <a:srgbClr val="FFFFFF"/>
          </a:solidFill>
          <a:ln w="15875">
            <a:solidFill>
              <a:srgbClr val="A9B3C3"/>
            </a:solidFill>
            <a:prstDash val="solid"/>
          </a:ln>
        </p:spPr>
        <p:txBody>
          <a:bodyPr wrap="square" lIns="50800" tIns="25400" rIns="50800" bIns="25400" rtlCol="0" anchor="ctr"/>
          <a:lstStyle/>
          <a:p>
            <a:pPr algn="ctr" indent="0" marL="0">
              <a:buNone/>
            </a:pPr>
            <a:endParaRPr lang="en-US" sz="1200" dirty="0"/>
          </a:p>
        </p:txBody>
      </p:sp>
      <p:sp>
        <p:nvSpPr>
          <p:cNvPr id="8" name="Text 5"/>
          <p:cNvSpPr txBox="1"/>
          <p:nvPr/>
        </p:nvSpPr>
        <p:spPr>
          <a:xfrm>
            <a:off x="1691640" y="2093976"/>
            <a:ext cx="2286000" cy="512064"/>
          </a:xfrm>
          <a:prstGeom prst="rect">
            <a:avLst/>
          </a:prstGeom>
          <a:noFill/>
          <a:ln/>
        </p:spPr>
        <p:txBody>
          <a:bodyPr wrap="square" lIns="0" tIns="0" rIns="0" bIns="0" rtlCol="0" anchor="ctr"/>
          <a:lstStyle/>
          <a:p>
            <a:pPr indent="0" marL="0">
              <a:buNone/>
            </a:pPr>
            <a:r>
              <a:rPr lang="en-US" sz="1200" dirty="0">
                <a:solidFill>
                  <a:srgbClr val="131925"/>
                </a:solidFill>
              </a:rPr>
              <a:t>Step</a:t>
            </a:r>
            <a:endParaRPr lang="en-US" sz="1200" dirty="0"/>
          </a:p>
        </p:txBody>
      </p:sp>
      <p:sp>
        <p:nvSpPr>
          <p:cNvPr id="9" name="Text 6"/>
          <p:cNvSpPr txBox="1"/>
          <p:nvPr/>
        </p:nvSpPr>
        <p:spPr>
          <a:xfrm>
            <a:off x="822960" y="2788920"/>
            <a:ext cx="731520" cy="402336"/>
          </a:xfrm>
          <a:prstGeom prst="roundRect">
            <a:avLst>
              <a:gd name="adj" fmla="val 20455"/>
            </a:avLst>
          </a:prstGeom>
          <a:solidFill>
            <a:srgbClr val="E2F3EC"/>
          </a:solidFill>
          <a:ln w="15875">
            <a:solidFill>
              <a:srgbClr val="22866A"/>
            </a:solidFill>
            <a:prstDash val="solid"/>
          </a:ln>
        </p:spPr>
        <p:txBody>
          <a:bodyPr wrap="square" lIns="50800" tIns="25400" rIns="50800" bIns="25400" rtlCol="0" anchor="ctr"/>
          <a:lstStyle/>
          <a:p>
            <a:pPr algn="ctr" indent="0" marL="0">
              <a:buNone/>
            </a:pPr>
            <a:endParaRPr lang="en-US" sz="1200" dirty="0"/>
          </a:p>
        </p:txBody>
      </p:sp>
      <p:sp>
        <p:nvSpPr>
          <p:cNvPr id="10" name="Text 7"/>
          <p:cNvSpPr txBox="1"/>
          <p:nvPr/>
        </p:nvSpPr>
        <p:spPr>
          <a:xfrm>
            <a:off x="1691640" y="2734056"/>
            <a:ext cx="2286000" cy="512064"/>
          </a:xfrm>
          <a:prstGeom prst="rect">
            <a:avLst/>
          </a:prstGeom>
          <a:noFill/>
          <a:ln/>
        </p:spPr>
        <p:txBody>
          <a:bodyPr wrap="square" lIns="0" tIns="0" rIns="0" bIns="0" rtlCol="0" anchor="ctr"/>
          <a:lstStyle/>
          <a:p>
            <a:pPr indent="0" marL="0">
              <a:buNone/>
            </a:pPr>
            <a:r>
              <a:rPr lang="en-US" sz="1200" dirty="0">
                <a:solidFill>
                  <a:srgbClr val="131925"/>
                </a:solidFill>
              </a:rPr>
              <a:t>Automated check</a:t>
            </a:r>
            <a:endParaRPr lang="en-US" sz="1200" dirty="0"/>
          </a:p>
        </p:txBody>
      </p:sp>
      <p:sp>
        <p:nvSpPr>
          <p:cNvPr id="11" name="Text 8"/>
          <p:cNvSpPr txBox="1"/>
          <p:nvPr/>
        </p:nvSpPr>
        <p:spPr>
          <a:xfrm>
            <a:off x="822960" y="3401568"/>
            <a:ext cx="731520" cy="457200"/>
          </a:xfrm>
          <a:prstGeom prst="diamond">
            <a:avLst/>
          </a:prstGeom>
          <a:solidFill>
            <a:srgbClr val="FFF3DC"/>
          </a:solidFill>
          <a:ln w="15875">
            <a:solidFill>
              <a:srgbClr val="BF8418"/>
            </a:solidFill>
          </a:ln>
        </p:spPr>
        <p:txBody>
          <a:bodyPr wrap="none" lIns="0" tIns="0" rIns="0" bIns="0" rtlCol="0" anchor="ctr"/>
          <a:lstStyle/>
          <a:p>
            <a:pPr algn="ctr" indent="0" marL="0">
              <a:buNone/>
            </a:pPr>
            <a:endParaRPr lang="en-US" sz="1100" dirty="0"/>
          </a:p>
        </p:txBody>
      </p:sp>
      <p:sp>
        <p:nvSpPr>
          <p:cNvPr id="12" name="Text 9"/>
          <p:cNvSpPr txBox="1"/>
          <p:nvPr/>
        </p:nvSpPr>
        <p:spPr>
          <a:xfrm>
            <a:off x="1691640" y="3374136"/>
            <a:ext cx="2286000" cy="512064"/>
          </a:xfrm>
          <a:prstGeom prst="rect">
            <a:avLst/>
          </a:prstGeom>
          <a:noFill/>
          <a:ln/>
        </p:spPr>
        <p:txBody>
          <a:bodyPr wrap="square" lIns="0" tIns="0" rIns="0" bIns="0" rtlCol="0" anchor="ctr"/>
          <a:lstStyle/>
          <a:p>
            <a:pPr indent="0" marL="0">
              <a:buNone/>
            </a:pPr>
            <a:r>
              <a:rPr lang="en-US" sz="1200" dirty="0">
                <a:solidFill>
                  <a:srgbClr val="131925"/>
                </a:solidFill>
              </a:rPr>
              <a:t>Decision</a:t>
            </a:r>
            <a:endParaRPr lang="en-US" sz="1200" dirty="0"/>
          </a:p>
        </p:txBody>
      </p:sp>
      <p:sp>
        <p:nvSpPr>
          <p:cNvPr id="13" name="Text 10"/>
          <p:cNvSpPr txBox="1"/>
          <p:nvPr/>
        </p:nvSpPr>
        <p:spPr>
          <a:xfrm>
            <a:off x="822960" y="4069080"/>
            <a:ext cx="731520" cy="402336"/>
          </a:xfrm>
          <a:prstGeom prst="roundRect">
            <a:avLst>
              <a:gd name="adj" fmla="val 50000"/>
            </a:avLst>
          </a:prstGeom>
          <a:solidFill>
            <a:srgbClr val="EBEEFC"/>
          </a:solidFill>
          <a:ln w="15875">
            <a:solidFill>
              <a:srgbClr val="4F5ED0"/>
            </a:solidFill>
            <a:prstDash val="solid"/>
          </a:ln>
        </p:spPr>
        <p:txBody>
          <a:bodyPr wrap="square" lIns="50800" tIns="25400" rIns="50800" bIns="25400" rtlCol="0" anchor="ctr"/>
          <a:lstStyle/>
          <a:p>
            <a:pPr algn="ctr" indent="0" marL="0">
              <a:buNone/>
            </a:pPr>
            <a:endParaRPr lang="en-US" sz="1200" dirty="0"/>
          </a:p>
        </p:txBody>
      </p:sp>
      <p:sp>
        <p:nvSpPr>
          <p:cNvPr id="14" name="Text 11"/>
          <p:cNvSpPr txBox="1"/>
          <p:nvPr/>
        </p:nvSpPr>
        <p:spPr>
          <a:xfrm>
            <a:off x="1691640" y="4014216"/>
            <a:ext cx="2286000" cy="512064"/>
          </a:xfrm>
          <a:prstGeom prst="rect">
            <a:avLst/>
          </a:prstGeom>
          <a:noFill/>
          <a:ln/>
        </p:spPr>
        <p:txBody>
          <a:bodyPr wrap="square" lIns="0" tIns="0" rIns="0" bIns="0" rtlCol="0" anchor="ctr"/>
          <a:lstStyle/>
          <a:p>
            <a:pPr indent="0" marL="0">
              <a:buNone/>
            </a:pPr>
            <a:r>
              <a:rPr lang="en-US" sz="1200" dirty="0">
                <a:solidFill>
                  <a:srgbClr val="131925"/>
                </a:solidFill>
              </a:rPr>
              <a:t>Safe stop: nothing changes in AWS</a:t>
            </a:r>
            <a:endParaRPr lang="en-US" sz="1200" dirty="0"/>
          </a:p>
        </p:txBody>
      </p:sp>
      <p:sp>
        <p:nvSpPr>
          <p:cNvPr id="15" name="Text 12"/>
          <p:cNvSpPr txBox="1"/>
          <p:nvPr/>
        </p:nvSpPr>
        <p:spPr>
          <a:xfrm>
            <a:off x="822960" y="4709160"/>
            <a:ext cx="731520" cy="402336"/>
          </a:xfrm>
          <a:prstGeom prst="roundRect">
            <a:avLst>
              <a:gd name="adj" fmla="val 50000"/>
            </a:avLst>
          </a:prstGeom>
          <a:solidFill>
            <a:srgbClr val="E3F4E7"/>
          </a:solidFill>
          <a:ln w="15875">
            <a:solidFill>
              <a:srgbClr val="2E8946"/>
            </a:solidFill>
            <a:prstDash val="solid"/>
          </a:ln>
        </p:spPr>
        <p:txBody>
          <a:bodyPr wrap="square" lIns="50800" tIns="25400" rIns="50800" bIns="25400" rtlCol="0" anchor="ctr"/>
          <a:lstStyle/>
          <a:p>
            <a:pPr algn="ctr" indent="0" marL="0">
              <a:buNone/>
            </a:pPr>
            <a:endParaRPr lang="en-US" sz="1200" dirty="0"/>
          </a:p>
        </p:txBody>
      </p:sp>
      <p:sp>
        <p:nvSpPr>
          <p:cNvPr id="16" name="Text 13"/>
          <p:cNvSpPr txBox="1"/>
          <p:nvPr/>
        </p:nvSpPr>
        <p:spPr>
          <a:xfrm>
            <a:off x="1691640" y="4654296"/>
            <a:ext cx="2286000" cy="512064"/>
          </a:xfrm>
          <a:prstGeom prst="rect">
            <a:avLst/>
          </a:prstGeom>
          <a:noFill/>
          <a:ln/>
        </p:spPr>
        <p:txBody>
          <a:bodyPr wrap="square" lIns="0" tIns="0" rIns="0" bIns="0" rtlCol="0" anchor="ctr"/>
          <a:lstStyle/>
          <a:p>
            <a:pPr indent="0" marL="0">
              <a:buNone/>
            </a:pPr>
            <a:r>
              <a:rPr lang="en-US" sz="1200" dirty="0">
                <a:solidFill>
                  <a:srgbClr val="131925"/>
                </a:solidFill>
              </a:rPr>
              <a:t>Outcome</a:t>
            </a:r>
            <a:endParaRPr lang="en-US" sz="1200" dirty="0"/>
          </a:p>
        </p:txBody>
      </p:sp>
      <p:sp>
        <p:nvSpPr>
          <p:cNvPr id="17" name="Text 14"/>
          <p:cNvSpPr txBox="1"/>
          <p:nvPr/>
        </p:nvSpPr>
        <p:spPr>
          <a:xfrm>
            <a:off x="822960" y="5349240"/>
            <a:ext cx="731520" cy="402336"/>
          </a:xfrm>
          <a:prstGeom prst="roundRect">
            <a:avLst>
              <a:gd name="adj" fmla="val 20455"/>
            </a:avLst>
          </a:prstGeom>
          <a:solidFill>
            <a:srgbClr val="FFF0E1"/>
          </a:solidFill>
          <a:ln w="25400">
            <a:solidFill>
              <a:srgbClr val="C46A1B"/>
            </a:solidFill>
            <a:prstDash val="solid"/>
          </a:ln>
        </p:spPr>
        <p:txBody>
          <a:bodyPr wrap="square" lIns="50800" tIns="25400" rIns="50800" bIns="25400" rtlCol="0" anchor="ctr"/>
          <a:lstStyle/>
          <a:p>
            <a:pPr algn="ctr" indent="0" marL="0">
              <a:buNone/>
            </a:pPr>
            <a:endParaRPr lang="en-US" sz="1200" dirty="0"/>
          </a:p>
        </p:txBody>
      </p:sp>
      <p:sp>
        <p:nvSpPr>
          <p:cNvPr id="18" name="Text 15"/>
          <p:cNvSpPr txBox="1"/>
          <p:nvPr/>
        </p:nvSpPr>
        <p:spPr>
          <a:xfrm>
            <a:off x="1691640" y="5294376"/>
            <a:ext cx="2286000" cy="512064"/>
          </a:xfrm>
          <a:prstGeom prst="rect">
            <a:avLst/>
          </a:prstGeom>
          <a:noFill/>
          <a:ln/>
        </p:spPr>
        <p:txBody>
          <a:bodyPr wrap="square" lIns="0" tIns="0" rIns="0" bIns="0" rtlCol="0" anchor="ctr"/>
          <a:lstStyle/>
          <a:p>
            <a:pPr indent="0" marL="0">
              <a:buNone/>
            </a:pPr>
            <a:r>
              <a:rPr lang="en-US" sz="1200" dirty="0">
                <a:solidFill>
                  <a:srgbClr val="131925"/>
                </a:solidFill>
              </a:rPr>
              <a:t>Live DNS changes here</a:t>
            </a:r>
            <a:endParaRPr lang="en-US" sz="1200" dirty="0"/>
          </a:p>
        </p:txBody>
      </p:sp>
      <p:sp>
        <p:nvSpPr>
          <p:cNvPr id="19" name="Text 16"/>
          <p:cNvSpPr txBox="1"/>
          <p:nvPr/>
        </p:nvSpPr>
        <p:spPr>
          <a:xfrm>
            <a:off x="4069080" y="2148840"/>
            <a:ext cx="731520" cy="402336"/>
          </a:xfrm>
          <a:prstGeom prst="roundRect">
            <a:avLst>
              <a:gd name="adj" fmla="val 50000"/>
            </a:avLst>
          </a:prstGeom>
          <a:solidFill>
            <a:srgbClr val="FCEAE9"/>
          </a:solidFill>
          <a:ln w="25400">
            <a:solidFill>
              <a:srgbClr val="C93A32"/>
            </a:solidFill>
            <a:prstDash val="solid"/>
          </a:ln>
        </p:spPr>
        <p:txBody>
          <a:bodyPr wrap="square" lIns="50800" tIns="25400" rIns="50800" bIns="25400" rtlCol="0" anchor="ctr"/>
          <a:lstStyle/>
          <a:p>
            <a:pPr algn="ctr" indent="0" marL="0">
              <a:buNone/>
            </a:pPr>
            <a:endParaRPr lang="en-US" sz="1200" dirty="0"/>
          </a:p>
        </p:txBody>
      </p:sp>
      <p:sp>
        <p:nvSpPr>
          <p:cNvPr id="20" name="Text 17"/>
          <p:cNvSpPr txBox="1"/>
          <p:nvPr/>
        </p:nvSpPr>
        <p:spPr>
          <a:xfrm>
            <a:off x="4937760" y="2093976"/>
            <a:ext cx="2286000" cy="512064"/>
          </a:xfrm>
          <a:prstGeom prst="rect">
            <a:avLst/>
          </a:prstGeom>
          <a:noFill/>
          <a:ln/>
        </p:spPr>
        <p:txBody>
          <a:bodyPr wrap="square" lIns="0" tIns="0" rIns="0" bIns="0" rtlCol="0" anchor="ctr"/>
          <a:lstStyle/>
          <a:p>
            <a:pPr indent="0" marL="0">
              <a:buNone/>
            </a:pPr>
            <a:r>
              <a:rPr lang="en-US" sz="1200" dirty="0">
                <a:solidFill>
                  <a:srgbClr val="131925"/>
                </a:solidFill>
              </a:rPr>
              <a:t>Change goes live without review, or a failed run</a:t>
            </a:r>
            <a:endParaRPr lang="en-US" sz="1200" dirty="0"/>
          </a:p>
        </p:txBody>
      </p:sp>
      <p:sp>
        <p:nvSpPr>
          <p:cNvPr id="21" name="Text 18"/>
          <p:cNvSpPr txBox="1"/>
          <p:nvPr/>
        </p:nvSpPr>
        <p:spPr>
          <a:xfrm>
            <a:off x="4069080" y="2752344"/>
            <a:ext cx="731520" cy="475488"/>
          </a:xfrm>
          <a:prstGeom prst="can">
            <a:avLst/>
          </a:prstGeom>
          <a:solidFill>
            <a:srgbClr val="EEF1F6"/>
          </a:solidFill>
          <a:ln w="15875">
            <a:solidFill>
              <a:srgbClr val="66728A"/>
            </a:solidFill>
            <a:prstDash val="solid"/>
          </a:ln>
        </p:spPr>
        <p:txBody>
          <a:bodyPr wrap="square" lIns="50800" tIns="25400" rIns="50800" bIns="25400" rtlCol="0" anchor="ctr"/>
          <a:lstStyle/>
          <a:p>
            <a:pPr algn="ctr" indent="0" marL="0">
              <a:buNone/>
            </a:pPr>
            <a:endParaRPr lang="en-US" sz="1200" dirty="0"/>
          </a:p>
        </p:txBody>
      </p:sp>
      <p:sp>
        <p:nvSpPr>
          <p:cNvPr id="22" name="Text 19"/>
          <p:cNvSpPr txBox="1"/>
          <p:nvPr/>
        </p:nvSpPr>
        <p:spPr>
          <a:xfrm>
            <a:off x="4937760" y="2734056"/>
            <a:ext cx="2286000" cy="512064"/>
          </a:xfrm>
          <a:prstGeom prst="rect">
            <a:avLst/>
          </a:prstGeom>
          <a:noFill/>
          <a:ln/>
        </p:spPr>
        <p:txBody>
          <a:bodyPr wrap="square" lIns="0" tIns="0" rIns="0" bIns="0" rtlCol="0" anchor="ctr"/>
          <a:lstStyle/>
          <a:p>
            <a:pPr indent="0" marL="0">
              <a:buNone/>
            </a:pPr>
            <a:r>
              <a:rPr lang="en-US" sz="1200" dirty="0">
                <a:solidFill>
                  <a:srgbClr val="131925"/>
                </a:solidFill>
              </a:rPr>
              <a:t>Where records live</a:t>
            </a:r>
            <a:endParaRPr lang="en-US" sz="1200" dirty="0"/>
          </a:p>
        </p:txBody>
      </p:sp>
      <p:sp>
        <p:nvSpPr>
          <p:cNvPr id="23" name="Text 20"/>
          <p:cNvSpPr txBox="1"/>
          <p:nvPr/>
        </p:nvSpPr>
        <p:spPr>
          <a:xfrm>
            <a:off x="4069080" y="3429000"/>
            <a:ext cx="731520" cy="402336"/>
          </a:xfrm>
          <a:prstGeom prst="roundRect">
            <a:avLst>
              <a:gd name="adj" fmla="val 20455"/>
            </a:avLst>
          </a:prstGeom>
          <a:solidFill>
            <a:srgbClr val="FFFFFF"/>
          </a:solidFill>
          <a:ln w="15875">
            <a:solidFill>
              <a:srgbClr val="C93A32"/>
            </a:solidFill>
            <a:prstDash val="dash"/>
          </a:ln>
        </p:spPr>
        <p:txBody>
          <a:bodyPr wrap="square" lIns="50800" tIns="25400" rIns="50800" bIns="25400" rtlCol="0" anchor="ctr"/>
          <a:lstStyle/>
          <a:p>
            <a:pPr algn="ctr" indent="0" marL="0">
              <a:buNone/>
            </a:pPr>
            <a:endParaRPr lang="en-US" sz="1200" dirty="0"/>
          </a:p>
        </p:txBody>
      </p:sp>
      <p:sp>
        <p:nvSpPr>
          <p:cNvPr id="24" name="Text 21"/>
          <p:cNvSpPr txBox="1"/>
          <p:nvPr/>
        </p:nvSpPr>
        <p:spPr>
          <a:xfrm>
            <a:off x="4937760" y="3374136"/>
            <a:ext cx="2286000" cy="512064"/>
          </a:xfrm>
          <a:prstGeom prst="rect">
            <a:avLst/>
          </a:prstGeom>
          <a:noFill/>
          <a:ln/>
        </p:spPr>
        <p:txBody>
          <a:bodyPr wrap="square" lIns="0" tIns="0" rIns="0" bIns="0" rtlCol="0" anchor="ctr"/>
          <a:lstStyle/>
          <a:p>
            <a:pPr indent="0" marL="0">
              <a:buNone/>
            </a:pPr>
            <a:r>
              <a:rPr lang="en-US" sz="1200" dirty="0">
                <a:solidFill>
                  <a:srgbClr val="131925"/>
                </a:solidFill>
              </a:rPr>
              <a:t>Safeguards that are missing</a:t>
            </a:r>
            <a:endParaRPr lang="en-US" sz="1200" dirty="0"/>
          </a:p>
        </p:txBody>
      </p:sp>
      <p:sp>
        <p:nvSpPr>
          <p:cNvPr id="25" name="Text 22"/>
          <p:cNvSpPr txBox="1"/>
          <p:nvPr/>
        </p:nvSpPr>
        <p:spPr>
          <a:xfrm>
            <a:off x="4069080" y="4069080"/>
            <a:ext cx="731520" cy="402336"/>
          </a:xfrm>
          <a:prstGeom prst="roundRect">
            <a:avLst>
              <a:gd name="adj" fmla="val 20455"/>
            </a:avLst>
          </a:prstGeom>
          <a:solidFill>
            <a:srgbClr val="FFFFFF"/>
          </a:solidFill>
          <a:ln w="15875">
            <a:solidFill>
              <a:srgbClr val="22866A"/>
            </a:solidFill>
            <a:prstDash val="dash"/>
          </a:ln>
        </p:spPr>
        <p:txBody>
          <a:bodyPr wrap="square" lIns="50800" tIns="25400" rIns="50800" bIns="25400" rtlCol="0" anchor="ctr"/>
          <a:lstStyle/>
          <a:p>
            <a:pPr algn="ctr" indent="0" marL="0">
              <a:buNone/>
            </a:pPr>
            <a:endParaRPr lang="en-US" sz="1200" dirty="0"/>
          </a:p>
        </p:txBody>
      </p:sp>
      <p:sp>
        <p:nvSpPr>
          <p:cNvPr id="26" name="Text 23"/>
          <p:cNvSpPr txBox="1"/>
          <p:nvPr/>
        </p:nvSpPr>
        <p:spPr>
          <a:xfrm>
            <a:off x="4937760" y="4014216"/>
            <a:ext cx="2286000" cy="512064"/>
          </a:xfrm>
          <a:prstGeom prst="rect">
            <a:avLst/>
          </a:prstGeom>
          <a:noFill/>
          <a:ln/>
        </p:spPr>
        <p:txBody>
          <a:bodyPr wrap="square" lIns="0" tIns="0" rIns="0" bIns="0" rtlCol="0" anchor="ctr"/>
          <a:lstStyle/>
          <a:p>
            <a:pPr indent="0" marL="0">
              <a:buNone/>
            </a:pPr>
            <a:r>
              <a:rPr lang="en-US" sz="1200" dirty="0">
                <a:solidFill>
                  <a:srgbClr val="131925"/>
                </a:solidFill>
              </a:rPr>
              <a:t>What a check covers</a:t>
            </a:r>
            <a:endParaRPr lang="en-US" sz="1200" dirty="0"/>
          </a:p>
        </p:txBody>
      </p:sp>
      <p:sp>
        <p:nvSpPr>
          <p:cNvPr id="27" name="Text 24"/>
          <p:cNvSpPr txBox="1"/>
          <p:nvPr/>
        </p:nvSpPr>
        <p:spPr>
          <a:xfrm>
            <a:off x="4069080" y="4709160"/>
            <a:ext cx="731520" cy="402336"/>
          </a:xfrm>
          <a:prstGeom prst="roundRect">
            <a:avLst>
              <a:gd name="adj" fmla="val 20455"/>
            </a:avLst>
          </a:prstGeom>
          <a:solidFill>
            <a:srgbClr val="FFFFFF"/>
          </a:solidFill>
          <a:ln w="15875">
            <a:solidFill>
              <a:srgbClr val="7D889B"/>
            </a:solidFill>
            <a:prstDash val="dash"/>
          </a:ln>
        </p:spPr>
        <p:txBody>
          <a:bodyPr wrap="square" lIns="50800" tIns="25400" rIns="50800" bIns="25400" rtlCol="0" anchor="ctr"/>
          <a:lstStyle/>
          <a:p>
            <a:pPr algn="ctr" indent="0" marL="0">
              <a:buNone/>
            </a:pPr>
            <a:endParaRPr lang="en-US" sz="1200" dirty="0"/>
          </a:p>
        </p:txBody>
      </p:sp>
      <p:sp>
        <p:nvSpPr>
          <p:cNvPr id="28" name="Text 25"/>
          <p:cNvSpPr txBox="1"/>
          <p:nvPr/>
        </p:nvSpPr>
        <p:spPr>
          <a:xfrm>
            <a:off x="4937760" y="4654296"/>
            <a:ext cx="2286000" cy="512064"/>
          </a:xfrm>
          <a:prstGeom prst="rect">
            <a:avLst/>
          </a:prstGeom>
          <a:noFill/>
          <a:ln/>
        </p:spPr>
        <p:txBody>
          <a:bodyPr wrap="square" lIns="0" tIns="0" rIns="0" bIns="0" rtlCol="0" anchor="ctr"/>
          <a:lstStyle/>
          <a:p>
            <a:pPr indent="0" marL="0">
              <a:buNone/>
            </a:pPr>
            <a:r>
              <a:rPr lang="en-US" sz="1200" dirty="0">
                <a:solidFill>
                  <a:srgbClr val="131925"/>
                </a:solidFill>
              </a:rPr>
              <a:t>Writes outside the workflows</a:t>
            </a:r>
            <a:endParaRPr lang="en-US" sz="1200" dirty="0"/>
          </a:p>
        </p:txBody>
      </p:sp>
      <p:sp>
        <p:nvSpPr>
          <p:cNvPr id="29" name="Text 26"/>
          <p:cNvSpPr txBox="1"/>
          <p:nvPr/>
        </p:nvSpPr>
        <p:spPr>
          <a:xfrm>
            <a:off x="4069080" y="5349240"/>
            <a:ext cx="731520" cy="402336"/>
          </a:xfrm>
          <a:prstGeom prst="roundRect">
            <a:avLst>
              <a:gd name="adj" fmla="val 50000"/>
            </a:avLst>
          </a:prstGeom>
          <a:solidFill>
            <a:srgbClr val="FFFFFF"/>
          </a:solidFill>
          <a:ln w="15875">
            <a:solidFill>
              <a:srgbClr val="2A5BD7"/>
            </a:solidFill>
            <a:prstDash val="dash"/>
          </a:ln>
        </p:spPr>
        <p:txBody>
          <a:bodyPr wrap="square" lIns="50800" tIns="25400" rIns="50800" bIns="25400" rtlCol="0" anchor="ctr"/>
          <a:lstStyle/>
          <a:p>
            <a:pPr algn="ctr" indent="0" marL="0">
              <a:buNone/>
            </a:pPr>
            <a:endParaRPr lang="en-US" sz="1200" dirty="0"/>
          </a:p>
        </p:txBody>
      </p:sp>
      <p:sp>
        <p:nvSpPr>
          <p:cNvPr id="30" name="Text 27"/>
          <p:cNvSpPr txBox="1"/>
          <p:nvPr/>
        </p:nvSpPr>
        <p:spPr>
          <a:xfrm>
            <a:off x="4937760" y="5294376"/>
            <a:ext cx="2286000" cy="512064"/>
          </a:xfrm>
          <a:prstGeom prst="rect">
            <a:avLst/>
          </a:prstGeom>
          <a:noFill/>
          <a:ln/>
        </p:spPr>
        <p:txBody>
          <a:bodyPr wrap="square" lIns="0" tIns="0" rIns="0" bIns="0" rtlCol="0" anchor="ctr"/>
          <a:lstStyle/>
          <a:p>
            <a:pPr indent="0" marL="0">
              <a:buNone/>
            </a:pPr>
            <a:r>
              <a:rPr lang="en-US" sz="1200" dirty="0">
                <a:solidFill>
                  <a:srgbClr val="131925"/>
                </a:solidFill>
              </a:rPr>
              <a:t>Continues on another slide</a:t>
            </a:r>
            <a:endParaRPr lang="en-US" sz="1200" dirty="0"/>
          </a:p>
        </p:txBody>
      </p:sp>
      <p:sp>
        <p:nvSpPr>
          <p:cNvPr id="31" name="Shape 28"/>
          <p:cNvSpPr/>
          <p:nvPr/>
        </p:nvSpPr>
        <p:spPr>
          <a:xfrm>
            <a:off x="7589520" y="1481328"/>
            <a:ext cx="4050792" cy="4709160"/>
          </a:xfrm>
          <a:prstGeom prst="roundRect">
            <a:avLst>
              <a:gd name="adj" fmla="val 2709"/>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32" name="Text 29"/>
          <p:cNvSpPr txBox="1"/>
          <p:nvPr/>
        </p:nvSpPr>
        <p:spPr>
          <a:xfrm>
            <a:off x="7863840" y="1645920"/>
            <a:ext cx="3474720" cy="329184"/>
          </a:xfrm>
          <a:prstGeom prst="rect">
            <a:avLst/>
          </a:prstGeom>
          <a:noFill/>
          <a:ln/>
        </p:spPr>
        <p:txBody>
          <a:bodyPr wrap="square" lIns="0" tIns="0" rIns="0" bIns="0" rtlCol="0" anchor="ctr"/>
          <a:lstStyle/>
          <a:p>
            <a:pPr indent="0" marL="0">
              <a:buNone/>
            </a:pPr>
            <a:r>
              <a:rPr lang="en-US" sz="1600" b="1" dirty="0">
                <a:solidFill>
                  <a:srgbClr val="16243A"/>
                </a:solidFill>
              </a:rPr>
              <a:t>Markers and labels</a:t>
            </a:r>
            <a:endParaRPr lang="en-US" sz="1600" dirty="0"/>
          </a:p>
        </p:txBody>
      </p:sp>
      <p:sp>
        <p:nvSpPr>
          <p:cNvPr id="33" name="Risk marker 4"/>
          <p:cNvSpPr txBox="1"/>
          <p:nvPr/>
        </p:nvSpPr>
        <p:spPr>
          <a:xfrm>
            <a:off x="7882128" y="2231136"/>
            <a:ext cx="292608" cy="292608"/>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34" name="Text 31"/>
          <p:cNvSpPr txBox="1"/>
          <p:nvPr/>
        </p:nvSpPr>
        <p:spPr>
          <a:xfrm>
            <a:off x="8321040" y="2176272"/>
            <a:ext cx="3108960" cy="868680"/>
          </a:xfrm>
          <a:prstGeom prst="rect">
            <a:avLst/>
          </a:prstGeom>
          <a:noFill/>
          <a:ln/>
        </p:spPr>
        <p:txBody>
          <a:bodyPr wrap="square" lIns="0" tIns="0" rIns="0" bIns="0" rtlCol="0" anchor="t"/>
          <a:lstStyle/>
          <a:p>
            <a:pPr indent="0" marL="0">
              <a:buNone/>
            </a:pPr>
            <a:r>
              <a:rPr lang="en-US" sz="1200" dirty="0">
                <a:solidFill>
                  <a:srgbClr val="131925"/>
                </a:solidFill>
              </a:rPr>
              <a:t>Risk number. The same number appears in the advantages and disadvantages list and in the risk table for that pipeline.</a:t>
            </a:r>
            <a:endParaRPr lang="en-US" sz="1200" dirty="0"/>
          </a:p>
        </p:txBody>
      </p:sp>
      <p:sp>
        <p:nvSpPr>
          <p:cNvPr id="35" name="Email sent"/>
          <p:cNvSpPr/>
          <p:nvPr/>
        </p:nvSpPr>
        <p:spPr>
          <a:xfrm>
            <a:off x="7882128" y="3218688"/>
            <a:ext cx="292608" cy="292608"/>
          </a:xfrm>
          <a:prstGeom prst="ellipse">
            <a:avLst/>
          </a:prstGeom>
          <a:solidFill>
            <a:srgbClr val="FFFFFF"/>
          </a:solidFill>
          <a:ln w="15875">
            <a:solidFill>
              <a:srgbClr val="2A5BD7"/>
            </a:solidFill>
            <a:prstDash val="solid"/>
          </a:ln>
        </p:spPr>
      </p:sp>
      <p:pic>
        <p:nvPicPr>
          <p:cNvPr id="36" name="Image 0" descr="Email sent">    </p:cNvPr>
          <p:cNvPicPr>
            <a:picLocks noChangeAspect="1"/>
          </p:cNvPicPr>
          <p:nvPr/>
        </p:nvPicPr>
        <p:blipFill>
          <a:blip r:embed="rId1"/>
          <a:stretch>
            <a:fillRect/>
          </a:stretch>
        </p:blipFill>
        <p:spPr>
          <a:xfrm>
            <a:off x="7937724" y="3274284"/>
            <a:ext cx="181417" cy="181417"/>
          </a:xfrm>
          <a:prstGeom prst="rect">
            <a:avLst/>
          </a:prstGeom>
        </p:spPr>
      </p:pic>
      <p:sp>
        <p:nvSpPr>
          <p:cNvPr id="37" name="Text 33"/>
          <p:cNvSpPr txBox="1"/>
          <p:nvPr/>
        </p:nvSpPr>
        <p:spPr>
          <a:xfrm>
            <a:off x="8321040" y="3200400"/>
            <a:ext cx="3108960" cy="329184"/>
          </a:xfrm>
          <a:prstGeom prst="rect">
            <a:avLst/>
          </a:prstGeom>
          <a:noFill/>
          <a:ln/>
        </p:spPr>
        <p:txBody>
          <a:bodyPr wrap="square" lIns="0" tIns="0" rIns="0" bIns="0" rtlCol="0" anchor="ctr"/>
          <a:lstStyle/>
          <a:p>
            <a:pPr indent="0" marL="0">
              <a:buNone/>
            </a:pPr>
            <a:r>
              <a:rPr lang="en-US" sz="1200" dirty="0">
                <a:solidFill>
                  <a:srgbClr val="131925"/>
                </a:solidFill>
              </a:rPr>
              <a:t>An email is sent at this step.</a:t>
            </a:r>
            <a:endParaRPr lang="en-US" sz="1200" dirty="0"/>
          </a:p>
        </p:txBody>
      </p:sp>
      <p:sp>
        <p:nvSpPr>
          <p:cNvPr id="38" name="Text 34"/>
          <p:cNvSpPr txBox="1"/>
          <p:nvPr/>
        </p:nvSpPr>
        <p:spPr>
          <a:xfrm>
            <a:off x="7863840" y="3749040"/>
            <a:ext cx="3474720" cy="274320"/>
          </a:xfrm>
          <a:prstGeom prst="rect">
            <a:avLst/>
          </a:prstGeom>
          <a:noFill/>
          <a:ln/>
        </p:spPr>
        <p:txBody>
          <a:bodyPr wrap="square" lIns="0" tIns="0" rIns="0" bIns="0" rtlCol="0" anchor="t"/>
          <a:lstStyle/>
          <a:p>
            <a:pPr indent="0" marL="0">
              <a:buNone/>
            </a:pPr>
            <a:r>
              <a:rPr lang="en-US" sz="1250" b="1" dirty="0">
                <a:solidFill>
                  <a:srgbClr val="16243A"/>
                </a:solidFill>
              </a:rPr>
              <a:t>Severity</a:t>
            </a:r>
            <a:endParaRPr lang="en-US" sz="1250" dirty="0"/>
          </a:p>
        </p:txBody>
      </p:sp>
      <p:sp>
        <p:nvSpPr>
          <p:cNvPr id="39" name="Text 35"/>
          <p:cNvSpPr txBox="1"/>
          <p:nvPr/>
        </p:nvSpPr>
        <p:spPr>
          <a:xfrm>
            <a:off x="7863840" y="4069080"/>
            <a:ext cx="482803" cy="274320"/>
          </a:xfrm>
          <a:prstGeom prst="roundRect">
            <a:avLst>
              <a:gd name="adj" fmla="val 50000"/>
            </a:avLst>
          </a:prstGeom>
          <a:solidFill>
            <a:srgbClr val="FCEAE9"/>
          </a:solidFill>
          <a:ln w="6350">
            <a:solidFill>
              <a:srgbClr val="FCEAE9"/>
            </a:solidFill>
          </a:ln>
        </p:spPr>
        <p:txBody>
          <a:bodyPr wrap="square" lIns="0" tIns="0" rIns="0" bIns="0" rtlCol="0" anchor="ctr"/>
          <a:lstStyle/>
          <a:p>
            <a:pPr algn="ctr" indent="0" marL="0">
              <a:buNone/>
            </a:pPr>
            <a:r>
              <a:rPr lang="en-US" sz="1000" b="1" dirty="0">
                <a:solidFill>
                  <a:srgbClr val="7D1C16"/>
                </a:solidFill>
              </a:rPr>
              <a:t>High</a:t>
            </a:r>
            <a:endParaRPr lang="en-US" sz="1000" dirty="0"/>
          </a:p>
        </p:txBody>
      </p:sp>
      <p:sp>
        <p:nvSpPr>
          <p:cNvPr id="40" name="Text 36"/>
          <p:cNvSpPr txBox="1"/>
          <p:nvPr/>
        </p:nvSpPr>
        <p:spPr>
          <a:xfrm>
            <a:off x="8456371" y="4069080"/>
            <a:ext cx="614477" cy="274320"/>
          </a:xfrm>
          <a:prstGeom prst="roundRect">
            <a:avLst>
              <a:gd name="adj" fmla="val 50000"/>
            </a:avLst>
          </a:prstGeom>
          <a:solidFill>
            <a:srgbClr val="FFF3DC"/>
          </a:solidFill>
          <a:ln w="6350">
            <a:solidFill>
              <a:srgbClr val="FFF3DC"/>
            </a:solidFill>
          </a:ln>
        </p:spPr>
        <p:txBody>
          <a:bodyPr wrap="square" lIns="0" tIns="0" rIns="0" bIns="0" rtlCol="0" anchor="ctr"/>
          <a:lstStyle/>
          <a:p>
            <a:pPr algn="ctr" indent="0" marL="0">
              <a:buNone/>
            </a:pPr>
            <a:r>
              <a:rPr lang="en-US" sz="1000" b="1" dirty="0">
                <a:solidFill>
                  <a:srgbClr val="6A4200"/>
                </a:solidFill>
              </a:rPr>
              <a:t>Medium</a:t>
            </a:r>
            <a:endParaRPr lang="en-US" sz="1000" dirty="0"/>
          </a:p>
        </p:txBody>
      </p:sp>
      <p:sp>
        <p:nvSpPr>
          <p:cNvPr id="41" name="Text 37"/>
          <p:cNvSpPr txBox="1"/>
          <p:nvPr/>
        </p:nvSpPr>
        <p:spPr>
          <a:xfrm>
            <a:off x="9180576" y="4069080"/>
            <a:ext cx="416966" cy="274320"/>
          </a:xfrm>
          <a:prstGeom prst="roundRect">
            <a:avLst>
              <a:gd name="adj" fmla="val 50000"/>
            </a:avLst>
          </a:prstGeom>
          <a:solidFill>
            <a:srgbClr val="EEF1F6"/>
          </a:solidFill>
          <a:ln w="6350">
            <a:solidFill>
              <a:srgbClr val="EEF1F6"/>
            </a:solidFill>
          </a:ln>
        </p:spPr>
        <p:txBody>
          <a:bodyPr wrap="square" lIns="0" tIns="0" rIns="0" bIns="0" rtlCol="0" anchor="ctr"/>
          <a:lstStyle/>
          <a:p>
            <a:pPr algn="ctr" indent="0" marL="0">
              <a:buNone/>
            </a:pPr>
            <a:r>
              <a:rPr lang="en-US" sz="1000" b="1" dirty="0">
                <a:solidFill>
                  <a:srgbClr val="586275"/>
                </a:solidFill>
              </a:rPr>
              <a:t>Low</a:t>
            </a:r>
            <a:endParaRPr lang="en-US" sz="1000" dirty="0"/>
          </a:p>
        </p:txBody>
      </p:sp>
      <p:sp>
        <p:nvSpPr>
          <p:cNvPr id="42" name="Text 38"/>
          <p:cNvSpPr txBox="1"/>
          <p:nvPr/>
        </p:nvSpPr>
        <p:spPr>
          <a:xfrm>
            <a:off x="7863840" y="4553712"/>
            <a:ext cx="3474720" cy="274320"/>
          </a:xfrm>
          <a:prstGeom prst="rect">
            <a:avLst/>
          </a:prstGeom>
          <a:noFill/>
          <a:ln/>
        </p:spPr>
        <p:txBody>
          <a:bodyPr wrap="square" lIns="0" tIns="0" rIns="0" bIns="0" rtlCol="0" anchor="t"/>
          <a:lstStyle/>
          <a:p>
            <a:pPr indent="0" marL="0">
              <a:buNone/>
            </a:pPr>
            <a:r>
              <a:rPr lang="en-US" sz="1250" b="1" dirty="0">
                <a:solidFill>
                  <a:srgbClr val="16243A"/>
                </a:solidFill>
              </a:rPr>
              <a:t>Tags on DNS risks</a:t>
            </a:r>
            <a:endParaRPr lang="en-US" sz="1250" dirty="0"/>
          </a:p>
        </p:txBody>
      </p:sp>
      <p:sp>
        <p:nvSpPr>
          <p:cNvPr id="43" name="Text 39"/>
          <p:cNvSpPr txBox="1"/>
          <p:nvPr/>
        </p:nvSpPr>
        <p:spPr>
          <a:xfrm>
            <a:off x="7863840" y="4873752"/>
            <a:ext cx="548640" cy="274320"/>
          </a:xfrm>
          <a:prstGeom prst="roundRect">
            <a:avLst>
              <a:gd name="adj" fmla="val 50000"/>
            </a:avLst>
          </a:prstGeom>
          <a:solidFill>
            <a:srgbClr val="EAF0FD"/>
          </a:solidFill>
          <a:ln w="6350">
            <a:solidFill>
              <a:srgbClr val="EAF0FD"/>
            </a:solidFill>
          </a:ln>
        </p:spPr>
        <p:txBody>
          <a:bodyPr wrap="square" lIns="0" tIns="0" rIns="0" bIns="0" rtlCol="0" anchor="ctr"/>
          <a:lstStyle/>
          <a:p>
            <a:pPr algn="ctr" indent="0" marL="0">
              <a:buNone/>
            </a:pPr>
            <a:r>
              <a:rPr lang="en-US" sz="1000" b="1" dirty="0">
                <a:solidFill>
                  <a:srgbClr val="173A8F"/>
                </a:solidFill>
              </a:rPr>
              <a:t>Check</a:t>
            </a:r>
            <a:endParaRPr lang="en-US" sz="1000" dirty="0"/>
          </a:p>
        </p:txBody>
      </p:sp>
      <p:sp>
        <p:nvSpPr>
          <p:cNvPr id="44" name="Text 40"/>
          <p:cNvSpPr txBox="1"/>
          <p:nvPr/>
        </p:nvSpPr>
        <p:spPr>
          <a:xfrm>
            <a:off x="8641080" y="4828032"/>
            <a:ext cx="2834640" cy="384048"/>
          </a:xfrm>
          <a:prstGeom prst="rect">
            <a:avLst/>
          </a:prstGeom>
          <a:noFill/>
          <a:ln/>
        </p:spPr>
        <p:txBody>
          <a:bodyPr wrap="square" lIns="0" tIns="0" rIns="0" bIns="0" rtlCol="0" anchor="ctr"/>
          <a:lstStyle/>
          <a:p>
            <a:pPr indent="0" marL="0">
              <a:buNone/>
            </a:pPr>
            <a:r>
              <a:rPr lang="en-US" sz="1150" dirty="0">
                <a:solidFill>
                  <a:srgbClr val="131925"/>
                </a:solidFill>
              </a:rPr>
              <a:t>Depends on code or settings outside the workflow files</a:t>
            </a:r>
            <a:endParaRPr lang="en-US" sz="1150" dirty="0"/>
          </a:p>
        </p:txBody>
      </p:sp>
      <p:sp>
        <p:nvSpPr>
          <p:cNvPr id="45" name="Text 41"/>
          <p:cNvSpPr txBox="1"/>
          <p:nvPr/>
        </p:nvSpPr>
        <p:spPr>
          <a:xfrm>
            <a:off x="7863840" y="5376672"/>
            <a:ext cx="1009498" cy="274320"/>
          </a:xfrm>
          <a:prstGeom prst="roundRect">
            <a:avLst>
              <a:gd name="adj" fmla="val 50000"/>
            </a:avLst>
          </a:prstGeom>
          <a:solidFill>
            <a:srgbClr val="EBEEFC"/>
          </a:solidFill>
          <a:ln w="6350">
            <a:solidFill>
              <a:srgbClr val="EBEEFC"/>
            </a:solidFill>
          </a:ln>
        </p:spPr>
        <p:txBody>
          <a:bodyPr wrap="square" lIns="0" tIns="0" rIns="0" bIns="0" rtlCol="0" anchor="ctr"/>
          <a:lstStyle/>
          <a:p>
            <a:pPr algn="ctr" indent="0" marL="0">
              <a:buNone/>
            </a:pPr>
            <a:r>
              <a:rPr lang="en-US" sz="1000" b="1" dirty="0">
                <a:solidFill>
                  <a:srgbClr val="252D86"/>
                </a:solidFill>
              </a:rPr>
              <a:t>Seen in runs</a:t>
            </a:r>
            <a:endParaRPr lang="en-US" sz="1000" dirty="0"/>
          </a:p>
        </p:txBody>
      </p:sp>
      <p:sp>
        <p:nvSpPr>
          <p:cNvPr id="46" name="Text 42"/>
          <p:cNvSpPr txBox="1"/>
          <p:nvPr/>
        </p:nvSpPr>
        <p:spPr>
          <a:xfrm>
            <a:off x="8915400" y="5330952"/>
            <a:ext cx="2560320" cy="384048"/>
          </a:xfrm>
          <a:prstGeom prst="rect">
            <a:avLst/>
          </a:prstGeom>
          <a:noFill/>
          <a:ln/>
        </p:spPr>
        <p:txBody>
          <a:bodyPr wrap="square" lIns="0" tIns="0" rIns="0" bIns="0" rtlCol="0" anchor="ctr"/>
          <a:lstStyle/>
          <a:p>
            <a:pPr indent="0" marL="0">
              <a:buNone/>
            </a:pPr>
            <a:r>
              <a:rPr lang="en-US" sz="1150" dirty="0">
                <a:solidFill>
                  <a:srgbClr val="131925"/>
                </a:solidFill>
              </a:rPr>
              <a:t>Observed by the team in real runs</a:t>
            </a:r>
            <a:endParaRPr lang="en-US" sz="11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822960"/>
          </a:xfrm>
          <a:prstGeom prst="rect">
            <a:avLst/>
          </a:prstGeom>
          <a:noFill/>
          <a:ln/>
        </p:spPr>
        <p:txBody>
          <a:bodyPr wrap="square" lIns="0" tIns="0" rIns="0" bIns="0" rtlCol="0" anchor="b"/>
          <a:lstStyle/>
          <a:p>
            <a:pPr indent="0" marL="0">
              <a:buNone/>
            </a:pPr>
            <a:r>
              <a:rPr lang="en-US" sz="4000" b="1" dirty="0">
                <a:solidFill>
                  <a:srgbClr val="8FB0FF"/>
                </a:solidFill>
              </a:rPr>
              <a:t>01</a:t>
            </a:r>
            <a:endParaRPr lang="en-US" sz="4000" dirty="0"/>
          </a:p>
        </p:txBody>
      </p:sp>
      <p:sp>
        <p:nvSpPr>
          <p:cNvPr id="3" name="Text 0"/>
          <p:cNvSpPr/>
          <p:nvPr>
            <p:ph idx="101" type="title" hasCustomPrompt="1"/>
          </p:nvPr>
        </p:nvSpPr>
        <p:spPr>
          <a:xfrm>
            <a:off x="731520" y="260604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CloudFormation deployment</a:t>
            </a:r>
            <a:endParaRPr lang="en-US" sz="4000" dirty="0"/>
          </a:p>
        </p:txBody>
      </p:sp>
      <p:sp>
        <p:nvSpPr>
          <p:cNvPr id="4" name="Text 0"/>
          <p:cNvSpPr/>
          <p:nvPr>
            <p:ph idx="102" type="body" hasCustomPrompt="1"/>
          </p:nvPr>
        </p:nvSpPr>
        <p:spPr>
          <a:xfrm>
            <a:off x="731520" y="3703320"/>
            <a:ext cx="9144000" cy="914400"/>
          </a:xfrm>
          <a:prstGeom prst="rect">
            <a:avLst/>
          </a:prstGeom>
          <a:noFill/>
          <a:ln/>
        </p:spPr>
        <p:txBody>
          <a:bodyPr wrap="square" lIns="0" tIns="0" rIns="0" bIns="0" rtlCol="0" anchor="t"/>
          <a:lstStyle/>
          <a:p>
            <a:pPr indent="0" marL="0">
              <a:buNone/>
            </a:pPr>
            <a:r>
              <a:rPr lang="en-US" sz="1800" dirty="0">
                <a:solidFill>
                  <a:srgbClr val="C9D3E3"/>
                </a:solidFill>
              </a:rPr>
              <a:t>The workflow in use today, and the pipeline proposed to replace it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Current flow: templates go straight to live</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latest_cft_deployment.yml · one job, started by hand · red numbers match the risk list</a:t>
            </a:r>
            <a:endParaRPr lang="en-US" sz="1400" dirty="0"/>
          </a:p>
        </p:txBody>
      </p:sp>
      <p:sp>
        <p:nvSpPr>
          <p:cNvPr id="5" name="Engineer runs the workflow"/>
          <p:cNvSpPr txBox="1"/>
          <p:nvPr/>
        </p:nvSpPr>
        <p:spPr>
          <a:xfrm>
            <a:off x="548640" y="1691640"/>
            <a:ext cx="182880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Engineer runs the workflow</a:t>
            </a:r>
            <a:endParaRPr lang="en-US" sz="1200" dirty="0"/>
          </a:p>
          <a:p>
            <a:pPr algn="ctr" indent="0" marL="0">
              <a:buNone/>
            </a:pPr>
            <a:r>
              <a:rPr lang="en-US" sz="1000" dirty="0">
                <a:solidFill>
                  <a:srgbClr val="586275"/>
                </a:solidFill>
              </a:rPr>
              <a:t>Free-text inputs used in shell code</a:t>
            </a:r>
            <a:endParaRPr lang="en-US" sz="1200" dirty="0"/>
          </a:p>
        </p:txBody>
      </p:sp>
      <p:sp>
        <p:nvSpPr>
          <p:cNvPr id="6" name="Risk marker 1"/>
          <p:cNvSpPr txBox="1"/>
          <p:nvPr/>
        </p:nvSpPr>
        <p:spPr>
          <a:xfrm>
            <a:off x="2075688" y="155448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7" name="Shape 4"/>
          <p:cNvSpPr/>
          <p:nvPr/>
        </p:nvSpPr>
        <p:spPr>
          <a:xfrm>
            <a:off x="2377440" y="2103120"/>
            <a:ext cx="320040" cy="0"/>
          </a:xfrm>
          <a:prstGeom prst="line">
            <a:avLst/>
          </a:prstGeom>
          <a:noFill/>
          <a:ln w="15875">
            <a:solidFill>
              <a:srgbClr val="7D889B"/>
            </a:solidFill>
            <a:prstDash val="solid"/>
            <a:tailEnd type="triangle"/>
          </a:ln>
        </p:spPr>
      </p:sp>
      <p:sp>
        <p:nvSpPr>
          <p:cNvPr id="8" name="Template and params located"/>
          <p:cNvSpPr txBox="1"/>
          <p:nvPr/>
        </p:nvSpPr>
        <p:spPr>
          <a:xfrm>
            <a:off x="2697480" y="1691640"/>
            <a:ext cx="219456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Template and params located</a:t>
            </a:r>
            <a:endParaRPr lang="en-US" sz="1200" dirty="0"/>
          </a:p>
          <a:p>
            <a:pPr algn="ctr" indent="0" marL="0">
              <a:buNone/>
            </a:pPr>
            <a:r>
              <a:rPr lang="en-US" sz="1000" dirty="0">
                <a:solidFill>
                  <a:srgbClr val="586275"/>
                </a:solidFill>
              </a:rPr>
              <a:t>find … | head -n 1 takes the first match</a:t>
            </a:r>
            <a:endParaRPr lang="en-US" sz="1200" dirty="0"/>
          </a:p>
        </p:txBody>
      </p:sp>
      <p:sp>
        <p:nvSpPr>
          <p:cNvPr id="9" name="Risk marker 2"/>
          <p:cNvSpPr txBox="1"/>
          <p:nvPr/>
        </p:nvSpPr>
        <p:spPr>
          <a:xfrm>
            <a:off x="4590288" y="155448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0" name="Shape 7"/>
          <p:cNvSpPr/>
          <p:nvPr/>
        </p:nvSpPr>
        <p:spPr>
          <a:xfrm>
            <a:off x="4892040" y="2103120"/>
            <a:ext cx="320040" cy="0"/>
          </a:xfrm>
          <a:prstGeom prst="line">
            <a:avLst/>
          </a:prstGeom>
          <a:noFill/>
          <a:ln w="15875">
            <a:solidFill>
              <a:srgbClr val="7D889B"/>
            </a:solidFill>
            <a:prstDash val="solid"/>
            <a:tailEnd type="triangle"/>
          </a:ln>
        </p:spPr>
      </p:sp>
      <p:sp>
        <p:nvSpPr>
          <p:cNvPr id="11" name="Template over 51,200 bytes?"/>
          <p:cNvSpPr txBox="1"/>
          <p:nvPr/>
        </p:nvSpPr>
        <p:spPr>
          <a:xfrm>
            <a:off x="5212080" y="1554480"/>
            <a:ext cx="1737360" cy="109728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100" b="1" dirty="0">
                <a:solidFill>
                  <a:srgbClr val="6A4200"/>
                </a:solidFill>
              </a:rPr>
              <a:t>Template over</a:t>
            </a:r>
            <a:endParaRPr lang="en-US" sz="1100" dirty="0"/>
          </a:p>
          <a:p>
            <a:pPr algn="ctr" indent="0" marL="0">
              <a:buNone/>
            </a:pPr>
            <a:r>
              <a:rPr lang="en-US" sz="1100" b="1" dirty="0">
                <a:solidFill>
                  <a:srgbClr val="6A4200"/>
                </a:solidFill>
              </a:rPr>
              <a:t>51,200 bytes?</a:t>
            </a:r>
            <a:endParaRPr lang="en-US" sz="1100" dirty="0"/>
          </a:p>
        </p:txBody>
      </p:sp>
      <p:sp>
        <p:nvSpPr>
          <p:cNvPr id="12" name="Shape 9"/>
          <p:cNvSpPr/>
          <p:nvPr/>
        </p:nvSpPr>
        <p:spPr>
          <a:xfrm>
            <a:off x="6949440" y="2103120"/>
            <a:ext cx="365760" cy="0"/>
          </a:xfrm>
          <a:prstGeom prst="line">
            <a:avLst/>
          </a:prstGeom>
          <a:noFill/>
          <a:ln w="15875">
            <a:solidFill>
              <a:srgbClr val="7D889B"/>
            </a:solidFill>
            <a:prstDash val="solid"/>
            <a:tailEnd type="triangle"/>
          </a:ln>
        </p:spPr>
      </p:sp>
      <p:sp>
        <p:nvSpPr>
          <p:cNvPr id="13" name="Text 10"/>
          <p:cNvSpPr txBox="1"/>
          <p:nvPr/>
        </p:nvSpPr>
        <p:spPr>
          <a:xfrm>
            <a:off x="6949440" y="179222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14" name="Template uploaded to S3"/>
          <p:cNvSpPr txBox="1"/>
          <p:nvPr/>
        </p:nvSpPr>
        <p:spPr>
          <a:xfrm>
            <a:off x="7315200" y="1691640"/>
            <a:ext cx="196596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Template uploaded to S3</a:t>
            </a:r>
            <a:endParaRPr lang="en-US" sz="1200" dirty="0"/>
          </a:p>
          <a:p>
            <a:pPr algn="ctr" indent="0" marL="0">
              <a:buNone/>
            </a:pPr>
            <a:r>
              <a:rPr lang="en-US" sz="1000" dirty="0">
                <a:solidFill>
                  <a:srgbClr val="586275"/>
                </a:solidFill>
              </a:rPr>
              <a:t>Pre-signed URLs printed in the log</a:t>
            </a:r>
            <a:endParaRPr lang="en-US" sz="1200" dirty="0"/>
          </a:p>
        </p:txBody>
      </p:sp>
      <p:sp>
        <p:nvSpPr>
          <p:cNvPr id="15" name="Risk marker 6"/>
          <p:cNvSpPr txBox="1"/>
          <p:nvPr/>
        </p:nvSpPr>
        <p:spPr>
          <a:xfrm>
            <a:off x="8979408" y="155448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6</a:t>
            </a:r>
            <a:endParaRPr lang="en-US" sz="1000" dirty="0"/>
          </a:p>
        </p:txBody>
      </p:sp>
      <p:sp>
        <p:nvSpPr>
          <p:cNvPr id="16" name="Shape 13"/>
          <p:cNvSpPr/>
          <p:nvPr/>
        </p:nvSpPr>
        <p:spPr>
          <a:xfrm>
            <a:off x="9281160" y="2103120"/>
            <a:ext cx="274320" cy="0"/>
          </a:xfrm>
          <a:prstGeom prst="line">
            <a:avLst/>
          </a:prstGeom>
          <a:noFill/>
          <a:ln w="15875">
            <a:solidFill>
              <a:srgbClr val="7D889B"/>
            </a:solidFill>
            <a:prstDash val="solid"/>
            <a:tailEnd type="triangle"/>
          </a:ln>
        </p:spPr>
      </p:sp>
      <p:sp>
        <p:nvSpPr>
          <p:cNvPr id="17" name="update-stack / create-stack"/>
          <p:cNvSpPr txBox="1"/>
          <p:nvPr/>
        </p:nvSpPr>
        <p:spPr>
          <a:xfrm>
            <a:off x="9555480" y="1691640"/>
            <a:ext cx="2084832"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update-stack / create-stack</a:t>
            </a:r>
            <a:endParaRPr lang="en-US" sz="1200" dirty="0"/>
          </a:p>
          <a:p>
            <a:pPr algn="ctr" indent="0" marL="0">
              <a:buNone/>
            </a:pPr>
            <a:r>
              <a:rPr lang="en-US" sz="1000" dirty="0">
                <a:solidFill>
                  <a:srgbClr val="586275"/>
                </a:solidFill>
              </a:rPr>
              <a:t>Applied at once, no preview</a:t>
            </a:r>
            <a:endParaRPr lang="en-US" sz="1200" dirty="0"/>
          </a:p>
        </p:txBody>
      </p:sp>
      <p:sp>
        <p:nvSpPr>
          <p:cNvPr id="18" name="Risk marker 8"/>
          <p:cNvSpPr txBox="1"/>
          <p:nvPr/>
        </p:nvSpPr>
        <p:spPr>
          <a:xfrm>
            <a:off x="11338560" y="155448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8</a:t>
            </a:r>
            <a:endParaRPr lang="en-US" sz="1000" dirty="0"/>
          </a:p>
        </p:txBody>
      </p:sp>
      <p:sp>
        <p:nvSpPr>
          <p:cNvPr id="19" name="Risk marker 5"/>
          <p:cNvSpPr txBox="1"/>
          <p:nvPr/>
        </p:nvSpPr>
        <p:spPr>
          <a:xfrm>
            <a:off x="11027664" y="155448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0" name="Risk marker 4"/>
          <p:cNvSpPr txBox="1"/>
          <p:nvPr/>
        </p:nvSpPr>
        <p:spPr>
          <a:xfrm>
            <a:off x="10716768" y="155448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21" name="Shape 18"/>
          <p:cNvSpPr/>
          <p:nvPr/>
        </p:nvSpPr>
        <p:spPr>
          <a:xfrm>
            <a:off x="6080760" y="2651760"/>
            <a:ext cx="0" cy="640080"/>
          </a:xfrm>
          <a:prstGeom prst="line">
            <a:avLst/>
          </a:prstGeom>
          <a:noFill/>
          <a:ln w="15875">
            <a:solidFill>
              <a:srgbClr val="7D889B"/>
            </a:solidFill>
            <a:prstDash val="solid"/>
            <a:tailEnd type="triangle"/>
          </a:ln>
        </p:spPr>
      </p:sp>
      <p:sp>
        <p:nvSpPr>
          <p:cNvPr id="22" name="Text 19"/>
          <p:cNvSpPr txBox="1"/>
          <p:nvPr/>
        </p:nvSpPr>
        <p:spPr>
          <a:xfrm>
            <a:off x="6181344" y="2816352"/>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23" name="cloudformation deploy"/>
          <p:cNvSpPr txBox="1"/>
          <p:nvPr/>
        </p:nvSpPr>
        <p:spPr>
          <a:xfrm>
            <a:off x="5029200" y="3291840"/>
            <a:ext cx="210312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cloudformation deploy</a:t>
            </a:r>
            <a:endParaRPr lang="en-US" sz="1200" dirty="0"/>
          </a:p>
          <a:p>
            <a:pPr algn="ctr" indent="0" marL="0">
              <a:buNone/>
            </a:pPr>
            <a:r>
              <a:rPr lang="en-US" sz="1000" dirty="0">
                <a:solidFill>
                  <a:srgbClr val="586275"/>
                </a:solidFill>
              </a:rPr>
              <a:t>Change set made and run at once</a:t>
            </a:r>
            <a:endParaRPr lang="en-US" sz="1200" dirty="0"/>
          </a:p>
        </p:txBody>
      </p:sp>
      <p:sp>
        <p:nvSpPr>
          <p:cNvPr id="24" name="Risk marker 8"/>
          <p:cNvSpPr txBox="1"/>
          <p:nvPr/>
        </p:nvSpPr>
        <p:spPr>
          <a:xfrm>
            <a:off x="6830568" y="315468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8</a:t>
            </a:r>
            <a:endParaRPr lang="en-US" sz="1000" dirty="0"/>
          </a:p>
        </p:txBody>
      </p:sp>
      <p:sp>
        <p:nvSpPr>
          <p:cNvPr id="25" name="Risk marker 5"/>
          <p:cNvSpPr txBox="1"/>
          <p:nvPr/>
        </p:nvSpPr>
        <p:spPr>
          <a:xfrm>
            <a:off x="6519672" y="315468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6" name="Risk marker 4"/>
          <p:cNvSpPr txBox="1"/>
          <p:nvPr/>
        </p:nvSpPr>
        <p:spPr>
          <a:xfrm>
            <a:off x="6208776" y="315468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27" name="Shape 24"/>
          <p:cNvSpPr/>
          <p:nvPr/>
        </p:nvSpPr>
        <p:spPr>
          <a:xfrm>
            <a:off x="10597896" y="2514600"/>
            <a:ext cx="0" cy="731520"/>
          </a:xfrm>
          <a:prstGeom prst="line">
            <a:avLst/>
          </a:prstGeom>
          <a:noFill/>
          <a:ln w="15875">
            <a:solidFill>
              <a:srgbClr val="7D889B"/>
            </a:solidFill>
            <a:prstDash val="solid"/>
            <a:tailEnd type="triangle"/>
          </a:ln>
        </p:spPr>
      </p:sp>
      <p:sp>
        <p:nvSpPr>
          <p:cNvPr id="28" name="Shape 25"/>
          <p:cNvSpPr/>
          <p:nvPr/>
        </p:nvSpPr>
        <p:spPr>
          <a:xfrm>
            <a:off x="7132320" y="3703320"/>
            <a:ext cx="731520" cy="0"/>
          </a:xfrm>
          <a:prstGeom prst="line">
            <a:avLst/>
          </a:prstGeom>
          <a:noFill/>
          <a:ln w="15875">
            <a:solidFill>
              <a:srgbClr val="7D889B"/>
            </a:solidFill>
            <a:prstDash val="solid"/>
            <a:tailEnd type="triangle"/>
          </a:ln>
        </p:spPr>
      </p:sp>
      <p:sp>
        <p:nvSpPr>
          <p:cNvPr id="29" name="Live in the AWS account"/>
          <p:cNvSpPr txBox="1"/>
          <p:nvPr/>
        </p:nvSpPr>
        <p:spPr>
          <a:xfrm>
            <a:off x="7863840" y="3246120"/>
            <a:ext cx="3776472" cy="914400"/>
          </a:xfrm>
          <a:prstGeom prst="roundRect">
            <a:avLst>
              <a:gd name="adj" fmla="val 50000"/>
            </a:avLst>
          </a:prstGeom>
          <a:solidFill>
            <a:srgbClr val="FCEAE9"/>
          </a:solidFill>
          <a:ln w="25400">
            <a:solidFill>
              <a:srgbClr val="C93A32"/>
            </a:solidFill>
            <a:prstDash val="solid"/>
          </a:ln>
        </p:spPr>
        <p:txBody>
          <a:bodyPr wrap="square" lIns="50800" tIns="25400" rIns="50800" bIns="25400" rtlCol="0" anchor="ctr"/>
          <a:lstStyle/>
          <a:p>
            <a:pPr algn="ctr" indent="0" marL="0">
              <a:buNone/>
            </a:pPr>
            <a:r>
              <a:rPr lang="en-US" sz="1400" b="1" dirty="0">
                <a:solidFill>
                  <a:srgbClr val="7D1C16"/>
                </a:solidFill>
              </a:rPr>
              <a:t>Live in the AWS account</a:t>
            </a:r>
            <a:endParaRPr lang="en-US" sz="1400" dirty="0"/>
          </a:p>
          <a:p>
            <a:pPr algn="ctr" indent="0" marL="0">
              <a:buNone/>
            </a:pPr>
            <a:r>
              <a:rPr lang="en-US" sz="1100" dirty="0">
                <a:solidFill>
                  <a:srgbClr val="A1332C"/>
                </a:solidFill>
              </a:rPr>
              <a:t>No preview · no approval · no drift check</a:t>
            </a:r>
            <a:endParaRPr lang="en-US" sz="1400" dirty="0"/>
          </a:p>
        </p:txBody>
      </p:sp>
      <p:sp>
        <p:nvSpPr>
          <p:cNvPr id="30" name="Shape 27"/>
          <p:cNvSpPr/>
          <p:nvPr/>
        </p:nvSpPr>
        <p:spPr>
          <a:xfrm>
            <a:off x="9752076" y="4160520"/>
            <a:ext cx="0" cy="320040"/>
          </a:xfrm>
          <a:prstGeom prst="line">
            <a:avLst/>
          </a:prstGeom>
          <a:noFill/>
          <a:ln w="15875">
            <a:solidFill>
              <a:srgbClr val="7D889B"/>
            </a:solidFill>
            <a:prstDash val="solid"/>
          </a:ln>
        </p:spPr>
      </p:sp>
      <p:sp>
        <p:nvSpPr>
          <p:cNvPr id="31" name="Shape 28"/>
          <p:cNvSpPr/>
          <p:nvPr/>
        </p:nvSpPr>
        <p:spPr>
          <a:xfrm flipH="1">
            <a:off x="6766560" y="4480560"/>
            <a:ext cx="2985516" cy="0"/>
          </a:xfrm>
          <a:prstGeom prst="line">
            <a:avLst/>
          </a:prstGeom>
          <a:noFill/>
          <a:ln w="15875">
            <a:solidFill>
              <a:srgbClr val="7D889B"/>
            </a:solidFill>
            <a:prstDash val="solid"/>
          </a:ln>
        </p:spPr>
      </p:sp>
      <p:sp>
        <p:nvSpPr>
          <p:cNvPr id="32" name="Shape 29"/>
          <p:cNvSpPr/>
          <p:nvPr/>
        </p:nvSpPr>
        <p:spPr>
          <a:xfrm>
            <a:off x="6766560" y="4480560"/>
            <a:ext cx="0" cy="457200"/>
          </a:xfrm>
          <a:prstGeom prst="line">
            <a:avLst/>
          </a:prstGeom>
          <a:noFill/>
          <a:ln w="15875">
            <a:solidFill>
              <a:srgbClr val="7D889B"/>
            </a:solidFill>
            <a:prstDash val="solid"/>
            <a:tailEnd type="triangle"/>
          </a:ln>
        </p:spPr>
      </p:sp>
      <p:sp>
        <p:nvSpPr>
          <p:cNvPr id="33" name="Did it fail?"/>
          <p:cNvSpPr txBox="1"/>
          <p:nvPr/>
        </p:nvSpPr>
        <p:spPr>
          <a:xfrm>
            <a:off x="6035040" y="4937760"/>
            <a:ext cx="1463040" cy="100584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100" b="1" dirty="0">
                <a:solidFill>
                  <a:srgbClr val="6A4200"/>
                </a:solidFill>
              </a:rPr>
              <a:t>Did it fail?</a:t>
            </a:r>
            <a:endParaRPr lang="en-US" sz="1100" dirty="0"/>
          </a:p>
        </p:txBody>
      </p:sp>
      <p:sp>
        <p:nvSpPr>
          <p:cNvPr id="34" name="Shape 31"/>
          <p:cNvSpPr/>
          <p:nvPr/>
        </p:nvSpPr>
        <p:spPr>
          <a:xfrm flipH="1">
            <a:off x="5532120" y="5440680"/>
            <a:ext cx="502920" cy="0"/>
          </a:xfrm>
          <a:prstGeom prst="line">
            <a:avLst/>
          </a:prstGeom>
          <a:noFill/>
          <a:ln w="15875">
            <a:solidFill>
              <a:srgbClr val="7D889B"/>
            </a:solidFill>
            <a:prstDash val="solid"/>
            <a:tailEnd type="triangle"/>
          </a:ln>
        </p:spPr>
      </p:sp>
      <p:sp>
        <p:nvSpPr>
          <p:cNvPr id="35" name="Text 32"/>
          <p:cNvSpPr txBox="1"/>
          <p:nvPr/>
        </p:nvSpPr>
        <p:spPr>
          <a:xfrm>
            <a:off x="5596128" y="5138928"/>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36" name="Only CREATE_FAILED shown"/>
          <p:cNvSpPr txBox="1"/>
          <p:nvPr/>
        </p:nvSpPr>
        <p:spPr>
          <a:xfrm>
            <a:off x="3108960" y="5029200"/>
            <a:ext cx="242316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Only CREATE_FAILED shown</a:t>
            </a:r>
            <a:endParaRPr lang="en-US" sz="1200" dirty="0"/>
          </a:p>
          <a:p>
            <a:pPr algn="ctr" indent="0" marL="0">
              <a:buNone/>
            </a:pPr>
            <a:r>
              <a:rPr lang="en-US" sz="1000" dirty="0">
                <a:solidFill>
                  <a:srgbClr val="586275"/>
                </a:solidFill>
              </a:rPr>
              <a:t>Update failures not explained</a:t>
            </a:r>
            <a:endParaRPr lang="en-US" sz="1200" dirty="0"/>
          </a:p>
        </p:txBody>
      </p:sp>
      <p:sp>
        <p:nvSpPr>
          <p:cNvPr id="37" name="Risk marker 7"/>
          <p:cNvSpPr txBox="1"/>
          <p:nvPr/>
        </p:nvSpPr>
        <p:spPr>
          <a:xfrm>
            <a:off x="5230368" y="489204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7</a:t>
            </a:r>
            <a:endParaRPr lang="en-US" sz="1000" dirty="0"/>
          </a:p>
        </p:txBody>
      </p:sp>
      <p:sp>
        <p:nvSpPr>
          <p:cNvPr id="38" name="Shape 35"/>
          <p:cNvSpPr/>
          <p:nvPr/>
        </p:nvSpPr>
        <p:spPr>
          <a:xfrm>
            <a:off x="7498080" y="5440680"/>
            <a:ext cx="365760" cy="0"/>
          </a:xfrm>
          <a:prstGeom prst="line">
            <a:avLst/>
          </a:prstGeom>
          <a:noFill/>
          <a:ln w="15875">
            <a:solidFill>
              <a:srgbClr val="7D889B"/>
            </a:solidFill>
            <a:prstDash val="solid"/>
            <a:tailEnd type="triangle"/>
          </a:ln>
        </p:spPr>
      </p:sp>
      <p:sp>
        <p:nvSpPr>
          <p:cNvPr id="39" name="Text 36"/>
          <p:cNvSpPr txBox="1"/>
          <p:nvPr/>
        </p:nvSpPr>
        <p:spPr>
          <a:xfrm>
            <a:off x="7516368" y="5138928"/>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40" name="Outputs printed in the log"/>
          <p:cNvSpPr txBox="1"/>
          <p:nvPr/>
        </p:nvSpPr>
        <p:spPr>
          <a:xfrm>
            <a:off x="7863840" y="5029200"/>
            <a:ext cx="265176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Outputs printed in the log</a:t>
            </a:r>
            <a:endParaRPr lang="en-US" sz="1200" dirty="0"/>
          </a:p>
          <a:p>
            <a:pPr algn="ctr" indent="0" marL="0">
              <a:buNone/>
            </a:pPr>
            <a:r>
              <a:rPr lang="en-US" sz="1000" dirty="0">
                <a:solidFill>
                  <a:srgbClr val="586275"/>
                </a:solidFill>
              </a:rPr>
              <a:t>No email, no record of who approved</a:t>
            </a:r>
            <a:endParaRPr lang="en-US" sz="1200" dirty="0"/>
          </a:p>
        </p:txBody>
      </p:sp>
      <p:sp>
        <p:nvSpPr>
          <p:cNvPr id="41" name="Risk marker 10"/>
          <p:cNvSpPr txBox="1"/>
          <p:nvPr/>
        </p:nvSpPr>
        <p:spPr>
          <a:xfrm>
            <a:off x="10213848" y="489204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10</a:t>
            </a:r>
            <a:endParaRPr lang="en-US" sz="850" dirty="0"/>
          </a:p>
        </p:txBody>
      </p:sp>
      <p:sp>
        <p:nvSpPr>
          <p:cNvPr id="42" name="Never checked before deploying"/>
          <p:cNvSpPr/>
          <p:nvPr/>
        </p:nvSpPr>
        <p:spPr>
          <a:xfrm>
            <a:off x="548640" y="3246120"/>
            <a:ext cx="2514600" cy="1380744"/>
          </a:xfrm>
          <a:prstGeom prst="roundRect">
            <a:avLst>
              <a:gd name="adj" fmla="val 5298"/>
            </a:avLst>
          </a:prstGeom>
          <a:solidFill>
            <a:srgbClr val="FFFFFF"/>
          </a:solidFill>
          <a:ln w="15875">
            <a:solidFill>
              <a:srgbClr val="C93A32"/>
            </a:solidFill>
            <a:prstDash val="dash"/>
          </a:ln>
        </p:spPr>
      </p:sp>
      <p:sp>
        <p:nvSpPr>
          <p:cNvPr id="43" name="Text 40"/>
          <p:cNvSpPr txBox="1"/>
          <p:nvPr/>
        </p:nvSpPr>
        <p:spPr>
          <a:xfrm>
            <a:off x="676656" y="3319272"/>
            <a:ext cx="2258568" cy="256032"/>
          </a:xfrm>
          <a:prstGeom prst="rect">
            <a:avLst/>
          </a:prstGeom>
          <a:noFill/>
          <a:ln/>
        </p:spPr>
        <p:txBody>
          <a:bodyPr wrap="square" lIns="0" tIns="0" rIns="0" bIns="0" rtlCol="0" anchor="ctr"/>
          <a:lstStyle/>
          <a:p>
            <a:pPr indent="0" marL="0">
              <a:buNone/>
            </a:pPr>
            <a:r>
              <a:rPr lang="en-US" sz="1150" b="1" dirty="0">
                <a:solidFill>
                  <a:srgbClr val="7D1C16"/>
                </a:solidFill>
              </a:rPr>
              <a:t>Never checked before deploying</a:t>
            </a:r>
            <a:endParaRPr lang="en-US" sz="1150" dirty="0"/>
          </a:p>
        </p:txBody>
      </p:sp>
      <p:sp>
        <p:nvSpPr>
          <p:cNvPr id="44" name="Text 41"/>
          <p:cNvSpPr txBox="1"/>
          <p:nvPr/>
        </p:nvSpPr>
        <p:spPr>
          <a:xfrm>
            <a:off x="658368" y="3593592"/>
            <a:ext cx="2075688" cy="978408"/>
          </a:xfrm>
          <a:prstGeom prst="rect">
            <a:avLst/>
          </a:prstGeom>
          <a:noFill/>
          <a:ln/>
        </p:spPr>
        <p:txBody>
          <a:bodyPr wrap="square" lIns="0" tIns="0" rIns="0" bIns="0" rtlCol="0" anchor="t"/>
          <a:lstStyle/>
          <a:p>
            <a:pPr marL="127000" indent="-127000">
              <a:lnSpc>
                <a:spcPts val="1512"/>
              </a:lnSpc>
              <a:buSzPct val="100000"/>
              <a:buChar char="•"/>
            </a:pPr>
            <a:r>
              <a:rPr lang="en-US" sz="1000" dirty="0">
                <a:solidFill>
                  <a:srgbClr val="A1332C"/>
                </a:solidFill>
              </a:rPr>
              <a:t>Template lint or security scan</a:t>
            </a:r>
            <a:endParaRPr lang="en-US" sz="1000" dirty="0"/>
          </a:p>
          <a:p>
            <a:pPr marL="127000" indent="-127000">
              <a:lnSpc>
                <a:spcPts val="1512"/>
              </a:lnSpc>
              <a:buSzPct val="100000"/>
              <a:buChar char="•"/>
            </a:pPr>
            <a:r>
              <a:rPr lang="en-US" sz="1000" dirty="0">
                <a:solidFill>
                  <a:srgbClr val="A1332C"/>
                </a:solidFill>
              </a:rPr>
              <a:t>Drift from console changes</a:t>
            </a:r>
            <a:endParaRPr lang="en-US" sz="1000" dirty="0"/>
          </a:p>
          <a:p>
            <a:pPr marL="127000" indent="-127000">
              <a:lnSpc>
                <a:spcPts val="1512"/>
              </a:lnSpc>
              <a:buSzPct val="100000"/>
              <a:buChar char="•"/>
            </a:pPr>
            <a:r>
              <a:rPr lang="en-US" sz="1000" dirty="0">
                <a:solidFill>
                  <a:srgbClr val="A1332C"/>
                </a:solidFill>
              </a:rPr>
              <a:t>Preview of what will change</a:t>
            </a:r>
            <a:endParaRPr lang="en-US" sz="1000" dirty="0"/>
          </a:p>
          <a:p>
            <a:pPr marL="127000" indent="-127000">
              <a:lnSpc>
                <a:spcPts val="1512"/>
              </a:lnSpc>
              <a:buSzPct val="100000"/>
              <a:buChar char="•"/>
            </a:pPr>
            <a:r>
              <a:rPr lang="en-US" sz="1000" dirty="0">
                <a:solidFill>
                  <a:srgbClr val="A1332C"/>
                </a:solidFill>
              </a:rPr>
              <a:t>Approval by a second person</a:t>
            </a:r>
            <a:endParaRPr lang="en-US" sz="1000" dirty="0"/>
          </a:p>
          <a:p>
            <a:pPr marL="127000" indent="-127000">
              <a:lnSpc>
                <a:spcPts val="1512"/>
              </a:lnSpc>
              <a:buSzPct val="100000"/>
              <a:buChar char="•"/>
            </a:pPr>
            <a:r>
              <a:rPr lang="en-US" sz="1000" dirty="0">
                <a:solidFill>
                  <a:srgbClr val="A1332C"/>
                </a:solidFill>
              </a:rPr>
              <a:t>One run per stack at a time</a:t>
            </a:r>
            <a:endParaRPr lang="en-US" sz="1000" dirty="0"/>
          </a:p>
        </p:txBody>
      </p:sp>
      <p:sp>
        <p:nvSpPr>
          <p:cNvPr id="45" name="Risk marker 3"/>
          <p:cNvSpPr txBox="1"/>
          <p:nvPr/>
        </p:nvSpPr>
        <p:spPr>
          <a:xfrm>
            <a:off x="2752344" y="3579876"/>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46" name="Risk marker 3"/>
          <p:cNvSpPr txBox="1"/>
          <p:nvPr/>
        </p:nvSpPr>
        <p:spPr>
          <a:xfrm>
            <a:off x="2752344" y="3771900"/>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47" name="Risk marker 4"/>
          <p:cNvSpPr txBox="1"/>
          <p:nvPr/>
        </p:nvSpPr>
        <p:spPr>
          <a:xfrm>
            <a:off x="2752344" y="3963924"/>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48" name="Risk marker 4"/>
          <p:cNvSpPr txBox="1"/>
          <p:nvPr/>
        </p:nvSpPr>
        <p:spPr>
          <a:xfrm>
            <a:off x="2752344" y="4155948"/>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49" name="Risk marker 9"/>
          <p:cNvSpPr txBox="1"/>
          <p:nvPr/>
        </p:nvSpPr>
        <p:spPr>
          <a:xfrm>
            <a:off x="2752344" y="4347972"/>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Current flow: advantages and disadvantages</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Recommendation: replace it · numbers match the flow diagram and the risk tables</a:t>
            </a:r>
            <a:endParaRPr lang="en-US" sz="1400" dirty="0"/>
          </a:p>
        </p:txBody>
      </p:sp>
      <p:sp>
        <p:nvSpPr>
          <p:cNvPr id="5" name="Shape 2"/>
          <p:cNvSpPr/>
          <p:nvPr/>
        </p:nvSpPr>
        <p:spPr>
          <a:xfrm>
            <a:off x="548640" y="1481328"/>
            <a:ext cx="5413248" cy="4690872"/>
          </a:xfrm>
          <a:prstGeom prst="roundRect">
            <a:avLst>
              <a:gd name="adj" fmla="val 2339"/>
            </a:avLst>
          </a:prstGeom>
          <a:solidFill>
            <a:srgbClr val="F4FAF6"/>
          </a:solidFill>
          <a:ln w="12700">
            <a:solidFill>
              <a:srgbClr val="CFE6D7"/>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777240" y="1664208"/>
            <a:ext cx="402336" cy="402336"/>
          </a:xfrm>
          <a:prstGeom prst="ellipse">
            <a:avLst/>
          </a:prstGeom>
          <a:solidFill>
            <a:srgbClr val="2E8946"/>
          </a:solidFill>
          <a:ln w="6350">
            <a:solidFill>
              <a:srgbClr val="2E8946"/>
            </a:solidFill>
            <a:prstDash val="solid"/>
          </a:ln>
        </p:spPr>
      </p:sp>
      <p:pic>
        <p:nvPicPr>
          <p:cNvPr id="7" name="Image 0" descr="Icon">    </p:cNvPr>
          <p:cNvPicPr>
            <a:picLocks noChangeAspect="1"/>
          </p:cNvPicPr>
          <p:nvPr/>
        </p:nvPicPr>
        <p:blipFill>
          <a:blip r:embed="rId1"/>
          <a:stretch>
            <a:fillRect/>
          </a:stretch>
        </p:blipFill>
        <p:spPr>
          <a:xfrm>
            <a:off x="873801" y="1760769"/>
            <a:ext cx="209215" cy="209215"/>
          </a:xfrm>
          <a:prstGeom prst="rect">
            <a:avLst/>
          </a:prstGeom>
        </p:spPr>
      </p:pic>
      <p:sp>
        <p:nvSpPr>
          <p:cNvPr id="8" name="Text 4"/>
          <p:cNvSpPr txBox="1"/>
          <p:nvPr/>
        </p:nvSpPr>
        <p:spPr>
          <a:xfrm>
            <a:off x="1298448" y="1664208"/>
            <a:ext cx="4206240" cy="402336"/>
          </a:xfrm>
          <a:prstGeom prst="rect">
            <a:avLst/>
          </a:prstGeom>
          <a:noFill/>
          <a:ln/>
        </p:spPr>
        <p:txBody>
          <a:bodyPr wrap="square" lIns="0" tIns="0" rIns="0" bIns="0" rtlCol="0" anchor="ctr"/>
          <a:lstStyle/>
          <a:p>
            <a:pPr indent="0" marL="0">
              <a:buNone/>
            </a:pPr>
            <a:r>
              <a:rPr lang="en-US" sz="1800" b="1" dirty="0">
                <a:solidFill>
                  <a:srgbClr val="165229"/>
                </a:solidFill>
              </a:rPr>
              <a:t>Advantages</a:t>
            </a:r>
            <a:endParaRPr lang="en-US" sz="1800" dirty="0"/>
          </a:p>
        </p:txBody>
      </p:sp>
      <p:pic>
        <p:nvPicPr>
          <p:cNvPr id="9" name="Image 1" descr="Advantage">    </p:cNvPr>
          <p:cNvPicPr>
            <a:picLocks noChangeAspect="1"/>
          </p:cNvPicPr>
          <p:nvPr/>
        </p:nvPicPr>
        <p:blipFill>
          <a:blip r:embed="rId2"/>
          <a:stretch>
            <a:fillRect/>
          </a:stretch>
        </p:blipFill>
        <p:spPr>
          <a:xfrm>
            <a:off x="804672" y="2295144"/>
            <a:ext cx="201168" cy="201168"/>
          </a:xfrm>
          <a:prstGeom prst="rect">
            <a:avLst/>
          </a:prstGeom>
        </p:spPr>
      </p:pic>
      <p:sp>
        <p:nvSpPr>
          <p:cNvPr id="10" name="Text 5"/>
          <p:cNvSpPr txBox="1"/>
          <p:nvPr/>
        </p:nvSpPr>
        <p:spPr>
          <a:xfrm>
            <a:off x="1115568" y="2258568"/>
            <a:ext cx="4636008" cy="420624"/>
          </a:xfrm>
          <a:prstGeom prst="rect">
            <a:avLst/>
          </a:prstGeom>
          <a:noFill/>
          <a:ln/>
        </p:spPr>
        <p:txBody>
          <a:bodyPr wrap="square" lIns="0" tIns="0" rIns="0" bIns="0" rtlCol="0" anchor="t"/>
          <a:lstStyle/>
          <a:p>
            <a:pPr indent="0" marL="0">
              <a:buNone/>
            </a:pPr>
            <a:r>
              <a:rPr lang="en-US" sz="1400" dirty="0">
                <a:solidFill>
                  <a:srgbClr val="131925"/>
                </a:solidFill>
              </a:rPr>
              <a:t>Started by hand only; nothing deploys on a push</a:t>
            </a:r>
            <a:endParaRPr lang="en-US" sz="1400" dirty="0"/>
          </a:p>
        </p:txBody>
      </p:sp>
      <p:pic>
        <p:nvPicPr>
          <p:cNvPr id="11" name="Image 2" descr="Advantage">    </p:cNvPr>
          <p:cNvPicPr>
            <a:picLocks noChangeAspect="1"/>
          </p:cNvPicPr>
          <p:nvPr/>
        </p:nvPicPr>
        <p:blipFill>
          <a:blip r:embed="rId3"/>
          <a:stretch>
            <a:fillRect/>
          </a:stretch>
        </p:blipFill>
        <p:spPr>
          <a:xfrm>
            <a:off x="804672" y="2715768"/>
            <a:ext cx="201168" cy="201168"/>
          </a:xfrm>
          <a:prstGeom prst="rect">
            <a:avLst/>
          </a:prstGeom>
        </p:spPr>
      </p:pic>
      <p:sp>
        <p:nvSpPr>
          <p:cNvPr id="12" name="Text 6"/>
          <p:cNvSpPr txBox="1"/>
          <p:nvPr/>
        </p:nvSpPr>
        <p:spPr>
          <a:xfrm>
            <a:off x="1115568" y="2679192"/>
            <a:ext cx="4636008" cy="420624"/>
          </a:xfrm>
          <a:prstGeom prst="rect">
            <a:avLst/>
          </a:prstGeom>
          <a:noFill/>
          <a:ln/>
        </p:spPr>
        <p:txBody>
          <a:bodyPr wrap="square" lIns="0" tIns="0" rIns="0" bIns="0" rtlCol="0" anchor="t"/>
          <a:lstStyle/>
          <a:p>
            <a:pPr indent="0" marL="0">
              <a:buNone/>
            </a:pPr>
            <a:r>
              <a:rPr lang="en-US" sz="1400" dirty="0">
                <a:solidFill>
                  <a:srgbClr val="131925"/>
                </a:solidFill>
              </a:rPr>
              <a:t>Short-lived AWS credentials through GitHub OIDC</a:t>
            </a:r>
            <a:endParaRPr lang="en-US" sz="1400" dirty="0"/>
          </a:p>
        </p:txBody>
      </p:sp>
      <p:pic>
        <p:nvPicPr>
          <p:cNvPr id="13" name="Image 3" descr="Advantage">    </p:cNvPr>
          <p:cNvPicPr>
            <a:picLocks noChangeAspect="1"/>
          </p:cNvPicPr>
          <p:nvPr/>
        </p:nvPicPr>
        <p:blipFill>
          <a:blip r:embed="rId4"/>
          <a:stretch>
            <a:fillRect/>
          </a:stretch>
        </p:blipFill>
        <p:spPr>
          <a:xfrm>
            <a:off x="804672" y="3136392"/>
            <a:ext cx="201168" cy="201168"/>
          </a:xfrm>
          <a:prstGeom prst="rect">
            <a:avLst/>
          </a:prstGeom>
        </p:spPr>
      </p:pic>
      <p:sp>
        <p:nvSpPr>
          <p:cNvPr id="14" name="Text 7"/>
          <p:cNvSpPr txBox="1"/>
          <p:nvPr/>
        </p:nvSpPr>
        <p:spPr>
          <a:xfrm>
            <a:off x="1115568" y="3099816"/>
            <a:ext cx="4636008" cy="420624"/>
          </a:xfrm>
          <a:prstGeom prst="rect">
            <a:avLst/>
          </a:prstGeom>
          <a:noFill/>
          <a:ln/>
        </p:spPr>
        <p:txBody>
          <a:bodyPr wrap="square" lIns="0" tIns="0" rIns="0" bIns="0" rtlCol="0" anchor="t"/>
          <a:lstStyle/>
          <a:p>
            <a:pPr indent="0" marL="0">
              <a:buNone/>
            </a:pPr>
            <a:r>
              <a:rPr lang="en-US" sz="1400" dirty="0">
                <a:solidFill>
                  <a:srgbClr val="131925"/>
                </a:solidFill>
              </a:rPr>
              <a:t>Account role picked from a fixed set of secrets</a:t>
            </a:r>
            <a:endParaRPr lang="en-US" sz="1400" dirty="0"/>
          </a:p>
        </p:txBody>
      </p:sp>
      <p:pic>
        <p:nvPicPr>
          <p:cNvPr id="15" name="Image 4" descr="Advantage">    </p:cNvPr>
          <p:cNvPicPr>
            <a:picLocks noChangeAspect="1"/>
          </p:cNvPicPr>
          <p:nvPr/>
        </p:nvPicPr>
        <p:blipFill>
          <a:blip r:embed="rId5"/>
          <a:stretch>
            <a:fillRect/>
          </a:stretch>
        </p:blipFill>
        <p:spPr>
          <a:xfrm>
            <a:off x="804672" y="3557016"/>
            <a:ext cx="201168" cy="201168"/>
          </a:xfrm>
          <a:prstGeom prst="rect">
            <a:avLst/>
          </a:prstGeom>
        </p:spPr>
      </p:pic>
      <p:sp>
        <p:nvSpPr>
          <p:cNvPr id="16" name="Text 8"/>
          <p:cNvSpPr txBox="1"/>
          <p:nvPr/>
        </p:nvSpPr>
        <p:spPr>
          <a:xfrm>
            <a:off x="1115568" y="3520440"/>
            <a:ext cx="4636008" cy="420624"/>
          </a:xfrm>
          <a:prstGeom prst="rect">
            <a:avLst/>
          </a:prstGeom>
          <a:noFill/>
          <a:ln/>
        </p:spPr>
        <p:txBody>
          <a:bodyPr wrap="square" lIns="0" tIns="0" rIns="0" bIns="0" rtlCol="0" anchor="t"/>
          <a:lstStyle/>
          <a:p>
            <a:pPr indent="0" marL="0">
              <a:buNone/>
            </a:pPr>
            <a:r>
              <a:rPr lang="en-US" sz="1400" dirty="0">
                <a:solidFill>
                  <a:srgbClr val="131925"/>
                </a:solidFill>
              </a:rPr>
              <a:t>Templates over 51,200 bytes staged in S3</a:t>
            </a:r>
            <a:endParaRPr lang="en-US" sz="1400" dirty="0"/>
          </a:p>
        </p:txBody>
      </p:sp>
      <p:pic>
        <p:nvPicPr>
          <p:cNvPr id="17" name="Image 5" descr="Advantage">    </p:cNvPr>
          <p:cNvPicPr>
            <a:picLocks noChangeAspect="1"/>
          </p:cNvPicPr>
          <p:nvPr/>
        </p:nvPicPr>
        <p:blipFill>
          <a:blip r:embed="rId6"/>
          <a:stretch>
            <a:fillRect/>
          </a:stretch>
        </p:blipFill>
        <p:spPr>
          <a:xfrm>
            <a:off x="804672" y="3977640"/>
            <a:ext cx="201168" cy="201168"/>
          </a:xfrm>
          <a:prstGeom prst="rect">
            <a:avLst/>
          </a:prstGeom>
        </p:spPr>
      </p:pic>
      <p:sp>
        <p:nvSpPr>
          <p:cNvPr id="18" name="Text 9"/>
          <p:cNvSpPr txBox="1"/>
          <p:nvPr/>
        </p:nvSpPr>
        <p:spPr>
          <a:xfrm>
            <a:off x="1115568" y="3941064"/>
            <a:ext cx="4636008" cy="420624"/>
          </a:xfrm>
          <a:prstGeom prst="rect">
            <a:avLst/>
          </a:prstGeom>
          <a:noFill/>
          <a:ln/>
        </p:spPr>
        <p:txBody>
          <a:bodyPr wrap="square" lIns="0" tIns="0" rIns="0" bIns="0" rtlCol="0" anchor="t"/>
          <a:lstStyle/>
          <a:p>
            <a:pPr indent="0" marL="0">
              <a:buNone/>
            </a:pPr>
            <a:r>
              <a:rPr lang="en-US" sz="1400" dirty="0">
                <a:solidFill>
                  <a:srgbClr val="131925"/>
                </a:solidFill>
              </a:rPr>
              <a:t>Creates or updates the stack as needed</a:t>
            </a:r>
            <a:endParaRPr lang="en-US" sz="1400" dirty="0"/>
          </a:p>
        </p:txBody>
      </p:sp>
      <p:pic>
        <p:nvPicPr>
          <p:cNvPr id="19" name="Image 6" descr="Advantage">    </p:cNvPr>
          <p:cNvPicPr>
            <a:picLocks noChangeAspect="1"/>
          </p:cNvPicPr>
          <p:nvPr/>
        </p:nvPicPr>
        <p:blipFill>
          <a:blip r:embed="rId7"/>
          <a:stretch>
            <a:fillRect/>
          </a:stretch>
        </p:blipFill>
        <p:spPr>
          <a:xfrm>
            <a:off x="804672" y="4398264"/>
            <a:ext cx="201168" cy="201168"/>
          </a:xfrm>
          <a:prstGeom prst="rect">
            <a:avLst/>
          </a:prstGeom>
        </p:spPr>
      </p:pic>
      <p:sp>
        <p:nvSpPr>
          <p:cNvPr id="20" name="Text 10"/>
          <p:cNvSpPr txBox="1"/>
          <p:nvPr/>
        </p:nvSpPr>
        <p:spPr>
          <a:xfrm>
            <a:off x="1115568" y="4361688"/>
            <a:ext cx="4636008" cy="420624"/>
          </a:xfrm>
          <a:prstGeom prst="rect">
            <a:avLst/>
          </a:prstGeom>
          <a:noFill/>
          <a:ln/>
        </p:spPr>
        <p:txBody>
          <a:bodyPr wrap="square" lIns="0" tIns="0" rIns="0" bIns="0" rtlCol="0" anchor="t"/>
          <a:lstStyle/>
          <a:p>
            <a:pPr indent="0" marL="0">
              <a:buNone/>
            </a:pPr>
            <a:r>
              <a:rPr lang="en-US" sz="1400" dirty="0">
                <a:solidFill>
                  <a:srgbClr val="131925"/>
                </a:solidFill>
              </a:rPr>
              <a:t>Stack outputs printed at the end of the run</a:t>
            </a:r>
            <a:endParaRPr lang="en-US" sz="1400" dirty="0"/>
          </a:p>
        </p:txBody>
      </p:sp>
      <p:sp>
        <p:nvSpPr>
          <p:cNvPr id="21" name="Shape 11"/>
          <p:cNvSpPr/>
          <p:nvPr/>
        </p:nvSpPr>
        <p:spPr>
          <a:xfrm>
            <a:off x="6227064" y="1481328"/>
            <a:ext cx="5413248" cy="4690872"/>
          </a:xfrm>
          <a:prstGeom prst="roundRect">
            <a:avLst>
              <a:gd name="adj" fmla="val 2339"/>
            </a:avLst>
          </a:prstGeom>
          <a:solidFill>
            <a:srgbClr val="FDF4F3"/>
          </a:solidFill>
          <a:ln w="12700">
            <a:solidFill>
              <a:srgbClr val="F0D3D0"/>
            </a:solidFill>
            <a:prstDash val="solid"/>
          </a:ln>
          <a:effectLst>
            <a:outerShdw sx="100000" sy="100000" kx="0" ky="0" algn="bl" rotWithShape="0" blurRad="76200" dist="25400" dir="5400000">
              <a:srgbClr val="1B2A41">
                <a:alpha val="10000"/>
              </a:srgbClr>
            </a:outerShdw>
          </a:effectLst>
        </p:spPr>
      </p:sp>
      <p:sp>
        <p:nvSpPr>
          <p:cNvPr id="22" name="Shape 12"/>
          <p:cNvSpPr/>
          <p:nvPr/>
        </p:nvSpPr>
        <p:spPr>
          <a:xfrm>
            <a:off x="6455664" y="1664208"/>
            <a:ext cx="402336" cy="402336"/>
          </a:xfrm>
          <a:prstGeom prst="ellipse">
            <a:avLst/>
          </a:prstGeom>
          <a:solidFill>
            <a:srgbClr val="C93A32"/>
          </a:solidFill>
          <a:ln w="6350">
            <a:solidFill>
              <a:srgbClr val="C93A32"/>
            </a:solidFill>
            <a:prstDash val="solid"/>
          </a:ln>
        </p:spPr>
      </p:sp>
      <p:pic>
        <p:nvPicPr>
          <p:cNvPr id="23" name="Image 7" descr="Icon">    </p:cNvPr>
          <p:cNvPicPr>
            <a:picLocks noChangeAspect="1"/>
          </p:cNvPicPr>
          <p:nvPr/>
        </p:nvPicPr>
        <p:blipFill>
          <a:blip r:embed="rId8"/>
          <a:stretch>
            <a:fillRect/>
          </a:stretch>
        </p:blipFill>
        <p:spPr>
          <a:xfrm>
            <a:off x="6552225" y="1760769"/>
            <a:ext cx="209215" cy="209215"/>
          </a:xfrm>
          <a:prstGeom prst="rect">
            <a:avLst/>
          </a:prstGeom>
        </p:spPr>
      </p:pic>
      <p:sp>
        <p:nvSpPr>
          <p:cNvPr id="24" name="Text 13"/>
          <p:cNvSpPr txBox="1"/>
          <p:nvPr/>
        </p:nvSpPr>
        <p:spPr>
          <a:xfrm>
            <a:off x="6976872" y="1664208"/>
            <a:ext cx="4206240" cy="402336"/>
          </a:xfrm>
          <a:prstGeom prst="rect">
            <a:avLst/>
          </a:prstGeom>
          <a:noFill/>
          <a:ln/>
        </p:spPr>
        <p:txBody>
          <a:bodyPr wrap="square" lIns="0" tIns="0" rIns="0" bIns="0" rtlCol="0" anchor="ctr"/>
          <a:lstStyle/>
          <a:p>
            <a:pPr indent="0" marL="0">
              <a:buNone/>
            </a:pPr>
            <a:r>
              <a:rPr lang="en-US" sz="1800" b="1" dirty="0">
                <a:solidFill>
                  <a:srgbClr val="7D1C16"/>
                </a:solidFill>
              </a:rPr>
              <a:t>Disadvantages</a:t>
            </a:r>
            <a:endParaRPr lang="en-US" sz="1800" dirty="0"/>
          </a:p>
        </p:txBody>
      </p:sp>
      <p:sp>
        <p:nvSpPr>
          <p:cNvPr id="25" name="Risk marker 1"/>
          <p:cNvSpPr txBox="1"/>
          <p:nvPr/>
        </p:nvSpPr>
        <p:spPr>
          <a:xfrm>
            <a:off x="6464808" y="2267712"/>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26" name="Text 15"/>
          <p:cNvSpPr txBox="1"/>
          <p:nvPr/>
        </p:nvSpPr>
        <p:spPr>
          <a:xfrm>
            <a:off x="6848856" y="2258568"/>
            <a:ext cx="4590288" cy="391363"/>
          </a:xfrm>
          <a:prstGeom prst="rect">
            <a:avLst/>
          </a:prstGeom>
          <a:noFill/>
          <a:ln/>
        </p:spPr>
        <p:txBody>
          <a:bodyPr wrap="square" lIns="0" tIns="0" rIns="0" bIns="0" rtlCol="0" anchor="t"/>
          <a:lstStyle/>
          <a:p>
            <a:pPr indent="0" marL="0">
              <a:buNone/>
            </a:pPr>
            <a:r>
              <a:rPr lang="en-US" sz="1400" dirty="0">
                <a:solidFill>
                  <a:srgbClr val="131925"/>
                </a:solidFill>
              </a:rPr>
              <a:t>Inputs pasted straight into shell commands</a:t>
            </a:r>
            <a:endParaRPr lang="en-US" sz="1400" dirty="0"/>
          </a:p>
        </p:txBody>
      </p:sp>
      <p:sp>
        <p:nvSpPr>
          <p:cNvPr id="27" name="Risk marker 2"/>
          <p:cNvSpPr txBox="1"/>
          <p:nvPr/>
        </p:nvSpPr>
        <p:spPr>
          <a:xfrm>
            <a:off x="6464808" y="2659075"/>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28" name="Text 17"/>
          <p:cNvSpPr txBox="1"/>
          <p:nvPr/>
        </p:nvSpPr>
        <p:spPr>
          <a:xfrm>
            <a:off x="6848856" y="2649931"/>
            <a:ext cx="4590288" cy="391363"/>
          </a:xfrm>
          <a:prstGeom prst="rect">
            <a:avLst/>
          </a:prstGeom>
          <a:noFill/>
          <a:ln/>
        </p:spPr>
        <p:txBody>
          <a:bodyPr wrap="square" lIns="0" tIns="0" rIns="0" bIns="0" rtlCol="0" anchor="t"/>
          <a:lstStyle/>
          <a:p>
            <a:pPr indent="0" marL="0">
              <a:buNone/>
            </a:pPr>
            <a:r>
              <a:rPr lang="en-US" sz="1400" dirty="0">
                <a:solidFill>
                  <a:srgbClr val="131925"/>
                </a:solidFill>
              </a:rPr>
              <a:t>Template picked with find | head -n 1</a:t>
            </a:r>
            <a:endParaRPr lang="en-US" sz="1400" dirty="0"/>
          </a:p>
        </p:txBody>
      </p:sp>
      <p:sp>
        <p:nvSpPr>
          <p:cNvPr id="29" name="Risk marker 3"/>
          <p:cNvSpPr txBox="1"/>
          <p:nvPr/>
        </p:nvSpPr>
        <p:spPr>
          <a:xfrm>
            <a:off x="6464808" y="3050438"/>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30" name="Text 19"/>
          <p:cNvSpPr txBox="1"/>
          <p:nvPr/>
        </p:nvSpPr>
        <p:spPr>
          <a:xfrm>
            <a:off x="6848856" y="3041294"/>
            <a:ext cx="4590288" cy="391363"/>
          </a:xfrm>
          <a:prstGeom prst="rect">
            <a:avLst/>
          </a:prstGeom>
          <a:noFill/>
          <a:ln/>
        </p:spPr>
        <p:txBody>
          <a:bodyPr wrap="square" lIns="0" tIns="0" rIns="0" bIns="0" rtlCol="0" anchor="t"/>
          <a:lstStyle/>
          <a:p>
            <a:pPr indent="0" marL="0">
              <a:buNone/>
            </a:pPr>
            <a:r>
              <a:rPr lang="en-US" sz="1400" dirty="0">
                <a:solidFill>
                  <a:srgbClr val="131925"/>
                </a:solidFill>
              </a:rPr>
              <a:t>No lint, security scan or drift check</a:t>
            </a:r>
            <a:endParaRPr lang="en-US" sz="1400" dirty="0"/>
          </a:p>
        </p:txBody>
      </p:sp>
      <p:sp>
        <p:nvSpPr>
          <p:cNvPr id="31" name="Risk marker 4"/>
          <p:cNvSpPr txBox="1"/>
          <p:nvPr/>
        </p:nvSpPr>
        <p:spPr>
          <a:xfrm>
            <a:off x="6464808" y="3441802"/>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32" name="Text 21"/>
          <p:cNvSpPr txBox="1"/>
          <p:nvPr/>
        </p:nvSpPr>
        <p:spPr>
          <a:xfrm>
            <a:off x="6848856" y="3432658"/>
            <a:ext cx="4590288" cy="391363"/>
          </a:xfrm>
          <a:prstGeom prst="rect">
            <a:avLst/>
          </a:prstGeom>
          <a:noFill/>
          <a:ln/>
        </p:spPr>
        <p:txBody>
          <a:bodyPr wrap="square" lIns="0" tIns="0" rIns="0" bIns="0" rtlCol="0" anchor="t"/>
          <a:lstStyle/>
          <a:p>
            <a:pPr indent="0" marL="0">
              <a:buNone/>
            </a:pPr>
            <a:r>
              <a:rPr lang="en-US" sz="1400" dirty="0">
                <a:solidFill>
                  <a:srgbClr val="131925"/>
                </a:solidFill>
              </a:rPr>
              <a:t>Changes go live as soon as the run starts</a:t>
            </a:r>
            <a:endParaRPr lang="en-US" sz="1400" dirty="0"/>
          </a:p>
        </p:txBody>
      </p:sp>
      <p:sp>
        <p:nvSpPr>
          <p:cNvPr id="33" name="Risk marker 5"/>
          <p:cNvSpPr txBox="1"/>
          <p:nvPr/>
        </p:nvSpPr>
        <p:spPr>
          <a:xfrm>
            <a:off x="6464808" y="3833165"/>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34" name="Text 23"/>
          <p:cNvSpPr txBox="1"/>
          <p:nvPr/>
        </p:nvSpPr>
        <p:spPr>
          <a:xfrm>
            <a:off x="6848856" y="3824021"/>
            <a:ext cx="4590288" cy="391363"/>
          </a:xfrm>
          <a:prstGeom prst="rect">
            <a:avLst/>
          </a:prstGeom>
          <a:noFill/>
          <a:ln/>
        </p:spPr>
        <p:txBody>
          <a:bodyPr wrap="square" lIns="0" tIns="0" rIns="0" bIns="0" rtlCol="0" anchor="t"/>
          <a:lstStyle/>
          <a:p>
            <a:pPr indent="0" marL="0">
              <a:buNone/>
            </a:pPr>
            <a:r>
              <a:rPr lang="en-US" sz="1400" dirty="0">
                <a:solidFill>
                  <a:srgbClr val="131925"/>
                </a:solidFill>
              </a:rPr>
              <a:t>Parameters passed unquoted</a:t>
            </a:r>
            <a:endParaRPr lang="en-US" sz="1400" dirty="0"/>
          </a:p>
        </p:txBody>
      </p:sp>
      <p:sp>
        <p:nvSpPr>
          <p:cNvPr id="35" name="Risk marker 6"/>
          <p:cNvSpPr txBox="1"/>
          <p:nvPr/>
        </p:nvSpPr>
        <p:spPr>
          <a:xfrm>
            <a:off x="6464808" y="4224528"/>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6</a:t>
            </a:r>
            <a:endParaRPr lang="en-US" sz="1000" dirty="0"/>
          </a:p>
        </p:txBody>
      </p:sp>
      <p:sp>
        <p:nvSpPr>
          <p:cNvPr id="36" name="Text 25"/>
          <p:cNvSpPr txBox="1"/>
          <p:nvPr/>
        </p:nvSpPr>
        <p:spPr>
          <a:xfrm>
            <a:off x="6848856" y="4215384"/>
            <a:ext cx="4590288" cy="391363"/>
          </a:xfrm>
          <a:prstGeom prst="rect">
            <a:avLst/>
          </a:prstGeom>
          <a:noFill/>
          <a:ln/>
        </p:spPr>
        <p:txBody>
          <a:bodyPr wrap="square" lIns="0" tIns="0" rIns="0" bIns="0" rtlCol="0" anchor="t"/>
          <a:lstStyle/>
          <a:p>
            <a:pPr indent="0" marL="0">
              <a:buNone/>
            </a:pPr>
            <a:r>
              <a:rPr lang="en-US" sz="1400" dirty="0">
                <a:solidFill>
                  <a:srgbClr val="131925"/>
                </a:solidFill>
              </a:rPr>
              <a:t>Pre-signed S3 URLs printed in the log</a:t>
            </a:r>
            <a:endParaRPr lang="en-US" sz="1400" dirty="0"/>
          </a:p>
        </p:txBody>
      </p:sp>
      <p:sp>
        <p:nvSpPr>
          <p:cNvPr id="37" name="Risk marker 7"/>
          <p:cNvSpPr txBox="1"/>
          <p:nvPr/>
        </p:nvSpPr>
        <p:spPr>
          <a:xfrm>
            <a:off x="6464808" y="4615891"/>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7</a:t>
            </a:r>
            <a:endParaRPr lang="en-US" sz="1000" dirty="0"/>
          </a:p>
        </p:txBody>
      </p:sp>
      <p:sp>
        <p:nvSpPr>
          <p:cNvPr id="38" name="Text 27"/>
          <p:cNvSpPr txBox="1"/>
          <p:nvPr/>
        </p:nvSpPr>
        <p:spPr>
          <a:xfrm>
            <a:off x="6848856" y="4606747"/>
            <a:ext cx="4590288" cy="391363"/>
          </a:xfrm>
          <a:prstGeom prst="rect">
            <a:avLst/>
          </a:prstGeom>
          <a:noFill/>
          <a:ln/>
        </p:spPr>
        <p:txBody>
          <a:bodyPr wrap="square" lIns="0" tIns="0" rIns="0" bIns="0" rtlCol="0" anchor="t"/>
          <a:lstStyle/>
          <a:p>
            <a:pPr indent="0" marL="0">
              <a:buNone/>
            </a:pPr>
            <a:r>
              <a:rPr lang="en-US" sz="1400" dirty="0">
                <a:solidFill>
                  <a:srgbClr val="131925"/>
                </a:solidFill>
              </a:rPr>
              <a:t>Failures show only CREATE_FAILED events</a:t>
            </a:r>
            <a:endParaRPr lang="en-US" sz="1400" dirty="0"/>
          </a:p>
        </p:txBody>
      </p:sp>
      <p:sp>
        <p:nvSpPr>
          <p:cNvPr id="39" name="Risk marker 8"/>
          <p:cNvSpPr txBox="1"/>
          <p:nvPr/>
        </p:nvSpPr>
        <p:spPr>
          <a:xfrm>
            <a:off x="6464808" y="5007254"/>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8</a:t>
            </a:r>
            <a:endParaRPr lang="en-US" sz="1000" dirty="0"/>
          </a:p>
        </p:txBody>
      </p:sp>
      <p:sp>
        <p:nvSpPr>
          <p:cNvPr id="40" name="Text 29"/>
          <p:cNvSpPr txBox="1"/>
          <p:nvPr/>
        </p:nvSpPr>
        <p:spPr>
          <a:xfrm>
            <a:off x="6848856" y="4998110"/>
            <a:ext cx="4590288" cy="391363"/>
          </a:xfrm>
          <a:prstGeom prst="rect">
            <a:avLst/>
          </a:prstGeom>
          <a:noFill/>
          <a:ln/>
        </p:spPr>
        <p:txBody>
          <a:bodyPr wrap="square" lIns="0" tIns="0" rIns="0" bIns="0" rtlCol="0" anchor="t"/>
          <a:lstStyle/>
          <a:p>
            <a:pPr indent="0" marL="0">
              <a:buNone/>
            </a:pPr>
            <a:r>
              <a:rPr lang="en-US" sz="1400" dirty="0">
                <a:solidFill>
                  <a:srgbClr val="131925"/>
                </a:solidFill>
              </a:rPr>
              <a:t>A failed first deployment blocks later runs</a:t>
            </a:r>
            <a:endParaRPr lang="en-US" sz="1400" dirty="0"/>
          </a:p>
        </p:txBody>
      </p:sp>
      <p:sp>
        <p:nvSpPr>
          <p:cNvPr id="41" name="Risk marker 9"/>
          <p:cNvSpPr txBox="1"/>
          <p:nvPr/>
        </p:nvSpPr>
        <p:spPr>
          <a:xfrm>
            <a:off x="6464808" y="5398618"/>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42" name="Text 31"/>
          <p:cNvSpPr txBox="1"/>
          <p:nvPr/>
        </p:nvSpPr>
        <p:spPr>
          <a:xfrm>
            <a:off x="6848856" y="5389474"/>
            <a:ext cx="4590288" cy="391363"/>
          </a:xfrm>
          <a:prstGeom prst="rect">
            <a:avLst/>
          </a:prstGeom>
          <a:noFill/>
          <a:ln/>
        </p:spPr>
        <p:txBody>
          <a:bodyPr wrap="square" lIns="0" tIns="0" rIns="0" bIns="0" rtlCol="0" anchor="t"/>
          <a:lstStyle/>
          <a:p>
            <a:pPr indent="0" marL="0">
              <a:buNone/>
            </a:pPr>
            <a:r>
              <a:rPr lang="en-US" sz="1400" dirty="0">
                <a:solidFill>
                  <a:srgbClr val="131925"/>
                </a:solidFill>
              </a:rPr>
              <a:t>Nothing stops two runs on one stack</a:t>
            </a:r>
            <a:endParaRPr lang="en-US" sz="1400" dirty="0"/>
          </a:p>
        </p:txBody>
      </p:sp>
      <p:sp>
        <p:nvSpPr>
          <p:cNvPr id="43" name="Risk marker 10"/>
          <p:cNvSpPr txBox="1"/>
          <p:nvPr/>
        </p:nvSpPr>
        <p:spPr>
          <a:xfrm>
            <a:off x="6464808" y="5789981"/>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10</a:t>
            </a:r>
            <a:endParaRPr lang="en-US" sz="850" dirty="0"/>
          </a:p>
        </p:txBody>
      </p:sp>
      <p:sp>
        <p:nvSpPr>
          <p:cNvPr id="44" name="Text 33"/>
          <p:cNvSpPr txBox="1"/>
          <p:nvPr/>
        </p:nvSpPr>
        <p:spPr>
          <a:xfrm>
            <a:off x="6848856" y="5780837"/>
            <a:ext cx="4590288" cy="391363"/>
          </a:xfrm>
          <a:prstGeom prst="rect">
            <a:avLst/>
          </a:prstGeom>
          <a:noFill/>
          <a:ln/>
        </p:spPr>
        <p:txBody>
          <a:bodyPr wrap="square" lIns="0" tIns="0" rIns="0" bIns="0" rtlCol="0" anchor="t"/>
          <a:lstStyle/>
          <a:p>
            <a:pPr indent="0" marL="0">
              <a:buNone/>
            </a:pPr>
            <a:r>
              <a:rPr lang="en-US" sz="1400" dirty="0">
                <a:solidFill>
                  <a:srgbClr val="131925"/>
                </a:solidFill>
              </a:rPr>
              <a:t>No email, and no record of who approved</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Current flow: risks and fixes (1–5)</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Severity reflects impact on a production account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502920"/>
                <a:gridCol w="3429000"/>
                <a:gridCol w="3566160"/>
                <a:gridCol w="3593592"/>
              </a:tblGrid>
              <a:tr h="0">
                <a:tc>
                  <a:txBody>
                    <a:bodyPr/>
                    <a:lstStyle/>
                    <a:p>
                      <a:pPr indent="0" marL="0">
                        <a:buNone/>
                      </a:pPr>
                      <a:r>
                        <a:rPr lang="en-US" sz="1050" b="1" dirty="0">
                          <a:solidFill>
                            <a:srgbClr val="586275"/>
                          </a:solidFill>
                        </a:rPr>
                        <a:t>#</a:t>
                      </a:r>
                      <a:endParaRPr lang="en-US" sz="1050" dirty="0"/>
                    </a:p>
                  </a:txBody>
                  <a:tcPr marL="101600" marR="101600" marT="88900" marB="889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Risk in the current flow</a:t>
                      </a:r>
                      <a:endParaRPr lang="en-US" sz="1050" dirty="0"/>
                    </a:p>
                  </a:txBody>
                  <a:tcPr marL="101600" marR="101600" marT="88900" marB="889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What can happen</a:t>
                      </a:r>
                      <a:endParaRPr lang="en-US" sz="1050" dirty="0"/>
                    </a:p>
                  </a:txBody>
                  <a:tcPr marL="101600" marR="101600" marT="88900" marB="889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How the proposed pipeline fixes it</a:t>
                      </a:r>
                      <a:endParaRPr lang="en-US" sz="1050" dirty="0"/>
                    </a:p>
                  </a:txBody>
                  <a:tcPr marL="101600" marR="101600" marT="88900" marB="889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algn="ctr" indent="0" marL="0">
                        <a:buNone/>
                      </a:pPr>
                      <a:r>
                        <a:rPr lang="en-US" sz="1500" b="1" dirty="0">
                          <a:solidFill>
                            <a:srgbClr val="C93A32"/>
                          </a:solidFill>
                        </a:rPr>
                        <a:t>1</a:t>
                      </a:r>
                      <a:endParaRPr lang="en-US" sz="150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C93A32"/>
                          </a:solidFill>
                        </a:rPr>
                        <a:t>High</a:t>
                      </a:r>
                      <a:endParaRPr lang="en-US" sz="1250" dirty="0"/>
                    </a:p>
                    <a:p>
                      <a:pPr indent="0" marL="0">
                        <a:buNone/>
                      </a:pPr>
                      <a:r>
                        <a:rPr lang="en-US" sz="1300" b="1" dirty="0">
                          <a:solidFill>
                            <a:srgbClr val="131925"/>
                          </a:solidFill>
                        </a:rPr>
                        <a:t>Run inputs are pasted straight into shell commands</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A mistyped or crafted value runs as a command on the runner, with the deploy role's AWS access.</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Inputs are passed as data, never as code. The account is picked from a fixed list.</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2</a:t>
                      </a:r>
                      <a:endParaRPr lang="en-US" sz="150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endParaRPr lang="en-US" sz="1250" dirty="0"/>
                    </a:p>
                    <a:p>
                      <a:pPr indent="0" marL="0">
                        <a:buNone/>
                      </a:pPr>
                      <a:r>
                        <a:rPr lang="en-US" sz="1300" b="1" dirty="0">
                          <a:solidFill>
                            <a:srgbClr val="131925"/>
                          </a:solidFill>
                        </a:rPr>
                        <a:t>The template is picked with find … | head -n 1</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If a folder holds two templates, either one can be deployed, with no warning.</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Exactly one template per folder, or the run stops before AWS is touched.</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3</a:t>
                      </a:r>
                      <a:endParaRPr lang="en-US" sz="150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C93A32"/>
                          </a:solidFill>
                        </a:rPr>
                        <a:t>High</a:t>
                      </a:r>
                      <a:endParaRPr lang="en-US" sz="1250" dirty="0"/>
                    </a:p>
                    <a:p>
                      <a:pPr indent="0" marL="0">
                        <a:buNone/>
                      </a:pPr>
                      <a:r>
                        <a:rPr lang="en-US" sz="1300" b="1" dirty="0">
                          <a:solidFill>
                            <a:srgbClr val="131925"/>
                          </a:solidFill>
                        </a:rPr>
                        <a:t>No lint, security scan or drift check</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Template errors and insecure settings surface only in the live account. Console changes are silently overwritten or break the deployment.</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cfn-lint, Checkov and drift detection (nested stacks too) on every run. Drift stops the run; the email includes the suggested fix.</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4</a:t>
                      </a:r>
                      <a:endParaRPr lang="en-US" sz="150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C93A32"/>
                          </a:solidFill>
                        </a:rPr>
                        <a:t>High</a:t>
                      </a:r>
                      <a:endParaRPr lang="en-US" sz="1250" dirty="0"/>
                    </a:p>
                    <a:p>
                      <a:pPr indent="0" marL="0">
                        <a:buNone/>
                      </a:pPr>
                      <a:r>
                        <a:rPr lang="en-US" sz="1300" b="1" dirty="0">
                          <a:solidFill>
                            <a:srgbClr val="131925"/>
                          </a:solidFill>
                        </a:rPr>
                        <a:t>Changes go live as soon as the run starts</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Replacements and deletions, including resources that hold data, happen with no preview and no approval.</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A change set is created and every change is rated. A person executes it only after approval.</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5</a:t>
                      </a:r>
                      <a:endParaRPr lang="en-US" sz="150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endParaRPr lang="en-US" sz="1250" dirty="0"/>
                    </a:p>
                    <a:p>
                      <a:pPr indent="0" marL="0">
                        <a:buNone/>
                      </a:pPr>
                      <a:r>
                        <a:rPr lang="en-US" sz="1300" b="1" dirty="0">
                          <a:solidFill>
                            <a:srgbClr val="131925"/>
                          </a:solidFill>
                        </a:rPr>
                        <a:t>Parameters are passed unquoted ($param_args)</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Values with spaces or commas are split or misread, so the wrong value is deployed or the run fails.</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Parameters go to the AWS API exactly as written in params.json.</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Current flow: risks and fixes (6–10)</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Severity reflects impact on a production account</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502920"/>
                <a:gridCol w="3429000"/>
                <a:gridCol w="3566160"/>
                <a:gridCol w="3593592"/>
              </a:tblGrid>
              <a:tr h="0">
                <a:tc>
                  <a:txBody>
                    <a:bodyPr/>
                    <a:lstStyle/>
                    <a:p>
                      <a:pPr indent="0" marL="0">
                        <a:buNone/>
                      </a:pPr>
                      <a:r>
                        <a:rPr lang="en-US" sz="1050" b="1" dirty="0">
                          <a:solidFill>
                            <a:srgbClr val="586275"/>
                          </a:solidFill>
                        </a:rPr>
                        <a:t>#</a:t>
                      </a:r>
                      <a:endParaRPr lang="en-US" sz="1050" dirty="0"/>
                    </a:p>
                  </a:txBody>
                  <a:tcPr marL="101600" marR="101600" marT="88900" marB="889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Risk in the current flow</a:t>
                      </a:r>
                      <a:endParaRPr lang="en-US" sz="1050" dirty="0"/>
                    </a:p>
                  </a:txBody>
                  <a:tcPr marL="101600" marR="101600" marT="88900" marB="889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What can happen</a:t>
                      </a:r>
                      <a:endParaRPr lang="en-US" sz="1050" dirty="0"/>
                    </a:p>
                  </a:txBody>
                  <a:tcPr marL="101600" marR="101600" marT="88900" marB="889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How the proposed pipeline fixes it</a:t>
                      </a:r>
                      <a:endParaRPr lang="en-US" sz="1050" dirty="0"/>
                    </a:p>
                  </a:txBody>
                  <a:tcPr marL="101600" marR="101600" marT="88900" marB="889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algn="ctr" indent="0" marL="0">
                        <a:buNone/>
                      </a:pPr>
                      <a:r>
                        <a:rPr lang="en-US" sz="1500" b="1" dirty="0">
                          <a:solidFill>
                            <a:srgbClr val="C93A32"/>
                          </a:solidFill>
                        </a:rPr>
                        <a:t>6</a:t>
                      </a:r>
                      <a:endParaRPr lang="en-US" sz="150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endParaRPr lang="en-US" sz="1250" dirty="0"/>
                    </a:p>
                    <a:p>
                      <a:pPr indent="0" marL="0">
                        <a:buNone/>
                      </a:pPr>
                      <a:r>
                        <a:rPr lang="en-US" sz="1300" b="1" dirty="0">
                          <a:solidFill>
                            <a:srgbClr val="131925"/>
                          </a:solidFill>
                        </a:rPr>
                        <a:t>Pre-signed S3 URLs are printed in the job log</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Anyone who can read the logs can upload or download the template until the URLs expire.</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The URLs are masked and never printed.</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7</a:t>
                      </a:r>
                      <a:endParaRPr lang="en-US" sz="150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endParaRPr lang="en-US" sz="1250" dirty="0"/>
                    </a:p>
                    <a:p>
                      <a:pPr indent="0" marL="0">
                        <a:buNone/>
                      </a:pPr>
                      <a:r>
                        <a:rPr lang="en-US" sz="1300" b="1" dirty="0">
                          <a:solidFill>
                            <a:srgbClr val="131925"/>
                          </a:solidFill>
                        </a:rPr>
                        <a:t>Failures show only CREATE_FAILED events</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Update failures go unexplained. For small templates the diagnostics never run, and a large template with no changes fails the run.</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Every failed event, nested stacks included, with the root cause. A run with no changes ends cleanly.</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8</a:t>
                      </a:r>
                      <a:endParaRPr lang="en-US" sz="150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endParaRPr lang="en-US" sz="1250" dirty="0"/>
                    </a:p>
                    <a:p>
                      <a:pPr indent="0" marL="0">
                        <a:buNone/>
                      </a:pPr>
                      <a:r>
                        <a:rPr lang="en-US" sz="1300" b="1" dirty="0">
                          <a:solidFill>
                            <a:srgbClr val="131925"/>
                          </a:solidFill>
                        </a:rPr>
                        <a:t>A failed first deployment leaves ROLLBACK_COMPLETE</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Every later run fails with a CloudFormation error and no guidance.</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The run stops at the drift check and names the exact command that fixes it.</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9</a:t>
                      </a:r>
                      <a:endParaRPr lang="en-US" sz="150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endParaRPr lang="en-US" sz="1250" dirty="0"/>
                    </a:p>
                    <a:p>
                      <a:pPr indent="0" marL="0">
                        <a:buNone/>
                      </a:pPr>
                      <a:r>
                        <a:rPr lang="en-US" sz="1300" b="1" dirty="0">
                          <a:solidFill>
                            <a:srgbClr val="131925"/>
                          </a:solidFill>
                        </a:rPr>
                        <a:t>Nothing stops two runs on the same stack</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Two people can deploy to the same stack at the same time.</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One run per stack; a second run waits for the first.</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10</a:t>
                      </a:r>
                      <a:endParaRPr lang="en-US" sz="150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66728A"/>
                          </a:solidFill>
                        </a:rPr>
                        <a:t>Low</a:t>
                      </a:r>
                      <a:endParaRPr lang="en-US" sz="1250" dirty="0"/>
                    </a:p>
                    <a:p>
                      <a:pPr indent="0" marL="0">
                        <a:buNone/>
                      </a:pPr>
                      <a:r>
                        <a:rPr lang="en-US" sz="1300" b="1" dirty="0">
                          <a:solidFill>
                            <a:srgbClr val="131925"/>
                          </a:solidFill>
                        </a:rPr>
                        <a:t>No email and no record of who approved</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Nobody is told what changed, who ran it or whether it worked.</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Emails at drift, approval and result. Reports kept for 30 to 90 days.</a:t>
                      </a:r>
                      <a:endParaRPr lang="en-US" sz="1250" dirty="0"/>
                    </a:p>
                  </a:txBody>
                  <a:tcPr marL="101600" marR="101600" marT="88900" marB="889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Proposed pipeline: checks before any change set</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cfn-deploy-pipeline.yml · stages 1–3 · lint and the security scan run alongside the drift check</a:t>
            </a:r>
            <a:endParaRPr lang="en-US" sz="1400" dirty="0"/>
          </a:p>
        </p:txBody>
      </p:sp>
      <p:sp>
        <p:nvSpPr>
          <p:cNvPr id="5" name="Engineer runs the pipeline"/>
          <p:cNvSpPr txBox="1"/>
          <p:nvPr/>
        </p:nvSpPr>
        <p:spPr>
          <a:xfrm>
            <a:off x="548640" y="1645920"/>
            <a:ext cx="160020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Engineer runs the pipeline</a:t>
            </a:r>
            <a:endParaRPr lang="en-US" sz="1200" dirty="0"/>
          </a:p>
          <a:p>
            <a:pPr algn="ctr" indent="0" marL="0">
              <a:buNone/>
            </a:pPr>
            <a:r>
              <a:rPr lang="en-US" sz="1000" dirty="0">
                <a:solidFill>
                  <a:srgbClr val="586275"/>
                </a:solidFill>
              </a:rPr>
              <a:t>Manual start; account from a list</a:t>
            </a:r>
            <a:endParaRPr lang="en-US" sz="1200" dirty="0"/>
          </a:p>
        </p:txBody>
      </p:sp>
      <p:sp>
        <p:nvSpPr>
          <p:cNvPr id="6" name="Shape 3"/>
          <p:cNvSpPr/>
          <p:nvPr/>
        </p:nvSpPr>
        <p:spPr>
          <a:xfrm>
            <a:off x="1348740" y="2468880"/>
            <a:ext cx="0" cy="685800"/>
          </a:xfrm>
          <a:prstGeom prst="line">
            <a:avLst/>
          </a:prstGeom>
          <a:noFill/>
          <a:ln w="15875">
            <a:solidFill>
              <a:srgbClr val="7D889B"/>
            </a:solidFill>
            <a:prstDash val="solid"/>
            <a:tailEnd type="triangle"/>
          </a:ln>
        </p:spPr>
      </p:sp>
      <p:sp>
        <p:nvSpPr>
          <p:cNvPr id="7" name="Preflight"/>
          <p:cNvSpPr txBox="1"/>
          <p:nvPr/>
        </p:nvSpPr>
        <p:spPr>
          <a:xfrm>
            <a:off x="548640" y="3154680"/>
            <a:ext cx="160020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Preflight</a:t>
            </a:r>
            <a:endParaRPr lang="en-US" sz="1200" dirty="0"/>
          </a:p>
          <a:p>
            <a:pPr algn="ctr" indent="0" marL="0">
              <a:buNone/>
            </a:pPr>
            <a:r>
              <a:rPr lang="en-US" sz="1000" dirty="0">
                <a:solidFill>
                  <a:srgbClr val="586275"/>
                </a:solidFill>
              </a:rPr>
              <a:t>One template; params checked</a:t>
            </a:r>
            <a:endParaRPr lang="en-US" sz="1200" dirty="0"/>
          </a:p>
        </p:txBody>
      </p:sp>
      <p:sp>
        <p:nvSpPr>
          <p:cNvPr id="8" name="Shape 5"/>
          <p:cNvSpPr/>
          <p:nvPr/>
        </p:nvSpPr>
        <p:spPr>
          <a:xfrm>
            <a:off x="2148840" y="3566160"/>
            <a:ext cx="320040" cy="0"/>
          </a:xfrm>
          <a:prstGeom prst="line">
            <a:avLst/>
          </a:prstGeom>
          <a:noFill/>
          <a:ln w="15875">
            <a:solidFill>
              <a:srgbClr val="7D889B"/>
            </a:solidFill>
            <a:prstDash val="solid"/>
            <a:tailEnd type="triangle"/>
          </a:ln>
        </p:spPr>
      </p:sp>
      <p:sp>
        <p:nvSpPr>
          <p:cNvPr id="9" name="Lint and security scan"/>
          <p:cNvSpPr txBox="1"/>
          <p:nvPr/>
        </p:nvSpPr>
        <p:spPr>
          <a:xfrm>
            <a:off x="2468880" y="3154680"/>
            <a:ext cx="1737360" cy="822960"/>
          </a:xfrm>
          <a:prstGeom prst="roundRect">
            <a:avLst>
              <a:gd name="adj" fmla="val 10000"/>
            </a:avLst>
          </a:prstGeom>
          <a:solidFill>
            <a:srgbClr val="E2F3EC"/>
          </a:solidFill>
          <a:ln w="15875">
            <a:solidFill>
              <a:srgbClr val="22866A"/>
            </a:solidFill>
            <a:prstDash val="solid"/>
          </a:ln>
        </p:spPr>
        <p:txBody>
          <a:bodyPr wrap="square" lIns="50800" tIns="25400" rIns="50800" bIns="25400" rtlCol="0" anchor="ctr"/>
          <a:lstStyle/>
          <a:p>
            <a:pPr algn="ctr" indent="0" marL="0">
              <a:buNone/>
            </a:pPr>
            <a:r>
              <a:rPr lang="en-US" sz="1200" b="1" dirty="0">
                <a:solidFill>
                  <a:srgbClr val="0C4D3C"/>
                </a:solidFill>
              </a:rPr>
              <a:t>Lint and security scan</a:t>
            </a:r>
            <a:endParaRPr lang="en-US" sz="1200" dirty="0"/>
          </a:p>
          <a:p>
            <a:pPr algn="ctr" indent="0" marL="0">
              <a:buNone/>
            </a:pPr>
            <a:r>
              <a:rPr lang="en-US" sz="1000" dirty="0">
                <a:solidFill>
                  <a:srgbClr val="2B6C59"/>
                </a:solidFill>
              </a:rPr>
              <a:t>cfn-lint and Checkov</a:t>
            </a:r>
            <a:endParaRPr lang="en-US" sz="1200" dirty="0"/>
          </a:p>
        </p:txBody>
      </p:sp>
      <p:sp>
        <p:nvSpPr>
          <p:cNvPr id="10" name="Shape 7"/>
          <p:cNvSpPr/>
          <p:nvPr/>
        </p:nvSpPr>
        <p:spPr>
          <a:xfrm>
            <a:off x="4206240" y="3566160"/>
            <a:ext cx="320040" cy="0"/>
          </a:xfrm>
          <a:prstGeom prst="line">
            <a:avLst/>
          </a:prstGeom>
          <a:noFill/>
          <a:ln w="15875">
            <a:solidFill>
              <a:srgbClr val="7D889B"/>
            </a:solidFill>
            <a:prstDash val="solid"/>
            <a:tailEnd type="triangle"/>
          </a:ln>
        </p:spPr>
      </p:sp>
      <p:sp>
        <p:nvSpPr>
          <p:cNvPr id="11" name="Does the stack exist?"/>
          <p:cNvSpPr txBox="1"/>
          <p:nvPr/>
        </p:nvSpPr>
        <p:spPr>
          <a:xfrm>
            <a:off x="4526280" y="2994660"/>
            <a:ext cx="1463040" cy="114300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100" b="1" dirty="0">
                <a:solidFill>
                  <a:srgbClr val="6A4200"/>
                </a:solidFill>
              </a:rPr>
              <a:t>Does the stack</a:t>
            </a:r>
            <a:endParaRPr lang="en-US" sz="1100" dirty="0"/>
          </a:p>
          <a:p>
            <a:pPr algn="ctr" indent="0" marL="0">
              <a:buNone/>
            </a:pPr>
            <a:r>
              <a:rPr lang="en-US" sz="1100" b="1" dirty="0">
                <a:solidFill>
                  <a:srgbClr val="6A4200"/>
                </a:solidFill>
              </a:rPr>
              <a:t>exist?</a:t>
            </a:r>
            <a:endParaRPr lang="en-US" sz="1100" dirty="0"/>
          </a:p>
        </p:txBody>
      </p:sp>
      <p:sp>
        <p:nvSpPr>
          <p:cNvPr id="12" name="Shape 9"/>
          <p:cNvSpPr/>
          <p:nvPr/>
        </p:nvSpPr>
        <p:spPr>
          <a:xfrm flipV="1">
            <a:off x="5257800" y="2468880"/>
            <a:ext cx="0" cy="525780"/>
          </a:xfrm>
          <a:prstGeom prst="line">
            <a:avLst/>
          </a:prstGeom>
          <a:noFill/>
          <a:ln w="15875">
            <a:solidFill>
              <a:srgbClr val="7D889B"/>
            </a:solidFill>
            <a:prstDash val="solid"/>
            <a:tailEnd type="triangle"/>
          </a:ln>
        </p:spPr>
      </p:sp>
      <p:sp>
        <p:nvSpPr>
          <p:cNvPr id="13" name="Text 10"/>
          <p:cNvSpPr txBox="1"/>
          <p:nvPr/>
        </p:nvSpPr>
        <p:spPr>
          <a:xfrm>
            <a:off x="5358384" y="261518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14" name="New stack"/>
          <p:cNvSpPr txBox="1"/>
          <p:nvPr/>
        </p:nvSpPr>
        <p:spPr>
          <a:xfrm>
            <a:off x="4434840" y="1645920"/>
            <a:ext cx="164592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New stack</a:t>
            </a:r>
            <a:endParaRPr lang="en-US" sz="1200" dirty="0"/>
          </a:p>
          <a:p>
            <a:pPr algn="ctr" indent="0" marL="0">
              <a:buNone/>
            </a:pPr>
            <a:r>
              <a:rPr lang="en-US" sz="1000" dirty="0">
                <a:solidFill>
                  <a:srgbClr val="586275"/>
                </a:solidFill>
              </a:rPr>
              <a:t>Nothing to drift; CREATE change set</a:t>
            </a:r>
            <a:endParaRPr lang="en-US" sz="1200" dirty="0"/>
          </a:p>
        </p:txBody>
      </p:sp>
      <p:sp>
        <p:nvSpPr>
          <p:cNvPr id="15" name="Shape 12"/>
          <p:cNvSpPr/>
          <p:nvPr/>
        </p:nvSpPr>
        <p:spPr>
          <a:xfrm>
            <a:off x="6080760" y="2057400"/>
            <a:ext cx="4700016" cy="0"/>
          </a:xfrm>
          <a:prstGeom prst="line">
            <a:avLst/>
          </a:prstGeom>
          <a:noFill/>
          <a:ln w="15875">
            <a:solidFill>
              <a:srgbClr val="7D889B"/>
            </a:solidFill>
            <a:prstDash val="solid"/>
          </a:ln>
        </p:spPr>
      </p:sp>
      <p:sp>
        <p:nvSpPr>
          <p:cNvPr id="16" name="Shape 13"/>
          <p:cNvSpPr/>
          <p:nvPr/>
        </p:nvSpPr>
        <p:spPr>
          <a:xfrm>
            <a:off x="10780776" y="2057400"/>
            <a:ext cx="0" cy="1143000"/>
          </a:xfrm>
          <a:prstGeom prst="line">
            <a:avLst/>
          </a:prstGeom>
          <a:noFill/>
          <a:ln w="15875">
            <a:solidFill>
              <a:srgbClr val="7D889B"/>
            </a:solidFill>
            <a:prstDash val="solid"/>
            <a:tailEnd type="triangle"/>
          </a:ln>
        </p:spPr>
      </p:sp>
      <p:sp>
        <p:nvSpPr>
          <p:cNvPr id="17" name="Shape 14"/>
          <p:cNvSpPr/>
          <p:nvPr/>
        </p:nvSpPr>
        <p:spPr>
          <a:xfrm>
            <a:off x="5989320" y="3566160"/>
            <a:ext cx="320040" cy="0"/>
          </a:xfrm>
          <a:prstGeom prst="line">
            <a:avLst/>
          </a:prstGeom>
          <a:noFill/>
          <a:ln w="15875">
            <a:solidFill>
              <a:srgbClr val="7D889B"/>
            </a:solidFill>
            <a:prstDash val="solid"/>
            <a:tailEnd type="triangle"/>
          </a:ln>
        </p:spPr>
      </p:sp>
      <p:sp>
        <p:nvSpPr>
          <p:cNvPr id="18" name="Text 15"/>
          <p:cNvSpPr txBox="1"/>
          <p:nvPr/>
        </p:nvSpPr>
        <p:spPr>
          <a:xfrm>
            <a:off x="5961888" y="325526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19" name="Drift detection"/>
          <p:cNvSpPr txBox="1"/>
          <p:nvPr/>
        </p:nvSpPr>
        <p:spPr>
          <a:xfrm>
            <a:off x="6309360" y="3154680"/>
            <a:ext cx="1691640" cy="822960"/>
          </a:xfrm>
          <a:prstGeom prst="roundRect">
            <a:avLst>
              <a:gd name="adj" fmla="val 10000"/>
            </a:avLst>
          </a:prstGeom>
          <a:solidFill>
            <a:srgbClr val="E2F3EC"/>
          </a:solidFill>
          <a:ln w="15875">
            <a:solidFill>
              <a:srgbClr val="22866A"/>
            </a:solidFill>
            <a:prstDash val="solid"/>
          </a:ln>
        </p:spPr>
        <p:txBody>
          <a:bodyPr wrap="square" lIns="50800" tIns="25400" rIns="50800" bIns="25400" rtlCol="0" anchor="ctr"/>
          <a:lstStyle/>
          <a:p>
            <a:pPr algn="ctr" indent="0" marL="0">
              <a:buNone/>
            </a:pPr>
            <a:r>
              <a:rPr lang="en-US" sz="1200" b="1" dirty="0">
                <a:solidFill>
                  <a:srgbClr val="0C4D3C"/>
                </a:solidFill>
              </a:rPr>
              <a:t>Drift detection</a:t>
            </a:r>
            <a:endParaRPr lang="en-US" sz="1200" dirty="0"/>
          </a:p>
          <a:p>
            <a:pPr algn="ctr" indent="0" marL="0">
              <a:buNone/>
            </a:pPr>
            <a:r>
              <a:rPr lang="en-US" sz="1000" dirty="0">
                <a:solidFill>
                  <a:srgbClr val="2B6C59"/>
                </a:solidFill>
              </a:rPr>
              <a:t>The stack and every nested stack</a:t>
            </a:r>
            <a:endParaRPr lang="en-US" sz="1200" dirty="0"/>
          </a:p>
        </p:txBody>
      </p:sp>
      <p:sp>
        <p:nvSpPr>
          <p:cNvPr id="20" name="Shape 17"/>
          <p:cNvSpPr/>
          <p:nvPr/>
        </p:nvSpPr>
        <p:spPr>
          <a:xfrm>
            <a:off x="8001000" y="3566160"/>
            <a:ext cx="320040" cy="0"/>
          </a:xfrm>
          <a:prstGeom prst="line">
            <a:avLst/>
          </a:prstGeom>
          <a:noFill/>
          <a:ln w="15875">
            <a:solidFill>
              <a:srgbClr val="7D889B"/>
            </a:solidFill>
            <a:prstDash val="solid"/>
            <a:tailEnd type="triangle"/>
          </a:ln>
        </p:spPr>
      </p:sp>
      <p:sp>
        <p:nvSpPr>
          <p:cNvPr id="21" name="Drift found?"/>
          <p:cNvSpPr txBox="1"/>
          <p:nvPr/>
        </p:nvSpPr>
        <p:spPr>
          <a:xfrm>
            <a:off x="8321040" y="3040380"/>
            <a:ext cx="1280160" cy="105156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100" b="1" dirty="0">
                <a:solidFill>
                  <a:srgbClr val="6A4200"/>
                </a:solidFill>
              </a:rPr>
              <a:t>Drift found?</a:t>
            </a:r>
            <a:endParaRPr lang="en-US" sz="1100" dirty="0"/>
          </a:p>
        </p:txBody>
      </p:sp>
      <p:sp>
        <p:nvSpPr>
          <p:cNvPr id="22" name="Shape 19"/>
          <p:cNvSpPr/>
          <p:nvPr/>
        </p:nvSpPr>
        <p:spPr>
          <a:xfrm>
            <a:off x="9601200" y="3566160"/>
            <a:ext cx="320040" cy="0"/>
          </a:xfrm>
          <a:prstGeom prst="line">
            <a:avLst/>
          </a:prstGeom>
          <a:noFill/>
          <a:ln w="15875">
            <a:solidFill>
              <a:srgbClr val="7D889B"/>
            </a:solidFill>
            <a:prstDash val="solid"/>
            <a:tailEnd type="triangle"/>
          </a:ln>
        </p:spPr>
      </p:sp>
      <p:sp>
        <p:nvSpPr>
          <p:cNvPr id="23" name="Text 20"/>
          <p:cNvSpPr txBox="1"/>
          <p:nvPr/>
        </p:nvSpPr>
        <p:spPr>
          <a:xfrm>
            <a:off x="9601200" y="325526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24" name="Change set"/>
          <p:cNvSpPr txBox="1"/>
          <p:nvPr/>
        </p:nvSpPr>
        <p:spPr>
          <a:xfrm>
            <a:off x="9921240" y="3200400"/>
            <a:ext cx="1719072" cy="731520"/>
          </a:xfrm>
          <a:prstGeom prst="roundRect">
            <a:avLst>
              <a:gd name="adj" fmla="val 50000"/>
            </a:avLst>
          </a:prstGeom>
          <a:solidFill>
            <a:srgbClr val="FFFFFF"/>
          </a:solidFill>
          <a:ln w="15875">
            <a:solidFill>
              <a:srgbClr val="2A5BD7"/>
            </a:solidFill>
            <a:prstDash val="dash"/>
          </a:ln>
        </p:spPr>
        <p:txBody>
          <a:bodyPr wrap="square" lIns="50800" tIns="25400" rIns="50800" bIns="25400" rtlCol="0" anchor="ctr"/>
          <a:lstStyle/>
          <a:p>
            <a:pPr algn="ctr" indent="0" marL="0">
              <a:buNone/>
            </a:pPr>
            <a:r>
              <a:rPr lang="en-US" sz="1200" b="1" dirty="0">
                <a:solidFill>
                  <a:srgbClr val="173A8F"/>
                </a:solidFill>
              </a:rPr>
              <a:t>Change set</a:t>
            </a:r>
            <a:endParaRPr lang="en-US" sz="1200" dirty="0"/>
          </a:p>
          <a:p>
            <a:pPr algn="ctr" indent="0" marL="0">
              <a:buNone/>
            </a:pPr>
            <a:r>
              <a:rPr lang="en-US" sz="1000" dirty="0">
                <a:solidFill>
                  <a:srgbClr val="2D4FA8"/>
                </a:solidFill>
              </a:rPr>
              <a:t>continues on the next slide</a:t>
            </a:r>
            <a:endParaRPr lang="en-US" sz="1200" dirty="0"/>
          </a:p>
        </p:txBody>
      </p:sp>
      <p:sp>
        <p:nvSpPr>
          <p:cNvPr id="25" name="Shape 22"/>
          <p:cNvSpPr/>
          <p:nvPr/>
        </p:nvSpPr>
        <p:spPr>
          <a:xfrm>
            <a:off x="8961120" y="4091940"/>
            <a:ext cx="0" cy="342900"/>
          </a:xfrm>
          <a:prstGeom prst="line">
            <a:avLst/>
          </a:prstGeom>
          <a:noFill/>
          <a:ln w="15875">
            <a:solidFill>
              <a:srgbClr val="7D889B"/>
            </a:solidFill>
            <a:prstDash val="solid"/>
            <a:tailEnd type="triangle"/>
          </a:ln>
        </p:spPr>
      </p:sp>
      <p:sp>
        <p:nvSpPr>
          <p:cNvPr id="26" name="Text 23"/>
          <p:cNvSpPr txBox="1"/>
          <p:nvPr/>
        </p:nvSpPr>
        <p:spPr>
          <a:xfrm>
            <a:off x="9070848" y="4133088"/>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27" name="Amazon Q drafts the fix"/>
          <p:cNvSpPr txBox="1"/>
          <p:nvPr/>
        </p:nvSpPr>
        <p:spPr>
          <a:xfrm>
            <a:off x="8046720" y="4434840"/>
            <a:ext cx="1828800" cy="777240"/>
          </a:xfrm>
          <a:prstGeom prst="roundRect">
            <a:avLst>
              <a:gd name="adj" fmla="val 10588"/>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Amazon Q drafts the fix</a:t>
            </a:r>
            <a:endParaRPr lang="en-US" sz="1200" dirty="0"/>
          </a:p>
          <a:p>
            <a:pPr algn="ctr" indent="0" marL="0">
              <a:buNone/>
            </a:pPr>
            <a:r>
              <a:rPr lang="en-US" sz="1000" dirty="0">
                <a:solidFill>
                  <a:srgbClr val="586275"/>
                </a:solidFill>
              </a:rPr>
              <a:t>Live YAML and suggested code</a:t>
            </a:r>
            <a:endParaRPr lang="en-US" sz="1200" dirty="0"/>
          </a:p>
        </p:txBody>
      </p:sp>
      <p:sp>
        <p:nvSpPr>
          <p:cNvPr id="28" name="Shape 25"/>
          <p:cNvSpPr/>
          <p:nvPr/>
        </p:nvSpPr>
        <p:spPr>
          <a:xfrm>
            <a:off x="8961120" y="5212080"/>
            <a:ext cx="0" cy="274320"/>
          </a:xfrm>
          <a:prstGeom prst="line">
            <a:avLst/>
          </a:prstGeom>
          <a:noFill/>
          <a:ln w="15875">
            <a:solidFill>
              <a:srgbClr val="7D889B"/>
            </a:solidFill>
            <a:prstDash val="solid"/>
            <a:tailEnd type="triangle"/>
          </a:ln>
        </p:spPr>
      </p:sp>
      <p:sp>
        <p:nvSpPr>
          <p:cNvPr id="29" name="Drift report emailed"/>
          <p:cNvSpPr txBox="1"/>
          <p:nvPr/>
        </p:nvSpPr>
        <p:spPr>
          <a:xfrm>
            <a:off x="8046720" y="5486400"/>
            <a:ext cx="1828800" cy="777240"/>
          </a:xfrm>
          <a:prstGeom prst="roundRect">
            <a:avLst>
              <a:gd name="adj" fmla="val 10588"/>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Drift report emailed</a:t>
            </a:r>
            <a:endParaRPr lang="en-US" sz="1200" dirty="0"/>
          </a:p>
          <a:p>
            <a:pPr algn="ctr" indent="0" marL="0">
              <a:buNone/>
            </a:pPr>
            <a:r>
              <a:rPr lang="en-US" sz="1000" dirty="0">
                <a:solidFill>
                  <a:srgbClr val="586275"/>
                </a:solidFill>
              </a:rPr>
              <a:t>Diffs, live YAML, who changed it</a:t>
            </a:r>
            <a:endParaRPr lang="en-US" sz="1200" dirty="0"/>
          </a:p>
        </p:txBody>
      </p:sp>
      <p:sp>
        <p:nvSpPr>
          <p:cNvPr id="30" name="Email sent"/>
          <p:cNvSpPr/>
          <p:nvPr/>
        </p:nvSpPr>
        <p:spPr>
          <a:xfrm>
            <a:off x="8101584" y="5340096"/>
            <a:ext cx="292608" cy="292608"/>
          </a:xfrm>
          <a:prstGeom prst="ellipse">
            <a:avLst/>
          </a:prstGeom>
          <a:solidFill>
            <a:srgbClr val="FFFFFF"/>
          </a:solidFill>
          <a:ln w="15875">
            <a:solidFill>
              <a:srgbClr val="2A5BD7"/>
            </a:solidFill>
            <a:prstDash val="solid"/>
          </a:ln>
        </p:spPr>
      </p:sp>
      <p:pic>
        <p:nvPicPr>
          <p:cNvPr id="31" name="Image 0" descr="Email sent">    </p:cNvPr>
          <p:cNvPicPr>
            <a:picLocks noChangeAspect="1"/>
          </p:cNvPicPr>
          <p:nvPr/>
        </p:nvPicPr>
        <p:blipFill>
          <a:blip r:embed="rId1"/>
          <a:stretch>
            <a:fillRect/>
          </a:stretch>
        </p:blipFill>
        <p:spPr>
          <a:xfrm>
            <a:off x="8157180" y="5395692"/>
            <a:ext cx="181417" cy="181417"/>
          </a:xfrm>
          <a:prstGeom prst="rect">
            <a:avLst/>
          </a:prstGeom>
        </p:spPr>
      </p:pic>
      <p:sp>
        <p:nvSpPr>
          <p:cNvPr id="32" name="Shape 28"/>
          <p:cNvSpPr/>
          <p:nvPr/>
        </p:nvSpPr>
        <p:spPr>
          <a:xfrm>
            <a:off x="9875520" y="5875020"/>
            <a:ext cx="274320" cy="0"/>
          </a:xfrm>
          <a:prstGeom prst="line">
            <a:avLst/>
          </a:prstGeom>
          <a:noFill/>
          <a:ln w="15875">
            <a:solidFill>
              <a:srgbClr val="7D889B"/>
            </a:solidFill>
            <a:prstDash val="solid"/>
            <a:tailEnd type="triangle"/>
          </a:ln>
        </p:spPr>
      </p:sp>
      <p:sp>
        <p:nvSpPr>
          <p:cNvPr id="33" name="Stopped"/>
          <p:cNvSpPr txBox="1"/>
          <p:nvPr/>
        </p:nvSpPr>
        <p:spPr>
          <a:xfrm>
            <a:off x="10149840" y="5559552"/>
            <a:ext cx="1490472" cy="640080"/>
          </a:xfrm>
          <a:prstGeom prst="roundRect">
            <a:avLst>
              <a:gd name="adj" fmla="val 50000"/>
            </a:avLst>
          </a:prstGeom>
          <a:solidFill>
            <a:srgbClr val="EBEEFC"/>
          </a:solidFill>
          <a:ln w="15875">
            <a:solidFill>
              <a:srgbClr val="4F5ED0"/>
            </a:solidFill>
            <a:prstDash val="solid"/>
          </a:ln>
        </p:spPr>
        <p:txBody>
          <a:bodyPr wrap="square" lIns="50800" tIns="25400" rIns="50800" bIns="25400" rtlCol="0" anchor="ctr"/>
          <a:lstStyle/>
          <a:p>
            <a:pPr algn="ctr" indent="0" marL="0">
              <a:buNone/>
            </a:pPr>
            <a:r>
              <a:rPr lang="en-US" sz="1150" b="1" dirty="0">
                <a:solidFill>
                  <a:srgbClr val="252D86"/>
                </a:solidFill>
              </a:rPr>
              <a:t>Stopped</a:t>
            </a:r>
            <a:endParaRPr lang="en-US" sz="1150" dirty="0"/>
          </a:p>
          <a:p>
            <a:pPr algn="ctr" indent="0" marL="0">
              <a:buNone/>
            </a:pPr>
            <a:r>
              <a:rPr lang="en-US" sz="1000" dirty="0">
                <a:solidFill>
                  <a:srgbClr val="4650A9"/>
                </a:solidFill>
              </a:rPr>
              <a:t>Nothing deployed</a:t>
            </a:r>
            <a:endParaRPr lang="en-US" sz="1150" dirty="0"/>
          </a:p>
        </p:txBody>
      </p:sp>
      <p:sp>
        <p:nvSpPr>
          <p:cNvPr id="34" name="Text 30"/>
          <p:cNvSpPr txBox="1"/>
          <p:nvPr/>
        </p:nvSpPr>
        <p:spPr>
          <a:xfrm>
            <a:off x="548640" y="4572000"/>
            <a:ext cx="6949440" cy="548640"/>
          </a:xfrm>
          <a:prstGeom prst="rect">
            <a:avLst/>
          </a:prstGeom>
          <a:noFill/>
          <a:ln/>
        </p:spPr>
        <p:txBody>
          <a:bodyPr wrap="square" lIns="0" tIns="0" rIns="0" bIns="0" rtlCol="0" anchor="t"/>
          <a:lstStyle/>
          <a:p>
            <a:pPr indent="0" marL="0">
              <a:buNone/>
            </a:pPr>
            <a:r>
              <a:rPr lang="en-US" sz="1300" i="1" dirty="0">
                <a:solidFill>
                  <a:srgbClr val="586275"/>
                </a:solidFill>
              </a:rPr>
              <a:t>Every stage is a separate GitHub Actions job, so the run page shows boxes turning green or red as the pipeline moves.</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Proposed pipeline: approval before anything changes</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Stages 4–6 · nothing is deployed until a person executes the change set</a:t>
            </a:r>
            <a:endParaRPr lang="en-US" sz="1400" dirty="0"/>
          </a:p>
        </p:txBody>
      </p:sp>
      <p:sp>
        <p:nvSpPr>
          <p:cNvPr id="5" name="From drift check"/>
          <p:cNvSpPr txBox="1"/>
          <p:nvPr/>
        </p:nvSpPr>
        <p:spPr>
          <a:xfrm>
            <a:off x="548640" y="2377440"/>
            <a:ext cx="1371600" cy="731520"/>
          </a:xfrm>
          <a:prstGeom prst="roundRect">
            <a:avLst>
              <a:gd name="adj" fmla="val 50000"/>
            </a:avLst>
          </a:prstGeom>
          <a:solidFill>
            <a:srgbClr val="FFFFFF"/>
          </a:solidFill>
          <a:ln w="15875">
            <a:solidFill>
              <a:srgbClr val="2A5BD7"/>
            </a:solidFill>
            <a:prstDash val="dash"/>
          </a:ln>
        </p:spPr>
        <p:txBody>
          <a:bodyPr wrap="square" lIns="50800" tIns="25400" rIns="50800" bIns="25400" rtlCol="0" anchor="ctr"/>
          <a:lstStyle/>
          <a:p>
            <a:pPr algn="ctr" indent="0" marL="0">
              <a:buNone/>
            </a:pPr>
            <a:r>
              <a:rPr lang="en-US" sz="1150" b="1" dirty="0">
                <a:solidFill>
                  <a:srgbClr val="173A8F"/>
                </a:solidFill>
              </a:rPr>
              <a:t>From drift check</a:t>
            </a:r>
            <a:endParaRPr lang="en-US" sz="1150" dirty="0"/>
          </a:p>
          <a:p>
            <a:pPr algn="ctr" indent="0" marL="0">
              <a:buNone/>
            </a:pPr>
            <a:r>
              <a:rPr lang="en-US" sz="1000" dirty="0">
                <a:solidFill>
                  <a:srgbClr val="2D4FA8"/>
                </a:solidFill>
              </a:rPr>
              <a:t>previous slide</a:t>
            </a:r>
            <a:endParaRPr lang="en-US" sz="1150" dirty="0"/>
          </a:p>
        </p:txBody>
      </p:sp>
      <p:sp>
        <p:nvSpPr>
          <p:cNvPr id="6" name="Shape 3"/>
          <p:cNvSpPr/>
          <p:nvPr/>
        </p:nvSpPr>
        <p:spPr>
          <a:xfrm>
            <a:off x="1920240" y="2743200"/>
            <a:ext cx="228600" cy="0"/>
          </a:xfrm>
          <a:prstGeom prst="line">
            <a:avLst/>
          </a:prstGeom>
          <a:noFill/>
          <a:ln w="15875">
            <a:solidFill>
              <a:srgbClr val="7D889B"/>
            </a:solidFill>
            <a:prstDash val="solid"/>
            <a:tailEnd type="triangle"/>
          </a:ln>
        </p:spPr>
      </p:sp>
      <p:sp>
        <p:nvSpPr>
          <p:cNvPr id="7" name="Change set created"/>
          <p:cNvSpPr txBox="1"/>
          <p:nvPr/>
        </p:nvSpPr>
        <p:spPr>
          <a:xfrm>
            <a:off x="2148840" y="2331720"/>
            <a:ext cx="164592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Change set created</a:t>
            </a:r>
            <a:endParaRPr lang="en-US" sz="1200" dirty="0"/>
          </a:p>
          <a:p>
            <a:pPr algn="ctr" indent="0" marL="0">
              <a:buNone/>
            </a:pPr>
            <a:r>
              <a:rPr lang="en-US" sz="1000" dirty="0">
                <a:solidFill>
                  <a:srgbClr val="586275"/>
                </a:solidFill>
              </a:rPr>
              <a:t>CREATE for a new stack, UPDATE otherwise</a:t>
            </a:r>
            <a:endParaRPr lang="en-US" sz="1200" dirty="0"/>
          </a:p>
        </p:txBody>
      </p:sp>
      <p:sp>
        <p:nvSpPr>
          <p:cNvPr id="8" name="Shape 5"/>
          <p:cNvSpPr/>
          <p:nvPr/>
        </p:nvSpPr>
        <p:spPr>
          <a:xfrm>
            <a:off x="3794760" y="2743200"/>
            <a:ext cx="228600" cy="0"/>
          </a:xfrm>
          <a:prstGeom prst="line">
            <a:avLst/>
          </a:prstGeom>
          <a:noFill/>
          <a:ln w="15875">
            <a:solidFill>
              <a:srgbClr val="7D889B"/>
            </a:solidFill>
            <a:prstDash val="solid"/>
            <a:tailEnd type="triangle"/>
          </a:ln>
        </p:spPr>
      </p:sp>
      <p:sp>
        <p:nvSpPr>
          <p:cNvPr id="9" name="New resources and properties valid?"/>
          <p:cNvSpPr txBox="1"/>
          <p:nvPr/>
        </p:nvSpPr>
        <p:spPr>
          <a:xfrm>
            <a:off x="4023360" y="2125980"/>
            <a:ext cx="1737360" cy="123444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050" b="1" dirty="0">
                <a:solidFill>
                  <a:srgbClr val="6A4200"/>
                </a:solidFill>
              </a:rPr>
              <a:t>New resources and</a:t>
            </a:r>
            <a:endParaRPr lang="en-US" sz="1050" dirty="0"/>
          </a:p>
          <a:p>
            <a:pPr algn="ctr" indent="0" marL="0">
              <a:buNone/>
            </a:pPr>
            <a:r>
              <a:rPr lang="en-US" sz="1050" b="1" dirty="0">
                <a:solidFill>
                  <a:srgbClr val="6A4200"/>
                </a:solidFill>
              </a:rPr>
              <a:t>properties valid?</a:t>
            </a:r>
            <a:endParaRPr lang="en-US" sz="1050" dirty="0"/>
          </a:p>
        </p:txBody>
      </p:sp>
      <p:sp>
        <p:nvSpPr>
          <p:cNvPr id="10" name="Shape 7"/>
          <p:cNvSpPr/>
          <p:nvPr/>
        </p:nvSpPr>
        <p:spPr>
          <a:xfrm flipV="1">
            <a:off x="4892040" y="1920240"/>
            <a:ext cx="0" cy="205740"/>
          </a:xfrm>
          <a:prstGeom prst="line">
            <a:avLst/>
          </a:prstGeom>
          <a:noFill/>
          <a:ln w="15875">
            <a:solidFill>
              <a:srgbClr val="7D889B"/>
            </a:solidFill>
            <a:prstDash val="solid"/>
            <a:tailEnd type="triangle"/>
          </a:ln>
        </p:spPr>
      </p:sp>
      <p:sp>
        <p:nvSpPr>
          <p:cNvPr id="11" name="Text 8"/>
          <p:cNvSpPr txBox="1"/>
          <p:nvPr/>
        </p:nvSpPr>
        <p:spPr>
          <a:xfrm>
            <a:off x="4983480" y="1920240"/>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12" name="Stopped, exact error shown"/>
          <p:cNvSpPr txBox="1"/>
          <p:nvPr/>
        </p:nvSpPr>
        <p:spPr>
          <a:xfrm>
            <a:off x="3794760" y="1371600"/>
            <a:ext cx="2194560" cy="548640"/>
          </a:xfrm>
          <a:prstGeom prst="roundRect">
            <a:avLst>
              <a:gd name="adj" fmla="val 50000"/>
            </a:avLst>
          </a:prstGeom>
          <a:solidFill>
            <a:srgbClr val="EBEEFC"/>
          </a:solidFill>
          <a:ln w="15875">
            <a:solidFill>
              <a:srgbClr val="4F5ED0"/>
            </a:solidFill>
            <a:prstDash val="solid"/>
          </a:ln>
        </p:spPr>
        <p:txBody>
          <a:bodyPr wrap="square" lIns="50800" tIns="25400" rIns="50800" bIns="25400" rtlCol="0" anchor="ctr"/>
          <a:lstStyle/>
          <a:p>
            <a:pPr algn="ctr" indent="0" marL="0">
              <a:buNone/>
            </a:pPr>
            <a:r>
              <a:rPr lang="en-US" sz="1150" b="1" dirty="0">
                <a:solidFill>
                  <a:srgbClr val="252D86"/>
                </a:solidFill>
              </a:rPr>
              <a:t>Stopped, exact error shown</a:t>
            </a:r>
            <a:endParaRPr lang="en-US" sz="1150" dirty="0"/>
          </a:p>
          <a:p>
            <a:pPr algn="ctr" indent="0" marL="0">
              <a:buNone/>
            </a:pPr>
            <a:r>
              <a:rPr lang="en-US" sz="1000" dirty="0">
                <a:solidFill>
                  <a:srgbClr val="4650A9"/>
                </a:solidFill>
              </a:rPr>
              <a:t>Nothing deployed</a:t>
            </a:r>
            <a:endParaRPr lang="en-US" sz="1150" dirty="0"/>
          </a:p>
        </p:txBody>
      </p:sp>
      <p:sp>
        <p:nvSpPr>
          <p:cNvPr id="13" name="Shape 10"/>
          <p:cNvSpPr/>
          <p:nvPr/>
        </p:nvSpPr>
        <p:spPr>
          <a:xfrm>
            <a:off x="5760720" y="2743200"/>
            <a:ext cx="274320" cy="0"/>
          </a:xfrm>
          <a:prstGeom prst="line">
            <a:avLst/>
          </a:prstGeom>
          <a:noFill/>
          <a:ln w="15875">
            <a:solidFill>
              <a:srgbClr val="7D889B"/>
            </a:solidFill>
            <a:prstDash val="solid"/>
            <a:tailEnd type="triangle"/>
          </a:ln>
        </p:spPr>
      </p:sp>
      <p:sp>
        <p:nvSpPr>
          <p:cNvPr id="14" name="Text 11"/>
          <p:cNvSpPr txBox="1"/>
          <p:nvPr/>
        </p:nvSpPr>
        <p:spPr>
          <a:xfrm>
            <a:off x="5742432" y="243230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15" name="Every change rated"/>
          <p:cNvSpPr txBox="1"/>
          <p:nvPr/>
        </p:nvSpPr>
        <p:spPr>
          <a:xfrm>
            <a:off x="6035040" y="2331720"/>
            <a:ext cx="1691640" cy="822960"/>
          </a:xfrm>
          <a:prstGeom prst="roundRect">
            <a:avLst>
              <a:gd name="adj" fmla="val 10000"/>
            </a:avLst>
          </a:prstGeom>
          <a:solidFill>
            <a:srgbClr val="E2F3EC"/>
          </a:solidFill>
          <a:ln w="15875">
            <a:solidFill>
              <a:srgbClr val="22866A"/>
            </a:solidFill>
            <a:prstDash val="solid"/>
          </a:ln>
        </p:spPr>
        <p:txBody>
          <a:bodyPr wrap="square" lIns="50800" tIns="25400" rIns="50800" bIns="25400" rtlCol="0" anchor="ctr"/>
          <a:lstStyle/>
          <a:p>
            <a:pPr algn="ctr" indent="0" marL="0">
              <a:buNone/>
            </a:pPr>
            <a:r>
              <a:rPr lang="en-US" sz="1200" b="1" dirty="0">
                <a:solidFill>
                  <a:srgbClr val="0C4D3C"/>
                </a:solidFill>
              </a:rPr>
              <a:t>Every change rated</a:t>
            </a:r>
            <a:endParaRPr lang="en-US" sz="1200" dirty="0"/>
          </a:p>
          <a:p>
            <a:pPr algn="ctr" indent="0" marL="0">
              <a:buNone/>
            </a:pPr>
            <a:r>
              <a:rPr lang="en-US" sz="1000" dirty="0">
                <a:solidFill>
                  <a:srgbClr val="2B6C59"/>
                </a:solidFill>
              </a:rPr>
              <a:t>Replacements, deletions, IAM flagged</a:t>
            </a:r>
            <a:endParaRPr lang="en-US" sz="1200" dirty="0"/>
          </a:p>
        </p:txBody>
      </p:sp>
      <p:sp>
        <p:nvSpPr>
          <p:cNvPr id="16" name="Shape 13"/>
          <p:cNvSpPr/>
          <p:nvPr/>
        </p:nvSpPr>
        <p:spPr>
          <a:xfrm>
            <a:off x="7726680" y="2743200"/>
            <a:ext cx="320040" cy="0"/>
          </a:xfrm>
          <a:prstGeom prst="line">
            <a:avLst/>
          </a:prstGeom>
          <a:noFill/>
          <a:ln w="15875">
            <a:solidFill>
              <a:srgbClr val="7D889B"/>
            </a:solidFill>
            <a:prstDash val="solid"/>
            <a:tailEnd type="triangle"/>
          </a:ln>
        </p:spPr>
      </p:sp>
      <p:sp>
        <p:nvSpPr>
          <p:cNvPr id="17" name="Approval email sent"/>
          <p:cNvSpPr txBox="1"/>
          <p:nvPr/>
        </p:nvSpPr>
        <p:spPr>
          <a:xfrm>
            <a:off x="8046720" y="2331720"/>
            <a:ext cx="169164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Approval email sent</a:t>
            </a:r>
            <a:endParaRPr lang="en-US" sz="1200" dirty="0"/>
          </a:p>
          <a:p>
            <a:pPr algn="ctr" indent="0" marL="0">
              <a:buNone/>
            </a:pPr>
            <a:r>
              <a:rPr lang="en-US" sz="1000" dirty="0">
                <a:solidFill>
                  <a:srgbClr val="586275"/>
                </a:solidFill>
              </a:rPr>
              <a:t>What changes, the risk, how to approve</a:t>
            </a:r>
            <a:endParaRPr lang="en-US" sz="1200" dirty="0"/>
          </a:p>
        </p:txBody>
      </p:sp>
      <p:sp>
        <p:nvSpPr>
          <p:cNvPr id="18" name="Email sent"/>
          <p:cNvSpPr/>
          <p:nvPr/>
        </p:nvSpPr>
        <p:spPr>
          <a:xfrm>
            <a:off x="8101584" y="2185416"/>
            <a:ext cx="292608" cy="292608"/>
          </a:xfrm>
          <a:prstGeom prst="ellipse">
            <a:avLst/>
          </a:prstGeom>
          <a:solidFill>
            <a:srgbClr val="FFFFFF"/>
          </a:solidFill>
          <a:ln w="15875">
            <a:solidFill>
              <a:srgbClr val="2A5BD7"/>
            </a:solidFill>
            <a:prstDash val="solid"/>
          </a:ln>
        </p:spPr>
      </p:sp>
      <p:pic>
        <p:nvPicPr>
          <p:cNvPr id="19" name="Image 0" descr="Email sent">    </p:cNvPr>
          <p:cNvPicPr>
            <a:picLocks noChangeAspect="1"/>
          </p:cNvPicPr>
          <p:nvPr/>
        </p:nvPicPr>
        <p:blipFill>
          <a:blip r:embed="rId1"/>
          <a:stretch>
            <a:fillRect/>
          </a:stretch>
        </p:blipFill>
        <p:spPr>
          <a:xfrm>
            <a:off x="8157180" y="2241012"/>
            <a:ext cx="181417" cy="181417"/>
          </a:xfrm>
          <a:prstGeom prst="rect">
            <a:avLst/>
          </a:prstGeom>
        </p:spPr>
      </p:pic>
      <p:sp>
        <p:nvSpPr>
          <p:cNvPr id="20" name="Shape 16"/>
          <p:cNvSpPr/>
          <p:nvPr/>
        </p:nvSpPr>
        <p:spPr>
          <a:xfrm>
            <a:off x="9738360" y="2743200"/>
            <a:ext cx="274320" cy="0"/>
          </a:xfrm>
          <a:prstGeom prst="line">
            <a:avLst/>
          </a:prstGeom>
          <a:noFill/>
          <a:ln w="15875">
            <a:solidFill>
              <a:srgbClr val="7D889B"/>
            </a:solidFill>
            <a:prstDash val="solid"/>
            <a:tailEnd type="triangle"/>
          </a:ln>
        </p:spPr>
      </p:sp>
      <p:sp>
        <p:nvSpPr>
          <p:cNvPr id="21" name="Approved?"/>
          <p:cNvSpPr txBox="1"/>
          <p:nvPr/>
        </p:nvSpPr>
        <p:spPr>
          <a:xfrm>
            <a:off x="10012680" y="2263140"/>
            <a:ext cx="1188720" cy="96012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100" b="1" dirty="0">
                <a:solidFill>
                  <a:srgbClr val="6A4200"/>
                </a:solidFill>
              </a:rPr>
              <a:t>Approved?</a:t>
            </a:r>
            <a:endParaRPr lang="en-US" sz="1100" dirty="0"/>
          </a:p>
        </p:txBody>
      </p:sp>
      <p:sp>
        <p:nvSpPr>
          <p:cNvPr id="22" name="Shape 18"/>
          <p:cNvSpPr/>
          <p:nvPr/>
        </p:nvSpPr>
        <p:spPr>
          <a:xfrm flipV="1">
            <a:off x="10607040" y="1920240"/>
            <a:ext cx="0" cy="342900"/>
          </a:xfrm>
          <a:prstGeom prst="line">
            <a:avLst/>
          </a:prstGeom>
          <a:noFill/>
          <a:ln w="15875">
            <a:solidFill>
              <a:srgbClr val="7D889B"/>
            </a:solidFill>
            <a:prstDash val="solid"/>
            <a:tailEnd type="triangle"/>
          </a:ln>
        </p:spPr>
      </p:sp>
      <p:sp>
        <p:nvSpPr>
          <p:cNvPr id="23" name="Text 19"/>
          <p:cNvSpPr txBox="1"/>
          <p:nvPr/>
        </p:nvSpPr>
        <p:spPr>
          <a:xfrm>
            <a:off x="10698480" y="1920240"/>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24" name="Change set deleted"/>
          <p:cNvSpPr txBox="1"/>
          <p:nvPr/>
        </p:nvSpPr>
        <p:spPr>
          <a:xfrm>
            <a:off x="9646920" y="1371600"/>
            <a:ext cx="1920240" cy="548640"/>
          </a:xfrm>
          <a:prstGeom prst="roundRect">
            <a:avLst>
              <a:gd name="adj" fmla="val 50000"/>
            </a:avLst>
          </a:prstGeom>
          <a:solidFill>
            <a:srgbClr val="EBEEFC"/>
          </a:solidFill>
          <a:ln w="15875">
            <a:solidFill>
              <a:srgbClr val="4F5ED0"/>
            </a:solidFill>
            <a:prstDash val="solid"/>
          </a:ln>
        </p:spPr>
        <p:txBody>
          <a:bodyPr wrap="square" lIns="50800" tIns="25400" rIns="50800" bIns="25400" rtlCol="0" anchor="ctr"/>
          <a:lstStyle/>
          <a:p>
            <a:pPr algn="ctr" indent="0" marL="0">
              <a:buNone/>
            </a:pPr>
            <a:r>
              <a:rPr lang="en-US" sz="1150" b="1" dirty="0">
                <a:solidFill>
                  <a:srgbClr val="252D86"/>
                </a:solidFill>
              </a:rPr>
              <a:t>Change set deleted</a:t>
            </a:r>
            <a:endParaRPr lang="en-US" sz="1150" dirty="0"/>
          </a:p>
          <a:p>
            <a:pPr algn="ctr" indent="0" marL="0">
              <a:buNone/>
            </a:pPr>
            <a:r>
              <a:rPr lang="en-US" sz="1000" dirty="0">
                <a:solidFill>
                  <a:srgbClr val="4650A9"/>
                </a:solidFill>
              </a:rPr>
              <a:t>Nothing deployed</a:t>
            </a:r>
            <a:endParaRPr lang="en-US" sz="1150" dirty="0"/>
          </a:p>
        </p:txBody>
      </p:sp>
      <p:sp>
        <p:nvSpPr>
          <p:cNvPr id="25" name="Shape 21"/>
          <p:cNvSpPr/>
          <p:nvPr/>
        </p:nvSpPr>
        <p:spPr>
          <a:xfrm>
            <a:off x="10607040" y="3223260"/>
            <a:ext cx="0" cy="342900"/>
          </a:xfrm>
          <a:prstGeom prst="line">
            <a:avLst/>
          </a:prstGeom>
          <a:noFill/>
          <a:ln w="15875">
            <a:solidFill>
              <a:srgbClr val="7D889B"/>
            </a:solidFill>
            <a:prstDash val="solid"/>
          </a:ln>
        </p:spPr>
      </p:sp>
      <p:sp>
        <p:nvSpPr>
          <p:cNvPr id="26" name="Shape 22"/>
          <p:cNvSpPr/>
          <p:nvPr/>
        </p:nvSpPr>
        <p:spPr>
          <a:xfrm flipH="1">
            <a:off x="1394460" y="3566160"/>
            <a:ext cx="9212580" cy="0"/>
          </a:xfrm>
          <a:prstGeom prst="line">
            <a:avLst/>
          </a:prstGeom>
          <a:noFill/>
          <a:ln w="15875">
            <a:solidFill>
              <a:srgbClr val="7D889B"/>
            </a:solidFill>
            <a:prstDash val="solid"/>
          </a:ln>
        </p:spPr>
      </p:sp>
      <p:sp>
        <p:nvSpPr>
          <p:cNvPr id="27" name="Shape 23"/>
          <p:cNvSpPr/>
          <p:nvPr/>
        </p:nvSpPr>
        <p:spPr>
          <a:xfrm>
            <a:off x="1394460" y="3566160"/>
            <a:ext cx="0" cy="502920"/>
          </a:xfrm>
          <a:prstGeom prst="line">
            <a:avLst/>
          </a:prstGeom>
          <a:noFill/>
          <a:ln w="15875">
            <a:solidFill>
              <a:srgbClr val="7D889B"/>
            </a:solidFill>
            <a:prstDash val="solid"/>
            <a:tailEnd type="triangle"/>
          </a:ln>
        </p:spPr>
      </p:sp>
      <p:sp>
        <p:nvSpPr>
          <p:cNvPr id="28" name="Text 24"/>
          <p:cNvSpPr txBox="1"/>
          <p:nvPr/>
        </p:nvSpPr>
        <p:spPr>
          <a:xfrm>
            <a:off x="10716768" y="325526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29" name="Execution started"/>
          <p:cNvSpPr txBox="1"/>
          <p:nvPr/>
        </p:nvSpPr>
        <p:spPr>
          <a:xfrm>
            <a:off x="548640" y="4069080"/>
            <a:ext cx="169164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Execution started</a:t>
            </a:r>
            <a:endParaRPr lang="en-US" sz="1200" dirty="0"/>
          </a:p>
          <a:p>
            <a:pPr algn="ctr" indent="0" marL="0">
              <a:buNone/>
            </a:pPr>
            <a:r>
              <a:rPr lang="en-US" sz="1000" dirty="0">
                <a:solidFill>
                  <a:srgbClr val="586275"/>
                </a:solidFill>
              </a:rPr>
              <a:t>AWS console, or GitHub reviewer gate</a:t>
            </a:r>
            <a:endParaRPr lang="en-US" sz="1200" dirty="0"/>
          </a:p>
        </p:txBody>
      </p:sp>
      <p:sp>
        <p:nvSpPr>
          <p:cNvPr id="30" name="Shape 26"/>
          <p:cNvSpPr/>
          <p:nvPr/>
        </p:nvSpPr>
        <p:spPr>
          <a:xfrm>
            <a:off x="2240280" y="4480560"/>
            <a:ext cx="320040" cy="0"/>
          </a:xfrm>
          <a:prstGeom prst="line">
            <a:avLst/>
          </a:prstGeom>
          <a:noFill/>
          <a:ln w="15875">
            <a:solidFill>
              <a:srgbClr val="7D889B"/>
            </a:solidFill>
            <a:prstDash val="solid"/>
            <a:tailEnd type="triangle"/>
          </a:ln>
        </p:spPr>
      </p:sp>
      <p:sp>
        <p:nvSpPr>
          <p:cNvPr id="31" name="Drift re-checked"/>
          <p:cNvSpPr txBox="1"/>
          <p:nvPr/>
        </p:nvSpPr>
        <p:spPr>
          <a:xfrm>
            <a:off x="2560320" y="4069080"/>
            <a:ext cx="1691640" cy="822960"/>
          </a:xfrm>
          <a:prstGeom prst="roundRect">
            <a:avLst>
              <a:gd name="adj" fmla="val 10000"/>
            </a:avLst>
          </a:prstGeom>
          <a:solidFill>
            <a:srgbClr val="E2F3EC"/>
          </a:solidFill>
          <a:ln w="15875">
            <a:solidFill>
              <a:srgbClr val="22866A"/>
            </a:solidFill>
            <a:prstDash val="solid"/>
          </a:ln>
        </p:spPr>
        <p:txBody>
          <a:bodyPr wrap="square" lIns="50800" tIns="25400" rIns="50800" bIns="25400" rtlCol="0" anchor="ctr"/>
          <a:lstStyle/>
          <a:p>
            <a:pPr algn="ctr" indent="0" marL="0">
              <a:buNone/>
            </a:pPr>
            <a:r>
              <a:rPr lang="en-US" sz="1200" b="1" dirty="0">
                <a:solidFill>
                  <a:srgbClr val="0C4D3C"/>
                </a:solidFill>
              </a:rPr>
              <a:t>Drift re-checked</a:t>
            </a:r>
            <a:endParaRPr lang="en-US" sz="1200" dirty="0"/>
          </a:p>
          <a:p>
            <a:pPr algn="ctr" indent="0" marL="0">
              <a:buNone/>
            </a:pPr>
            <a:r>
              <a:rPr lang="en-US" sz="1000" dirty="0">
                <a:solidFill>
                  <a:srgbClr val="2B6C59"/>
                </a:solidFill>
              </a:rPr>
              <a:t>Pipeline mode; stops on new drift</a:t>
            </a:r>
            <a:endParaRPr lang="en-US" sz="1200" dirty="0"/>
          </a:p>
        </p:txBody>
      </p:sp>
      <p:sp>
        <p:nvSpPr>
          <p:cNvPr id="32" name="Shape 28"/>
          <p:cNvSpPr/>
          <p:nvPr/>
        </p:nvSpPr>
        <p:spPr>
          <a:xfrm>
            <a:off x="4251960" y="4480560"/>
            <a:ext cx="320040" cy="0"/>
          </a:xfrm>
          <a:prstGeom prst="line">
            <a:avLst/>
          </a:prstGeom>
          <a:noFill/>
          <a:ln w="15875">
            <a:solidFill>
              <a:srgbClr val="7D889B"/>
            </a:solidFill>
            <a:prstDash val="solid"/>
            <a:tailEnd type="triangle"/>
          </a:ln>
        </p:spPr>
      </p:sp>
      <p:sp>
        <p:nvSpPr>
          <p:cNvPr id="33" name="CloudFormation deploys"/>
          <p:cNvSpPr txBox="1"/>
          <p:nvPr/>
        </p:nvSpPr>
        <p:spPr>
          <a:xfrm>
            <a:off x="4572000" y="4069080"/>
            <a:ext cx="169164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CloudFormation deploys</a:t>
            </a:r>
            <a:endParaRPr lang="en-US" sz="1200" dirty="0"/>
          </a:p>
          <a:p>
            <a:pPr algn="ctr" indent="0" marL="0">
              <a:buNone/>
            </a:pPr>
            <a:r>
              <a:rPr lang="en-US" sz="1000" dirty="0">
                <a:solidFill>
                  <a:srgbClr val="586275"/>
                </a:solidFill>
              </a:rPr>
              <a:t>Stack events streamed to the run log</a:t>
            </a:r>
            <a:endParaRPr lang="en-US" sz="1200" dirty="0"/>
          </a:p>
        </p:txBody>
      </p:sp>
      <p:sp>
        <p:nvSpPr>
          <p:cNvPr id="34" name="Shape 30"/>
          <p:cNvSpPr/>
          <p:nvPr/>
        </p:nvSpPr>
        <p:spPr>
          <a:xfrm>
            <a:off x="6263640" y="4480560"/>
            <a:ext cx="228600" cy="0"/>
          </a:xfrm>
          <a:prstGeom prst="line">
            <a:avLst/>
          </a:prstGeom>
          <a:noFill/>
          <a:ln w="15875">
            <a:solidFill>
              <a:srgbClr val="7D889B"/>
            </a:solidFill>
            <a:prstDash val="solid"/>
          </a:ln>
        </p:spPr>
      </p:sp>
      <p:sp>
        <p:nvSpPr>
          <p:cNvPr id="35" name="Shape 31"/>
          <p:cNvSpPr/>
          <p:nvPr/>
        </p:nvSpPr>
        <p:spPr>
          <a:xfrm flipV="1">
            <a:off x="6492240" y="4206240"/>
            <a:ext cx="0" cy="274320"/>
          </a:xfrm>
          <a:prstGeom prst="line">
            <a:avLst/>
          </a:prstGeom>
          <a:noFill/>
          <a:ln w="15875">
            <a:solidFill>
              <a:srgbClr val="7D889B"/>
            </a:solidFill>
            <a:prstDash val="solid"/>
          </a:ln>
        </p:spPr>
      </p:sp>
      <p:sp>
        <p:nvSpPr>
          <p:cNvPr id="36" name="Shape 32"/>
          <p:cNvSpPr/>
          <p:nvPr/>
        </p:nvSpPr>
        <p:spPr>
          <a:xfrm>
            <a:off x="6492240" y="4206240"/>
            <a:ext cx="228600" cy="0"/>
          </a:xfrm>
          <a:prstGeom prst="line">
            <a:avLst/>
          </a:prstGeom>
          <a:noFill/>
          <a:ln w="15875">
            <a:solidFill>
              <a:srgbClr val="7D889B"/>
            </a:solidFill>
            <a:prstDash val="solid"/>
            <a:tailEnd type="triangle"/>
          </a:ln>
        </p:spPr>
      </p:sp>
      <p:sp>
        <p:nvSpPr>
          <p:cNvPr id="37" name="Shape 33"/>
          <p:cNvSpPr/>
          <p:nvPr/>
        </p:nvSpPr>
        <p:spPr>
          <a:xfrm>
            <a:off x="6492240" y="4480560"/>
            <a:ext cx="0" cy="548640"/>
          </a:xfrm>
          <a:prstGeom prst="line">
            <a:avLst/>
          </a:prstGeom>
          <a:noFill/>
          <a:ln w="15875">
            <a:solidFill>
              <a:srgbClr val="7D889B"/>
            </a:solidFill>
            <a:prstDash val="solid"/>
          </a:ln>
        </p:spPr>
      </p:sp>
      <p:sp>
        <p:nvSpPr>
          <p:cNvPr id="38" name="Shape 34"/>
          <p:cNvSpPr/>
          <p:nvPr/>
        </p:nvSpPr>
        <p:spPr>
          <a:xfrm>
            <a:off x="6492240" y="5029200"/>
            <a:ext cx="228600" cy="0"/>
          </a:xfrm>
          <a:prstGeom prst="line">
            <a:avLst/>
          </a:prstGeom>
          <a:noFill/>
          <a:ln w="15875">
            <a:solidFill>
              <a:srgbClr val="7D889B"/>
            </a:solidFill>
            <a:prstDash val="solid"/>
            <a:tailEnd type="triangle"/>
          </a:ln>
        </p:spPr>
      </p:sp>
      <p:sp>
        <p:nvSpPr>
          <p:cNvPr id="39" name="Deployed"/>
          <p:cNvSpPr txBox="1"/>
          <p:nvPr/>
        </p:nvSpPr>
        <p:spPr>
          <a:xfrm>
            <a:off x="6720840" y="3931920"/>
            <a:ext cx="2148840" cy="548640"/>
          </a:xfrm>
          <a:prstGeom prst="roundRect">
            <a:avLst>
              <a:gd name="adj" fmla="val 50000"/>
            </a:avLst>
          </a:prstGeom>
          <a:solidFill>
            <a:srgbClr val="E3F4E7"/>
          </a:solidFill>
          <a:ln w="15875">
            <a:solidFill>
              <a:srgbClr val="2E8946"/>
            </a:solidFill>
            <a:prstDash val="solid"/>
          </a:ln>
        </p:spPr>
        <p:txBody>
          <a:bodyPr wrap="square" lIns="50800" tIns="25400" rIns="50800" bIns="25400" rtlCol="0" anchor="ctr"/>
          <a:lstStyle/>
          <a:p>
            <a:pPr algn="ctr" indent="0" marL="0">
              <a:buNone/>
            </a:pPr>
            <a:r>
              <a:rPr lang="en-US" sz="1150" b="1" dirty="0">
                <a:solidFill>
                  <a:srgbClr val="165229"/>
                </a:solidFill>
              </a:rPr>
              <a:t>Deployed</a:t>
            </a:r>
            <a:endParaRPr lang="en-US" sz="1150" dirty="0"/>
          </a:p>
          <a:p>
            <a:pPr algn="ctr" indent="0" marL="0">
              <a:buNone/>
            </a:pPr>
            <a:r>
              <a:rPr lang="en-US" sz="1000" dirty="0">
                <a:solidFill>
                  <a:srgbClr val="2C6D3F"/>
                </a:solidFill>
              </a:rPr>
              <a:t>Result and outputs emailed</a:t>
            </a:r>
            <a:endParaRPr lang="en-US" sz="1150" dirty="0"/>
          </a:p>
        </p:txBody>
      </p:sp>
      <p:sp>
        <p:nvSpPr>
          <p:cNvPr id="40" name="Email sent"/>
          <p:cNvSpPr/>
          <p:nvPr/>
        </p:nvSpPr>
        <p:spPr>
          <a:xfrm>
            <a:off x="6848856" y="3785616"/>
            <a:ext cx="292608" cy="292608"/>
          </a:xfrm>
          <a:prstGeom prst="ellipse">
            <a:avLst/>
          </a:prstGeom>
          <a:solidFill>
            <a:srgbClr val="FFFFFF"/>
          </a:solidFill>
          <a:ln w="15875">
            <a:solidFill>
              <a:srgbClr val="2A5BD7"/>
            </a:solidFill>
            <a:prstDash val="solid"/>
          </a:ln>
        </p:spPr>
      </p:sp>
      <p:pic>
        <p:nvPicPr>
          <p:cNvPr id="41" name="Image 1" descr="Email sent">    </p:cNvPr>
          <p:cNvPicPr>
            <a:picLocks noChangeAspect="1"/>
          </p:cNvPicPr>
          <p:nvPr/>
        </p:nvPicPr>
        <p:blipFill>
          <a:blip r:embed="rId2"/>
          <a:stretch>
            <a:fillRect/>
          </a:stretch>
        </p:blipFill>
        <p:spPr>
          <a:xfrm>
            <a:off x="6904452" y="3841212"/>
            <a:ext cx="181417" cy="181417"/>
          </a:xfrm>
          <a:prstGeom prst="rect">
            <a:avLst/>
          </a:prstGeom>
        </p:spPr>
      </p:pic>
      <p:sp>
        <p:nvSpPr>
          <p:cNvPr id="42" name="Rolled back automatically"/>
          <p:cNvSpPr txBox="1"/>
          <p:nvPr/>
        </p:nvSpPr>
        <p:spPr>
          <a:xfrm>
            <a:off x="6720840" y="4754880"/>
            <a:ext cx="2148840" cy="548640"/>
          </a:xfrm>
          <a:prstGeom prst="roundRect">
            <a:avLst>
              <a:gd name="adj" fmla="val 50000"/>
            </a:avLst>
          </a:prstGeom>
          <a:solidFill>
            <a:srgbClr val="FFF0E1"/>
          </a:solidFill>
          <a:ln w="25400">
            <a:solidFill>
              <a:srgbClr val="C46A1B"/>
            </a:solidFill>
            <a:prstDash val="solid"/>
          </a:ln>
        </p:spPr>
        <p:txBody>
          <a:bodyPr wrap="square" lIns="50800" tIns="25400" rIns="50800" bIns="25400" rtlCol="0" anchor="ctr"/>
          <a:lstStyle/>
          <a:p>
            <a:pPr algn="ctr" indent="0" marL="0">
              <a:buNone/>
            </a:pPr>
            <a:r>
              <a:rPr lang="en-US" sz="1150" b="1" dirty="0">
                <a:solidFill>
                  <a:srgbClr val="6E3608"/>
                </a:solidFill>
              </a:rPr>
              <a:t>Rolled back automatically</a:t>
            </a:r>
            <a:endParaRPr lang="en-US" sz="1150" dirty="0"/>
          </a:p>
          <a:p>
            <a:pPr algn="ctr" indent="0" marL="0">
              <a:buNone/>
            </a:pPr>
            <a:r>
              <a:rPr lang="en-US" sz="1000" dirty="0">
                <a:solidFill>
                  <a:srgbClr val="8F4F17"/>
                </a:solidFill>
              </a:rPr>
              <a:t>Root cause emailed</a:t>
            </a:r>
            <a:endParaRPr lang="en-US" sz="1150" dirty="0"/>
          </a:p>
        </p:txBody>
      </p:sp>
      <p:sp>
        <p:nvSpPr>
          <p:cNvPr id="43" name="Email sent"/>
          <p:cNvSpPr/>
          <p:nvPr/>
        </p:nvSpPr>
        <p:spPr>
          <a:xfrm>
            <a:off x="6848856" y="4608576"/>
            <a:ext cx="292608" cy="292608"/>
          </a:xfrm>
          <a:prstGeom prst="ellipse">
            <a:avLst/>
          </a:prstGeom>
          <a:solidFill>
            <a:srgbClr val="FFFFFF"/>
          </a:solidFill>
          <a:ln w="15875">
            <a:solidFill>
              <a:srgbClr val="2A5BD7"/>
            </a:solidFill>
            <a:prstDash val="solid"/>
          </a:ln>
        </p:spPr>
      </p:sp>
      <p:pic>
        <p:nvPicPr>
          <p:cNvPr id="44" name="Image 2" descr="Email sent">    </p:cNvPr>
          <p:cNvPicPr>
            <a:picLocks noChangeAspect="1"/>
          </p:cNvPicPr>
          <p:nvPr/>
        </p:nvPicPr>
        <p:blipFill>
          <a:blip r:embed="rId3"/>
          <a:stretch>
            <a:fillRect/>
          </a:stretch>
        </p:blipFill>
        <p:spPr>
          <a:xfrm>
            <a:off x="6904452" y="4664172"/>
            <a:ext cx="181417" cy="181417"/>
          </a:xfrm>
          <a:prstGeom prst="rect">
            <a:avLst/>
          </a:prstGeom>
        </p:spPr>
      </p:pic>
      <p:sp>
        <p:nvSpPr>
          <p:cNvPr id="45" name="Checked by CloudFormation"/>
          <p:cNvSpPr/>
          <p:nvPr/>
        </p:nvSpPr>
        <p:spPr>
          <a:xfrm>
            <a:off x="9098280" y="3931920"/>
            <a:ext cx="2542032" cy="996696"/>
          </a:xfrm>
          <a:prstGeom prst="roundRect">
            <a:avLst>
              <a:gd name="adj" fmla="val 7339"/>
            </a:avLst>
          </a:prstGeom>
          <a:solidFill>
            <a:srgbClr val="FFFFFF"/>
          </a:solidFill>
          <a:ln w="15875">
            <a:solidFill>
              <a:srgbClr val="22866A"/>
            </a:solidFill>
            <a:prstDash val="dash"/>
          </a:ln>
        </p:spPr>
      </p:sp>
      <p:sp>
        <p:nvSpPr>
          <p:cNvPr id="46" name="Text 40"/>
          <p:cNvSpPr txBox="1"/>
          <p:nvPr/>
        </p:nvSpPr>
        <p:spPr>
          <a:xfrm>
            <a:off x="9226296" y="4005072"/>
            <a:ext cx="2286000" cy="256032"/>
          </a:xfrm>
          <a:prstGeom prst="rect">
            <a:avLst/>
          </a:prstGeom>
          <a:noFill/>
          <a:ln/>
        </p:spPr>
        <p:txBody>
          <a:bodyPr wrap="square" lIns="0" tIns="0" rIns="0" bIns="0" rtlCol="0" anchor="ctr"/>
          <a:lstStyle/>
          <a:p>
            <a:pPr indent="0" marL="0">
              <a:buNone/>
            </a:pPr>
            <a:r>
              <a:rPr lang="en-US" sz="1150" b="1" dirty="0">
                <a:solidFill>
                  <a:srgbClr val="0C4D3C"/>
                </a:solidFill>
              </a:rPr>
              <a:t>Checked by CloudFormation</a:t>
            </a:r>
            <a:endParaRPr lang="en-US" sz="1150" dirty="0"/>
          </a:p>
        </p:txBody>
      </p:sp>
      <p:sp>
        <p:nvSpPr>
          <p:cNvPr id="47" name="Text 41"/>
          <p:cNvSpPr txBox="1"/>
          <p:nvPr/>
        </p:nvSpPr>
        <p:spPr>
          <a:xfrm>
            <a:off x="9208008" y="4279392"/>
            <a:ext cx="2322576" cy="594360"/>
          </a:xfrm>
          <a:prstGeom prst="rect">
            <a:avLst/>
          </a:prstGeom>
          <a:noFill/>
          <a:ln/>
        </p:spPr>
        <p:txBody>
          <a:bodyPr wrap="square" lIns="0" tIns="0" rIns="0" bIns="0" rtlCol="0" anchor="t"/>
          <a:lstStyle/>
          <a:p>
            <a:pPr marL="127000" indent="-127000">
              <a:lnSpc>
                <a:spcPts val="1512"/>
              </a:lnSpc>
              <a:buSzPct val="100000"/>
              <a:buChar char="•"/>
            </a:pPr>
            <a:r>
              <a:rPr lang="en-US" sz="1000" dirty="0">
                <a:solidFill>
                  <a:srgbClr val="586275"/>
                </a:solidFill>
              </a:rPr>
              <a:t>New resource names not already taken</a:t>
            </a:r>
            <a:endParaRPr lang="en-US" sz="1000" dirty="0"/>
          </a:p>
          <a:p>
            <a:pPr marL="127000" indent="-127000">
              <a:lnSpc>
                <a:spcPts val="1512"/>
              </a:lnSpc>
              <a:buSzPct val="100000"/>
              <a:buChar char="•"/>
            </a:pPr>
            <a:r>
              <a:rPr lang="en-US" sz="1000" dirty="0">
                <a:solidFill>
                  <a:srgbClr val="586275"/>
                </a:solidFill>
              </a:rPr>
              <a:t>Every property type and value valid</a:t>
            </a:r>
            <a:endParaRPr lang="en-US" sz="1000" dirty="0"/>
          </a:p>
          <a:p>
            <a:pPr marL="127000" indent="-127000">
              <a:lnSpc>
                <a:spcPts val="1512"/>
              </a:lnSpc>
              <a:buSzPct val="100000"/>
              <a:buChar char="•"/>
            </a:pPr>
            <a:r>
              <a:rPr lang="en-US" sz="1000" dirty="0">
                <a:solidFill>
                  <a:srgbClr val="586275"/>
                </a:solidFill>
              </a:rPr>
              <a:t>Buckets to delete are empty (warning)</a:t>
            </a:r>
            <a:endParaRPr lang="en-US" sz="1000" dirty="0"/>
          </a:p>
        </p:txBody>
      </p:sp>
      <p:sp>
        <p:nvSpPr>
          <p:cNvPr id="48" name="Shape 42"/>
          <p:cNvSpPr/>
          <p:nvPr/>
        </p:nvSpPr>
        <p:spPr>
          <a:xfrm>
            <a:off x="548640" y="5559552"/>
            <a:ext cx="11091672" cy="731520"/>
          </a:xfrm>
          <a:prstGeom prst="roundRect">
            <a:avLst>
              <a:gd name="adj" fmla="val 12500"/>
            </a:avLst>
          </a:prstGeom>
          <a:solidFill>
            <a:srgbClr val="EEF1F6"/>
          </a:solidFill>
          <a:ln w="6350">
            <a:solidFill>
              <a:srgbClr val="EEF1F6"/>
            </a:solidFill>
            <a:prstDash val="solid"/>
          </a:ln>
        </p:spPr>
      </p:sp>
      <p:sp>
        <p:nvSpPr>
          <p:cNvPr id="49" name="Shape 43"/>
          <p:cNvSpPr/>
          <p:nvPr/>
        </p:nvSpPr>
        <p:spPr>
          <a:xfrm>
            <a:off x="713232" y="5715000"/>
            <a:ext cx="420624" cy="420624"/>
          </a:xfrm>
          <a:prstGeom prst="ellipse">
            <a:avLst/>
          </a:prstGeom>
          <a:solidFill>
            <a:srgbClr val="16243A"/>
          </a:solidFill>
          <a:ln w="6350">
            <a:solidFill>
              <a:srgbClr val="16243A"/>
            </a:solidFill>
            <a:prstDash val="solid"/>
          </a:ln>
        </p:spPr>
      </p:sp>
      <p:pic>
        <p:nvPicPr>
          <p:cNvPr id="50" name="Image 3" descr="Icon">    </p:cNvPr>
          <p:cNvPicPr>
            <a:picLocks noChangeAspect="1"/>
          </p:cNvPicPr>
          <p:nvPr/>
        </p:nvPicPr>
        <p:blipFill>
          <a:blip r:embed="rId4"/>
          <a:stretch>
            <a:fillRect/>
          </a:stretch>
        </p:blipFill>
        <p:spPr>
          <a:xfrm>
            <a:off x="814182" y="5815950"/>
            <a:ext cx="218724" cy="218724"/>
          </a:xfrm>
          <a:prstGeom prst="rect">
            <a:avLst/>
          </a:prstGeom>
        </p:spPr>
      </p:pic>
      <p:sp>
        <p:nvSpPr>
          <p:cNvPr id="51" name="Text 44"/>
          <p:cNvSpPr txBox="1"/>
          <p:nvPr/>
        </p:nvSpPr>
        <p:spPr>
          <a:xfrm>
            <a:off x="1280160" y="5559552"/>
            <a:ext cx="10241280" cy="731520"/>
          </a:xfrm>
          <a:prstGeom prst="rect">
            <a:avLst/>
          </a:prstGeom>
          <a:noFill/>
          <a:ln/>
        </p:spPr>
        <p:txBody>
          <a:bodyPr wrap="square" lIns="0" tIns="0" rIns="0" bIns="0" rtlCol="0" anchor="ctr"/>
          <a:lstStyle/>
          <a:p>
            <a:pPr indent="0" marL="0">
              <a:buNone/>
            </a:pPr>
            <a:r>
              <a:rPr lang="en-US" sz="1300" b="1" dirty="0">
                <a:solidFill>
                  <a:srgbClr val="16243A"/>
                </a:solidFill>
              </a:rPr>
              <a:t>Two ways to execute.  </a:t>
            </a:r>
            <a:pPr indent="0" marL="0">
              <a:buNone/>
            </a:pPr>
            <a:r>
              <a:rPr lang="en-US" sz="1300" dirty="0">
                <a:solidFill>
                  <a:srgbClr val="131925"/>
                </a:solidFill>
              </a:rPr>
              <a:t>manual-console (default): an approver executes the change set in the AWS console.  pipeline-after-approval: a GitHub reviewer approves, then the pipeline re-checks drift and executes.</a:t>
            </a:r>
            <a:endParaRPr lang="en-US" sz="13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Proposed pipeline: advantages and trade-offs</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Recommendation: adopt it · the setup is one-off, and both workflows can run side by side during the trial</a:t>
            </a:r>
            <a:endParaRPr lang="en-US" sz="1400" dirty="0"/>
          </a:p>
        </p:txBody>
      </p:sp>
      <p:sp>
        <p:nvSpPr>
          <p:cNvPr id="5" name="Shape 2"/>
          <p:cNvSpPr/>
          <p:nvPr/>
        </p:nvSpPr>
        <p:spPr>
          <a:xfrm>
            <a:off x="548640" y="1481328"/>
            <a:ext cx="5413248" cy="4690872"/>
          </a:xfrm>
          <a:prstGeom prst="roundRect">
            <a:avLst>
              <a:gd name="adj" fmla="val 2339"/>
            </a:avLst>
          </a:prstGeom>
          <a:solidFill>
            <a:srgbClr val="F4FAF6"/>
          </a:solidFill>
          <a:ln w="12700">
            <a:solidFill>
              <a:srgbClr val="CFE6D7"/>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777240" y="1664208"/>
            <a:ext cx="402336" cy="402336"/>
          </a:xfrm>
          <a:prstGeom prst="ellipse">
            <a:avLst/>
          </a:prstGeom>
          <a:solidFill>
            <a:srgbClr val="2E8946"/>
          </a:solidFill>
          <a:ln w="6350">
            <a:solidFill>
              <a:srgbClr val="2E8946"/>
            </a:solidFill>
            <a:prstDash val="solid"/>
          </a:ln>
        </p:spPr>
      </p:sp>
      <p:pic>
        <p:nvPicPr>
          <p:cNvPr id="7" name="Image 0" descr="Icon">    </p:cNvPr>
          <p:cNvPicPr>
            <a:picLocks noChangeAspect="1"/>
          </p:cNvPicPr>
          <p:nvPr/>
        </p:nvPicPr>
        <p:blipFill>
          <a:blip r:embed="rId1"/>
          <a:stretch>
            <a:fillRect/>
          </a:stretch>
        </p:blipFill>
        <p:spPr>
          <a:xfrm>
            <a:off x="873801" y="1760769"/>
            <a:ext cx="209215" cy="209215"/>
          </a:xfrm>
          <a:prstGeom prst="rect">
            <a:avLst/>
          </a:prstGeom>
        </p:spPr>
      </p:pic>
      <p:sp>
        <p:nvSpPr>
          <p:cNvPr id="8" name="Text 4"/>
          <p:cNvSpPr txBox="1"/>
          <p:nvPr/>
        </p:nvSpPr>
        <p:spPr>
          <a:xfrm>
            <a:off x="1298448" y="1664208"/>
            <a:ext cx="4206240" cy="402336"/>
          </a:xfrm>
          <a:prstGeom prst="rect">
            <a:avLst/>
          </a:prstGeom>
          <a:noFill/>
          <a:ln/>
        </p:spPr>
        <p:txBody>
          <a:bodyPr wrap="square" lIns="0" tIns="0" rIns="0" bIns="0" rtlCol="0" anchor="ctr"/>
          <a:lstStyle/>
          <a:p>
            <a:pPr indent="0" marL="0">
              <a:buNone/>
            </a:pPr>
            <a:r>
              <a:rPr lang="en-US" sz="1800" b="1" dirty="0">
                <a:solidFill>
                  <a:srgbClr val="165229"/>
                </a:solidFill>
              </a:rPr>
              <a:t>Advantages</a:t>
            </a:r>
            <a:endParaRPr lang="en-US" sz="1800" dirty="0"/>
          </a:p>
        </p:txBody>
      </p:sp>
      <p:pic>
        <p:nvPicPr>
          <p:cNvPr id="9" name="Image 1" descr="Advantage">    </p:cNvPr>
          <p:cNvPicPr>
            <a:picLocks noChangeAspect="1"/>
          </p:cNvPicPr>
          <p:nvPr/>
        </p:nvPicPr>
        <p:blipFill>
          <a:blip r:embed="rId2"/>
          <a:stretch>
            <a:fillRect/>
          </a:stretch>
        </p:blipFill>
        <p:spPr>
          <a:xfrm>
            <a:off x="804672" y="2295144"/>
            <a:ext cx="201168" cy="201168"/>
          </a:xfrm>
          <a:prstGeom prst="rect">
            <a:avLst/>
          </a:prstGeom>
        </p:spPr>
      </p:pic>
      <p:sp>
        <p:nvSpPr>
          <p:cNvPr id="10" name="Text 5"/>
          <p:cNvSpPr txBox="1"/>
          <p:nvPr/>
        </p:nvSpPr>
        <p:spPr>
          <a:xfrm>
            <a:off x="1115568" y="2258568"/>
            <a:ext cx="4636008" cy="489204"/>
          </a:xfrm>
          <a:prstGeom prst="rect">
            <a:avLst/>
          </a:prstGeom>
          <a:noFill/>
          <a:ln/>
        </p:spPr>
        <p:txBody>
          <a:bodyPr wrap="square" lIns="0" tIns="0" rIns="0" bIns="0" rtlCol="0" anchor="t"/>
          <a:lstStyle/>
          <a:p>
            <a:pPr indent="0" marL="0">
              <a:buNone/>
            </a:pPr>
            <a:r>
              <a:rPr lang="en-US" sz="1400" dirty="0">
                <a:solidFill>
                  <a:srgbClr val="131925"/>
                </a:solidFill>
              </a:rPr>
              <a:t>Every stage visible in GitHub, green or red</a:t>
            </a:r>
            <a:endParaRPr lang="en-US" sz="1400" dirty="0"/>
          </a:p>
        </p:txBody>
      </p:sp>
      <p:pic>
        <p:nvPicPr>
          <p:cNvPr id="11" name="Image 2" descr="Advantage">    </p:cNvPr>
          <p:cNvPicPr>
            <a:picLocks noChangeAspect="1"/>
          </p:cNvPicPr>
          <p:nvPr/>
        </p:nvPicPr>
        <p:blipFill>
          <a:blip r:embed="rId3"/>
          <a:stretch>
            <a:fillRect/>
          </a:stretch>
        </p:blipFill>
        <p:spPr>
          <a:xfrm>
            <a:off x="804672" y="2784348"/>
            <a:ext cx="201168" cy="201168"/>
          </a:xfrm>
          <a:prstGeom prst="rect">
            <a:avLst/>
          </a:prstGeom>
        </p:spPr>
      </p:pic>
      <p:sp>
        <p:nvSpPr>
          <p:cNvPr id="12" name="Text 6"/>
          <p:cNvSpPr txBox="1"/>
          <p:nvPr/>
        </p:nvSpPr>
        <p:spPr>
          <a:xfrm>
            <a:off x="1115568" y="2747772"/>
            <a:ext cx="4636008" cy="489204"/>
          </a:xfrm>
          <a:prstGeom prst="rect">
            <a:avLst/>
          </a:prstGeom>
          <a:noFill/>
          <a:ln/>
        </p:spPr>
        <p:txBody>
          <a:bodyPr wrap="square" lIns="0" tIns="0" rIns="0" bIns="0" rtlCol="0" anchor="t"/>
          <a:lstStyle/>
          <a:p>
            <a:pPr indent="0" marL="0">
              <a:buNone/>
            </a:pPr>
            <a:r>
              <a:rPr lang="en-US" sz="1400" dirty="0">
                <a:solidFill>
                  <a:srgbClr val="131925"/>
                </a:solidFill>
              </a:rPr>
              <a:t>Lint and security scan before anything reaches AWS</a:t>
            </a:r>
            <a:endParaRPr lang="en-US" sz="1400" dirty="0"/>
          </a:p>
        </p:txBody>
      </p:sp>
      <p:pic>
        <p:nvPicPr>
          <p:cNvPr id="13" name="Image 3" descr="Advantage">    </p:cNvPr>
          <p:cNvPicPr>
            <a:picLocks noChangeAspect="1"/>
          </p:cNvPicPr>
          <p:nvPr/>
        </p:nvPicPr>
        <p:blipFill>
          <a:blip r:embed="rId4"/>
          <a:stretch>
            <a:fillRect/>
          </a:stretch>
        </p:blipFill>
        <p:spPr>
          <a:xfrm>
            <a:off x="804672" y="3273552"/>
            <a:ext cx="201168" cy="201168"/>
          </a:xfrm>
          <a:prstGeom prst="rect">
            <a:avLst/>
          </a:prstGeom>
        </p:spPr>
      </p:pic>
      <p:sp>
        <p:nvSpPr>
          <p:cNvPr id="14" name="Text 7"/>
          <p:cNvSpPr txBox="1"/>
          <p:nvPr/>
        </p:nvSpPr>
        <p:spPr>
          <a:xfrm>
            <a:off x="1115568" y="3236976"/>
            <a:ext cx="4636008" cy="489204"/>
          </a:xfrm>
          <a:prstGeom prst="rect">
            <a:avLst/>
          </a:prstGeom>
          <a:noFill/>
          <a:ln/>
        </p:spPr>
        <p:txBody>
          <a:bodyPr wrap="square" lIns="0" tIns="0" rIns="0" bIns="0" rtlCol="0" anchor="t"/>
          <a:lstStyle/>
          <a:p>
            <a:pPr indent="0" marL="0">
              <a:buNone/>
            </a:pPr>
            <a:r>
              <a:rPr lang="en-US" sz="1400" dirty="0">
                <a:solidFill>
                  <a:srgbClr val="131925"/>
                </a:solidFill>
              </a:rPr>
              <a:t>Drift on the stack or nested stacks stops the run</a:t>
            </a:r>
            <a:endParaRPr lang="en-US" sz="1400" dirty="0"/>
          </a:p>
        </p:txBody>
      </p:sp>
      <p:pic>
        <p:nvPicPr>
          <p:cNvPr id="15" name="Image 4" descr="Advantage">    </p:cNvPr>
          <p:cNvPicPr>
            <a:picLocks noChangeAspect="1"/>
          </p:cNvPicPr>
          <p:nvPr/>
        </p:nvPicPr>
        <p:blipFill>
          <a:blip r:embed="rId5"/>
          <a:stretch>
            <a:fillRect/>
          </a:stretch>
        </p:blipFill>
        <p:spPr>
          <a:xfrm>
            <a:off x="804672" y="3762756"/>
            <a:ext cx="201168" cy="201168"/>
          </a:xfrm>
          <a:prstGeom prst="rect">
            <a:avLst/>
          </a:prstGeom>
        </p:spPr>
      </p:pic>
      <p:sp>
        <p:nvSpPr>
          <p:cNvPr id="16" name="Text 8"/>
          <p:cNvSpPr txBox="1"/>
          <p:nvPr/>
        </p:nvSpPr>
        <p:spPr>
          <a:xfrm>
            <a:off x="1115568" y="3726180"/>
            <a:ext cx="4636008" cy="489204"/>
          </a:xfrm>
          <a:prstGeom prst="rect">
            <a:avLst/>
          </a:prstGeom>
          <a:noFill/>
          <a:ln/>
        </p:spPr>
        <p:txBody>
          <a:bodyPr wrap="square" lIns="0" tIns="0" rIns="0" bIns="0" rtlCol="0" anchor="t"/>
          <a:lstStyle/>
          <a:p>
            <a:pPr indent="0" marL="0">
              <a:buNone/>
            </a:pPr>
            <a:r>
              <a:rPr lang="en-US" sz="1400" dirty="0">
                <a:solidFill>
                  <a:srgbClr val="131925"/>
                </a:solidFill>
              </a:rPr>
              <a:t>Drift email with live YAML and an Amazon Q fix</a:t>
            </a:r>
            <a:endParaRPr lang="en-US" sz="1400" dirty="0"/>
          </a:p>
        </p:txBody>
      </p:sp>
      <p:pic>
        <p:nvPicPr>
          <p:cNvPr id="17" name="Image 5" descr="Advantage">    </p:cNvPr>
          <p:cNvPicPr>
            <a:picLocks noChangeAspect="1"/>
          </p:cNvPicPr>
          <p:nvPr/>
        </p:nvPicPr>
        <p:blipFill>
          <a:blip r:embed="rId6"/>
          <a:stretch>
            <a:fillRect/>
          </a:stretch>
        </p:blipFill>
        <p:spPr>
          <a:xfrm>
            <a:off x="804672" y="4251960"/>
            <a:ext cx="201168" cy="201168"/>
          </a:xfrm>
          <a:prstGeom prst="rect">
            <a:avLst/>
          </a:prstGeom>
        </p:spPr>
      </p:pic>
      <p:sp>
        <p:nvSpPr>
          <p:cNvPr id="18" name="Text 9"/>
          <p:cNvSpPr txBox="1"/>
          <p:nvPr/>
        </p:nvSpPr>
        <p:spPr>
          <a:xfrm>
            <a:off x="1115568" y="4215384"/>
            <a:ext cx="4636008" cy="489204"/>
          </a:xfrm>
          <a:prstGeom prst="rect">
            <a:avLst/>
          </a:prstGeom>
          <a:noFill/>
          <a:ln/>
        </p:spPr>
        <p:txBody>
          <a:bodyPr wrap="square" lIns="0" tIns="0" rIns="0" bIns="0" rtlCol="0" anchor="t"/>
          <a:lstStyle/>
          <a:p>
            <a:pPr indent="0" marL="0">
              <a:buNone/>
            </a:pPr>
            <a:r>
              <a:rPr lang="en-US" sz="1400" dirty="0">
                <a:solidFill>
                  <a:srgbClr val="131925"/>
                </a:solidFill>
              </a:rPr>
              <a:t>Change set with new-resource validation and a risk rating</a:t>
            </a:r>
            <a:endParaRPr lang="en-US" sz="1400" dirty="0"/>
          </a:p>
        </p:txBody>
      </p:sp>
      <p:pic>
        <p:nvPicPr>
          <p:cNvPr id="19" name="Image 6" descr="Advantage">    </p:cNvPr>
          <p:cNvPicPr>
            <a:picLocks noChangeAspect="1"/>
          </p:cNvPicPr>
          <p:nvPr/>
        </p:nvPicPr>
        <p:blipFill>
          <a:blip r:embed="rId7"/>
          <a:stretch>
            <a:fillRect/>
          </a:stretch>
        </p:blipFill>
        <p:spPr>
          <a:xfrm>
            <a:off x="804672" y="4741164"/>
            <a:ext cx="201168" cy="201168"/>
          </a:xfrm>
          <a:prstGeom prst="rect">
            <a:avLst/>
          </a:prstGeom>
        </p:spPr>
      </p:pic>
      <p:sp>
        <p:nvSpPr>
          <p:cNvPr id="20" name="Text 10"/>
          <p:cNvSpPr txBox="1"/>
          <p:nvPr/>
        </p:nvSpPr>
        <p:spPr>
          <a:xfrm>
            <a:off x="1115568" y="4704588"/>
            <a:ext cx="4636008" cy="489204"/>
          </a:xfrm>
          <a:prstGeom prst="rect">
            <a:avLst/>
          </a:prstGeom>
          <a:noFill/>
          <a:ln/>
        </p:spPr>
        <p:txBody>
          <a:bodyPr wrap="square" lIns="0" tIns="0" rIns="0" bIns="0" rtlCol="0" anchor="t"/>
          <a:lstStyle/>
          <a:p>
            <a:pPr indent="0" marL="0">
              <a:buNone/>
            </a:pPr>
            <a:r>
              <a:rPr lang="en-US" sz="1400" dirty="0">
                <a:solidFill>
                  <a:srgbClr val="131925"/>
                </a:solidFill>
              </a:rPr>
              <a:t>Approval email; a person executes the change set</a:t>
            </a:r>
            <a:endParaRPr lang="en-US" sz="1400" dirty="0"/>
          </a:p>
        </p:txBody>
      </p:sp>
      <p:pic>
        <p:nvPicPr>
          <p:cNvPr id="21" name="Image 7" descr="Advantage">    </p:cNvPr>
          <p:cNvPicPr>
            <a:picLocks noChangeAspect="1"/>
          </p:cNvPicPr>
          <p:nvPr/>
        </p:nvPicPr>
        <p:blipFill>
          <a:blip r:embed="rId8"/>
          <a:stretch>
            <a:fillRect/>
          </a:stretch>
        </p:blipFill>
        <p:spPr>
          <a:xfrm>
            <a:off x="804672" y="5230368"/>
            <a:ext cx="201168" cy="201168"/>
          </a:xfrm>
          <a:prstGeom prst="rect">
            <a:avLst/>
          </a:prstGeom>
        </p:spPr>
      </p:pic>
      <p:sp>
        <p:nvSpPr>
          <p:cNvPr id="22" name="Text 11"/>
          <p:cNvSpPr txBox="1"/>
          <p:nvPr/>
        </p:nvSpPr>
        <p:spPr>
          <a:xfrm>
            <a:off x="1115568" y="5193792"/>
            <a:ext cx="4636008" cy="489204"/>
          </a:xfrm>
          <a:prstGeom prst="rect">
            <a:avLst/>
          </a:prstGeom>
          <a:noFill/>
          <a:ln/>
        </p:spPr>
        <p:txBody>
          <a:bodyPr wrap="square" lIns="0" tIns="0" rIns="0" bIns="0" rtlCol="0" anchor="t"/>
          <a:lstStyle/>
          <a:p>
            <a:pPr indent="0" marL="0">
              <a:buNone/>
            </a:pPr>
            <a:r>
              <a:rPr lang="en-US" sz="1400" dirty="0">
                <a:solidFill>
                  <a:srgbClr val="131925"/>
                </a:solidFill>
              </a:rPr>
              <a:t>Drift re-checked before execution; one run per stack</a:t>
            </a:r>
            <a:endParaRPr lang="en-US" sz="1400" dirty="0"/>
          </a:p>
        </p:txBody>
      </p:sp>
      <p:pic>
        <p:nvPicPr>
          <p:cNvPr id="23" name="Image 8" descr="Advantage">    </p:cNvPr>
          <p:cNvPicPr>
            <a:picLocks noChangeAspect="1"/>
          </p:cNvPicPr>
          <p:nvPr/>
        </p:nvPicPr>
        <p:blipFill>
          <a:blip r:embed="rId9"/>
          <a:stretch>
            <a:fillRect/>
          </a:stretch>
        </p:blipFill>
        <p:spPr>
          <a:xfrm>
            <a:off x="804672" y="5719572"/>
            <a:ext cx="201168" cy="201168"/>
          </a:xfrm>
          <a:prstGeom prst="rect">
            <a:avLst/>
          </a:prstGeom>
        </p:spPr>
      </p:pic>
      <p:sp>
        <p:nvSpPr>
          <p:cNvPr id="24" name="Text 12"/>
          <p:cNvSpPr txBox="1"/>
          <p:nvPr/>
        </p:nvSpPr>
        <p:spPr>
          <a:xfrm>
            <a:off x="1115568" y="5682996"/>
            <a:ext cx="4636008" cy="489204"/>
          </a:xfrm>
          <a:prstGeom prst="rect">
            <a:avLst/>
          </a:prstGeom>
          <a:noFill/>
          <a:ln/>
        </p:spPr>
        <p:txBody>
          <a:bodyPr wrap="square" lIns="0" tIns="0" rIns="0" bIns="0" rtlCol="0" anchor="t"/>
          <a:lstStyle/>
          <a:p>
            <a:pPr indent="0" marL="0">
              <a:buNone/>
            </a:pPr>
            <a:r>
              <a:rPr lang="en-US" sz="1400" dirty="0">
                <a:solidFill>
                  <a:srgbClr val="131925"/>
                </a:solidFill>
              </a:rPr>
              <a:t>Result emails with root cause; reports kept 30–90 days</a:t>
            </a:r>
            <a:endParaRPr lang="en-US" sz="1400" dirty="0"/>
          </a:p>
        </p:txBody>
      </p:sp>
      <p:sp>
        <p:nvSpPr>
          <p:cNvPr id="25" name="Shape 13"/>
          <p:cNvSpPr/>
          <p:nvPr/>
        </p:nvSpPr>
        <p:spPr>
          <a:xfrm>
            <a:off x="6227064" y="1481328"/>
            <a:ext cx="5413248" cy="4690872"/>
          </a:xfrm>
          <a:prstGeom prst="roundRect">
            <a:avLst>
              <a:gd name="adj" fmla="val 2339"/>
            </a:avLst>
          </a:prstGeom>
          <a:solidFill>
            <a:srgbClr val="FFF8F0"/>
          </a:solidFill>
          <a:ln w="12700">
            <a:solidFill>
              <a:srgbClr val="F2DCC4"/>
            </a:solidFill>
            <a:prstDash val="solid"/>
          </a:ln>
          <a:effectLst>
            <a:outerShdw sx="100000" sy="100000" kx="0" ky="0" algn="bl" rotWithShape="0" blurRad="76200" dist="25400" dir="5400000">
              <a:srgbClr val="1B2A41">
                <a:alpha val="10000"/>
              </a:srgbClr>
            </a:outerShdw>
          </a:effectLst>
        </p:spPr>
      </p:sp>
      <p:sp>
        <p:nvSpPr>
          <p:cNvPr id="26" name="Shape 14"/>
          <p:cNvSpPr/>
          <p:nvPr/>
        </p:nvSpPr>
        <p:spPr>
          <a:xfrm>
            <a:off x="6455664" y="1664208"/>
            <a:ext cx="402336" cy="402336"/>
          </a:xfrm>
          <a:prstGeom prst="ellipse">
            <a:avLst/>
          </a:prstGeom>
          <a:solidFill>
            <a:srgbClr val="C46A1B"/>
          </a:solidFill>
          <a:ln w="6350">
            <a:solidFill>
              <a:srgbClr val="C46A1B"/>
            </a:solidFill>
            <a:prstDash val="solid"/>
          </a:ln>
        </p:spPr>
      </p:sp>
      <p:pic>
        <p:nvPicPr>
          <p:cNvPr id="27" name="Image 9" descr="Icon">    </p:cNvPr>
          <p:cNvPicPr>
            <a:picLocks noChangeAspect="1"/>
          </p:cNvPicPr>
          <p:nvPr/>
        </p:nvPicPr>
        <p:blipFill>
          <a:blip r:embed="rId10"/>
          <a:stretch>
            <a:fillRect/>
          </a:stretch>
        </p:blipFill>
        <p:spPr>
          <a:xfrm>
            <a:off x="6552225" y="1760769"/>
            <a:ext cx="209215" cy="209215"/>
          </a:xfrm>
          <a:prstGeom prst="rect">
            <a:avLst/>
          </a:prstGeom>
        </p:spPr>
      </p:pic>
      <p:sp>
        <p:nvSpPr>
          <p:cNvPr id="28" name="Text 15"/>
          <p:cNvSpPr txBox="1"/>
          <p:nvPr/>
        </p:nvSpPr>
        <p:spPr>
          <a:xfrm>
            <a:off x="6976872" y="1664208"/>
            <a:ext cx="4206240" cy="402336"/>
          </a:xfrm>
          <a:prstGeom prst="rect">
            <a:avLst/>
          </a:prstGeom>
          <a:noFill/>
          <a:ln/>
        </p:spPr>
        <p:txBody>
          <a:bodyPr wrap="square" lIns="0" tIns="0" rIns="0" bIns="0" rtlCol="0" anchor="ctr"/>
          <a:lstStyle/>
          <a:p>
            <a:pPr indent="0" marL="0">
              <a:buNone/>
            </a:pPr>
            <a:r>
              <a:rPr lang="en-US" sz="1800" b="1" dirty="0">
                <a:solidFill>
                  <a:srgbClr val="6E3608"/>
                </a:solidFill>
              </a:rPr>
              <a:t>Trade-offs</a:t>
            </a:r>
            <a:endParaRPr lang="en-US" sz="1800" dirty="0"/>
          </a:p>
        </p:txBody>
      </p:sp>
      <p:pic>
        <p:nvPicPr>
          <p:cNvPr id="29" name="Image 10" descr="Trade-off">    </p:cNvPr>
          <p:cNvPicPr>
            <a:picLocks noChangeAspect="1"/>
          </p:cNvPicPr>
          <p:nvPr/>
        </p:nvPicPr>
        <p:blipFill>
          <a:blip r:embed="rId11"/>
          <a:stretch>
            <a:fillRect/>
          </a:stretch>
        </p:blipFill>
        <p:spPr>
          <a:xfrm>
            <a:off x="6483096" y="2295144"/>
            <a:ext cx="201168" cy="201168"/>
          </a:xfrm>
          <a:prstGeom prst="rect">
            <a:avLst/>
          </a:prstGeom>
        </p:spPr>
      </p:pic>
      <p:sp>
        <p:nvSpPr>
          <p:cNvPr id="30" name="Text 16"/>
          <p:cNvSpPr txBox="1"/>
          <p:nvPr/>
        </p:nvSpPr>
        <p:spPr>
          <a:xfrm>
            <a:off x="6793992" y="2258568"/>
            <a:ext cx="4636008" cy="530352"/>
          </a:xfrm>
          <a:prstGeom prst="rect">
            <a:avLst/>
          </a:prstGeom>
          <a:noFill/>
          <a:ln/>
        </p:spPr>
        <p:txBody>
          <a:bodyPr wrap="square" lIns="0" tIns="0" rIns="0" bIns="0" rtlCol="0" anchor="t"/>
          <a:lstStyle/>
          <a:p>
            <a:pPr indent="0" marL="0">
              <a:buNone/>
            </a:pPr>
            <a:r>
              <a:rPr lang="en-US" sz="1400" dirty="0">
                <a:solidFill>
                  <a:srgbClr val="131925"/>
                </a:solidFill>
              </a:rPr>
              <a:t>Setup: support stack, SES sender, new secrets and variables</a:t>
            </a:r>
            <a:endParaRPr lang="en-US" sz="1400" dirty="0"/>
          </a:p>
        </p:txBody>
      </p:sp>
      <p:pic>
        <p:nvPicPr>
          <p:cNvPr id="31" name="Image 11" descr="Trade-off">    </p:cNvPr>
          <p:cNvPicPr>
            <a:picLocks noChangeAspect="1"/>
          </p:cNvPicPr>
          <p:nvPr/>
        </p:nvPicPr>
        <p:blipFill>
          <a:blip r:embed="rId12"/>
          <a:stretch>
            <a:fillRect/>
          </a:stretch>
        </p:blipFill>
        <p:spPr>
          <a:xfrm>
            <a:off x="6483096" y="2825496"/>
            <a:ext cx="201168" cy="201168"/>
          </a:xfrm>
          <a:prstGeom prst="rect">
            <a:avLst/>
          </a:prstGeom>
        </p:spPr>
      </p:pic>
      <p:sp>
        <p:nvSpPr>
          <p:cNvPr id="32" name="Text 17"/>
          <p:cNvSpPr txBox="1"/>
          <p:nvPr/>
        </p:nvSpPr>
        <p:spPr>
          <a:xfrm>
            <a:off x="6793992" y="2788920"/>
            <a:ext cx="4636008" cy="530352"/>
          </a:xfrm>
          <a:prstGeom prst="rect">
            <a:avLst/>
          </a:prstGeom>
          <a:noFill/>
          <a:ln/>
        </p:spPr>
        <p:txBody>
          <a:bodyPr wrap="square" lIns="0" tIns="0" rIns="0" bIns="0" rtlCol="0" anchor="t"/>
          <a:lstStyle/>
          <a:p>
            <a:pPr indent="0" marL="0">
              <a:buNone/>
            </a:pPr>
            <a:r>
              <a:rPr lang="en-US" sz="1400" dirty="0">
                <a:solidFill>
                  <a:srgbClr val="131925"/>
                </a:solidFill>
              </a:rPr>
              <a:t>Slower runs: drift detection takes minutes on large stacks</a:t>
            </a:r>
            <a:endParaRPr lang="en-US" sz="1400" dirty="0"/>
          </a:p>
        </p:txBody>
      </p:sp>
      <p:pic>
        <p:nvPicPr>
          <p:cNvPr id="33" name="Image 12" descr="Trade-off">    </p:cNvPr>
          <p:cNvPicPr>
            <a:picLocks noChangeAspect="1"/>
          </p:cNvPicPr>
          <p:nvPr/>
        </p:nvPicPr>
        <p:blipFill>
          <a:blip r:embed="rId13"/>
          <a:stretch>
            <a:fillRect/>
          </a:stretch>
        </p:blipFill>
        <p:spPr>
          <a:xfrm>
            <a:off x="6483096" y="3355848"/>
            <a:ext cx="201168" cy="201168"/>
          </a:xfrm>
          <a:prstGeom prst="rect">
            <a:avLst/>
          </a:prstGeom>
        </p:spPr>
      </p:pic>
      <p:sp>
        <p:nvSpPr>
          <p:cNvPr id="34" name="Text 18"/>
          <p:cNvSpPr txBox="1"/>
          <p:nvPr/>
        </p:nvSpPr>
        <p:spPr>
          <a:xfrm>
            <a:off x="6793992" y="3319272"/>
            <a:ext cx="4636008" cy="530352"/>
          </a:xfrm>
          <a:prstGeom prst="rect">
            <a:avLst/>
          </a:prstGeom>
          <a:noFill/>
          <a:ln/>
        </p:spPr>
        <p:txBody>
          <a:bodyPr wrap="square" lIns="0" tIns="0" rIns="0" bIns="0" rtlCol="0" anchor="t"/>
          <a:lstStyle/>
          <a:p>
            <a:pPr indent="0" marL="0">
              <a:buNone/>
            </a:pPr>
            <a:r>
              <a:rPr lang="en-US" sz="1400" dirty="0">
                <a:solidFill>
                  <a:srgbClr val="131925"/>
                </a:solidFill>
              </a:rPr>
              <a:t>Drift blocks deployment until the change is codified or reverted</a:t>
            </a:r>
            <a:endParaRPr lang="en-US" sz="1400" dirty="0"/>
          </a:p>
        </p:txBody>
      </p:sp>
      <p:pic>
        <p:nvPicPr>
          <p:cNvPr id="35" name="Image 13" descr="Trade-off">    </p:cNvPr>
          <p:cNvPicPr>
            <a:picLocks noChangeAspect="1"/>
          </p:cNvPicPr>
          <p:nvPr/>
        </p:nvPicPr>
        <p:blipFill>
          <a:blip r:embed="rId14"/>
          <a:stretch>
            <a:fillRect/>
          </a:stretch>
        </p:blipFill>
        <p:spPr>
          <a:xfrm>
            <a:off x="6483096" y="3886200"/>
            <a:ext cx="201168" cy="201168"/>
          </a:xfrm>
          <a:prstGeom prst="rect">
            <a:avLst/>
          </a:prstGeom>
        </p:spPr>
      </p:pic>
      <p:sp>
        <p:nvSpPr>
          <p:cNvPr id="36" name="Text 19"/>
          <p:cNvSpPr txBox="1"/>
          <p:nvPr/>
        </p:nvSpPr>
        <p:spPr>
          <a:xfrm>
            <a:off x="6793992" y="3849624"/>
            <a:ext cx="4636008" cy="530352"/>
          </a:xfrm>
          <a:prstGeom prst="rect">
            <a:avLst/>
          </a:prstGeom>
          <a:noFill/>
          <a:ln/>
        </p:spPr>
        <p:txBody>
          <a:bodyPr wrap="square" lIns="0" tIns="0" rIns="0" bIns="0" rtlCol="0" anchor="t"/>
          <a:lstStyle/>
          <a:p>
            <a:pPr indent="0" marL="0">
              <a:buNone/>
            </a:pPr>
            <a:r>
              <a:rPr lang="en-US" sz="1400" dirty="0">
                <a:solidFill>
                  <a:srgbClr val="131925"/>
                </a:solidFill>
              </a:rPr>
              <a:t>SES starts in sandbox: verify recipients or request production access</a:t>
            </a:r>
            <a:endParaRPr lang="en-US" sz="1400" dirty="0"/>
          </a:p>
        </p:txBody>
      </p:sp>
      <p:pic>
        <p:nvPicPr>
          <p:cNvPr id="37" name="Image 14" descr="Trade-off">    </p:cNvPr>
          <p:cNvPicPr>
            <a:picLocks noChangeAspect="1"/>
          </p:cNvPicPr>
          <p:nvPr/>
        </p:nvPicPr>
        <p:blipFill>
          <a:blip r:embed="rId15"/>
          <a:stretch>
            <a:fillRect/>
          </a:stretch>
        </p:blipFill>
        <p:spPr>
          <a:xfrm>
            <a:off x="6483096" y="4416552"/>
            <a:ext cx="201168" cy="201168"/>
          </a:xfrm>
          <a:prstGeom prst="rect">
            <a:avLst/>
          </a:prstGeom>
        </p:spPr>
      </p:pic>
      <p:sp>
        <p:nvSpPr>
          <p:cNvPr id="38" name="Text 20"/>
          <p:cNvSpPr txBox="1"/>
          <p:nvPr/>
        </p:nvSpPr>
        <p:spPr>
          <a:xfrm>
            <a:off x="6793992" y="4379976"/>
            <a:ext cx="4636008" cy="530352"/>
          </a:xfrm>
          <a:prstGeom prst="rect">
            <a:avLst/>
          </a:prstGeom>
          <a:noFill/>
          <a:ln/>
        </p:spPr>
        <p:txBody>
          <a:bodyPr wrap="square" lIns="0" tIns="0" rIns="0" bIns="0" rtlCol="0" anchor="t"/>
          <a:lstStyle/>
          <a:p>
            <a:pPr indent="0" marL="0">
              <a:buNone/>
            </a:pPr>
            <a:r>
              <a:rPr lang="en-US" sz="1400" dirty="0">
                <a:solidFill>
                  <a:srgbClr val="131925"/>
                </a:solidFill>
              </a:rPr>
              <a:t>Amazon Q needs a Kiro API key or Bedrock access; review its suggestions</a:t>
            </a:r>
            <a:endParaRPr lang="en-US" sz="1400" dirty="0"/>
          </a:p>
        </p:txBody>
      </p:sp>
      <p:pic>
        <p:nvPicPr>
          <p:cNvPr id="39" name="Image 15" descr="Trade-off">    </p:cNvPr>
          <p:cNvPicPr>
            <a:picLocks noChangeAspect="1"/>
          </p:cNvPicPr>
          <p:nvPr/>
        </p:nvPicPr>
        <p:blipFill>
          <a:blip r:embed="rId16"/>
          <a:stretch>
            <a:fillRect/>
          </a:stretch>
        </p:blipFill>
        <p:spPr>
          <a:xfrm>
            <a:off x="6483096" y="4946904"/>
            <a:ext cx="201168" cy="201168"/>
          </a:xfrm>
          <a:prstGeom prst="rect">
            <a:avLst/>
          </a:prstGeom>
        </p:spPr>
      </p:pic>
      <p:sp>
        <p:nvSpPr>
          <p:cNvPr id="40" name="Text 21"/>
          <p:cNvSpPr txBox="1"/>
          <p:nvPr/>
        </p:nvSpPr>
        <p:spPr>
          <a:xfrm>
            <a:off x="6793992" y="4910328"/>
            <a:ext cx="4636008" cy="530352"/>
          </a:xfrm>
          <a:prstGeom prst="rect">
            <a:avLst/>
          </a:prstGeom>
          <a:noFill/>
          <a:ln/>
        </p:spPr>
        <p:txBody>
          <a:bodyPr wrap="square" lIns="0" tIns="0" rIns="0" bIns="0" rtlCol="0" anchor="t"/>
          <a:lstStyle/>
          <a:p>
            <a:pPr indent="0" marL="0">
              <a:buNone/>
            </a:pPr>
            <a:r>
              <a:rPr lang="en-US" sz="1400" dirty="0">
                <a:solidFill>
                  <a:srgbClr val="131925"/>
                </a:solidFill>
              </a:rPr>
              <a:t>Still started by hand; the security scan only reports unless set to block</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Current vs proposed at a glance</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Seven safeguards compared side by side</a:t>
            </a:r>
            <a:endParaRPr lang="en-US" sz="1400" dirty="0"/>
          </a:p>
        </p:txBody>
      </p:sp>
      <p:sp>
        <p:nvSpPr>
          <p:cNvPr id="5" name="Text 2"/>
          <p:cNvSpPr txBox="1"/>
          <p:nvPr/>
        </p:nvSpPr>
        <p:spPr>
          <a:xfrm>
            <a:off x="548640" y="1371600"/>
            <a:ext cx="1371600" cy="237744"/>
          </a:xfrm>
          <a:prstGeom prst="rect">
            <a:avLst/>
          </a:prstGeom>
          <a:noFill/>
          <a:ln/>
        </p:spPr>
        <p:txBody>
          <a:bodyPr wrap="square" lIns="0" tIns="0" rIns="0" bIns="0" rtlCol="0" anchor="ctr"/>
          <a:lstStyle/>
          <a:p>
            <a:pPr indent="0" marL="0">
              <a:buNone/>
            </a:pPr>
            <a:r>
              <a:rPr lang="en-US" sz="1100" dirty="0">
                <a:solidFill>
                  <a:srgbClr val="2E8946"/>
                </a:solidFill>
              </a:rPr>
              <a:t>●  </a:t>
            </a:r>
            <a:pPr indent="0" marL="0">
              <a:buNone/>
            </a:pPr>
            <a:r>
              <a:rPr lang="en-US" sz="1100" dirty="0">
                <a:solidFill>
                  <a:srgbClr val="586275"/>
                </a:solidFill>
              </a:rPr>
              <a:t>In place</a:t>
            </a:r>
            <a:endParaRPr lang="en-US" sz="1100" dirty="0"/>
          </a:p>
        </p:txBody>
      </p:sp>
      <p:sp>
        <p:nvSpPr>
          <p:cNvPr id="6" name="Text 3"/>
          <p:cNvSpPr txBox="1"/>
          <p:nvPr/>
        </p:nvSpPr>
        <p:spPr>
          <a:xfrm>
            <a:off x="1965960" y="1371600"/>
            <a:ext cx="1371600" cy="237744"/>
          </a:xfrm>
          <a:prstGeom prst="rect">
            <a:avLst/>
          </a:prstGeom>
          <a:noFill/>
          <a:ln/>
        </p:spPr>
        <p:txBody>
          <a:bodyPr wrap="square" lIns="0" tIns="0" rIns="0" bIns="0" rtlCol="0" anchor="ctr"/>
          <a:lstStyle/>
          <a:p>
            <a:pPr indent="0" marL="0">
              <a:buNone/>
            </a:pPr>
            <a:r>
              <a:rPr lang="en-US" sz="1100" dirty="0">
                <a:solidFill>
                  <a:srgbClr val="BF8418"/>
                </a:solidFill>
              </a:rPr>
              <a:t>●  </a:t>
            </a:r>
            <a:pPr indent="0" marL="0">
              <a:buNone/>
            </a:pPr>
            <a:r>
              <a:rPr lang="en-US" sz="1100" dirty="0">
                <a:solidFill>
                  <a:srgbClr val="586275"/>
                </a:solidFill>
              </a:rPr>
              <a:t>Partly</a:t>
            </a:r>
            <a:endParaRPr lang="en-US" sz="1100" dirty="0"/>
          </a:p>
        </p:txBody>
      </p:sp>
      <p:sp>
        <p:nvSpPr>
          <p:cNvPr id="7" name="Text 4"/>
          <p:cNvSpPr txBox="1"/>
          <p:nvPr/>
        </p:nvSpPr>
        <p:spPr>
          <a:xfrm>
            <a:off x="3383280" y="1371600"/>
            <a:ext cx="1371600" cy="237744"/>
          </a:xfrm>
          <a:prstGeom prst="rect">
            <a:avLst/>
          </a:prstGeom>
          <a:noFill/>
          <a:ln/>
        </p:spPr>
        <p:txBody>
          <a:bodyPr wrap="square" lIns="0" tIns="0" rIns="0" bIns="0" rtlCol="0" anchor="ctr"/>
          <a:lstStyle/>
          <a:p>
            <a:pPr indent="0" marL="0">
              <a:buNone/>
            </a:pPr>
            <a:r>
              <a:rPr lang="en-US" sz="1100" dirty="0">
                <a:solidFill>
                  <a:srgbClr val="C93A32"/>
                </a:solidFill>
              </a:rPr>
              <a:t>●  </a:t>
            </a:r>
            <a:pPr indent="0" marL="0">
              <a:buNone/>
            </a:pPr>
            <a:r>
              <a:rPr lang="en-US" sz="1100" dirty="0">
                <a:solidFill>
                  <a:srgbClr val="586275"/>
                </a:solidFill>
              </a:rPr>
              <a:t>Missing</a:t>
            </a:r>
            <a:endParaRPr lang="en-US" sz="1100" dirty="0"/>
          </a:p>
        </p:txBody>
      </p:sp>
      <p:sp>
        <p:nvSpPr>
          <p:cNvPr id="8" name="Text 5"/>
          <p:cNvSpPr txBox="1"/>
          <p:nvPr/>
        </p:nvSpPr>
        <p:spPr>
          <a:xfrm>
            <a:off x="4800600" y="1371600"/>
            <a:ext cx="1371600" cy="237744"/>
          </a:xfrm>
          <a:prstGeom prst="rect">
            <a:avLst/>
          </a:prstGeom>
          <a:noFill/>
          <a:ln/>
        </p:spPr>
        <p:txBody>
          <a:bodyPr wrap="square" lIns="0" tIns="0" rIns="0" bIns="0" rtlCol="0" anchor="ctr"/>
          <a:lstStyle/>
          <a:p>
            <a:pPr indent="0" marL="0">
              <a:buNone/>
            </a:pPr>
            <a:r>
              <a:rPr lang="en-US" sz="1100" dirty="0">
                <a:solidFill>
                  <a:srgbClr val="A9B3C3"/>
                </a:solidFill>
              </a:rPr>
              <a:t>●  </a:t>
            </a:r>
            <a:pPr indent="0" marL="0">
              <a:buNone/>
            </a:pPr>
            <a:r>
              <a:rPr lang="en-US" sz="1100" dirty="0">
                <a:solidFill>
                  <a:srgbClr val="586275"/>
                </a:solidFill>
              </a:rPr>
              <a:t>Not applicable</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743200"/>
                <a:gridCol w="4160520"/>
                <a:gridCol w="4187952"/>
              </a:tblGrid>
              <a:tr h="0">
                <a:tc>
                  <a:txBody>
                    <a:bodyPr/>
                    <a:lstStyle/>
                    <a:p>
                      <a:pPr indent="0" marL="0">
                        <a:buNone/>
                      </a:pPr>
                      <a:r>
                        <a:rPr lang="en-US" sz="1050" b="1" dirty="0">
                          <a:solidFill>
                            <a:srgbClr val="586275"/>
                          </a:solidFill>
                        </a:rPr>
                        <a:t>Safeguard</a:t>
                      </a:r>
                      <a:endParaRPr lang="en-US" sz="10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Current flow</a:t>
                      </a:r>
                      <a:endParaRPr lang="en-US" sz="10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Proposed flow</a:t>
                      </a:r>
                      <a:endParaRPr lang="en-US" sz="10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350" b="1" dirty="0">
                          <a:solidFill>
                            <a:srgbClr val="131925"/>
                          </a:solidFill>
                        </a:rPr>
                        <a:t>Template lint and security scan</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None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cfn-lint and Checkov on every run</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Drift check before deploying</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None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Stack and nested stacks; drift stops the run</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New stacks and new resources</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Created as soon as the run starts</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Shown as Add in the change set; name clashes and invalid properties stop the run first</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Preview of what will change</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None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Change set with a risk rating for every change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Approval before changes run</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None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Required; a person executes the change set</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Notifications and record</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None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Emails for drift, approval and result; reports kept 30 to 90 days</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Failure diagnosis</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BF8418"/>
                          </a:solidFill>
                        </a:rPr>
                        <a:t>●  </a:t>
                      </a:r>
                      <a:pPr indent="0" marL="0">
                        <a:buNone/>
                      </a:pPr>
                      <a:r>
                        <a:rPr lang="en-US" sz="1350" dirty="0">
                          <a:solidFill>
                            <a:srgbClr val="131925"/>
                          </a:solidFill>
                        </a:rPr>
                        <a:t>CREATE_FAILED events only</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Every failed event, nested stacks included, with the root cause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822960"/>
          </a:xfrm>
          <a:prstGeom prst="rect">
            <a:avLst/>
          </a:prstGeom>
          <a:noFill/>
          <a:ln/>
        </p:spPr>
        <p:txBody>
          <a:bodyPr wrap="square" lIns="0" tIns="0" rIns="0" bIns="0" rtlCol="0" anchor="b"/>
          <a:lstStyle/>
          <a:p>
            <a:pPr indent="0" marL="0">
              <a:buNone/>
            </a:pPr>
            <a:r>
              <a:rPr lang="en-US" sz="4000" b="1" dirty="0">
                <a:solidFill>
                  <a:srgbClr val="8FB0FF"/>
                </a:solidFill>
              </a:rPr>
              <a:t>02</a:t>
            </a:r>
            <a:endParaRPr lang="en-US" sz="4000" dirty="0"/>
          </a:p>
        </p:txBody>
      </p:sp>
      <p:sp>
        <p:nvSpPr>
          <p:cNvPr id="3" name="Text 0"/>
          <p:cNvSpPr/>
          <p:nvPr>
            <p:ph idx="101" type="title" hasCustomPrompt="1"/>
          </p:nvPr>
        </p:nvSpPr>
        <p:spPr>
          <a:xfrm>
            <a:off x="731520" y="260604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rPr>
              <a:t>Route 53 DNS record pipelines</a:t>
            </a:r>
            <a:endParaRPr lang="en-US" sz="4000" dirty="0"/>
          </a:p>
        </p:txBody>
      </p:sp>
      <p:sp>
        <p:nvSpPr>
          <p:cNvPr id="4" name="Text 0"/>
          <p:cNvSpPr/>
          <p:nvPr>
            <p:ph idx="102" type="body" hasCustomPrompt="1"/>
          </p:nvPr>
        </p:nvSpPr>
        <p:spPr>
          <a:xfrm>
            <a:off x="731520" y="3703320"/>
            <a:ext cx="9144000" cy="914400"/>
          </a:xfrm>
          <a:prstGeom prst="rect">
            <a:avLst/>
          </a:prstGeom>
          <a:noFill/>
          <a:ln/>
        </p:spPr>
        <p:txBody>
          <a:bodyPr wrap="square" lIns="0" tIns="0" rIns="0" bIns="0" rtlCol="0" anchor="t"/>
          <a:lstStyle/>
          <a:p>
            <a:pPr indent="0" marL="0">
              <a:buNone/>
            </a:pPr>
            <a:r>
              <a:rPr lang="en-US" sz="1800" dirty="0">
                <a:solidFill>
                  <a:srgbClr val="C9D3E3"/>
                </a:solidFill>
              </a:rPr>
              <a:t>Export copies live records into Git; Apply pushes config back to Route 53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How Export and Apply fit together</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Both workflows call Route 53 directly through custom boto3 scripts</a:t>
            </a:r>
            <a:endParaRPr lang="en-US" sz="1400" dirty="0"/>
          </a:p>
        </p:txBody>
      </p:sp>
      <p:sp>
        <p:nvSpPr>
          <p:cNvPr id="5" name="Export workflow"/>
          <p:cNvSpPr txBox="1"/>
          <p:nvPr/>
        </p:nvSpPr>
        <p:spPr>
          <a:xfrm>
            <a:off x="3108960" y="1828800"/>
            <a:ext cx="201168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Export workflow</a:t>
            </a:r>
            <a:endParaRPr lang="en-US" sz="1200" dirty="0"/>
          </a:p>
          <a:p>
            <a:pPr algn="ctr" indent="0" marL="0">
              <a:buNone/>
            </a:pPr>
            <a:r>
              <a:rPr lang="en-US" sz="1000" dirty="0">
                <a:solidFill>
                  <a:srgbClr val="586275"/>
                </a:solidFill>
              </a:rPr>
              <a:t>Live records → JSON files</a:t>
            </a:r>
            <a:endParaRPr lang="en-US" sz="1200" dirty="0"/>
          </a:p>
        </p:txBody>
      </p:sp>
      <p:sp>
        <p:nvSpPr>
          <p:cNvPr id="6" name="Risk marker 13"/>
          <p:cNvSpPr txBox="1"/>
          <p:nvPr/>
        </p:nvSpPr>
        <p:spPr>
          <a:xfrm>
            <a:off x="4818888" y="169164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13</a:t>
            </a:r>
            <a:endParaRPr lang="en-US" sz="850" dirty="0"/>
          </a:p>
        </p:txBody>
      </p:sp>
      <p:sp>
        <p:nvSpPr>
          <p:cNvPr id="7" name="Risk marker 8"/>
          <p:cNvSpPr txBox="1"/>
          <p:nvPr/>
        </p:nvSpPr>
        <p:spPr>
          <a:xfrm>
            <a:off x="4507992" y="169164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8</a:t>
            </a:r>
            <a:endParaRPr lang="en-US" sz="1000" dirty="0"/>
          </a:p>
        </p:txBody>
      </p:sp>
      <p:sp>
        <p:nvSpPr>
          <p:cNvPr id="8" name="Shape 5"/>
          <p:cNvSpPr/>
          <p:nvPr/>
        </p:nvSpPr>
        <p:spPr>
          <a:xfrm>
            <a:off x="5120640" y="2240280"/>
            <a:ext cx="365760" cy="0"/>
          </a:xfrm>
          <a:prstGeom prst="line">
            <a:avLst/>
          </a:prstGeom>
          <a:noFill/>
          <a:ln w="15875">
            <a:solidFill>
              <a:srgbClr val="7D889B"/>
            </a:solidFill>
            <a:prstDash val="solid"/>
            <a:tailEnd type="triangle"/>
          </a:ln>
        </p:spPr>
      </p:sp>
      <p:sp>
        <p:nvSpPr>
          <p:cNvPr id="9" name="Pull request"/>
          <p:cNvSpPr txBox="1"/>
          <p:nvPr/>
        </p:nvSpPr>
        <p:spPr>
          <a:xfrm>
            <a:off x="5486400" y="1828800"/>
            <a:ext cx="210312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Pull request</a:t>
            </a:r>
            <a:endParaRPr lang="en-US" sz="1200" dirty="0"/>
          </a:p>
          <a:p>
            <a:pPr algn="ctr" indent="0" marL="0">
              <a:buNone/>
            </a:pPr>
            <a:r>
              <a:rPr lang="en-US" sz="1000" dirty="0">
                <a:solidFill>
                  <a:srgbClr val="586275"/>
                </a:solidFill>
              </a:rPr>
              <a:t>Review, edit, then merge</a:t>
            </a:r>
            <a:endParaRPr lang="en-US" sz="1200" dirty="0"/>
          </a:p>
        </p:txBody>
      </p:sp>
      <p:sp>
        <p:nvSpPr>
          <p:cNvPr id="10" name="Risk marker 10"/>
          <p:cNvSpPr txBox="1"/>
          <p:nvPr/>
        </p:nvSpPr>
        <p:spPr>
          <a:xfrm>
            <a:off x="7287768" y="169164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10</a:t>
            </a:r>
            <a:endParaRPr lang="en-US" sz="850" dirty="0"/>
          </a:p>
        </p:txBody>
      </p:sp>
      <p:sp>
        <p:nvSpPr>
          <p:cNvPr id="11" name="Shape 8"/>
          <p:cNvSpPr/>
          <p:nvPr/>
        </p:nvSpPr>
        <p:spPr>
          <a:xfrm>
            <a:off x="7589520" y="2240280"/>
            <a:ext cx="365760" cy="0"/>
          </a:xfrm>
          <a:prstGeom prst="line">
            <a:avLst/>
          </a:prstGeom>
          <a:noFill/>
          <a:ln w="15875">
            <a:solidFill>
              <a:srgbClr val="7D889B"/>
            </a:solidFill>
            <a:prstDash val="solid"/>
            <a:tailEnd type="triangle"/>
          </a:ln>
        </p:spPr>
      </p:sp>
      <p:sp>
        <p:nvSpPr>
          <p:cNvPr id="12" name="main branch"/>
          <p:cNvSpPr txBox="1"/>
          <p:nvPr/>
        </p:nvSpPr>
        <p:spPr>
          <a:xfrm>
            <a:off x="7955280" y="1691640"/>
            <a:ext cx="2011680" cy="1051560"/>
          </a:xfrm>
          <a:prstGeom prst="can">
            <a:avLst/>
          </a:prstGeom>
          <a:solidFill>
            <a:srgbClr val="EEF1F6"/>
          </a:solidFill>
          <a:ln w="15875">
            <a:solidFill>
              <a:srgbClr val="66728A"/>
            </a:solidFill>
            <a:prstDash val="solid"/>
          </a:ln>
        </p:spPr>
        <p:txBody>
          <a:bodyPr wrap="square" lIns="50800" tIns="25400" rIns="50800" bIns="25400" rtlCol="0" anchor="ctr"/>
          <a:lstStyle/>
          <a:p>
            <a:pPr algn="ctr" indent="0" marL="0">
              <a:buNone/>
            </a:pPr>
            <a:r>
              <a:rPr lang="en-US" sz="1200" b="1" dirty="0">
                <a:solidFill>
                  <a:srgbClr val="131925"/>
                </a:solidFill>
              </a:rPr>
              <a:t>main branch</a:t>
            </a:r>
            <a:endParaRPr lang="en-US" sz="1200" dirty="0"/>
          </a:p>
          <a:p>
            <a:pPr algn="ctr" indent="0" marL="0">
              <a:buNone/>
            </a:pPr>
            <a:r>
              <a:rPr lang="en-US" sz="1000" dirty="0">
                <a:solidFill>
                  <a:srgbClr val="586275"/>
                </a:solidFill>
              </a:rPr>
              <a:t>Zone config files</a:t>
            </a:r>
            <a:endParaRPr lang="en-US" sz="1200" dirty="0"/>
          </a:p>
        </p:txBody>
      </p:sp>
      <p:sp>
        <p:nvSpPr>
          <p:cNvPr id="13" name="Shape 10"/>
          <p:cNvSpPr/>
          <p:nvPr/>
        </p:nvSpPr>
        <p:spPr>
          <a:xfrm>
            <a:off x="8961120" y="2743200"/>
            <a:ext cx="0" cy="1508760"/>
          </a:xfrm>
          <a:prstGeom prst="line">
            <a:avLst/>
          </a:prstGeom>
          <a:noFill/>
          <a:ln w="15875">
            <a:solidFill>
              <a:srgbClr val="7D889B"/>
            </a:solidFill>
            <a:prstDash val="solid"/>
          </a:ln>
        </p:spPr>
      </p:sp>
      <p:sp>
        <p:nvSpPr>
          <p:cNvPr id="14" name="Shape 11"/>
          <p:cNvSpPr/>
          <p:nvPr/>
        </p:nvSpPr>
        <p:spPr>
          <a:xfrm flipH="1">
            <a:off x="8595360" y="4251960"/>
            <a:ext cx="365760" cy="0"/>
          </a:xfrm>
          <a:prstGeom prst="line">
            <a:avLst/>
          </a:prstGeom>
          <a:noFill/>
          <a:ln w="15875">
            <a:solidFill>
              <a:srgbClr val="7D889B"/>
            </a:solidFill>
            <a:prstDash val="solid"/>
            <a:tailEnd type="triangle"/>
          </a:ln>
        </p:spPr>
      </p:sp>
      <p:sp>
        <p:nvSpPr>
          <p:cNvPr id="15" name="Text 12"/>
          <p:cNvSpPr txBox="1"/>
          <p:nvPr/>
        </p:nvSpPr>
        <p:spPr>
          <a:xfrm>
            <a:off x="9070848" y="3383280"/>
            <a:ext cx="1005840" cy="219456"/>
          </a:xfrm>
          <a:prstGeom prst="rect">
            <a:avLst/>
          </a:prstGeom>
          <a:noFill/>
          <a:ln/>
        </p:spPr>
        <p:txBody>
          <a:bodyPr wrap="square" lIns="0" tIns="0" rIns="0" bIns="0" rtlCol="0" anchor="ctr"/>
          <a:lstStyle/>
          <a:p>
            <a:pPr algn="l" indent="0" marL="0">
              <a:buNone/>
            </a:pPr>
            <a:r>
              <a:rPr lang="en-US" sz="1000" b="1" dirty="0">
                <a:solidFill>
                  <a:srgbClr val="586275"/>
                </a:solidFill>
              </a:rPr>
              <a:t>Run by hand</a:t>
            </a:r>
            <a:endParaRPr lang="en-US" sz="1000" dirty="0"/>
          </a:p>
        </p:txBody>
      </p:sp>
      <p:sp>
        <p:nvSpPr>
          <p:cNvPr id="16" name="Apply workflow"/>
          <p:cNvSpPr txBox="1"/>
          <p:nvPr/>
        </p:nvSpPr>
        <p:spPr>
          <a:xfrm>
            <a:off x="5486400" y="3840480"/>
            <a:ext cx="310896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Apply workflow</a:t>
            </a:r>
            <a:endParaRPr lang="en-US" sz="1200" dirty="0"/>
          </a:p>
          <a:p>
            <a:pPr algn="ctr" indent="0" marL="0">
              <a:buNone/>
            </a:pPr>
            <a:r>
              <a:rPr lang="en-US" sz="1000" dirty="0">
                <a:solidFill>
                  <a:srgbClr val="586275"/>
                </a:solidFill>
              </a:rPr>
              <a:t>Preview → approval → change batch</a:t>
            </a:r>
            <a:endParaRPr lang="en-US" sz="1200" dirty="0"/>
          </a:p>
        </p:txBody>
      </p:sp>
      <p:sp>
        <p:nvSpPr>
          <p:cNvPr id="17" name="Risk marker 7"/>
          <p:cNvSpPr txBox="1"/>
          <p:nvPr/>
        </p:nvSpPr>
        <p:spPr>
          <a:xfrm>
            <a:off x="8293608" y="370332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7</a:t>
            </a:r>
            <a:endParaRPr lang="en-US" sz="1000" dirty="0"/>
          </a:p>
        </p:txBody>
      </p:sp>
      <p:sp>
        <p:nvSpPr>
          <p:cNvPr id="18" name="Risk marker 5"/>
          <p:cNvSpPr txBox="1"/>
          <p:nvPr/>
        </p:nvSpPr>
        <p:spPr>
          <a:xfrm>
            <a:off x="7982712" y="370332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19" name="Risk marker 1"/>
          <p:cNvSpPr txBox="1"/>
          <p:nvPr/>
        </p:nvSpPr>
        <p:spPr>
          <a:xfrm>
            <a:off x="7671816" y="370332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20" name="Shape 17"/>
          <p:cNvSpPr/>
          <p:nvPr/>
        </p:nvSpPr>
        <p:spPr>
          <a:xfrm flipH="1">
            <a:off x="5120640" y="4251960"/>
            <a:ext cx="365760" cy="0"/>
          </a:xfrm>
          <a:prstGeom prst="line">
            <a:avLst/>
          </a:prstGeom>
          <a:noFill/>
          <a:ln w="15875">
            <a:solidFill>
              <a:srgbClr val="7D889B"/>
            </a:solidFill>
            <a:prstDash val="solid"/>
            <a:tailEnd type="triangle"/>
          </a:ln>
        </p:spPr>
      </p:sp>
      <p:sp>
        <p:nvSpPr>
          <p:cNvPr id="21" name="Route 53 hosted zone"/>
          <p:cNvSpPr txBox="1"/>
          <p:nvPr/>
        </p:nvSpPr>
        <p:spPr>
          <a:xfrm>
            <a:off x="3108960" y="3703320"/>
            <a:ext cx="2011680" cy="1051560"/>
          </a:xfrm>
          <a:prstGeom prst="can">
            <a:avLst/>
          </a:prstGeom>
          <a:solidFill>
            <a:srgbClr val="EEF1F6"/>
          </a:solidFill>
          <a:ln w="15875">
            <a:solidFill>
              <a:srgbClr val="66728A"/>
            </a:solidFill>
            <a:prstDash val="solid"/>
          </a:ln>
        </p:spPr>
        <p:txBody>
          <a:bodyPr wrap="square" lIns="50800" tIns="25400" rIns="50800" bIns="25400" rtlCol="0" anchor="ctr"/>
          <a:lstStyle/>
          <a:p>
            <a:pPr algn="ctr" indent="0" marL="0">
              <a:buNone/>
            </a:pPr>
            <a:r>
              <a:rPr lang="en-US" sz="1200" b="1" dirty="0">
                <a:solidFill>
                  <a:srgbClr val="131925"/>
                </a:solidFill>
              </a:rPr>
              <a:t>Route 53 hosted zone</a:t>
            </a:r>
            <a:endParaRPr lang="en-US" sz="1200" dirty="0"/>
          </a:p>
          <a:p>
            <a:pPr algn="ctr" indent="0" marL="0">
              <a:buNone/>
            </a:pPr>
            <a:r>
              <a:rPr lang="en-US" sz="1000" dirty="0">
                <a:solidFill>
                  <a:srgbClr val="586275"/>
                </a:solidFill>
              </a:rPr>
              <a:t>Live records</a:t>
            </a:r>
            <a:endParaRPr lang="en-US" sz="1200" dirty="0"/>
          </a:p>
        </p:txBody>
      </p:sp>
      <p:sp>
        <p:nvSpPr>
          <p:cNvPr id="22" name="Risk marker 3"/>
          <p:cNvSpPr txBox="1"/>
          <p:nvPr/>
        </p:nvSpPr>
        <p:spPr>
          <a:xfrm>
            <a:off x="4818888" y="3639312"/>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23" name="Shape 20"/>
          <p:cNvSpPr/>
          <p:nvPr/>
        </p:nvSpPr>
        <p:spPr>
          <a:xfrm flipV="1">
            <a:off x="4114800" y="2651760"/>
            <a:ext cx="0" cy="1051560"/>
          </a:xfrm>
          <a:prstGeom prst="line">
            <a:avLst/>
          </a:prstGeom>
          <a:noFill/>
          <a:ln w="15875">
            <a:solidFill>
              <a:srgbClr val="7D889B"/>
            </a:solidFill>
            <a:prstDash val="solid"/>
            <a:tailEnd type="triangle"/>
          </a:ln>
        </p:spPr>
      </p:sp>
      <p:sp>
        <p:nvSpPr>
          <p:cNvPr id="24" name="Text 21"/>
          <p:cNvSpPr txBox="1"/>
          <p:nvPr/>
        </p:nvSpPr>
        <p:spPr>
          <a:xfrm>
            <a:off x="4224528" y="3017520"/>
            <a:ext cx="1463040" cy="219456"/>
          </a:xfrm>
          <a:prstGeom prst="rect">
            <a:avLst/>
          </a:prstGeom>
          <a:noFill/>
          <a:ln/>
        </p:spPr>
        <p:txBody>
          <a:bodyPr wrap="square" lIns="0" tIns="0" rIns="0" bIns="0" rtlCol="0" anchor="ctr"/>
          <a:lstStyle/>
          <a:p>
            <a:pPr algn="l" indent="0" marL="0">
              <a:buNone/>
            </a:pPr>
            <a:r>
              <a:rPr lang="en-US" sz="1000" b="1" dirty="0">
                <a:solidFill>
                  <a:srgbClr val="586275"/>
                </a:solidFill>
              </a:rPr>
              <a:t>Reads live records</a:t>
            </a:r>
            <a:endParaRPr lang="en-US" sz="1000" dirty="0"/>
          </a:p>
        </p:txBody>
      </p:sp>
      <p:sp>
        <p:nvSpPr>
          <p:cNvPr id="25" name="Other tools that write"/>
          <p:cNvSpPr/>
          <p:nvPr/>
        </p:nvSpPr>
        <p:spPr>
          <a:xfrm>
            <a:off x="548640" y="3703320"/>
            <a:ext cx="2240280" cy="996696"/>
          </a:xfrm>
          <a:prstGeom prst="roundRect">
            <a:avLst>
              <a:gd name="adj" fmla="val 7339"/>
            </a:avLst>
          </a:prstGeom>
          <a:solidFill>
            <a:srgbClr val="FFFFFF"/>
          </a:solidFill>
          <a:ln w="15875">
            <a:solidFill>
              <a:srgbClr val="7D889B"/>
            </a:solidFill>
            <a:prstDash val="dash"/>
          </a:ln>
        </p:spPr>
      </p:sp>
      <p:sp>
        <p:nvSpPr>
          <p:cNvPr id="26" name="Text 23"/>
          <p:cNvSpPr txBox="1"/>
          <p:nvPr/>
        </p:nvSpPr>
        <p:spPr>
          <a:xfrm>
            <a:off x="676656" y="3776472"/>
            <a:ext cx="1984248" cy="256032"/>
          </a:xfrm>
          <a:prstGeom prst="rect">
            <a:avLst/>
          </a:prstGeom>
          <a:noFill/>
          <a:ln/>
        </p:spPr>
        <p:txBody>
          <a:bodyPr wrap="square" lIns="0" tIns="0" rIns="0" bIns="0" rtlCol="0" anchor="ctr"/>
          <a:lstStyle/>
          <a:p>
            <a:pPr indent="0" marL="0">
              <a:buNone/>
            </a:pPr>
            <a:r>
              <a:rPr lang="en-US" sz="1150" b="1" dirty="0">
                <a:solidFill>
                  <a:srgbClr val="131925"/>
                </a:solidFill>
              </a:rPr>
              <a:t>Other tools that write</a:t>
            </a:r>
            <a:endParaRPr lang="en-US" sz="1150" dirty="0"/>
          </a:p>
        </p:txBody>
      </p:sp>
      <p:sp>
        <p:nvSpPr>
          <p:cNvPr id="27" name="Text 24"/>
          <p:cNvSpPr txBox="1"/>
          <p:nvPr/>
        </p:nvSpPr>
        <p:spPr>
          <a:xfrm>
            <a:off x="658368" y="4050792"/>
            <a:ext cx="2020824" cy="594360"/>
          </a:xfrm>
          <a:prstGeom prst="rect">
            <a:avLst/>
          </a:prstGeom>
          <a:noFill/>
          <a:ln/>
        </p:spPr>
        <p:txBody>
          <a:bodyPr wrap="square" lIns="0" tIns="0" rIns="0" bIns="0" rtlCol="0" anchor="t"/>
          <a:lstStyle/>
          <a:p>
            <a:pPr marL="127000" indent="-127000">
              <a:lnSpc>
                <a:spcPts val="1512"/>
              </a:lnSpc>
              <a:buSzPct val="100000"/>
              <a:buChar char="•"/>
            </a:pPr>
            <a:r>
              <a:rPr lang="en-US" sz="1000" dirty="0">
                <a:solidFill>
                  <a:srgbClr val="586275"/>
                </a:solidFill>
              </a:rPr>
              <a:t>AWS console edits</a:t>
            </a:r>
            <a:endParaRPr lang="en-US" sz="1000" dirty="0"/>
          </a:p>
          <a:p>
            <a:pPr marL="127000" indent="-127000">
              <a:lnSpc>
                <a:spcPts val="1512"/>
              </a:lnSpc>
              <a:buSzPct val="100000"/>
              <a:buChar char="•"/>
            </a:pPr>
            <a:r>
              <a:rPr lang="en-US" sz="1000" dirty="0">
                <a:solidFill>
                  <a:srgbClr val="586275"/>
                </a:solidFill>
              </a:rPr>
              <a:t>CloudFormation record sets</a:t>
            </a:r>
            <a:endParaRPr lang="en-US" sz="1000" dirty="0"/>
          </a:p>
          <a:p>
            <a:pPr marL="127000" indent="-127000">
              <a:lnSpc>
                <a:spcPts val="1512"/>
              </a:lnSpc>
              <a:buSzPct val="100000"/>
              <a:buChar char="•"/>
            </a:pPr>
            <a:r>
              <a:rPr lang="en-US" sz="1000" dirty="0">
                <a:solidFill>
                  <a:srgbClr val="586275"/>
                </a:solidFill>
              </a:rPr>
              <a:t>ACM validation, ExternalDNS</a:t>
            </a:r>
            <a:endParaRPr lang="en-US" sz="1000" dirty="0"/>
          </a:p>
        </p:txBody>
      </p:sp>
      <p:sp>
        <p:nvSpPr>
          <p:cNvPr id="28" name="Risk marker 9"/>
          <p:cNvSpPr txBox="1"/>
          <p:nvPr/>
        </p:nvSpPr>
        <p:spPr>
          <a:xfrm>
            <a:off x="2487168" y="356616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29" name="Risk marker 2"/>
          <p:cNvSpPr txBox="1"/>
          <p:nvPr/>
        </p:nvSpPr>
        <p:spPr>
          <a:xfrm>
            <a:off x="2176272" y="356616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30" name="Shape 27"/>
          <p:cNvSpPr/>
          <p:nvPr/>
        </p:nvSpPr>
        <p:spPr>
          <a:xfrm>
            <a:off x="2788920" y="4251960"/>
            <a:ext cx="320040" cy="0"/>
          </a:xfrm>
          <a:prstGeom prst="line">
            <a:avLst/>
          </a:prstGeom>
          <a:noFill/>
          <a:ln w="15875">
            <a:solidFill>
              <a:srgbClr val="7D889B"/>
            </a:solidFill>
            <a:prstDash val="dash"/>
            <a:tailEnd type="triangle"/>
          </a:ln>
        </p:spPr>
      </p:sp>
      <p:sp>
        <p:nvSpPr>
          <p:cNvPr id="31" name="Shape 28"/>
          <p:cNvSpPr/>
          <p:nvPr/>
        </p:nvSpPr>
        <p:spPr>
          <a:xfrm>
            <a:off x="548640" y="5166360"/>
            <a:ext cx="3575304" cy="1097280"/>
          </a:xfrm>
          <a:prstGeom prst="roundRect">
            <a:avLst>
              <a:gd name="adj" fmla="val 10000"/>
            </a:avLst>
          </a:prstGeom>
          <a:solidFill>
            <a:srgbClr val="EEF1F6"/>
          </a:solidFill>
          <a:ln w="12700">
            <a:solidFill>
              <a:srgbClr val="EEF1F6"/>
            </a:solidFill>
            <a:prstDash val="solid"/>
          </a:ln>
          <a:effectLst>
            <a:outerShdw sx="100000" sy="100000" kx="0" ky="0" algn="bl" rotWithShape="0" blurRad="76200" dist="25400" dir="5400000">
              <a:srgbClr val="1B2A41">
                <a:alpha val="10000"/>
              </a:srgbClr>
            </a:outerShdw>
          </a:effectLst>
        </p:spPr>
      </p:sp>
      <p:sp>
        <p:nvSpPr>
          <p:cNvPr id="32" name="Text 29"/>
          <p:cNvSpPr txBox="1"/>
          <p:nvPr/>
        </p:nvSpPr>
        <p:spPr>
          <a:xfrm>
            <a:off x="749808" y="5285232"/>
            <a:ext cx="3200400" cy="292608"/>
          </a:xfrm>
          <a:prstGeom prst="rect">
            <a:avLst/>
          </a:prstGeom>
          <a:noFill/>
          <a:ln/>
        </p:spPr>
        <p:txBody>
          <a:bodyPr wrap="square" lIns="0" tIns="0" rIns="0" bIns="0" rtlCol="0" anchor="ctr"/>
          <a:lstStyle/>
          <a:p>
            <a:pPr indent="0" marL="0">
              <a:buNone/>
            </a:pPr>
            <a:r>
              <a:rPr lang="en-US" sz="1400" b="1" dirty="0">
                <a:solidFill>
                  <a:srgbClr val="16243A"/>
                </a:solidFill>
              </a:rPr>
              <a:t>Merging changes nothing</a:t>
            </a:r>
            <a:endParaRPr lang="en-US" sz="1400" dirty="0"/>
          </a:p>
        </p:txBody>
      </p:sp>
      <p:sp>
        <p:nvSpPr>
          <p:cNvPr id="33" name="Text 30"/>
          <p:cNvSpPr txBox="1"/>
          <p:nvPr/>
        </p:nvSpPr>
        <p:spPr>
          <a:xfrm>
            <a:off x="749808" y="5596128"/>
            <a:ext cx="3200400" cy="566928"/>
          </a:xfrm>
          <a:prstGeom prst="rect">
            <a:avLst/>
          </a:prstGeom>
          <a:noFill/>
          <a:ln/>
        </p:spPr>
        <p:txBody>
          <a:bodyPr wrap="square" lIns="0" tIns="0" rIns="0" bIns="0" rtlCol="0" anchor="t"/>
          <a:lstStyle/>
          <a:p>
            <a:pPr indent="0" marL="0">
              <a:buNone/>
            </a:pPr>
            <a:r>
              <a:rPr lang="en-US" sz="1250" dirty="0">
                <a:solidFill>
                  <a:srgbClr val="131925"/>
                </a:solidFill>
              </a:rPr>
              <a:t>Config on main reaches Route 53 only when someone runs Apply.</a:t>
            </a:r>
            <a:endParaRPr lang="en-US" sz="1250" dirty="0"/>
          </a:p>
        </p:txBody>
      </p:sp>
      <p:sp>
        <p:nvSpPr>
          <p:cNvPr id="34" name="Shape 31"/>
          <p:cNvSpPr/>
          <p:nvPr/>
        </p:nvSpPr>
        <p:spPr>
          <a:xfrm>
            <a:off x="4306824" y="5166360"/>
            <a:ext cx="3575304" cy="1097280"/>
          </a:xfrm>
          <a:prstGeom prst="roundRect">
            <a:avLst>
              <a:gd name="adj" fmla="val 10000"/>
            </a:avLst>
          </a:prstGeom>
          <a:solidFill>
            <a:srgbClr val="EEF1F6"/>
          </a:solidFill>
          <a:ln w="12700">
            <a:solidFill>
              <a:srgbClr val="EEF1F6"/>
            </a:solidFill>
            <a:prstDash val="solid"/>
          </a:ln>
          <a:effectLst>
            <a:outerShdw sx="100000" sy="100000" kx="0" ky="0" algn="bl" rotWithShape="0" blurRad="76200" dist="25400" dir="5400000">
              <a:srgbClr val="1B2A41">
                <a:alpha val="10000"/>
              </a:srgbClr>
            </a:outerShdw>
          </a:effectLst>
        </p:spPr>
      </p:sp>
      <p:sp>
        <p:nvSpPr>
          <p:cNvPr id="35" name="Text 32"/>
          <p:cNvSpPr txBox="1"/>
          <p:nvPr/>
        </p:nvSpPr>
        <p:spPr>
          <a:xfrm>
            <a:off x="4507992" y="5285232"/>
            <a:ext cx="3200400" cy="292608"/>
          </a:xfrm>
          <a:prstGeom prst="rect">
            <a:avLst/>
          </a:prstGeom>
          <a:noFill/>
          <a:ln/>
        </p:spPr>
        <p:txBody>
          <a:bodyPr wrap="square" lIns="0" tIns="0" rIns="0" bIns="0" rtlCol="0" anchor="ctr"/>
          <a:lstStyle/>
          <a:p>
            <a:pPr indent="0" marL="0">
              <a:buNone/>
            </a:pPr>
            <a:r>
              <a:rPr lang="en-US" sz="1400" b="1" dirty="0">
                <a:solidFill>
                  <a:srgbClr val="16243A"/>
                </a:solidFill>
              </a:rPr>
              <a:t>No drift check</a:t>
            </a:r>
            <a:endParaRPr lang="en-US" sz="1400" dirty="0"/>
          </a:p>
        </p:txBody>
      </p:sp>
      <p:sp>
        <p:nvSpPr>
          <p:cNvPr id="36" name="Text 33"/>
          <p:cNvSpPr txBox="1"/>
          <p:nvPr/>
        </p:nvSpPr>
        <p:spPr>
          <a:xfrm>
            <a:off x="4507992" y="5596128"/>
            <a:ext cx="3200400" cy="566928"/>
          </a:xfrm>
          <a:prstGeom prst="rect">
            <a:avLst/>
          </a:prstGeom>
          <a:noFill/>
          <a:ln/>
        </p:spPr>
        <p:txBody>
          <a:bodyPr wrap="square" lIns="0" tIns="0" rIns="0" bIns="0" rtlCol="0" anchor="t"/>
          <a:lstStyle/>
          <a:p>
            <a:pPr indent="0" marL="0">
              <a:buNone/>
            </a:pPr>
            <a:r>
              <a:rPr lang="en-US" sz="1250" dirty="0">
                <a:solidFill>
                  <a:srgbClr val="131925"/>
                </a:solidFill>
              </a:rPr>
              <a:t>Nothing compares the live zones with main between runs.</a:t>
            </a:r>
            <a:endParaRPr lang="en-US" sz="1250" dirty="0"/>
          </a:p>
        </p:txBody>
      </p:sp>
      <p:sp>
        <p:nvSpPr>
          <p:cNvPr id="37" name="Shape 34"/>
          <p:cNvSpPr/>
          <p:nvPr/>
        </p:nvSpPr>
        <p:spPr>
          <a:xfrm>
            <a:off x="8065008" y="5166360"/>
            <a:ext cx="3575304" cy="1097280"/>
          </a:xfrm>
          <a:prstGeom prst="roundRect">
            <a:avLst>
              <a:gd name="adj" fmla="val 10000"/>
            </a:avLst>
          </a:prstGeom>
          <a:solidFill>
            <a:srgbClr val="EEF1F6"/>
          </a:solidFill>
          <a:ln w="12700">
            <a:solidFill>
              <a:srgbClr val="EEF1F6"/>
            </a:solidFill>
            <a:prstDash val="solid"/>
          </a:ln>
          <a:effectLst>
            <a:outerShdw sx="100000" sy="100000" kx="0" ky="0" algn="bl" rotWithShape="0" blurRad="76200" dist="25400" dir="5400000">
              <a:srgbClr val="1B2A41">
                <a:alpha val="10000"/>
              </a:srgbClr>
            </a:outerShdw>
          </a:effectLst>
        </p:spPr>
      </p:sp>
      <p:sp>
        <p:nvSpPr>
          <p:cNvPr id="38" name="Text 35"/>
          <p:cNvSpPr txBox="1"/>
          <p:nvPr/>
        </p:nvSpPr>
        <p:spPr>
          <a:xfrm>
            <a:off x="8266176" y="5285232"/>
            <a:ext cx="3200400" cy="292608"/>
          </a:xfrm>
          <a:prstGeom prst="rect">
            <a:avLst/>
          </a:prstGeom>
          <a:noFill/>
          <a:ln/>
        </p:spPr>
        <p:txBody>
          <a:bodyPr wrap="square" lIns="0" tIns="0" rIns="0" bIns="0" rtlCol="0" anchor="ctr"/>
          <a:lstStyle/>
          <a:p>
            <a:pPr indent="0" marL="0">
              <a:buNone/>
            </a:pPr>
            <a:r>
              <a:rPr lang="en-US" sz="1400" b="1" dirty="0">
                <a:solidFill>
                  <a:srgbClr val="16243A"/>
                </a:solidFill>
              </a:rPr>
              <a:t>Shared zones</a:t>
            </a:r>
            <a:endParaRPr lang="en-US" sz="1400" dirty="0"/>
          </a:p>
        </p:txBody>
      </p:sp>
      <p:sp>
        <p:nvSpPr>
          <p:cNvPr id="39" name="Text 36"/>
          <p:cNvSpPr txBox="1"/>
          <p:nvPr/>
        </p:nvSpPr>
        <p:spPr>
          <a:xfrm>
            <a:off x="8266176" y="5596128"/>
            <a:ext cx="3200400" cy="566928"/>
          </a:xfrm>
          <a:prstGeom prst="rect">
            <a:avLst/>
          </a:prstGeom>
          <a:noFill/>
          <a:ln/>
        </p:spPr>
        <p:txBody>
          <a:bodyPr wrap="square" lIns="0" tIns="0" rIns="0" bIns="0" rtlCol="0" anchor="t"/>
          <a:lstStyle/>
          <a:p>
            <a:pPr indent="0" marL="0">
              <a:buNone/>
            </a:pPr>
            <a:r>
              <a:rPr lang="en-US" sz="1250" dirty="0">
                <a:solidFill>
                  <a:srgbClr val="131925"/>
                </a:solidFill>
              </a:rPr>
              <a:t>Records written by other tools look like removals to Apply.</a:t>
            </a:r>
            <a:endParaRPr lang="en-US" sz="12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DNS export flow</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ws2-dns-records-export.yml · exporting one zone needs no approval: it only reads Route 53 and opens a pull request</a:t>
            </a:r>
            <a:endParaRPr lang="en-US" sz="1400" dirty="0"/>
          </a:p>
        </p:txBody>
      </p:sp>
      <p:sp>
        <p:nvSpPr>
          <p:cNvPr id="5" name="Engineer runs Export"/>
          <p:cNvSpPr txBox="1"/>
          <p:nvPr/>
        </p:nvSpPr>
        <p:spPr>
          <a:xfrm>
            <a:off x="548640" y="1600200"/>
            <a:ext cx="160020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Engineer runs Export</a:t>
            </a:r>
            <a:endParaRPr lang="en-US" sz="1200" dirty="0"/>
          </a:p>
          <a:p>
            <a:pPr algn="ctr" indent="0" marL="0">
              <a:buNone/>
            </a:pPr>
            <a:r>
              <a:rPr lang="en-US" sz="1000" dirty="0">
                <a:solidFill>
                  <a:srgbClr val="586275"/>
                </a:solidFill>
              </a:rPr>
              <a:t>One zone, or blank for all</a:t>
            </a:r>
            <a:endParaRPr lang="en-US" sz="1200" dirty="0"/>
          </a:p>
        </p:txBody>
      </p:sp>
      <p:sp>
        <p:nvSpPr>
          <p:cNvPr id="6" name="Risk marker 15"/>
          <p:cNvSpPr txBox="1"/>
          <p:nvPr/>
        </p:nvSpPr>
        <p:spPr>
          <a:xfrm>
            <a:off x="1847088" y="146304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15</a:t>
            </a:r>
            <a:endParaRPr lang="en-US" sz="850" dirty="0"/>
          </a:p>
        </p:txBody>
      </p:sp>
      <p:sp>
        <p:nvSpPr>
          <p:cNvPr id="7" name="Shape 4"/>
          <p:cNvSpPr/>
          <p:nvPr/>
        </p:nvSpPr>
        <p:spPr>
          <a:xfrm>
            <a:off x="2148840" y="2011680"/>
            <a:ext cx="228600" cy="0"/>
          </a:xfrm>
          <a:prstGeom prst="line">
            <a:avLst/>
          </a:prstGeom>
          <a:noFill/>
          <a:ln w="15875">
            <a:solidFill>
              <a:srgbClr val="7D889B"/>
            </a:solidFill>
            <a:prstDash val="solid"/>
            <a:tailEnd type="triangle"/>
          </a:ln>
        </p:spPr>
      </p:sp>
      <p:sp>
        <p:nvSpPr>
          <p:cNvPr id="8" name="Account and inputs valid?"/>
          <p:cNvSpPr txBox="1"/>
          <p:nvPr/>
        </p:nvSpPr>
        <p:spPr>
          <a:xfrm>
            <a:off x="2377440" y="1508760"/>
            <a:ext cx="1371600" cy="100584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050" b="1" dirty="0">
                <a:solidFill>
                  <a:srgbClr val="6A4200"/>
                </a:solidFill>
              </a:rPr>
              <a:t>Account and</a:t>
            </a:r>
            <a:endParaRPr lang="en-US" sz="1050" dirty="0"/>
          </a:p>
          <a:p>
            <a:pPr algn="ctr" indent="0" marL="0">
              <a:buNone/>
            </a:pPr>
            <a:r>
              <a:rPr lang="en-US" sz="1050" b="1" dirty="0">
                <a:solidFill>
                  <a:srgbClr val="6A4200"/>
                </a:solidFill>
              </a:rPr>
              <a:t>inputs valid?</a:t>
            </a:r>
            <a:endParaRPr lang="en-US" sz="1050" dirty="0"/>
          </a:p>
        </p:txBody>
      </p:sp>
      <p:sp>
        <p:nvSpPr>
          <p:cNvPr id="9" name="Shape 6"/>
          <p:cNvSpPr/>
          <p:nvPr/>
        </p:nvSpPr>
        <p:spPr>
          <a:xfrm>
            <a:off x="3749040" y="2011680"/>
            <a:ext cx="274320" cy="0"/>
          </a:xfrm>
          <a:prstGeom prst="line">
            <a:avLst/>
          </a:prstGeom>
          <a:noFill/>
          <a:ln w="15875">
            <a:solidFill>
              <a:srgbClr val="7D889B"/>
            </a:solidFill>
            <a:prstDash val="solid"/>
            <a:tailEnd type="triangle"/>
          </a:ln>
        </p:spPr>
      </p:sp>
      <p:sp>
        <p:nvSpPr>
          <p:cNvPr id="10" name="Text 7"/>
          <p:cNvSpPr txBox="1"/>
          <p:nvPr/>
        </p:nvSpPr>
        <p:spPr>
          <a:xfrm>
            <a:off x="3730752" y="170078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11" name="Zones listed and matched"/>
          <p:cNvSpPr txBox="1"/>
          <p:nvPr/>
        </p:nvSpPr>
        <p:spPr>
          <a:xfrm>
            <a:off x="4023360" y="1600200"/>
            <a:ext cx="1691640" cy="822960"/>
          </a:xfrm>
          <a:prstGeom prst="roundRect">
            <a:avLst>
              <a:gd name="adj" fmla="val 10000"/>
            </a:avLst>
          </a:prstGeom>
          <a:solidFill>
            <a:srgbClr val="E2F3EC"/>
          </a:solidFill>
          <a:ln w="15875">
            <a:solidFill>
              <a:srgbClr val="22866A"/>
            </a:solidFill>
            <a:prstDash val="solid"/>
          </a:ln>
        </p:spPr>
        <p:txBody>
          <a:bodyPr wrap="square" lIns="50800" tIns="25400" rIns="50800" bIns="25400" rtlCol="0" anchor="ctr"/>
          <a:lstStyle/>
          <a:p>
            <a:pPr algn="ctr" indent="0" marL="0">
              <a:buNone/>
            </a:pPr>
            <a:r>
              <a:rPr lang="en-US" sz="1200" b="1" dirty="0">
                <a:solidFill>
                  <a:srgbClr val="0C4D3C"/>
                </a:solidFill>
              </a:rPr>
              <a:t>Zones listed and matched</a:t>
            </a:r>
            <a:endParaRPr lang="en-US" sz="1200" dirty="0"/>
          </a:p>
          <a:p>
            <a:pPr algn="ctr" indent="0" marL="0">
              <a:buNone/>
            </a:pPr>
            <a:r>
              <a:rPr lang="en-US" sz="1000" dirty="0">
                <a:solidFill>
                  <a:srgbClr val="2B6C59"/>
                </a:solidFill>
              </a:rPr>
              <a:t>Split-horizon pairs kept apart</a:t>
            </a:r>
            <a:endParaRPr lang="en-US" sz="1200" dirty="0"/>
          </a:p>
        </p:txBody>
      </p:sp>
      <p:sp>
        <p:nvSpPr>
          <p:cNvPr id="12" name="Risk marker 15"/>
          <p:cNvSpPr txBox="1"/>
          <p:nvPr/>
        </p:nvSpPr>
        <p:spPr>
          <a:xfrm>
            <a:off x="5413248" y="146304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15</a:t>
            </a:r>
            <a:endParaRPr lang="en-US" sz="850" dirty="0"/>
          </a:p>
        </p:txBody>
      </p:sp>
      <p:sp>
        <p:nvSpPr>
          <p:cNvPr id="13" name="Shape 10"/>
          <p:cNvSpPr/>
          <p:nvPr/>
        </p:nvSpPr>
        <p:spPr>
          <a:xfrm>
            <a:off x="5715000" y="2011680"/>
            <a:ext cx="274320" cy="0"/>
          </a:xfrm>
          <a:prstGeom prst="line">
            <a:avLst/>
          </a:prstGeom>
          <a:noFill/>
          <a:ln w="15875">
            <a:solidFill>
              <a:srgbClr val="7D889B"/>
            </a:solidFill>
            <a:prstDash val="solid"/>
            <a:tailEnd type="triangle"/>
          </a:ln>
        </p:spPr>
      </p:sp>
      <p:sp>
        <p:nvSpPr>
          <p:cNvPr id="14" name="All zones, outside sandbox?"/>
          <p:cNvSpPr txBox="1"/>
          <p:nvPr/>
        </p:nvSpPr>
        <p:spPr>
          <a:xfrm>
            <a:off x="5989320" y="1463040"/>
            <a:ext cx="1554480" cy="109728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050" b="1" dirty="0">
                <a:solidFill>
                  <a:srgbClr val="6A4200"/>
                </a:solidFill>
              </a:rPr>
              <a:t>All zones,</a:t>
            </a:r>
            <a:endParaRPr lang="en-US" sz="1050" dirty="0"/>
          </a:p>
          <a:p>
            <a:pPr algn="ctr" indent="0" marL="0">
              <a:buNone/>
            </a:pPr>
            <a:r>
              <a:rPr lang="en-US" sz="1050" b="1" dirty="0">
                <a:solidFill>
                  <a:srgbClr val="6A4200"/>
                </a:solidFill>
              </a:rPr>
              <a:t>outside sandbox?</a:t>
            </a:r>
            <a:endParaRPr lang="en-US" sz="1050" dirty="0"/>
          </a:p>
        </p:txBody>
      </p:sp>
      <p:sp>
        <p:nvSpPr>
          <p:cNvPr id="15" name="Shape 12"/>
          <p:cNvSpPr/>
          <p:nvPr/>
        </p:nvSpPr>
        <p:spPr>
          <a:xfrm>
            <a:off x="7543800" y="2011680"/>
            <a:ext cx="274320" cy="0"/>
          </a:xfrm>
          <a:prstGeom prst="line">
            <a:avLst/>
          </a:prstGeom>
          <a:noFill/>
          <a:ln w="15875">
            <a:solidFill>
              <a:srgbClr val="7D889B"/>
            </a:solidFill>
            <a:prstDash val="solid"/>
            <a:tailEnd type="triangle"/>
          </a:ln>
        </p:spPr>
      </p:sp>
      <p:sp>
        <p:nvSpPr>
          <p:cNvPr id="16" name="Text 13"/>
          <p:cNvSpPr txBox="1"/>
          <p:nvPr/>
        </p:nvSpPr>
        <p:spPr>
          <a:xfrm>
            <a:off x="7516368" y="170078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17" name="Approval required"/>
          <p:cNvSpPr txBox="1"/>
          <p:nvPr/>
        </p:nvSpPr>
        <p:spPr>
          <a:xfrm>
            <a:off x="7818120" y="1600200"/>
            <a:ext cx="1371600" cy="822960"/>
          </a:xfrm>
          <a:prstGeom prst="roundRect">
            <a:avLst>
              <a:gd name="adj" fmla="val 10000"/>
            </a:avLst>
          </a:prstGeom>
          <a:solidFill>
            <a:srgbClr val="E2F3EC"/>
          </a:solidFill>
          <a:ln w="15875">
            <a:solidFill>
              <a:srgbClr val="22866A"/>
            </a:solidFill>
            <a:prstDash val="solid"/>
          </a:ln>
        </p:spPr>
        <p:txBody>
          <a:bodyPr wrap="square" lIns="50800" tIns="25400" rIns="50800" bIns="25400" rtlCol="0" anchor="ctr"/>
          <a:lstStyle/>
          <a:p>
            <a:pPr algn="ctr" indent="0" marL="0">
              <a:buNone/>
            </a:pPr>
            <a:r>
              <a:rPr lang="en-US" sz="1200" b="1" dirty="0">
                <a:solidFill>
                  <a:srgbClr val="0C4D3C"/>
                </a:solidFill>
              </a:rPr>
              <a:t>Approval required</a:t>
            </a:r>
            <a:endParaRPr lang="en-US" sz="1200" dirty="0"/>
          </a:p>
          <a:p>
            <a:pPr algn="ctr" indent="0" marL="0">
              <a:buNone/>
            </a:pPr>
            <a:r>
              <a:rPr lang="en-US" sz="1000" dirty="0">
                <a:solidFill>
                  <a:srgbClr val="2B6C59"/>
                </a:solidFill>
              </a:rPr>
              <a:t>production reviewers</a:t>
            </a:r>
            <a:endParaRPr lang="en-US" sz="1200" dirty="0"/>
          </a:p>
        </p:txBody>
      </p:sp>
      <p:sp>
        <p:nvSpPr>
          <p:cNvPr id="18" name="Shape 15"/>
          <p:cNvSpPr/>
          <p:nvPr/>
        </p:nvSpPr>
        <p:spPr>
          <a:xfrm>
            <a:off x="9189720" y="2011680"/>
            <a:ext cx="228600" cy="0"/>
          </a:xfrm>
          <a:prstGeom prst="line">
            <a:avLst/>
          </a:prstGeom>
          <a:noFill/>
          <a:ln w="15875">
            <a:solidFill>
              <a:srgbClr val="7D889B"/>
            </a:solidFill>
            <a:prstDash val="solid"/>
            <a:tailEnd type="triangle"/>
          </a:ln>
        </p:spPr>
      </p:sp>
      <p:sp>
        <p:nvSpPr>
          <p:cNvPr id="19" name="Approved?"/>
          <p:cNvSpPr txBox="1"/>
          <p:nvPr/>
        </p:nvSpPr>
        <p:spPr>
          <a:xfrm>
            <a:off x="9418320" y="1577340"/>
            <a:ext cx="1005840" cy="86868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050" b="1" dirty="0">
                <a:solidFill>
                  <a:srgbClr val="6A4200"/>
                </a:solidFill>
              </a:rPr>
              <a:t>Approved?</a:t>
            </a:r>
            <a:endParaRPr lang="en-US" sz="1050" dirty="0"/>
          </a:p>
        </p:txBody>
      </p:sp>
      <p:sp>
        <p:nvSpPr>
          <p:cNvPr id="20" name="Shape 17"/>
          <p:cNvSpPr/>
          <p:nvPr/>
        </p:nvSpPr>
        <p:spPr>
          <a:xfrm>
            <a:off x="10424160" y="2011680"/>
            <a:ext cx="182880" cy="0"/>
          </a:xfrm>
          <a:prstGeom prst="line">
            <a:avLst/>
          </a:prstGeom>
          <a:noFill/>
          <a:ln w="15875">
            <a:solidFill>
              <a:srgbClr val="7D889B"/>
            </a:solidFill>
            <a:prstDash val="solid"/>
            <a:tailEnd type="triangle"/>
          </a:ln>
        </p:spPr>
      </p:sp>
      <p:sp>
        <p:nvSpPr>
          <p:cNvPr id="21" name="Text 18"/>
          <p:cNvSpPr txBox="1"/>
          <p:nvPr/>
        </p:nvSpPr>
        <p:spPr>
          <a:xfrm>
            <a:off x="10387584" y="170078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22" name="Rejected"/>
          <p:cNvSpPr txBox="1"/>
          <p:nvPr/>
        </p:nvSpPr>
        <p:spPr>
          <a:xfrm>
            <a:off x="10607040" y="1737360"/>
            <a:ext cx="1033272" cy="548640"/>
          </a:xfrm>
          <a:prstGeom prst="roundRect">
            <a:avLst>
              <a:gd name="adj" fmla="val 50000"/>
            </a:avLst>
          </a:prstGeom>
          <a:solidFill>
            <a:srgbClr val="EBEEFC"/>
          </a:solidFill>
          <a:ln w="15875">
            <a:solidFill>
              <a:srgbClr val="4F5ED0"/>
            </a:solidFill>
            <a:prstDash val="solid"/>
          </a:ln>
        </p:spPr>
        <p:txBody>
          <a:bodyPr wrap="square" lIns="50800" tIns="25400" rIns="50800" bIns="25400" rtlCol="0" anchor="ctr"/>
          <a:lstStyle/>
          <a:p>
            <a:pPr algn="ctr" indent="0" marL="0">
              <a:buNone/>
            </a:pPr>
            <a:r>
              <a:rPr lang="en-US" sz="1150" b="1" dirty="0">
                <a:solidFill>
                  <a:srgbClr val="252D86"/>
                </a:solidFill>
              </a:rPr>
              <a:t>Rejected</a:t>
            </a:r>
            <a:endParaRPr lang="en-US" sz="1150" dirty="0"/>
          </a:p>
          <a:p>
            <a:pPr algn="ctr" indent="0" marL="0">
              <a:buNone/>
            </a:pPr>
            <a:r>
              <a:rPr lang="en-US" sz="1000" dirty="0">
                <a:solidFill>
                  <a:srgbClr val="4650A9"/>
                </a:solidFill>
              </a:rPr>
              <a:t>No export</a:t>
            </a:r>
            <a:endParaRPr lang="en-US" sz="1150" dirty="0"/>
          </a:p>
        </p:txBody>
      </p:sp>
      <p:sp>
        <p:nvSpPr>
          <p:cNvPr id="23" name="Shape 20"/>
          <p:cNvSpPr/>
          <p:nvPr/>
        </p:nvSpPr>
        <p:spPr>
          <a:xfrm>
            <a:off x="3063240" y="2514600"/>
            <a:ext cx="0" cy="320040"/>
          </a:xfrm>
          <a:prstGeom prst="line">
            <a:avLst/>
          </a:prstGeom>
          <a:noFill/>
          <a:ln w="15875">
            <a:solidFill>
              <a:srgbClr val="7D889B"/>
            </a:solidFill>
            <a:prstDash val="solid"/>
            <a:tailEnd type="triangle"/>
          </a:ln>
        </p:spPr>
      </p:sp>
      <p:sp>
        <p:nvSpPr>
          <p:cNvPr id="24" name="Text 21"/>
          <p:cNvSpPr txBox="1"/>
          <p:nvPr/>
        </p:nvSpPr>
        <p:spPr>
          <a:xfrm>
            <a:off x="3154680" y="2542032"/>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25" name="Stopped"/>
          <p:cNvSpPr txBox="1"/>
          <p:nvPr/>
        </p:nvSpPr>
        <p:spPr>
          <a:xfrm>
            <a:off x="2240280" y="2834640"/>
            <a:ext cx="1645920" cy="502920"/>
          </a:xfrm>
          <a:prstGeom prst="roundRect">
            <a:avLst>
              <a:gd name="adj" fmla="val 50000"/>
            </a:avLst>
          </a:prstGeom>
          <a:solidFill>
            <a:srgbClr val="EBEEFC"/>
          </a:solidFill>
          <a:ln w="15875">
            <a:solidFill>
              <a:srgbClr val="4F5ED0"/>
            </a:solidFill>
            <a:prstDash val="solid"/>
          </a:ln>
        </p:spPr>
        <p:txBody>
          <a:bodyPr wrap="square" lIns="50800" tIns="25400" rIns="50800" bIns="25400" rtlCol="0" anchor="ctr"/>
          <a:lstStyle/>
          <a:p>
            <a:pPr algn="ctr" indent="0" marL="0">
              <a:buNone/>
            </a:pPr>
            <a:r>
              <a:rPr lang="en-US" sz="1150" b="1" dirty="0">
                <a:solidFill>
                  <a:srgbClr val="252D86"/>
                </a:solidFill>
              </a:rPr>
              <a:t>Stopped</a:t>
            </a:r>
            <a:endParaRPr lang="en-US" sz="1150" dirty="0"/>
          </a:p>
          <a:p>
            <a:pPr algn="ctr" indent="0" marL="0">
              <a:buNone/>
            </a:pPr>
            <a:r>
              <a:rPr lang="en-US" sz="1000" dirty="0">
                <a:solidFill>
                  <a:srgbClr val="4650A9"/>
                </a:solidFill>
              </a:rPr>
              <a:t>Nothing exported</a:t>
            </a:r>
            <a:endParaRPr lang="en-US" sz="1150" dirty="0"/>
          </a:p>
        </p:txBody>
      </p:sp>
      <p:sp>
        <p:nvSpPr>
          <p:cNvPr id="26" name="Shape 23"/>
          <p:cNvSpPr/>
          <p:nvPr/>
        </p:nvSpPr>
        <p:spPr>
          <a:xfrm>
            <a:off x="4869180" y="2423160"/>
            <a:ext cx="0" cy="662940"/>
          </a:xfrm>
          <a:prstGeom prst="line">
            <a:avLst/>
          </a:prstGeom>
          <a:noFill/>
          <a:ln w="15875">
            <a:solidFill>
              <a:srgbClr val="7D889B"/>
            </a:solidFill>
            <a:prstDash val="solid"/>
          </a:ln>
        </p:spPr>
      </p:sp>
      <p:sp>
        <p:nvSpPr>
          <p:cNvPr id="27" name="Shape 24"/>
          <p:cNvSpPr/>
          <p:nvPr/>
        </p:nvSpPr>
        <p:spPr>
          <a:xfrm flipH="1">
            <a:off x="3886200" y="3086100"/>
            <a:ext cx="982980" cy="0"/>
          </a:xfrm>
          <a:prstGeom prst="line">
            <a:avLst/>
          </a:prstGeom>
          <a:noFill/>
          <a:ln w="15875">
            <a:solidFill>
              <a:srgbClr val="7D889B"/>
            </a:solidFill>
            <a:prstDash val="solid"/>
            <a:tailEnd type="triangle"/>
          </a:ln>
        </p:spPr>
      </p:sp>
      <p:sp>
        <p:nvSpPr>
          <p:cNvPr id="28" name="Text 25"/>
          <p:cNvSpPr txBox="1"/>
          <p:nvPr/>
        </p:nvSpPr>
        <p:spPr>
          <a:xfrm>
            <a:off x="4956048" y="2542032"/>
            <a:ext cx="731520" cy="219456"/>
          </a:xfrm>
          <a:prstGeom prst="rect">
            <a:avLst/>
          </a:prstGeom>
          <a:noFill/>
          <a:ln/>
        </p:spPr>
        <p:txBody>
          <a:bodyPr wrap="square" lIns="0" tIns="0" rIns="0" bIns="0" rtlCol="0" anchor="ctr"/>
          <a:lstStyle/>
          <a:p>
            <a:pPr algn="l" indent="0" marL="0">
              <a:buNone/>
            </a:pPr>
            <a:r>
              <a:rPr lang="en-US" sz="1000" b="1" dirty="0">
                <a:solidFill>
                  <a:srgbClr val="586275"/>
                </a:solidFill>
              </a:rPr>
              <a:t>No match</a:t>
            </a:r>
            <a:endParaRPr lang="en-US" sz="1000" dirty="0"/>
          </a:p>
        </p:txBody>
      </p:sp>
      <p:sp>
        <p:nvSpPr>
          <p:cNvPr id="29" name="Shape 26"/>
          <p:cNvSpPr/>
          <p:nvPr/>
        </p:nvSpPr>
        <p:spPr>
          <a:xfrm>
            <a:off x="6766560" y="2560320"/>
            <a:ext cx="0" cy="1051560"/>
          </a:xfrm>
          <a:prstGeom prst="line">
            <a:avLst/>
          </a:prstGeom>
          <a:noFill/>
          <a:ln w="15875">
            <a:solidFill>
              <a:srgbClr val="7D889B"/>
            </a:solidFill>
            <a:prstDash val="solid"/>
          </a:ln>
        </p:spPr>
      </p:sp>
      <p:sp>
        <p:nvSpPr>
          <p:cNvPr id="30" name="Shape 27"/>
          <p:cNvSpPr/>
          <p:nvPr/>
        </p:nvSpPr>
        <p:spPr>
          <a:xfrm flipH="1">
            <a:off x="1348740" y="3611880"/>
            <a:ext cx="5417820" cy="0"/>
          </a:xfrm>
          <a:prstGeom prst="line">
            <a:avLst/>
          </a:prstGeom>
          <a:noFill/>
          <a:ln w="15875">
            <a:solidFill>
              <a:srgbClr val="7D889B"/>
            </a:solidFill>
            <a:prstDash val="solid"/>
          </a:ln>
        </p:spPr>
      </p:sp>
      <p:sp>
        <p:nvSpPr>
          <p:cNvPr id="31" name="Shape 28"/>
          <p:cNvSpPr/>
          <p:nvPr/>
        </p:nvSpPr>
        <p:spPr>
          <a:xfrm>
            <a:off x="1348740" y="3611880"/>
            <a:ext cx="0" cy="411480"/>
          </a:xfrm>
          <a:prstGeom prst="line">
            <a:avLst/>
          </a:prstGeom>
          <a:noFill/>
          <a:ln w="15875">
            <a:solidFill>
              <a:srgbClr val="7D889B"/>
            </a:solidFill>
            <a:prstDash val="solid"/>
            <a:tailEnd type="triangle"/>
          </a:ln>
        </p:spPr>
      </p:sp>
      <p:sp>
        <p:nvSpPr>
          <p:cNvPr id="32" name="Text 29"/>
          <p:cNvSpPr txBox="1"/>
          <p:nvPr/>
        </p:nvSpPr>
        <p:spPr>
          <a:xfrm>
            <a:off x="6858000" y="2651760"/>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33" name="Shape 30"/>
          <p:cNvSpPr/>
          <p:nvPr/>
        </p:nvSpPr>
        <p:spPr>
          <a:xfrm>
            <a:off x="9921240" y="2446020"/>
            <a:ext cx="0" cy="1165860"/>
          </a:xfrm>
          <a:prstGeom prst="line">
            <a:avLst/>
          </a:prstGeom>
          <a:noFill/>
          <a:ln w="15875">
            <a:solidFill>
              <a:srgbClr val="7D889B"/>
            </a:solidFill>
            <a:prstDash val="solid"/>
          </a:ln>
        </p:spPr>
      </p:sp>
      <p:sp>
        <p:nvSpPr>
          <p:cNvPr id="34" name="Shape 31"/>
          <p:cNvSpPr/>
          <p:nvPr/>
        </p:nvSpPr>
        <p:spPr>
          <a:xfrm flipH="1">
            <a:off x="6766560" y="3611880"/>
            <a:ext cx="3154680" cy="0"/>
          </a:xfrm>
          <a:prstGeom prst="line">
            <a:avLst/>
          </a:prstGeom>
          <a:noFill/>
          <a:ln w="15875">
            <a:solidFill>
              <a:srgbClr val="7D889B"/>
            </a:solidFill>
            <a:prstDash val="solid"/>
          </a:ln>
        </p:spPr>
      </p:sp>
      <p:sp>
        <p:nvSpPr>
          <p:cNvPr id="35" name="Text 32"/>
          <p:cNvSpPr txBox="1"/>
          <p:nvPr/>
        </p:nvSpPr>
        <p:spPr>
          <a:xfrm>
            <a:off x="10012680" y="2560320"/>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36" name="Each zone exported to JSON"/>
          <p:cNvSpPr txBox="1"/>
          <p:nvPr/>
        </p:nvSpPr>
        <p:spPr>
          <a:xfrm>
            <a:off x="548640" y="4023360"/>
            <a:ext cx="169164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Each zone exported to JSON</a:t>
            </a:r>
            <a:endParaRPr lang="en-US" sz="1200" dirty="0"/>
          </a:p>
          <a:p>
            <a:pPr algn="ctr" indent="0" marL="0">
              <a:buNone/>
            </a:pPr>
            <a:r>
              <a:rPr lang="en-US" sz="1000" dirty="0">
                <a:solidFill>
                  <a:srgbClr val="586275"/>
                </a:solidFill>
              </a:rPr>
              <a:t>ALIAS, SOA, apex NS skipped</a:t>
            </a:r>
            <a:endParaRPr lang="en-US" sz="1200" dirty="0"/>
          </a:p>
        </p:txBody>
      </p:sp>
      <p:sp>
        <p:nvSpPr>
          <p:cNvPr id="37" name="Risk marker 13"/>
          <p:cNvSpPr txBox="1"/>
          <p:nvPr/>
        </p:nvSpPr>
        <p:spPr>
          <a:xfrm>
            <a:off x="1938528" y="38862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13</a:t>
            </a:r>
            <a:endParaRPr lang="en-US" sz="850" dirty="0"/>
          </a:p>
        </p:txBody>
      </p:sp>
      <p:sp>
        <p:nvSpPr>
          <p:cNvPr id="38" name="Risk marker 8"/>
          <p:cNvSpPr txBox="1"/>
          <p:nvPr/>
        </p:nvSpPr>
        <p:spPr>
          <a:xfrm>
            <a:off x="1627632" y="38862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8</a:t>
            </a:r>
            <a:endParaRPr lang="en-US" sz="1000" dirty="0"/>
          </a:p>
        </p:txBody>
      </p:sp>
      <p:sp>
        <p:nvSpPr>
          <p:cNvPr id="39" name="Risk marker 2"/>
          <p:cNvSpPr txBox="1"/>
          <p:nvPr/>
        </p:nvSpPr>
        <p:spPr>
          <a:xfrm>
            <a:off x="1316736" y="38862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40" name="Shape 37"/>
          <p:cNvSpPr/>
          <p:nvPr/>
        </p:nvSpPr>
        <p:spPr>
          <a:xfrm>
            <a:off x="2240280" y="4434840"/>
            <a:ext cx="274320" cy="0"/>
          </a:xfrm>
          <a:prstGeom prst="line">
            <a:avLst/>
          </a:prstGeom>
          <a:noFill/>
          <a:ln w="15875">
            <a:solidFill>
              <a:srgbClr val="7D889B"/>
            </a:solidFill>
            <a:prstDash val="solid"/>
            <a:tailEnd type="triangle"/>
          </a:ln>
        </p:spPr>
      </p:sp>
      <p:sp>
        <p:nvSpPr>
          <p:cNvPr id="41" name="Any zone exported?"/>
          <p:cNvSpPr txBox="1"/>
          <p:nvPr/>
        </p:nvSpPr>
        <p:spPr>
          <a:xfrm>
            <a:off x="2514600" y="3954780"/>
            <a:ext cx="1280160" cy="96012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050" b="1" dirty="0">
                <a:solidFill>
                  <a:srgbClr val="6A4200"/>
                </a:solidFill>
              </a:rPr>
              <a:t>Any zone</a:t>
            </a:r>
            <a:endParaRPr lang="en-US" sz="1050" dirty="0"/>
          </a:p>
          <a:p>
            <a:pPr algn="ctr" indent="0" marL="0">
              <a:buNone/>
            </a:pPr>
            <a:r>
              <a:rPr lang="en-US" sz="1050" b="1" dirty="0">
                <a:solidFill>
                  <a:srgbClr val="6A4200"/>
                </a:solidFill>
              </a:rPr>
              <a:t>exported?</a:t>
            </a:r>
            <a:endParaRPr lang="en-US" sz="1050" dirty="0"/>
          </a:p>
        </p:txBody>
      </p:sp>
      <p:sp>
        <p:nvSpPr>
          <p:cNvPr id="42" name="Shape 39"/>
          <p:cNvSpPr/>
          <p:nvPr/>
        </p:nvSpPr>
        <p:spPr>
          <a:xfrm>
            <a:off x="3154680" y="4914900"/>
            <a:ext cx="0" cy="342900"/>
          </a:xfrm>
          <a:prstGeom prst="line">
            <a:avLst/>
          </a:prstGeom>
          <a:noFill/>
          <a:ln w="15875">
            <a:solidFill>
              <a:srgbClr val="7D889B"/>
            </a:solidFill>
            <a:prstDash val="solid"/>
            <a:tailEnd type="triangle"/>
          </a:ln>
        </p:spPr>
      </p:sp>
      <p:sp>
        <p:nvSpPr>
          <p:cNvPr id="43" name="Text 40"/>
          <p:cNvSpPr txBox="1"/>
          <p:nvPr/>
        </p:nvSpPr>
        <p:spPr>
          <a:xfrm>
            <a:off x="3246120" y="4956048"/>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44" name="Run fails"/>
          <p:cNvSpPr txBox="1"/>
          <p:nvPr/>
        </p:nvSpPr>
        <p:spPr>
          <a:xfrm>
            <a:off x="2286000" y="5257800"/>
            <a:ext cx="1463040" cy="502920"/>
          </a:xfrm>
          <a:prstGeom prst="roundRect">
            <a:avLst>
              <a:gd name="adj" fmla="val 50000"/>
            </a:avLst>
          </a:prstGeom>
          <a:solidFill>
            <a:srgbClr val="EBEEFC"/>
          </a:solidFill>
          <a:ln w="15875">
            <a:solidFill>
              <a:srgbClr val="4F5ED0"/>
            </a:solidFill>
            <a:prstDash val="solid"/>
          </a:ln>
        </p:spPr>
        <p:txBody>
          <a:bodyPr wrap="square" lIns="50800" tIns="25400" rIns="50800" bIns="25400" rtlCol="0" anchor="ctr"/>
          <a:lstStyle/>
          <a:p>
            <a:pPr algn="ctr" indent="0" marL="0">
              <a:buNone/>
            </a:pPr>
            <a:r>
              <a:rPr lang="en-US" sz="1150" b="1" dirty="0">
                <a:solidFill>
                  <a:srgbClr val="252D86"/>
                </a:solidFill>
              </a:rPr>
              <a:t>Run fails</a:t>
            </a:r>
            <a:endParaRPr lang="en-US" sz="1150" dirty="0"/>
          </a:p>
          <a:p>
            <a:pPr algn="ctr" indent="0" marL="0">
              <a:buNone/>
            </a:pPr>
            <a:r>
              <a:rPr lang="en-US" sz="1000" dirty="0">
                <a:solidFill>
                  <a:srgbClr val="4650A9"/>
                </a:solidFill>
              </a:rPr>
              <a:t>Nothing saved</a:t>
            </a:r>
            <a:endParaRPr lang="en-US" sz="1150" dirty="0"/>
          </a:p>
        </p:txBody>
      </p:sp>
      <p:sp>
        <p:nvSpPr>
          <p:cNvPr id="45" name="Shape 42"/>
          <p:cNvSpPr/>
          <p:nvPr/>
        </p:nvSpPr>
        <p:spPr>
          <a:xfrm>
            <a:off x="3794760" y="4434840"/>
            <a:ext cx="274320" cy="0"/>
          </a:xfrm>
          <a:prstGeom prst="line">
            <a:avLst/>
          </a:prstGeom>
          <a:noFill/>
          <a:ln w="15875">
            <a:solidFill>
              <a:srgbClr val="7D889B"/>
            </a:solidFill>
            <a:prstDash val="solid"/>
            <a:tailEnd type="triangle"/>
          </a:ln>
        </p:spPr>
      </p:sp>
      <p:sp>
        <p:nvSpPr>
          <p:cNvPr id="46" name="Text 43"/>
          <p:cNvSpPr txBox="1"/>
          <p:nvPr/>
        </p:nvSpPr>
        <p:spPr>
          <a:xfrm>
            <a:off x="3749040" y="4133088"/>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47" name="Shape 44"/>
          <p:cNvSpPr/>
          <p:nvPr/>
        </p:nvSpPr>
        <p:spPr>
          <a:xfrm>
            <a:off x="3950208" y="4434840"/>
            <a:ext cx="0" cy="1051560"/>
          </a:xfrm>
          <a:prstGeom prst="line">
            <a:avLst/>
          </a:prstGeom>
          <a:noFill/>
          <a:ln w="15875">
            <a:solidFill>
              <a:srgbClr val="7D889B"/>
            </a:solidFill>
            <a:prstDash val="solid"/>
          </a:ln>
        </p:spPr>
      </p:sp>
      <p:sp>
        <p:nvSpPr>
          <p:cNvPr id="48" name="Shape 45"/>
          <p:cNvSpPr/>
          <p:nvPr/>
        </p:nvSpPr>
        <p:spPr>
          <a:xfrm>
            <a:off x="3950208" y="5486400"/>
            <a:ext cx="118872" cy="0"/>
          </a:xfrm>
          <a:prstGeom prst="line">
            <a:avLst/>
          </a:prstGeom>
          <a:noFill/>
          <a:ln w="15875">
            <a:solidFill>
              <a:srgbClr val="7D889B"/>
            </a:solidFill>
            <a:prstDash val="solid"/>
            <a:tailEnd type="triangle"/>
          </a:ln>
        </p:spPr>
      </p:sp>
      <p:sp>
        <p:nvSpPr>
          <p:cNvPr id="49" name="New branch and commit"/>
          <p:cNvSpPr txBox="1"/>
          <p:nvPr/>
        </p:nvSpPr>
        <p:spPr>
          <a:xfrm>
            <a:off x="4069080" y="4023360"/>
            <a:ext cx="164592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New branch and commit</a:t>
            </a:r>
            <a:endParaRPr lang="en-US" sz="1200" dirty="0"/>
          </a:p>
          <a:p>
            <a:pPr algn="ctr" indent="0" marL="0">
              <a:buNone/>
            </a:pPr>
            <a:r>
              <a:rPr lang="en-US" sz="1000" dirty="0">
                <a:solidFill>
                  <a:srgbClr val="586275"/>
                </a:solidFill>
              </a:rPr>
              <a:t>Every run, even if unchanged</a:t>
            </a:r>
            <a:endParaRPr lang="en-US" sz="1200" dirty="0"/>
          </a:p>
        </p:txBody>
      </p:sp>
      <p:sp>
        <p:nvSpPr>
          <p:cNvPr id="50" name="Risk marker 10"/>
          <p:cNvSpPr txBox="1"/>
          <p:nvPr/>
        </p:nvSpPr>
        <p:spPr>
          <a:xfrm>
            <a:off x="5413248" y="38862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10</a:t>
            </a:r>
            <a:endParaRPr lang="en-US" sz="850" dirty="0"/>
          </a:p>
        </p:txBody>
      </p:sp>
      <p:sp>
        <p:nvSpPr>
          <p:cNvPr id="51" name="Artifact uploaded"/>
          <p:cNvSpPr txBox="1"/>
          <p:nvPr/>
        </p:nvSpPr>
        <p:spPr>
          <a:xfrm>
            <a:off x="4069080" y="5120640"/>
            <a:ext cx="1645920" cy="731520"/>
          </a:xfrm>
          <a:prstGeom prst="roundRect">
            <a:avLst>
              <a:gd name="adj" fmla="val 1125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Artifact uploaded</a:t>
            </a:r>
            <a:endParaRPr lang="en-US" sz="1200" dirty="0"/>
          </a:p>
          <a:p>
            <a:pPr algn="ctr" indent="0" marL="0">
              <a:buNone/>
            </a:pPr>
            <a:r>
              <a:rPr lang="en-US" sz="1000" dirty="0">
                <a:solidFill>
                  <a:srgbClr val="586275"/>
                </a:solidFill>
              </a:rPr>
              <a:t>Zone files kept 30 days</a:t>
            </a:r>
            <a:endParaRPr lang="en-US" sz="1200" dirty="0"/>
          </a:p>
        </p:txBody>
      </p:sp>
      <p:sp>
        <p:nvSpPr>
          <p:cNvPr id="52" name="Risk marker 14"/>
          <p:cNvSpPr txBox="1"/>
          <p:nvPr/>
        </p:nvSpPr>
        <p:spPr>
          <a:xfrm>
            <a:off x="5413248" y="498348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14</a:t>
            </a:r>
            <a:endParaRPr lang="en-US" sz="850" dirty="0"/>
          </a:p>
        </p:txBody>
      </p:sp>
      <p:sp>
        <p:nvSpPr>
          <p:cNvPr id="53" name="Shape 50"/>
          <p:cNvSpPr/>
          <p:nvPr/>
        </p:nvSpPr>
        <p:spPr>
          <a:xfrm>
            <a:off x="5715000" y="4434840"/>
            <a:ext cx="274320" cy="0"/>
          </a:xfrm>
          <a:prstGeom prst="line">
            <a:avLst/>
          </a:prstGeom>
          <a:noFill/>
          <a:ln w="15875">
            <a:solidFill>
              <a:srgbClr val="7D889B"/>
            </a:solidFill>
            <a:prstDash val="solid"/>
            <a:tailEnd type="triangle"/>
          </a:ln>
        </p:spPr>
      </p:sp>
      <p:sp>
        <p:nvSpPr>
          <p:cNvPr id="54" name="Pull request opened"/>
          <p:cNvSpPr txBox="1"/>
          <p:nvPr/>
        </p:nvSpPr>
        <p:spPr>
          <a:xfrm>
            <a:off x="5989320" y="4023360"/>
            <a:ext cx="164592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Pull request opened</a:t>
            </a:r>
            <a:endParaRPr lang="en-US" sz="1200" dirty="0"/>
          </a:p>
          <a:p>
            <a:pPr algn="ctr" indent="0" marL="0">
              <a:buNone/>
            </a:pPr>
            <a:r>
              <a:rPr lang="en-US" sz="1000" dirty="0">
                <a:solidFill>
                  <a:srgbClr val="586275"/>
                </a:solidFill>
              </a:rPr>
              <a:t>GITHUB_TOKEN: PR checks don't run</a:t>
            </a:r>
            <a:endParaRPr lang="en-US" sz="1200" dirty="0"/>
          </a:p>
        </p:txBody>
      </p:sp>
      <p:sp>
        <p:nvSpPr>
          <p:cNvPr id="55" name="Shape 52"/>
          <p:cNvSpPr/>
          <p:nvPr/>
        </p:nvSpPr>
        <p:spPr>
          <a:xfrm>
            <a:off x="7635240" y="4434840"/>
            <a:ext cx="182880" cy="0"/>
          </a:xfrm>
          <a:prstGeom prst="line">
            <a:avLst/>
          </a:prstGeom>
          <a:noFill/>
          <a:ln w="15875">
            <a:solidFill>
              <a:srgbClr val="7D889B"/>
            </a:solidFill>
            <a:prstDash val="solid"/>
            <a:tailEnd type="triangle"/>
          </a:ln>
        </p:spPr>
      </p:sp>
      <p:sp>
        <p:nvSpPr>
          <p:cNvPr id="56" name="Export complete"/>
          <p:cNvSpPr txBox="1"/>
          <p:nvPr/>
        </p:nvSpPr>
        <p:spPr>
          <a:xfrm>
            <a:off x="7818120" y="4114800"/>
            <a:ext cx="1508760" cy="640080"/>
          </a:xfrm>
          <a:prstGeom prst="roundRect">
            <a:avLst>
              <a:gd name="adj" fmla="val 50000"/>
            </a:avLst>
          </a:prstGeom>
          <a:solidFill>
            <a:srgbClr val="E3F4E7"/>
          </a:solidFill>
          <a:ln w="15875">
            <a:solidFill>
              <a:srgbClr val="2E8946"/>
            </a:solidFill>
            <a:prstDash val="solid"/>
          </a:ln>
        </p:spPr>
        <p:txBody>
          <a:bodyPr wrap="square" lIns="50800" tIns="25400" rIns="50800" bIns="25400" rtlCol="0" anchor="ctr"/>
          <a:lstStyle/>
          <a:p>
            <a:pPr algn="ctr" indent="0" marL="0">
              <a:buNone/>
            </a:pPr>
            <a:r>
              <a:rPr lang="en-US" sz="1150" b="1" dirty="0">
                <a:solidFill>
                  <a:srgbClr val="165229"/>
                </a:solidFill>
              </a:rPr>
              <a:t>Export complete</a:t>
            </a:r>
            <a:endParaRPr lang="en-US" sz="1150" dirty="0"/>
          </a:p>
          <a:p>
            <a:pPr algn="ctr" indent="0" marL="0">
              <a:buNone/>
            </a:pPr>
            <a:r>
              <a:rPr lang="en-US" sz="1000" dirty="0">
                <a:solidFill>
                  <a:srgbClr val="2C6D3F"/>
                </a:solidFill>
              </a:rPr>
              <a:t>Skipped zones not in summary</a:t>
            </a:r>
            <a:endParaRPr lang="en-US" sz="1150" dirty="0"/>
          </a:p>
        </p:txBody>
      </p:sp>
      <p:sp>
        <p:nvSpPr>
          <p:cNvPr id="57" name="Risk marker 13"/>
          <p:cNvSpPr txBox="1"/>
          <p:nvPr/>
        </p:nvSpPr>
        <p:spPr>
          <a:xfrm>
            <a:off x="9025128" y="397764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13</a:t>
            </a:r>
            <a:endParaRPr lang="en-US" sz="850" dirty="0"/>
          </a:p>
        </p:txBody>
      </p:sp>
      <p:sp>
        <p:nvSpPr>
          <p:cNvPr id="58" name="Not in this workflow"/>
          <p:cNvSpPr/>
          <p:nvPr/>
        </p:nvSpPr>
        <p:spPr>
          <a:xfrm>
            <a:off x="9555480" y="3840480"/>
            <a:ext cx="2084832" cy="1188720"/>
          </a:xfrm>
          <a:prstGeom prst="roundRect">
            <a:avLst>
              <a:gd name="adj" fmla="val 6154"/>
            </a:avLst>
          </a:prstGeom>
          <a:solidFill>
            <a:srgbClr val="FFFFFF"/>
          </a:solidFill>
          <a:ln w="15875">
            <a:solidFill>
              <a:srgbClr val="C93A32"/>
            </a:solidFill>
            <a:prstDash val="dash"/>
          </a:ln>
        </p:spPr>
      </p:sp>
      <p:sp>
        <p:nvSpPr>
          <p:cNvPr id="59" name="Text 56"/>
          <p:cNvSpPr txBox="1"/>
          <p:nvPr/>
        </p:nvSpPr>
        <p:spPr>
          <a:xfrm>
            <a:off x="9683496" y="3913632"/>
            <a:ext cx="1828800" cy="256032"/>
          </a:xfrm>
          <a:prstGeom prst="rect">
            <a:avLst/>
          </a:prstGeom>
          <a:noFill/>
          <a:ln/>
        </p:spPr>
        <p:txBody>
          <a:bodyPr wrap="square" lIns="0" tIns="0" rIns="0" bIns="0" rtlCol="0" anchor="ctr"/>
          <a:lstStyle/>
          <a:p>
            <a:pPr indent="0" marL="0">
              <a:buNone/>
            </a:pPr>
            <a:r>
              <a:rPr lang="en-US" sz="1150" b="1" dirty="0">
                <a:solidFill>
                  <a:srgbClr val="7D1C16"/>
                </a:solidFill>
              </a:rPr>
              <a:t>Not in this workflow</a:t>
            </a:r>
            <a:endParaRPr lang="en-US" sz="1150" dirty="0"/>
          </a:p>
        </p:txBody>
      </p:sp>
      <p:sp>
        <p:nvSpPr>
          <p:cNvPr id="60" name="Text 57"/>
          <p:cNvSpPr txBox="1"/>
          <p:nvPr/>
        </p:nvSpPr>
        <p:spPr>
          <a:xfrm>
            <a:off x="9665208" y="4187952"/>
            <a:ext cx="1645920" cy="786384"/>
          </a:xfrm>
          <a:prstGeom prst="rect">
            <a:avLst/>
          </a:prstGeom>
          <a:noFill/>
          <a:ln/>
        </p:spPr>
        <p:txBody>
          <a:bodyPr wrap="square" lIns="0" tIns="0" rIns="0" bIns="0" rtlCol="0" anchor="t"/>
          <a:lstStyle/>
          <a:p>
            <a:pPr marL="127000" indent="-127000">
              <a:lnSpc>
                <a:spcPts val="1512"/>
              </a:lnSpc>
              <a:buSzPct val="100000"/>
              <a:buChar char="•"/>
            </a:pPr>
            <a:r>
              <a:rPr lang="en-US" sz="1000" dirty="0">
                <a:solidFill>
                  <a:srgbClr val="A1332C"/>
                </a:solidFill>
              </a:rPr>
              <a:t>Read-only role</a:t>
            </a:r>
            <a:endParaRPr lang="en-US" sz="1000" dirty="0"/>
          </a:p>
          <a:p>
            <a:pPr marL="127000" indent="-127000">
              <a:lnSpc>
                <a:spcPts val="1512"/>
              </a:lnSpc>
              <a:buSzPct val="100000"/>
              <a:buChar char="•"/>
            </a:pPr>
            <a:r>
              <a:rPr lang="en-US" sz="1000" dirty="0">
                <a:solidFill>
                  <a:srgbClr val="A1332C"/>
                </a:solidFill>
              </a:rPr>
              <a:t>Same files when unchanged</a:t>
            </a:r>
            <a:endParaRPr lang="en-US" sz="1000" dirty="0"/>
          </a:p>
          <a:p>
            <a:pPr marL="127000" indent="-127000">
              <a:lnSpc>
                <a:spcPts val="1512"/>
              </a:lnSpc>
              <a:buSzPct val="100000"/>
              <a:buChar char="•"/>
            </a:pPr>
            <a:r>
              <a:rPr lang="en-US" sz="1000" dirty="0">
                <a:solidFill>
                  <a:srgbClr val="A1332C"/>
                </a:solidFill>
              </a:rPr>
              <a:t>PR only when changed</a:t>
            </a:r>
            <a:endParaRPr lang="en-US" sz="1000" dirty="0"/>
          </a:p>
          <a:p>
            <a:pPr marL="127000" indent="-127000">
              <a:lnSpc>
                <a:spcPts val="1512"/>
              </a:lnSpc>
              <a:buSzPct val="100000"/>
              <a:buChar char="•"/>
            </a:pPr>
            <a:r>
              <a:rPr lang="en-US" sz="1000" dirty="0">
                <a:solidFill>
                  <a:srgbClr val="A1332C"/>
                </a:solidFill>
              </a:rPr>
              <a:t>Failed zones reported</a:t>
            </a:r>
            <a:endParaRPr lang="en-US" sz="1000" dirty="0"/>
          </a:p>
        </p:txBody>
      </p:sp>
      <p:sp>
        <p:nvSpPr>
          <p:cNvPr id="61" name="Risk marker 5"/>
          <p:cNvSpPr txBox="1"/>
          <p:nvPr/>
        </p:nvSpPr>
        <p:spPr>
          <a:xfrm>
            <a:off x="11329416" y="4174236"/>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62" name="Risk marker 8"/>
          <p:cNvSpPr txBox="1"/>
          <p:nvPr/>
        </p:nvSpPr>
        <p:spPr>
          <a:xfrm>
            <a:off x="11329416" y="4366260"/>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8</a:t>
            </a:r>
            <a:endParaRPr lang="en-US" sz="1000" dirty="0"/>
          </a:p>
        </p:txBody>
      </p:sp>
      <p:sp>
        <p:nvSpPr>
          <p:cNvPr id="63" name="Risk marker 10"/>
          <p:cNvSpPr txBox="1"/>
          <p:nvPr/>
        </p:nvSpPr>
        <p:spPr>
          <a:xfrm>
            <a:off x="11329416" y="4558284"/>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10</a:t>
            </a:r>
            <a:endParaRPr lang="en-US" sz="850" dirty="0"/>
          </a:p>
        </p:txBody>
      </p:sp>
      <p:sp>
        <p:nvSpPr>
          <p:cNvPr id="64" name="Risk marker 13"/>
          <p:cNvSpPr txBox="1"/>
          <p:nvPr/>
        </p:nvSpPr>
        <p:spPr>
          <a:xfrm>
            <a:off x="11329416" y="4750308"/>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13</a:t>
            </a:r>
            <a:endParaRPr lang="en-US" sz="850" dirty="0"/>
          </a:p>
        </p:txBody>
      </p:sp>
      <p:sp>
        <p:nvSpPr>
          <p:cNvPr id="65" name="Text 62"/>
          <p:cNvSpPr txBox="1"/>
          <p:nvPr/>
        </p:nvSpPr>
        <p:spPr>
          <a:xfrm>
            <a:off x="5989320" y="5715000"/>
            <a:ext cx="5650992" cy="274320"/>
          </a:xfrm>
          <a:prstGeom prst="rect">
            <a:avLst/>
          </a:prstGeom>
          <a:noFill/>
          <a:ln/>
        </p:spPr>
        <p:txBody>
          <a:bodyPr wrap="square" lIns="0" tIns="0" rIns="0" bIns="0" rtlCol="0" anchor="ctr"/>
          <a:lstStyle/>
          <a:p>
            <a:pPr algn="r" indent="0" marL="0">
              <a:buNone/>
            </a:pPr>
            <a:r>
              <a:rPr lang="en-US" sz="1150" b="1" dirty="0">
                <a:solidFill>
                  <a:srgbClr val="586275"/>
                </a:solidFill>
              </a:rPr>
              <a:t>Then: edit the pull request, merge it, and run Apply by hand</a:t>
            </a:r>
            <a:endParaRPr lang="en-US" sz="11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Export: advantages and disadvantages</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Recommendation: keep it, with fixes · numbers match the DNS risk tables</a:t>
            </a:r>
            <a:endParaRPr lang="en-US" sz="1400" dirty="0"/>
          </a:p>
        </p:txBody>
      </p:sp>
      <p:sp>
        <p:nvSpPr>
          <p:cNvPr id="5" name="Shape 2"/>
          <p:cNvSpPr/>
          <p:nvPr/>
        </p:nvSpPr>
        <p:spPr>
          <a:xfrm>
            <a:off x="548640" y="1481328"/>
            <a:ext cx="5413248" cy="4690872"/>
          </a:xfrm>
          <a:prstGeom prst="roundRect">
            <a:avLst>
              <a:gd name="adj" fmla="val 2339"/>
            </a:avLst>
          </a:prstGeom>
          <a:solidFill>
            <a:srgbClr val="F4FAF6"/>
          </a:solidFill>
          <a:ln w="12700">
            <a:solidFill>
              <a:srgbClr val="CFE6D7"/>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777240" y="1664208"/>
            <a:ext cx="402336" cy="402336"/>
          </a:xfrm>
          <a:prstGeom prst="ellipse">
            <a:avLst/>
          </a:prstGeom>
          <a:solidFill>
            <a:srgbClr val="2E8946"/>
          </a:solidFill>
          <a:ln w="6350">
            <a:solidFill>
              <a:srgbClr val="2E8946"/>
            </a:solidFill>
            <a:prstDash val="solid"/>
          </a:ln>
        </p:spPr>
      </p:sp>
      <p:pic>
        <p:nvPicPr>
          <p:cNvPr id="7" name="Image 0" descr="Icon">    </p:cNvPr>
          <p:cNvPicPr>
            <a:picLocks noChangeAspect="1"/>
          </p:cNvPicPr>
          <p:nvPr/>
        </p:nvPicPr>
        <p:blipFill>
          <a:blip r:embed="rId1"/>
          <a:stretch>
            <a:fillRect/>
          </a:stretch>
        </p:blipFill>
        <p:spPr>
          <a:xfrm>
            <a:off x="873801" y="1760769"/>
            <a:ext cx="209215" cy="209215"/>
          </a:xfrm>
          <a:prstGeom prst="rect">
            <a:avLst/>
          </a:prstGeom>
        </p:spPr>
      </p:pic>
      <p:sp>
        <p:nvSpPr>
          <p:cNvPr id="8" name="Text 4"/>
          <p:cNvSpPr txBox="1"/>
          <p:nvPr/>
        </p:nvSpPr>
        <p:spPr>
          <a:xfrm>
            <a:off x="1298448" y="1664208"/>
            <a:ext cx="4206240" cy="402336"/>
          </a:xfrm>
          <a:prstGeom prst="rect">
            <a:avLst/>
          </a:prstGeom>
          <a:noFill/>
          <a:ln/>
        </p:spPr>
        <p:txBody>
          <a:bodyPr wrap="square" lIns="0" tIns="0" rIns="0" bIns="0" rtlCol="0" anchor="ctr"/>
          <a:lstStyle/>
          <a:p>
            <a:pPr indent="0" marL="0">
              <a:buNone/>
            </a:pPr>
            <a:r>
              <a:rPr lang="en-US" sz="1800" b="1" dirty="0">
                <a:solidFill>
                  <a:srgbClr val="165229"/>
                </a:solidFill>
              </a:rPr>
              <a:t>Advantages</a:t>
            </a:r>
            <a:endParaRPr lang="en-US" sz="1800" dirty="0"/>
          </a:p>
        </p:txBody>
      </p:sp>
      <p:pic>
        <p:nvPicPr>
          <p:cNvPr id="9" name="Image 1" descr="Advantage">    </p:cNvPr>
          <p:cNvPicPr>
            <a:picLocks noChangeAspect="1"/>
          </p:cNvPicPr>
          <p:nvPr/>
        </p:nvPicPr>
        <p:blipFill>
          <a:blip r:embed="rId2"/>
          <a:stretch>
            <a:fillRect/>
          </a:stretch>
        </p:blipFill>
        <p:spPr>
          <a:xfrm>
            <a:off x="804672" y="2295144"/>
            <a:ext cx="201168" cy="201168"/>
          </a:xfrm>
          <a:prstGeom prst="rect">
            <a:avLst/>
          </a:prstGeom>
        </p:spPr>
      </p:pic>
      <p:sp>
        <p:nvSpPr>
          <p:cNvPr id="10" name="Text 5"/>
          <p:cNvSpPr txBox="1"/>
          <p:nvPr/>
        </p:nvSpPr>
        <p:spPr>
          <a:xfrm>
            <a:off x="1115568" y="2258568"/>
            <a:ext cx="4636008" cy="489204"/>
          </a:xfrm>
          <a:prstGeom prst="rect">
            <a:avLst/>
          </a:prstGeom>
          <a:noFill/>
          <a:ln/>
        </p:spPr>
        <p:txBody>
          <a:bodyPr wrap="square" lIns="0" tIns="0" rIns="0" bIns="0" rtlCol="0" anchor="t"/>
          <a:lstStyle/>
          <a:p>
            <a:pPr indent="0" marL="0">
              <a:buNone/>
            </a:pPr>
            <a:r>
              <a:rPr lang="en-US" sz="1400" dirty="0">
                <a:solidFill>
                  <a:srgbClr val="131925"/>
                </a:solidFill>
              </a:rPr>
              <a:t>Started by hand only</a:t>
            </a:r>
            <a:endParaRPr lang="en-US" sz="1400" dirty="0"/>
          </a:p>
        </p:txBody>
      </p:sp>
      <p:pic>
        <p:nvPicPr>
          <p:cNvPr id="11" name="Image 2" descr="Advantage">    </p:cNvPr>
          <p:cNvPicPr>
            <a:picLocks noChangeAspect="1"/>
          </p:cNvPicPr>
          <p:nvPr/>
        </p:nvPicPr>
        <p:blipFill>
          <a:blip r:embed="rId3"/>
          <a:stretch>
            <a:fillRect/>
          </a:stretch>
        </p:blipFill>
        <p:spPr>
          <a:xfrm>
            <a:off x="804672" y="2784348"/>
            <a:ext cx="201168" cy="201168"/>
          </a:xfrm>
          <a:prstGeom prst="rect">
            <a:avLst/>
          </a:prstGeom>
        </p:spPr>
      </p:pic>
      <p:sp>
        <p:nvSpPr>
          <p:cNvPr id="12" name="Text 6"/>
          <p:cNvSpPr txBox="1"/>
          <p:nvPr/>
        </p:nvSpPr>
        <p:spPr>
          <a:xfrm>
            <a:off x="1115568" y="2747772"/>
            <a:ext cx="4636008" cy="489204"/>
          </a:xfrm>
          <a:prstGeom prst="rect">
            <a:avLst/>
          </a:prstGeom>
          <a:noFill/>
          <a:ln/>
        </p:spPr>
        <p:txBody>
          <a:bodyPr wrap="square" lIns="0" tIns="0" rIns="0" bIns="0" rtlCol="0" anchor="t"/>
          <a:lstStyle/>
          <a:p>
            <a:pPr indent="0" marL="0">
              <a:buNone/>
            </a:pPr>
            <a:r>
              <a:rPr lang="en-US" sz="1400" dirty="0">
                <a:solidFill>
                  <a:srgbClr val="131925"/>
                </a:solidFill>
              </a:rPr>
              <a:t>Account checked against the registry and role map first</a:t>
            </a:r>
            <a:endParaRPr lang="en-US" sz="1400" dirty="0"/>
          </a:p>
        </p:txBody>
      </p:sp>
      <p:pic>
        <p:nvPicPr>
          <p:cNvPr id="13" name="Image 3" descr="Advantage">    </p:cNvPr>
          <p:cNvPicPr>
            <a:picLocks noChangeAspect="1"/>
          </p:cNvPicPr>
          <p:nvPr/>
        </p:nvPicPr>
        <p:blipFill>
          <a:blip r:embed="rId4"/>
          <a:stretch>
            <a:fillRect/>
          </a:stretch>
        </p:blipFill>
        <p:spPr>
          <a:xfrm>
            <a:off x="804672" y="3273552"/>
            <a:ext cx="201168" cy="201168"/>
          </a:xfrm>
          <a:prstGeom prst="rect">
            <a:avLst/>
          </a:prstGeom>
        </p:spPr>
      </p:pic>
      <p:sp>
        <p:nvSpPr>
          <p:cNvPr id="14" name="Text 7"/>
          <p:cNvSpPr txBox="1"/>
          <p:nvPr/>
        </p:nvSpPr>
        <p:spPr>
          <a:xfrm>
            <a:off x="1115568" y="3236976"/>
            <a:ext cx="4636008" cy="489204"/>
          </a:xfrm>
          <a:prstGeom prst="rect">
            <a:avLst/>
          </a:prstGeom>
          <a:noFill/>
          <a:ln/>
        </p:spPr>
        <p:txBody>
          <a:bodyPr wrap="square" lIns="0" tIns="0" rIns="0" bIns="0" rtlCol="0" anchor="t"/>
          <a:lstStyle/>
          <a:p>
            <a:pPr indent="0" marL="0">
              <a:buNone/>
            </a:pPr>
            <a:r>
              <a:rPr lang="en-US" sz="1400" dirty="0">
                <a:solidFill>
                  <a:srgbClr val="131925"/>
                </a:solidFill>
              </a:rPr>
              <a:t>Stack ID and zone ID must agree; pasted spaces trimmed</a:t>
            </a:r>
            <a:endParaRPr lang="en-US" sz="1400" dirty="0"/>
          </a:p>
        </p:txBody>
      </p:sp>
      <p:pic>
        <p:nvPicPr>
          <p:cNvPr id="15" name="Image 4" descr="Advantage">    </p:cNvPr>
          <p:cNvPicPr>
            <a:picLocks noChangeAspect="1"/>
          </p:cNvPicPr>
          <p:nvPr/>
        </p:nvPicPr>
        <p:blipFill>
          <a:blip r:embed="rId5"/>
          <a:stretch>
            <a:fillRect/>
          </a:stretch>
        </p:blipFill>
        <p:spPr>
          <a:xfrm>
            <a:off x="804672" y="3762756"/>
            <a:ext cx="201168" cy="201168"/>
          </a:xfrm>
          <a:prstGeom prst="rect">
            <a:avLst/>
          </a:prstGeom>
        </p:spPr>
      </p:pic>
      <p:sp>
        <p:nvSpPr>
          <p:cNvPr id="16" name="Text 8"/>
          <p:cNvSpPr txBox="1"/>
          <p:nvPr/>
        </p:nvSpPr>
        <p:spPr>
          <a:xfrm>
            <a:off x="1115568" y="3726180"/>
            <a:ext cx="4636008" cy="489204"/>
          </a:xfrm>
          <a:prstGeom prst="rect">
            <a:avLst/>
          </a:prstGeom>
          <a:noFill/>
          <a:ln/>
        </p:spPr>
        <p:txBody>
          <a:bodyPr wrap="square" lIns="0" tIns="0" rIns="0" bIns="0" rtlCol="0" anchor="t"/>
          <a:lstStyle/>
          <a:p>
            <a:pPr indent="0" marL="0">
              <a:buNone/>
            </a:pPr>
            <a:r>
              <a:rPr lang="en-US" sz="1400" dirty="0">
                <a:solidFill>
                  <a:srgbClr val="131925"/>
                </a:solidFill>
              </a:rPr>
              <a:t>Split-horizon pairs exported to separate files</a:t>
            </a:r>
            <a:endParaRPr lang="en-US" sz="1400" dirty="0"/>
          </a:p>
        </p:txBody>
      </p:sp>
      <p:pic>
        <p:nvPicPr>
          <p:cNvPr id="17" name="Image 5" descr="Advantage">    </p:cNvPr>
          <p:cNvPicPr>
            <a:picLocks noChangeAspect="1"/>
          </p:cNvPicPr>
          <p:nvPr/>
        </p:nvPicPr>
        <p:blipFill>
          <a:blip r:embed="rId6"/>
          <a:stretch>
            <a:fillRect/>
          </a:stretch>
        </p:blipFill>
        <p:spPr>
          <a:xfrm>
            <a:off x="804672" y="4251960"/>
            <a:ext cx="201168" cy="201168"/>
          </a:xfrm>
          <a:prstGeom prst="rect">
            <a:avLst/>
          </a:prstGeom>
        </p:spPr>
      </p:pic>
      <p:sp>
        <p:nvSpPr>
          <p:cNvPr id="18" name="Text 9"/>
          <p:cNvSpPr txBox="1"/>
          <p:nvPr/>
        </p:nvSpPr>
        <p:spPr>
          <a:xfrm>
            <a:off x="1115568" y="4215384"/>
            <a:ext cx="4636008" cy="489204"/>
          </a:xfrm>
          <a:prstGeom prst="rect">
            <a:avLst/>
          </a:prstGeom>
          <a:noFill/>
          <a:ln/>
        </p:spPr>
        <p:txBody>
          <a:bodyPr wrap="square" lIns="0" tIns="0" rIns="0" bIns="0" rtlCol="0" anchor="t"/>
          <a:lstStyle/>
          <a:p>
            <a:pPr indent="0" marL="0">
              <a:buNone/>
            </a:pPr>
            <a:r>
              <a:rPr lang="en-US" sz="1400" dirty="0">
                <a:solidFill>
                  <a:srgbClr val="131925"/>
                </a:solidFill>
              </a:rPr>
              <a:t>Exporting every zone outside sandbox needs approval</a:t>
            </a:r>
            <a:endParaRPr lang="en-US" sz="1400" dirty="0"/>
          </a:p>
        </p:txBody>
      </p:sp>
      <p:pic>
        <p:nvPicPr>
          <p:cNvPr id="19" name="Image 6" descr="Advantage">    </p:cNvPr>
          <p:cNvPicPr>
            <a:picLocks noChangeAspect="1"/>
          </p:cNvPicPr>
          <p:nvPr/>
        </p:nvPicPr>
        <p:blipFill>
          <a:blip r:embed="rId7"/>
          <a:stretch>
            <a:fillRect/>
          </a:stretch>
        </p:blipFill>
        <p:spPr>
          <a:xfrm>
            <a:off x="804672" y="4741164"/>
            <a:ext cx="201168" cy="201168"/>
          </a:xfrm>
          <a:prstGeom prst="rect">
            <a:avLst/>
          </a:prstGeom>
        </p:spPr>
      </p:pic>
      <p:sp>
        <p:nvSpPr>
          <p:cNvPr id="20" name="Text 10"/>
          <p:cNvSpPr txBox="1"/>
          <p:nvPr/>
        </p:nvSpPr>
        <p:spPr>
          <a:xfrm>
            <a:off x="1115568" y="4704588"/>
            <a:ext cx="4636008" cy="489204"/>
          </a:xfrm>
          <a:prstGeom prst="rect">
            <a:avLst/>
          </a:prstGeom>
          <a:noFill/>
          <a:ln/>
        </p:spPr>
        <p:txBody>
          <a:bodyPr wrap="square" lIns="0" tIns="0" rIns="0" bIns="0" rtlCol="0" anchor="t"/>
          <a:lstStyle/>
          <a:p>
            <a:pPr indent="0" marL="0">
              <a:buNone/>
            </a:pPr>
            <a:r>
              <a:rPr lang="en-US" sz="1400" dirty="0">
                <a:solidFill>
                  <a:srgbClr val="131925"/>
                </a:solidFill>
              </a:rPr>
              <a:t>Results go through a pull request, never straight to main</a:t>
            </a:r>
            <a:endParaRPr lang="en-US" sz="1400" dirty="0"/>
          </a:p>
        </p:txBody>
      </p:sp>
      <p:sp>
        <p:nvSpPr>
          <p:cNvPr id="21" name="Shape 11"/>
          <p:cNvSpPr/>
          <p:nvPr/>
        </p:nvSpPr>
        <p:spPr>
          <a:xfrm>
            <a:off x="6227064" y="1481328"/>
            <a:ext cx="5413248" cy="4690872"/>
          </a:xfrm>
          <a:prstGeom prst="roundRect">
            <a:avLst>
              <a:gd name="adj" fmla="val 2339"/>
            </a:avLst>
          </a:prstGeom>
          <a:solidFill>
            <a:srgbClr val="FDF4F3"/>
          </a:solidFill>
          <a:ln w="12700">
            <a:solidFill>
              <a:srgbClr val="F0D3D0"/>
            </a:solidFill>
            <a:prstDash val="solid"/>
          </a:ln>
          <a:effectLst>
            <a:outerShdw sx="100000" sy="100000" kx="0" ky="0" algn="bl" rotWithShape="0" blurRad="76200" dist="25400" dir="5400000">
              <a:srgbClr val="1B2A41">
                <a:alpha val="10000"/>
              </a:srgbClr>
            </a:outerShdw>
          </a:effectLst>
        </p:spPr>
      </p:sp>
      <p:sp>
        <p:nvSpPr>
          <p:cNvPr id="22" name="Shape 12"/>
          <p:cNvSpPr/>
          <p:nvPr/>
        </p:nvSpPr>
        <p:spPr>
          <a:xfrm>
            <a:off x="6455664" y="1664208"/>
            <a:ext cx="402336" cy="402336"/>
          </a:xfrm>
          <a:prstGeom prst="ellipse">
            <a:avLst/>
          </a:prstGeom>
          <a:solidFill>
            <a:srgbClr val="C93A32"/>
          </a:solidFill>
          <a:ln w="6350">
            <a:solidFill>
              <a:srgbClr val="C93A32"/>
            </a:solidFill>
            <a:prstDash val="solid"/>
          </a:ln>
        </p:spPr>
      </p:sp>
      <p:pic>
        <p:nvPicPr>
          <p:cNvPr id="23" name="Image 7" descr="Icon">    </p:cNvPr>
          <p:cNvPicPr>
            <a:picLocks noChangeAspect="1"/>
          </p:cNvPicPr>
          <p:nvPr/>
        </p:nvPicPr>
        <p:blipFill>
          <a:blip r:embed="rId8"/>
          <a:stretch>
            <a:fillRect/>
          </a:stretch>
        </p:blipFill>
        <p:spPr>
          <a:xfrm>
            <a:off x="6552225" y="1760769"/>
            <a:ext cx="209215" cy="209215"/>
          </a:xfrm>
          <a:prstGeom prst="rect">
            <a:avLst/>
          </a:prstGeom>
        </p:spPr>
      </p:pic>
      <p:sp>
        <p:nvSpPr>
          <p:cNvPr id="24" name="Text 13"/>
          <p:cNvSpPr txBox="1"/>
          <p:nvPr/>
        </p:nvSpPr>
        <p:spPr>
          <a:xfrm>
            <a:off x="6976872" y="1664208"/>
            <a:ext cx="4206240" cy="402336"/>
          </a:xfrm>
          <a:prstGeom prst="rect">
            <a:avLst/>
          </a:prstGeom>
          <a:noFill/>
          <a:ln/>
        </p:spPr>
        <p:txBody>
          <a:bodyPr wrap="square" lIns="0" tIns="0" rIns="0" bIns="0" rtlCol="0" anchor="ctr"/>
          <a:lstStyle/>
          <a:p>
            <a:pPr indent="0" marL="0">
              <a:buNone/>
            </a:pPr>
            <a:r>
              <a:rPr lang="en-US" sz="1800" b="1" dirty="0">
                <a:solidFill>
                  <a:srgbClr val="7D1C16"/>
                </a:solidFill>
              </a:rPr>
              <a:t>Disadvantages</a:t>
            </a:r>
            <a:endParaRPr lang="en-US" sz="1800" dirty="0"/>
          </a:p>
        </p:txBody>
      </p:sp>
      <p:sp>
        <p:nvSpPr>
          <p:cNvPr id="25" name="Risk marker 5"/>
          <p:cNvSpPr txBox="1"/>
          <p:nvPr/>
        </p:nvSpPr>
        <p:spPr>
          <a:xfrm>
            <a:off x="6464808" y="2267712"/>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6" name="Text 15"/>
          <p:cNvSpPr txBox="1"/>
          <p:nvPr/>
        </p:nvSpPr>
        <p:spPr>
          <a:xfrm>
            <a:off x="6848856" y="2258568"/>
            <a:ext cx="4590288" cy="489204"/>
          </a:xfrm>
          <a:prstGeom prst="rect">
            <a:avLst/>
          </a:prstGeom>
          <a:noFill/>
          <a:ln/>
        </p:spPr>
        <p:txBody>
          <a:bodyPr wrap="square" lIns="0" tIns="0" rIns="0" bIns="0" rtlCol="0" anchor="t"/>
          <a:lstStyle/>
          <a:p>
            <a:pPr indent="0" marL="0">
              <a:buNone/>
            </a:pPr>
            <a:r>
              <a:rPr lang="en-US" sz="1400" dirty="0">
                <a:solidFill>
                  <a:srgbClr val="131925"/>
                </a:solidFill>
              </a:rPr>
              <a:t>Uses the same write-capable deploy role as Apply</a:t>
            </a:r>
            <a:pPr indent="0" marL="0">
              <a:buNone/>
            </a:pPr>
            <a:r>
              <a:rPr lang="en-US" sz="1100" b="1" dirty="0">
                <a:solidFill>
                  <a:srgbClr val="2A5BD7"/>
                </a:solidFill>
              </a:rPr>
              <a:t>  Check</a:t>
            </a:r>
            <a:endParaRPr lang="en-US" sz="1400" dirty="0"/>
          </a:p>
        </p:txBody>
      </p:sp>
      <p:sp>
        <p:nvSpPr>
          <p:cNvPr id="27" name="Risk marker 7"/>
          <p:cNvSpPr txBox="1"/>
          <p:nvPr/>
        </p:nvSpPr>
        <p:spPr>
          <a:xfrm>
            <a:off x="6464808" y="2756916"/>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7</a:t>
            </a:r>
            <a:endParaRPr lang="en-US" sz="1000" dirty="0"/>
          </a:p>
        </p:txBody>
      </p:sp>
      <p:sp>
        <p:nvSpPr>
          <p:cNvPr id="28" name="Text 17"/>
          <p:cNvSpPr txBox="1"/>
          <p:nvPr/>
        </p:nvSpPr>
        <p:spPr>
          <a:xfrm>
            <a:off x="6848856" y="2747772"/>
            <a:ext cx="4590288" cy="489204"/>
          </a:xfrm>
          <a:prstGeom prst="rect">
            <a:avLst/>
          </a:prstGeom>
          <a:noFill/>
          <a:ln/>
        </p:spPr>
        <p:txBody>
          <a:bodyPr wrap="square" lIns="0" tIns="0" rIns="0" bIns="0" rtlCol="0" anchor="t"/>
          <a:lstStyle/>
          <a:p>
            <a:pPr indent="0" marL="0">
              <a:buNone/>
            </a:pPr>
            <a:r>
              <a:rPr lang="en-US" sz="1400" dirty="0">
                <a:solidFill>
                  <a:srgbClr val="131925"/>
                </a:solidFill>
              </a:rPr>
              <a:t>Custom boto3 scripts; CloudFormation shares the zones</a:t>
            </a:r>
            <a:endParaRPr lang="en-US" sz="1400" dirty="0"/>
          </a:p>
        </p:txBody>
      </p:sp>
      <p:sp>
        <p:nvSpPr>
          <p:cNvPr id="29" name="Risk marker 8"/>
          <p:cNvSpPr txBox="1"/>
          <p:nvPr/>
        </p:nvSpPr>
        <p:spPr>
          <a:xfrm>
            <a:off x="6464808" y="3246120"/>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8</a:t>
            </a:r>
            <a:endParaRPr lang="en-US" sz="1000" dirty="0"/>
          </a:p>
        </p:txBody>
      </p:sp>
      <p:sp>
        <p:nvSpPr>
          <p:cNvPr id="30" name="Text 19"/>
          <p:cNvSpPr txBox="1"/>
          <p:nvPr/>
        </p:nvSpPr>
        <p:spPr>
          <a:xfrm>
            <a:off x="6848856" y="3236976"/>
            <a:ext cx="4590288" cy="489204"/>
          </a:xfrm>
          <a:prstGeom prst="rect">
            <a:avLst/>
          </a:prstGeom>
          <a:noFill/>
          <a:ln/>
        </p:spPr>
        <p:txBody>
          <a:bodyPr wrap="square" lIns="0" tIns="0" rIns="0" bIns="0" rtlCol="0" anchor="t"/>
          <a:lstStyle/>
          <a:p>
            <a:pPr indent="0" marL="0">
              <a:buNone/>
            </a:pPr>
            <a:r>
              <a:rPr lang="en-US" sz="1400" dirty="0">
                <a:solidFill>
                  <a:srgbClr val="131925"/>
                </a:solidFill>
              </a:rPr>
              <a:t>Output changes between runs</a:t>
            </a:r>
            <a:pPr indent="0" marL="0">
              <a:buNone/>
            </a:pPr>
            <a:r>
              <a:rPr lang="en-US" sz="1100" b="1" dirty="0">
                <a:solidFill>
                  <a:srgbClr val="4F5ED0"/>
                </a:solidFill>
              </a:rPr>
              <a:t>  Seen in runs</a:t>
            </a:r>
            <a:endParaRPr lang="en-US" sz="1400" dirty="0"/>
          </a:p>
        </p:txBody>
      </p:sp>
      <p:sp>
        <p:nvSpPr>
          <p:cNvPr id="31" name="Risk marker 10"/>
          <p:cNvSpPr txBox="1"/>
          <p:nvPr/>
        </p:nvSpPr>
        <p:spPr>
          <a:xfrm>
            <a:off x="6464808" y="3735324"/>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10</a:t>
            </a:r>
            <a:endParaRPr lang="en-US" sz="850" dirty="0"/>
          </a:p>
        </p:txBody>
      </p:sp>
      <p:sp>
        <p:nvSpPr>
          <p:cNvPr id="32" name="Text 21"/>
          <p:cNvSpPr txBox="1"/>
          <p:nvPr/>
        </p:nvSpPr>
        <p:spPr>
          <a:xfrm>
            <a:off x="6848856" y="3726180"/>
            <a:ext cx="4590288" cy="489204"/>
          </a:xfrm>
          <a:prstGeom prst="rect">
            <a:avLst/>
          </a:prstGeom>
          <a:noFill/>
          <a:ln/>
        </p:spPr>
        <p:txBody>
          <a:bodyPr wrap="square" lIns="0" tIns="0" rIns="0" bIns="0" rtlCol="0" anchor="t"/>
          <a:lstStyle/>
          <a:p>
            <a:pPr indent="0" marL="0">
              <a:buNone/>
            </a:pPr>
            <a:r>
              <a:rPr lang="en-US" sz="1400" dirty="0">
                <a:solidFill>
                  <a:srgbClr val="131925"/>
                </a:solidFill>
              </a:rPr>
              <a:t>A new PR every run; export PRs can roll config back</a:t>
            </a:r>
            <a:endParaRPr lang="en-US" sz="1400" dirty="0"/>
          </a:p>
        </p:txBody>
      </p:sp>
      <p:sp>
        <p:nvSpPr>
          <p:cNvPr id="33" name="Risk marker 13"/>
          <p:cNvSpPr txBox="1"/>
          <p:nvPr/>
        </p:nvSpPr>
        <p:spPr>
          <a:xfrm>
            <a:off x="6464808" y="4224528"/>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13</a:t>
            </a:r>
            <a:endParaRPr lang="en-US" sz="850" dirty="0"/>
          </a:p>
        </p:txBody>
      </p:sp>
      <p:sp>
        <p:nvSpPr>
          <p:cNvPr id="34" name="Text 23"/>
          <p:cNvSpPr txBox="1"/>
          <p:nvPr/>
        </p:nvSpPr>
        <p:spPr>
          <a:xfrm>
            <a:off x="6848856" y="4215384"/>
            <a:ext cx="4590288" cy="489204"/>
          </a:xfrm>
          <a:prstGeom prst="rect">
            <a:avLst/>
          </a:prstGeom>
          <a:noFill/>
          <a:ln/>
        </p:spPr>
        <p:txBody>
          <a:bodyPr wrap="square" lIns="0" tIns="0" rIns="0" bIns="0" rtlCol="0" anchor="t"/>
          <a:lstStyle/>
          <a:p>
            <a:pPr indent="0" marL="0">
              <a:buNone/>
            </a:pPr>
            <a:r>
              <a:rPr lang="en-US" sz="1400" dirty="0">
                <a:solidFill>
                  <a:srgbClr val="131925"/>
                </a:solidFill>
              </a:rPr>
              <a:t>Skipped zones hidden; one error stops the export</a:t>
            </a:r>
            <a:endParaRPr lang="en-US" sz="1400" dirty="0"/>
          </a:p>
        </p:txBody>
      </p:sp>
      <p:sp>
        <p:nvSpPr>
          <p:cNvPr id="35" name="Risk marker 14"/>
          <p:cNvSpPr txBox="1"/>
          <p:nvPr/>
        </p:nvSpPr>
        <p:spPr>
          <a:xfrm>
            <a:off x="6464808" y="4713732"/>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14</a:t>
            </a:r>
            <a:endParaRPr lang="en-US" sz="850" dirty="0"/>
          </a:p>
        </p:txBody>
      </p:sp>
      <p:sp>
        <p:nvSpPr>
          <p:cNvPr id="36" name="Text 25"/>
          <p:cNvSpPr txBox="1"/>
          <p:nvPr/>
        </p:nvSpPr>
        <p:spPr>
          <a:xfrm>
            <a:off x="6848856" y="4704588"/>
            <a:ext cx="4590288" cy="489204"/>
          </a:xfrm>
          <a:prstGeom prst="rect">
            <a:avLst/>
          </a:prstGeom>
          <a:noFill/>
          <a:ln/>
        </p:spPr>
        <p:txBody>
          <a:bodyPr wrap="square" lIns="0" tIns="0" rIns="0" bIns="0" rtlCol="0" anchor="t"/>
          <a:lstStyle/>
          <a:p>
            <a:pPr indent="0" marL="0">
              <a:buNone/>
            </a:pPr>
            <a:r>
              <a:rPr lang="en-US" sz="1400" dirty="0">
                <a:solidFill>
                  <a:srgbClr val="131925"/>
                </a:solidFill>
              </a:rPr>
              <a:t>Private DNS copied to Git and a 30-day artifact</a:t>
            </a:r>
            <a:endParaRPr lang="en-US" sz="1400" dirty="0"/>
          </a:p>
        </p:txBody>
      </p:sp>
      <p:sp>
        <p:nvSpPr>
          <p:cNvPr id="37" name="Risk marker 15"/>
          <p:cNvSpPr txBox="1"/>
          <p:nvPr/>
        </p:nvSpPr>
        <p:spPr>
          <a:xfrm>
            <a:off x="6464808" y="5202936"/>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15</a:t>
            </a:r>
            <a:endParaRPr lang="en-US" sz="850" dirty="0"/>
          </a:p>
        </p:txBody>
      </p:sp>
      <p:sp>
        <p:nvSpPr>
          <p:cNvPr id="38" name="Text 27"/>
          <p:cNvSpPr txBox="1"/>
          <p:nvPr/>
        </p:nvSpPr>
        <p:spPr>
          <a:xfrm>
            <a:off x="6848856" y="5193792"/>
            <a:ext cx="4590288" cy="489204"/>
          </a:xfrm>
          <a:prstGeom prst="rect">
            <a:avLst/>
          </a:prstGeom>
          <a:noFill/>
          <a:ln/>
        </p:spPr>
        <p:txBody>
          <a:bodyPr wrap="square" lIns="0" tIns="0" rIns="0" bIns="0" rtlCol="0" anchor="t"/>
          <a:lstStyle/>
          <a:p>
            <a:pPr indent="0" marL="0">
              <a:buNone/>
            </a:pPr>
            <a:r>
              <a:rPr lang="en-US" sz="1400" dirty="0">
                <a:solidFill>
                  <a:srgbClr val="131925"/>
                </a:solidFill>
              </a:rPr>
              <a:t>Free-text account; two zone names can collide</a:t>
            </a:r>
            <a:endParaRPr lang="en-US" sz="1400" dirty="0"/>
          </a:p>
        </p:txBody>
      </p:sp>
      <p:sp>
        <p:nvSpPr>
          <p:cNvPr id="39" name="Risk marker 16"/>
          <p:cNvSpPr txBox="1"/>
          <p:nvPr/>
        </p:nvSpPr>
        <p:spPr>
          <a:xfrm>
            <a:off x="6464808" y="5692140"/>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16</a:t>
            </a:r>
            <a:endParaRPr lang="en-US" sz="850" dirty="0"/>
          </a:p>
        </p:txBody>
      </p:sp>
      <p:sp>
        <p:nvSpPr>
          <p:cNvPr id="40" name="Text 29"/>
          <p:cNvSpPr txBox="1"/>
          <p:nvPr/>
        </p:nvSpPr>
        <p:spPr>
          <a:xfrm>
            <a:off x="6848856" y="5682996"/>
            <a:ext cx="4590288" cy="489204"/>
          </a:xfrm>
          <a:prstGeom prst="rect">
            <a:avLst/>
          </a:prstGeom>
          <a:noFill/>
          <a:ln/>
        </p:spPr>
        <p:txBody>
          <a:bodyPr wrap="square" lIns="0" tIns="0" rIns="0" bIns="0" rtlCol="0" anchor="t"/>
          <a:lstStyle/>
          <a:p>
            <a:pPr indent="0" marL="0">
              <a:buNone/>
            </a:pPr>
            <a:r>
              <a:rPr lang="en-US" sz="1400" dirty="0">
                <a:solidFill>
                  <a:srgbClr val="131925"/>
                </a:solidFill>
              </a:rPr>
              <a:t>Workflow hygiene: direct ${{ }} use, old actions</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DNS apply flow</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ws2-dns-records-apply.yml · a plain run only previews; changing records needs Execute changes ticked and, outside sandbox, an approval</a:t>
            </a:r>
            <a:endParaRPr lang="en-US" sz="1400" dirty="0"/>
          </a:p>
        </p:txBody>
      </p:sp>
      <p:sp>
        <p:nvSpPr>
          <p:cNvPr id="5" name="Engineer runs Apply"/>
          <p:cNvSpPr txBox="1"/>
          <p:nvPr/>
        </p:nvSpPr>
        <p:spPr>
          <a:xfrm>
            <a:off x="548640" y="1508760"/>
            <a:ext cx="155448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Engineer runs Apply</a:t>
            </a:r>
            <a:endParaRPr lang="en-US" sz="1200" dirty="0"/>
          </a:p>
          <a:p>
            <a:pPr algn="ctr" indent="0" marL="0">
              <a:buNone/>
            </a:pPr>
            <a:r>
              <a:rPr lang="en-US" sz="1000" dirty="0">
                <a:solidFill>
                  <a:srgbClr val="586275"/>
                </a:solidFill>
              </a:rPr>
              <a:t>From the Actions tab, any branch</a:t>
            </a:r>
            <a:endParaRPr lang="en-US" sz="1200" dirty="0"/>
          </a:p>
        </p:txBody>
      </p:sp>
      <p:sp>
        <p:nvSpPr>
          <p:cNvPr id="6" name="Risk marker 5"/>
          <p:cNvSpPr txBox="1"/>
          <p:nvPr/>
        </p:nvSpPr>
        <p:spPr>
          <a:xfrm>
            <a:off x="1801368" y="13716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7" name="Shape 4"/>
          <p:cNvSpPr/>
          <p:nvPr/>
        </p:nvSpPr>
        <p:spPr>
          <a:xfrm>
            <a:off x="2103120" y="1920240"/>
            <a:ext cx="228600" cy="0"/>
          </a:xfrm>
          <a:prstGeom prst="line">
            <a:avLst/>
          </a:prstGeom>
          <a:noFill/>
          <a:ln w="15875">
            <a:solidFill>
              <a:srgbClr val="7D889B"/>
            </a:solidFill>
            <a:prstDash val="solid"/>
            <a:tailEnd type="triangle"/>
          </a:ln>
        </p:spPr>
      </p:sp>
      <p:sp>
        <p:nvSpPr>
          <p:cNvPr id="8" name="Account and zone valid?"/>
          <p:cNvSpPr txBox="1"/>
          <p:nvPr/>
        </p:nvSpPr>
        <p:spPr>
          <a:xfrm>
            <a:off x="2331720" y="1417320"/>
            <a:ext cx="1325880" cy="100584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050" b="1" dirty="0">
                <a:solidFill>
                  <a:srgbClr val="6A4200"/>
                </a:solidFill>
              </a:rPr>
              <a:t>Account and</a:t>
            </a:r>
            <a:endParaRPr lang="en-US" sz="1050" dirty="0"/>
          </a:p>
          <a:p>
            <a:pPr algn="ctr" indent="0" marL="0">
              <a:buNone/>
            </a:pPr>
            <a:r>
              <a:rPr lang="en-US" sz="1050" b="1" dirty="0">
                <a:solidFill>
                  <a:srgbClr val="6A4200"/>
                </a:solidFill>
              </a:rPr>
              <a:t>zone valid?</a:t>
            </a:r>
            <a:endParaRPr lang="en-US" sz="1050" dirty="0"/>
          </a:p>
        </p:txBody>
      </p:sp>
      <p:sp>
        <p:nvSpPr>
          <p:cNvPr id="9" name="Shape 6"/>
          <p:cNvSpPr/>
          <p:nvPr/>
        </p:nvSpPr>
        <p:spPr>
          <a:xfrm>
            <a:off x="3657600" y="1920240"/>
            <a:ext cx="228600" cy="0"/>
          </a:xfrm>
          <a:prstGeom prst="line">
            <a:avLst/>
          </a:prstGeom>
          <a:noFill/>
          <a:ln w="15875">
            <a:solidFill>
              <a:srgbClr val="7D889B"/>
            </a:solidFill>
            <a:prstDash val="solid"/>
            <a:tailEnd type="triangle"/>
          </a:ln>
        </p:spPr>
      </p:sp>
      <p:sp>
        <p:nvSpPr>
          <p:cNvPr id="10" name="Text 7"/>
          <p:cNvSpPr txBox="1"/>
          <p:nvPr/>
        </p:nvSpPr>
        <p:spPr>
          <a:xfrm>
            <a:off x="3639312" y="160934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11" name="Zone resolved"/>
          <p:cNvSpPr txBox="1"/>
          <p:nvPr/>
        </p:nvSpPr>
        <p:spPr>
          <a:xfrm>
            <a:off x="3886200" y="1508760"/>
            <a:ext cx="1874520" cy="822960"/>
          </a:xfrm>
          <a:prstGeom prst="roundRect">
            <a:avLst>
              <a:gd name="adj" fmla="val 10000"/>
            </a:avLst>
          </a:prstGeom>
          <a:solidFill>
            <a:srgbClr val="E2F3EC"/>
          </a:solidFill>
          <a:ln w="15875">
            <a:solidFill>
              <a:srgbClr val="22866A"/>
            </a:solidFill>
            <a:prstDash val="solid"/>
          </a:ln>
        </p:spPr>
        <p:txBody>
          <a:bodyPr wrap="square" lIns="50800" tIns="25400" rIns="50800" bIns="25400" rtlCol="0" anchor="ctr"/>
          <a:lstStyle/>
          <a:p>
            <a:pPr algn="ctr" indent="0" marL="0">
              <a:buNone/>
            </a:pPr>
            <a:r>
              <a:rPr lang="en-US" sz="1200" b="1" dirty="0">
                <a:solidFill>
                  <a:srgbClr val="0C4D3C"/>
                </a:solidFill>
              </a:rPr>
              <a:t>Zone resolved</a:t>
            </a:r>
            <a:endParaRPr lang="en-US" sz="1200" dirty="0"/>
          </a:p>
          <a:p>
            <a:pPr algn="ctr" indent="0" marL="0">
              <a:buNone/>
            </a:pPr>
            <a:r>
              <a:rPr lang="en-US" sz="1000" dirty="0">
                <a:solidFill>
                  <a:srgbClr val="2B6C59"/>
                </a:solidFill>
              </a:rPr>
              <a:t>To a stack ID; split-horizon pairs not told apart</a:t>
            </a:r>
            <a:endParaRPr lang="en-US" sz="1200" dirty="0"/>
          </a:p>
        </p:txBody>
      </p:sp>
      <p:sp>
        <p:nvSpPr>
          <p:cNvPr id="12" name="Risk marker 4"/>
          <p:cNvSpPr txBox="1"/>
          <p:nvPr/>
        </p:nvSpPr>
        <p:spPr>
          <a:xfrm>
            <a:off x="5458968" y="13716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3" name="Shape 10"/>
          <p:cNvSpPr/>
          <p:nvPr/>
        </p:nvSpPr>
        <p:spPr>
          <a:xfrm>
            <a:off x="5760720" y="1920240"/>
            <a:ext cx="228600" cy="0"/>
          </a:xfrm>
          <a:prstGeom prst="line">
            <a:avLst/>
          </a:prstGeom>
          <a:noFill/>
          <a:ln w="15875">
            <a:solidFill>
              <a:srgbClr val="7D889B"/>
            </a:solidFill>
            <a:prstDash val="solid"/>
            <a:tailEnd type="triangle"/>
          </a:ln>
        </p:spPr>
      </p:sp>
      <p:sp>
        <p:nvSpPr>
          <p:cNvPr id="14" name="Preview: config vs live"/>
          <p:cNvSpPr txBox="1"/>
          <p:nvPr/>
        </p:nvSpPr>
        <p:spPr>
          <a:xfrm>
            <a:off x="5989320" y="1508760"/>
            <a:ext cx="1874520" cy="822960"/>
          </a:xfrm>
          <a:prstGeom prst="roundRect">
            <a:avLst>
              <a:gd name="adj" fmla="val 10000"/>
            </a:avLst>
          </a:prstGeom>
          <a:solidFill>
            <a:srgbClr val="E2F3EC"/>
          </a:solidFill>
          <a:ln w="15875">
            <a:solidFill>
              <a:srgbClr val="22866A"/>
            </a:solidFill>
            <a:prstDash val="solid"/>
          </a:ln>
        </p:spPr>
        <p:txBody>
          <a:bodyPr wrap="square" lIns="50800" tIns="25400" rIns="50800" bIns="25400" rtlCol="0" anchor="ctr"/>
          <a:lstStyle/>
          <a:p>
            <a:pPr algn="ctr" indent="0" marL="0">
              <a:buNone/>
            </a:pPr>
            <a:r>
              <a:rPr lang="en-US" sz="1200" b="1" dirty="0">
                <a:solidFill>
                  <a:srgbClr val="0C4D3C"/>
                </a:solidFill>
              </a:rPr>
              <a:t>Preview: config vs live</a:t>
            </a:r>
            <a:endParaRPr lang="en-US" sz="1200" dirty="0"/>
          </a:p>
          <a:p>
            <a:pPr algn="ctr" indent="0" marL="0">
              <a:buNone/>
            </a:pPr>
            <a:r>
              <a:rPr lang="en-US" sz="1000" dirty="0">
                <a:solidFill>
                  <a:srgbClr val="2B6C59"/>
                </a:solidFill>
              </a:rPr>
              <a:t>Every UPSERT and DELETE shown</a:t>
            </a:r>
            <a:endParaRPr lang="en-US" sz="1200" dirty="0"/>
          </a:p>
        </p:txBody>
      </p:sp>
      <p:sp>
        <p:nvSpPr>
          <p:cNvPr id="15" name="Risk marker 9"/>
          <p:cNvSpPr txBox="1"/>
          <p:nvPr/>
        </p:nvSpPr>
        <p:spPr>
          <a:xfrm>
            <a:off x="7562088" y="13716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16" name="Risk marker 6"/>
          <p:cNvSpPr txBox="1"/>
          <p:nvPr/>
        </p:nvSpPr>
        <p:spPr>
          <a:xfrm>
            <a:off x="7251192" y="13716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6</a:t>
            </a:r>
            <a:endParaRPr lang="en-US" sz="1000" dirty="0"/>
          </a:p>
        </p:txBody>
      </p:sp>
      <p:sp>
        <p:nvSpPr>
          <p:cNvPr id="17" name="Risk marker 3"/>
          <p:cNvSpPr txBox="1"/>
          <p:nvPr/>
        </p:nvSpPr>
        <p:spPr>
          <a:xfrm>
            <a:off x="6940296" y="13716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8" name="Shape 15"/>
          <p:cNvSpPr/>
          <p:nvPr/>
        </p:nvSpPr>
        <p:spPr>
          <a:xfrm>
            <a:off x="7863840" y="1920240"/>
            <a:ext cx="228600" cy="0"/>
          </a:xfrm>
          <a:prstGeom prst="line">
            <a:avLst/>
          </a:prstGeom>
          <a:noFill/>
          <a:ln w="15875">
            <a:solidFill>
              <a:srgbClr val="7D889B"/>
            </a:solidFill>
            <a:prstDash val="solid"/>
            <a:tailEnd type="triangle"/>
          </a:ln>
        </p:spPr>
      </p:sp>
      <p:sp>
        <p:nvSpPr>
          <p:cNvPr id="19" name="Execute changes ticked?"/>
          <p:cNvSpPr txBox="1"/>
          <p:nvPr/>
        </p:nvSpPr>
        <p:spPr>
          <a:xfrm>
            <a:off x="8092440" y="1371600"/>
            <a:ext cx="1371600" cy="109728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050" b="1" dirty="0">
                <a:solidFill>
                  <a:srgbClr val="6A4200"/>
                </a:solidFill>
              </a:rPr>
              <a:t>Execute changes</a:t>
            </a:r>
            <a:endParaRPr lang="en-US" sz="1050" dirty="0"/>
          </a:p>
          <a:p>
            <a:pPr algn="ctr" indent="0" marL="0">
              <a:buNone/>
            </a:pPr>
            <a:r>
              <a:rPr lang="en-US" sz="1050" b="1" dirty="0">
                <a:solidFill>
                  <a:srgbClr val="6A4200"/>
                </a:solidFill>
              </a:rPr>
              <a:t>ticked?</a:t>
            </a:r>
            <a:endParaRPr lang="en-US" sz="1050" dirty="0"/>
          </a:p>
        </p:txBody>
      </p:sp>
      <p:sp>
        <p:nvSpPr>
          <p:cNvPr id="20" name="Shape 17"/>
          <p:cNvSpPr/>
          <p:nvPr/>
        </p:nvSpPr>
        <p:spPr>
          <a:xfrm>
            <a:off x="9464040" y="1920240"/>
            <a:ext cx="228600" cy="0"/>
          </a:xfrm>
          <a:prstGeom prst="line">
            <a:avLst/>
          </a:prstGeom>
          <a:noFill/>
          <a:ln w="15875">
            <a:solidFill>
              <a:srgbClr val="7D889B"/>
            </a:solidFill>
            <a:prstDash val="solid"/>
            <a:tailEnd type="triangle"/>
          </a:ln>
        </p:spPr>
      </p:sp>
      <p:sp>
        <p:nvSpPr>
          <p:cNvPr id="21" name="Text 18"/>
          <p:cNvSpPr txBox="1"/>
          <p:nvPr/>
        </p:nvSpPr>
        <p:spPr>
          <a:xfrm>
            <a:off x="9436608" y="160934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22" name="Preview only"/>
          <p:cNvSpPr txBox="1"/>
          <p:nvPr/>
        </p:nvSpPr>
        <p:spPr>
          <a:xfrm>
            <a:off x="9692640" y="1600200"/>
            <a:ext cx="1947672" cy="640080"/>
          </a:xfrm>
          <a:prstGeom prst="roundRect">
            <a:avLst>
              <a:gd name="adj" fmla="val 50000"/>
            </a:avLst>
          </a:prstGeom>
          <a:solidFill>
            <a:srgbClr val="EBEEFC"/>
          </a:solidFill>
          <a:ln w="15875">
            <a:solidFill>
              <a:srgbClr val="4F5ED0"/>
            </a:solidFill>
            <a:prstDash val="solid"/>
          </a:ln>
        </p:spPr>
        <p:txBody>
          <a:bodyPr wrap="square" lIns="50800" tIns="25400" rIns="50800" bIns="25400" rtlCol="0" anchor="ctr"/>
          <a:lstStyle/>
          <a:p>
            <a:pPr algn="ctr" indent="0" marL="0">
              <a:buNone/>
            </a:pPr>
            <a:r>
              <a:rPr lang="en-US" sz="1150" b="1" dirty="0">
                <a:solidFill>
                  <a:srgbClr val="252D86"/>
                </a:solidFill>
              </a:rPr>
              <a:t>Preview only</a:t>
            </a:r>
            <a:endParaRPr lang="en-US" sz="1150" dirty="0"/>
          </a:p>
          <a:p>
            <a:pPr algn="ctr" indent="0" marL="0">
              <a:buNone/>
            </a:pPr>
            <a:r>
              <a:rPr lang="en-US" sz="1000" dirty="0">
                <a:solidFill>
                  <a:srgbClr val="4650A9"/>
                </a:solidFill>
              </a:rPr>
              <a:t>Nothing changed in Route 53</a:t>
            </a:r>
            <a:endParaRPr lang="en-US" sz="1150" dirty="0"/>
          </a:p>
        </p:txBody>
      </p:sp>
      <p:sp>
        <p:nvSpPr>
          <p:cNvPr id="23" name="Shape 20"/>
          <p:cNvSpPr/>
          <p:nvPr/>
        </p:nvSpPr>
        <p:spPr>
          <a:xfrm>
            <a:off x="2994660" y="2423160"/>
            <a:ext cx="0" cy="274320"/>
          </a:xfrm>
          <a:prstGeom prst="line">
            <a:avLst/>
          </a:prstGeom>
          <a:noFill/>
          <a:ln w="15875">
            <a:solidFill>
              <a:srgbClr val="7D889B"/>
            </a:solidFill>
            <a:prstDash val="solid"/>
            <a:tailEnd type="triangle"/>
          </a:ln>
        </p:spPr>
      </p:sp>
      <p:sp>
        <p:nvSpPr>
          <p:cNvPr id="24" name="Text 21"/>
          <p:cNvSpPr txBox="1"/>
          <p:nvPr/>
        </p:nvSpPr>
        <p:spPr>
          <a:xfrm>
            <a:off x="3086100" y="2432304"/>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25" name="Stopped"/>
          <p:cNvSpPr txBox="1"/>
          <p:nvPr/>
        </p:nvSpPr>
        <p:spPr>
          <a:xfrm>
            <a:off x="2103120" y="2697480"/>
            <a:ext cx="1783080" cy="502920"/>
          </a:xfrm>
          <a:prstGeom prst="roundRect">
            <a:avLst>
              <a:gd name="adj" fmla="val 50000"/>
            </a:avLst>
          </a:prstGeom>
          <a:solidFill>
            <a:srgbClr val="EBEEFC"/>
          </a:solidFill>
          <a:ln w="15875">
            <a:solidFill>
              <a:srgbClr val="4F5ED0"/>
            </a:solidFill>
            <a:prstDash val="solid"/>
          </a:ln>
        </p:spPr>
        <p:txBody>
          <a:bodyPr wrap="square" lIns="50800" tIns="25400" rIns="50800" bIns="25400" rtlCol="0" anchor="ctr"/>
          <a:lstStyle/>
          <a:p>
            <a:pPr algn="ctr" indent="0" marL="0">
              <a:buNone/>
            </a:pPr>
            <a:r>
              <a:rPr lang="en-US" sz="1150" b="1" dirty="0">
                <a:solidFill>
                  <a:srgbClr val="252D86"/>
                </a:solidFill>
              </a:rPr>
              <a:t>Stopped</a:t>
            </a:r>
            <a:endParaRPr lang="en-US" sz="1150" dirty="0"/>
          </a:p>
          <a:p>
            <a:pPr algn="ctr" indent="0" marL="0">
              <a:buNone/>
            </a:pPr>
            <a:r>
              <a:rPr lang="en-US" sz="1000" dirty="0">
                <a:solidFill>
                  <a:srgbClr val="4650A9"/>
                </a:solidFill>
              </a:rPr>
              <a:t>Nothing changed</a:t>
            </a:r>
            <a:endParaRPr lang="en-US" sz="1150" dirty="0"/>
          </a:p>
        </p:txBody>
      </p:sp>
      <p:sp>
        <p:nvSpPr>
          <p:cNvPr id="26" name="Shape 23"/>
          <p:cNvSpPr/>
          <p:nvPr/>
        </p:nvSpPr>
        <p:spPr>
          <a:xfrm>
            <a:off x="8778240" y="2468880"/>
            <a:ext cx="0" cy="1005840"/>
          </a:xfrm>
          <a:prstGeom prst="line">
            <a:avLst/>
          </a:prstGeom>
          <a:noFill/>
          <a:ln w="15875">
            <a:solidFill>
              <a:srgbClr val="7D889B"/>
            </a:solidFill>
            <a:prstDash val="solid"/>
          </a:ln>
        </p:spPr>
      </p:sp>
      <p:sp>
        <p:nvSpPr>
          <p:cNvPr id="27" name="Shape 24"/>
          <p:cNvSpPr/>
          <p:nvPr/>
        </p:nvSpPr>
        <p:spPr>
          <a:xfrm flipH="1">
            <a:off x="1188720" y="3474720"/>
            <a:ext cx="7589520" cy="0"/>
          </a:xfrm>
          <a:prstGeom prst="line">
            <a:avLst/>
          </a:prstGeom>
          <a:noFill/>
          <a:ln w="15875">
            <a:solidFill>
              <a:srgbClr val="7D889B"/>
            </a:solidFill>
            <a:prstDash val="solid"/>
          </a:ln>
        </p:spPr>
      </p:sp>
      <p:sp>
        <p:nvSpPr>
          <p:cNvPr id="28" name="Shape 25"/>
          <p:cNvSpPr/>
          <p:nvPr/>
        </p:nvSpPr>
        <p:spPr>
          <a:xfrm>
            <a:off x="1188720" y="3474720"/>
            <a:ext cx="0" cy="274320"/>
          </a:xfrm>
          <a:prstGeom prst="line">
            <a:avLst/>
          </a:prstGeom>
          <a:noFill/>
          <a:ln w="15875">
            <a:solidFill>
              <a:srgbClr val="7D889B"/>
            </a:solidFill>
            <a:prstDash val="solid"/>
            <a:tailEnd type="triangle"/>
          </a:ln>
        </p:spPr>
      </p:sp>
      <p:sp>
        <p:nvSpPr>
          <p:cNvPr id="29" name="Text 26"/>
          <p:cNvSpPr txBox="1"/>
          <p:nvPr/>
        </p:nvSpPr>
        <p:spPr>
          <a:xfrm>
            <a:off x="8878824" y="2542032"/>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30" name="Sandbox?"/>
          <p:cNvSpPr txBox="1"/>
          <p:nvPr/>
        </p:nvSpPr>
        <p:spPr>
          <a:xfrm>
            <a:off x="594360" y="3749040"/>
            <a:ext cx="1188720" cy="91440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050" b="1" dirty="0">
                <a:solidFill>
                  <a:srgbClr val="6A4200"/>
                </a:solidFill>
              </a:rPr>
              <a:t>Sandbox?</a:t>
            </a:r>
            <a:endParaRPr lang="en-US" sz="1050" dirty="0"/>
          </a:p>
        </p:txBody>
      </p:sp>
      <p:sp>
        <p:nvSpPr>
          <p:cNvPr id="31" name="Shape 28"/>
          <p:cNvSpPr/>
          <p:nvPr/>
        </p:nvSpPr>
        <p:spPr>
          <a:xfrm>
            <a:off x="1783080" y="4206240"/>
            <a:ext cx="274320" cy="0"/>
          </a:xfrm>
          <a:prstGeom prst="line">
            <a:avLst/>
          </a:prstGeom>
          <a:noFill/>
          <a:ln w="15875">
            <a:solidFill>
              <a:srgbClr val="7D889B"/>
            </a:solidFill>
            <a:prstDash val="solid"/>
            <a:tailEnd type="triangle"/>
          </a:ln>
        </p:spPr>
      </p:sp>
      <p:sp>
        <p:nvSpPr>
          <p:cNvPr id="32" name="Text 29"/>
          <p:cNvSpPr txBox="1"/>
          <p:nvPr/>
        </p:nvSpPr>
        <p:spPr>
          <a:xfrm>
            <a:off x="1764792" y="3904488"/>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33" name="Waits for a reviewer"/>
          <p:cNvSpPr txBox="1"/>
          <p:nvPr/>
        </p:nvSpPr>
        <p:spPr>
          <a:xfrm>
            <a:off x="2057400" y="3794760"/>
            <a:ext cx="169164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Waits for a reviewer</a:t>
            </a:r>
            <a:endParaRPr lang="en-US" sz="1200" dirty="0"/>
          </a:p>
          <a:p>
            <a:pPr algn="ctr" indent="0" marL="0">
              <a:buNone/>
            </a:pPr>
            <a:r>
              <a:rPr lang="en-US" sz="1000" dirty="0">
                <a:solidFill>
                  <a:srgbClr val="586275"/>
                </a:solidFill>
              </a:rPr>
              <a:t>Shared production gate, up to 30 days</a:t>
            </a:r>
            <a:endParaRPr lang="en-US" sz="1200" dirty="0"/>
          </a:p>
        </p:txBody>
      </p:sp>
      <p:sp>
        <p:nvSpPr>
          <p:cNvPr id="34" name="Risk marker 5"/>
          <p:cNvSpPr txBox="1"/>
          <p:nvPr/>
        </p:nvSpPr>
        <p:spPr>
          <a:xfrm>
            <a:off x="3447288" y="36576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35" name="Risk marker 1"/>
          <p:cNvSpPr txBox="1"/>
          <p:nvPr/>
        </p:nvSpPr>
        <p:spPr>
          <a:xfrm>
            <a:off x="3136392" y="36576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36" name="Shape 33"/>
          <p:cNvSpPr/>
          <p:nvPr/>
        </p:nvSpPr>
        <p:spPr>
          <a:xfrm>
            <a:off x="3749040" y="4206240"/>
            <a:ext cx="228600" cy="0"/>
          </a:xfrm>
          <a:prstGeom prst="line">
            <a:avLst/>
          </a:prstGeom>
          <a:noFill/>
          <a:ln w="15875">
            <a:solidFill>
              <a:srgbClr val="7D889B"/>
            </a:solidFill>
            <a:prstDash val="solid"/>
            <a:tailEnd type="triangle"/>
          </a:ln>
        </p:spPr>
      </p:sp>
      <p:sp>
        <p:nvSpPr>
          <p:cNvPr id="37" name="Approved?"/>
          <p:cNvSpPr txBox="1"/>
          <p:nvPr/>
        </p:nvSpPr>
        <p:spPr>
          <a:xfrm>
            <a:off x="3977640" y="3749040"/>
            <a:ext cx="1188720" cy="914400"/>
          </a:xfrm>
          <a:prstGeom prst="diamond">
            <a:avLst/>
          </a:prstGeom>
          <a:solidFill>
            <a:srgbClr val="FFF3DC"/>
          </a:solidFill>
          <a:ln w="15875">
            <a:solidFill>
              <a:srgbClr val="BF8418"/>
            </a:solidFill>
          </a:ln>
        </p:spPr>
        <p:txBody>
          <a:bodyPr wrap="none" lIns="0" tIns="0" rIns="0" bIns="0" rtlCol="0" anchor="ctr"/>
          <a:lstStyle/>
          <a:p>
            <a:pPr algn="ctr" indent="0" marL="0">
              <a:buNone/>
            </a:pPr>
            <a:r>
              <a:rPr lang="en-US" sz="1050" b="1" dirty="0">
                <a:solidFill>
                  <a:srgbClr val="6A4200"/>
                </a:solidFill>
              </a:rPr>
              <a:t>Approved?</a:t>
            </a:r>
            <a:endParaRPr lang="en-US" sz="1050" dirty="0"/>
          </a:p>
        </p:txBody>
      </p:sp>
      <p:sp>
        <p:nvSpPr>
          <p:cNvPr id="38" name="Shape 35"/>
          <p:cNvSpPr/>
          <p:nvPr/>
        </p:nvSpPr>
        <p:spPr>
          <a:xfrm>
            <a:off x="4572000" y="4663440"/>
            <a:ext cx="0" cy="274320"/>
          </a:xfrm>
          <a:prstGeom prst="line">
            <a:avLst/>
          </a:prstGeom>
          <a:noFill/>
          <a:ln w="15875">
            <a:solidFill>
              <a:srgbClr val="7D889B"/>
            </a:solidFill>
            <a:prstDash val="solid"/>
            <a:tailEnd type="triangle"/>
          </a:ln>
        </p:spPr>
      </p:sp>
      <p:sp>
        <p:nvSpPr>
          <p:cNvPr id="39" name="Text 36"/>
          <p:cNvSpPr txBox="1"/>
          <p:nvPr/>
        </p:nvSpPr>
        <p:spPr>
          <a:xfrm>
            <a:off x="4663440" y="4663440"/>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No</a:t>
            </a:r>
            <a:endParaRPr lang="en-US" sz="1000" dirty="0"/>
          </a:p>
        </p:txBody>
      </p:sp>
      <p:sp>
        <p:nvSpPr>
          <p:cNvPr id="40" name="Rejected"/>
          <p:cNvSpPr txBox="1"/>
          <p:nvPr/>
        </p:nvSpPr>
        <p:spPr>
          <a:xfrm>
            <a:off x="3886200" y="4937760"/>
            <a:ext cx="1371600" cy="502920"/>
          </a:xfrm>
          <a:prstGeom prst="roundRect">
            <a:avLst>
              <a:gd name="adj" fmla="val 50000"/>
            </a:avLst>
          </a:prstGeom>
          <a:solidFill>
            <a:srgbClr val="EBEEFC"/>
          </a:solidFill>
          <a:ln w="15875">
            <a:solidFill>
              <a:srgbClr val="4F5ED0"/>
            </a:solidFill>
            <a:prstDash val="solid"/>
          </a:ln>
        </p:spPr>
        <p:txBody>
          <a:bodyPr wrap="square" lIns="50800" tIns="25400" rIns="50800" bIns="25400" rtlCol="0" anchor="ctr"/>
          <a:lstStyle/>
          <a:p>
            <a:pPr algn="ctr" indent="0" marL="0">
              <a:buNone/>
            </a:pPr>
            <a:r>
              <a:rPr lang="en-US" sz="1150" b="1" dirty="0">
                <a:solidFill>
                  <a:srgbClr val="252D86"/>
                </a:solidFill>
              </a:rPr>
              <a:t>Rejected</a:t>
            </a:r>
            <a:endParaRPr lang="en-US" sz="1150" dirty="0"/>
          </a:p>
          <a:p>
            <a:pPr algn="ctr" indent="0" marL="0">
              <a:buNone/>
            </a:pPr>
            <a:r>
              <a:rPr lang="en-US" sz="1000" dirty="0">
                <a:solidFill>
                  <a:srgbClr val="4650A9"/>
                </a:solidFill>
              </a:rPr>
              <a:t>Nothing changed</a:t>
            </a:r>
            <a:endParaRPr lang="en-US" sz="1150" dirty="0"/>
          </a:p>
        </p:txBody>
      </p:sp>
      <p:sp>
        <p:nvSpPr>
          <p:cNvPr id="41" name="Shape 38"/>
          <p:cNvSpPr/>
          <p:nvPr/>
        </p:nvSpPr>
        <p:spPr>
          <a:xfrm>
            <a:off x="5166360" y="4206240"/>
            <a:ext cx="274320" cy="0"/>
          </a:xfrm>
          <a:prstGeom prst="line">
            <a:avLst/>
          </a:prstGeom>
          <a:noFill/>
          <a:ln w="15875">
            <a:solidFill>
              <a:srgbClr val="7D889B"/>
            </a:solidFill>
            <a:prstDash val="solid"/>
            <a:tailEnd type="triangle"/>
          </a:ln>
        </p:spPr>
      </p:sp>
      <p:sp>
        <p:nvSpPr>
          <p:cNvPr id="42" name="Text 39"/>
          <p:cNvSpPr txBox="1"/>
          <p:nvPr/>
        </p:nvSpPr>
        <p:spPr>
          <a:xfrm>
            <a:off x="5138928" y="3904488"/>
            <a:ext cx="365760" cy="219456"/>
          </a:xfrm>
          <a:prstGeom prst="rect">
            <a:avLst/>
          </a:prstGeom>
          <a:noFill/>
          <a:ln/>
        </p:spPr>
        <p:txBody>
          <a:bodyPr wrap="square" lIns="0" tIns="0" rIns="0" bIns="0" rtlCol="0" anchor="ctr"/>
          <a:lstStyle/>
          <a:p>
            <a:pPr algn="l" indent="0" marL="0">
              <a:buNone/>
            </a:pPr>
            <a:r>
              <a:rPr lang="en-US" sz="1000" b="1" dirty="0">
                <a:solidFill>
                  <a:srgbClr val="586275"/>
                </a:solidFill>
              </a:rPr>
              <a:t>Yes</a:t>
            </a:r>
            <a:endParaRPr lang="en-US" sz="1000" dirty="0"/>
          </a:p>
        </p:txBody>
      </p:sp>
      <p:sp>
        <p:nvSpPr>
          <p:cNvPr id="43" name="Difference worked out again"/>
          <p:cNvSpPr txBox="1"/>
          <p:nvPr/>
        </p:nvSpPr>
        <p:spPr>
          <a:xfrm>
            <a:off x="5440680" y="3794760"/>
            <a:ext cx="1691640" cy="822960"/>
          </a:xfrm>
          <a:prstGeom prst="roundRect">
            <a:avLst>
              <a:gd name="adj" fmla="val 10000"/>
            </a:avLst>
          </a:prstGeom>
          <a:solidFill>
            <a:srgbClr val="FFFFFF"/>
          </a:solidFill>
          <a:ln w="15875">
            <a:solidFill>
              <a:srgbClr val="A9B3C3"/>
            </a:solidFill>
            <a:prstDash val="solid"/>
          </a:ln>
        </p:spPr>
        <p:txBody>
          <a:bodyPr wrap="square" lIns="50800" tIns="25400" rIns="50800" bIns="25400" rtlCol="0" anchor="ctr"/>
          <a:lstStyle/>
          <a:p>
            <a:pPr algn="ctr" indent="0" marL="0">
              <a:buNone/>
            </a:pPr>
            <a:r>
              <a:rPr lang="en-US" sz="1200" b="1" dirty="0">
                <a:solidFill>
                  <a:srgbClr val="131925"/>
                </a:solidFill>
              </a:rPr>
              <a:t>Difference worked out again</a:t>
            </a:r>
            <a:endParaRPr lang="en-US" sz="1200" dirty="0"/>
          </a:p>
          <a:p>
            <a:pPr algn="ctr" indent="0" marL="0">
              <a:buNone/>
            </a:pPr>
            <a:r>
              <a:rPr lang="en-US" sz="1000" dirty="0">
                <a:solidFill>
                  <a:srgbClr val="586275"/>
                </a:solidFill>
              </a:rPr>
              <a:t>New job, zone as it is now</a:t>
            </a:r>
            <a:endParaRPr lang="en-US" sz="1200" dirty="0"/>
          </a:p>
        </p:txBody>
      </p:sp>
      <p:sp>
        <p:nvSpPr>
          <p:cNvPr id="44" name="Risk marker 1"/>
          <p:cNvSpPr txBox="1"/>
          <p:nvPr/>
        </p:nvSpPr>
        <p:spPr>
          <a:xfrm>
            <a:off x="6830568" y="36576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45" name="Shape 42"/>
          <p:cNvSpPr/>
          <p:nvPr/>
        </p:nvSpPr>
        <p:spPr>
          <a:xfrm>
            <a:off x="7132320" y="4206240"/>
            <a:ext cx="274320" cy="0"/>
          </a:xfrm>
          <a:prstGeom prst="line">
            <a:avLst/>
          </a:prstGeom>
          <a:noFill/>
          <a:ln w="15875">
            <a:solidFill>
              <a:srgbClr val="7D889B"/>
            </a:solidFill>
            <a:prstDash val="solid"/>
            <a:tailEnd type="triangle"/>
          </a:ln>
        </p:spPr>
      </p:sp>
      <p:sp>
        <p:nvSpPr>
          <p:cNvPr id="46" name="Route 53 changed"/>
          <p:cNvSpPr txBox="1"/>
          <p:nvPr/>
        </p:nvSpPr>
        <p:spPr>
          <a:xfrm>
            <a:off x="7406640" y="3794760"/>
            <a:ext cx="1691640" cy="822960"/>
          </a:xfrm>
          <a:prstGeom prst="roundRect">
            <a:avLst>
              <a:gd name="adj" fmla="val 10000"/>
            </a:avLst>
          </a:prstGeom>
          <a:solidFill>
            <a:srgbClr val="FFF0E1"/>
          </a:solidFill>
          <a:ln w="25400">
            <a:solidFill>
              <a:srgbClr val="C46A1B"/>
            </a:solidFill>
            <a:prstDash val="solid"/>
          </a:ln>
        </p:spPr>
        <p:txBody>
          <a:bodyPr wrap="square" lIns="50800" tIns="25400" rIns="50800" bIns="25400" rtlCol="0" anchor="ctr"/>
          <a:lstStyle/>
          <a:p>
            <a:pPr algn="ctr" indent="0" marL="0">
              <a:buNone/>
            </a:pPr>
            <a:r>
              <a:rPr lang="en-US" sz="1200" b="1" dirty="0">
                <a:solidFill>
                  <a:srgbClr val="6E3608"/>
                </a:solidFill>
              </a:rPr>
              <a:t>Route 53 changed</a:t>
            </a:r>
            <a:endParaRPr lang="en-US" sz="1200" dirty="0"/>
          </a:p>
          <a:p>
            <a:pPr algn="ctr" indent="0" marL="0">
              <a:buNone/>
            </a:pPr>
            <a:r>
              <a:rPr lang="en-US" sz="1000" dirty="0">
                <a:solidFill>
                  <a:srgbClr val="8F4F17"/>
                </a:solidFill>
              </a:rPr>
              <a:t>boto3 batch; DELETEs if ticked</a:t>
            </a:r>
            <a:endParaRPr lang="en-US" sz="1200" dirty="0"/>
          </a:p>
        </p:txBody>
      </p:sp>
      <p:sp>
        <p:nvSpPr>
          <p:cNvPr id="47" name="Risk marker 11"/>
          <p:cNvSpPr txBox="1"/>
          <p:nvPr/>
        </p:nvSpPr>
        <p:spPr>
          <a:xfrm>
            <a:off x="8796528" y="36576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11</a:t>
            </a:r>
            <a:endParaRPr lang="en-US" sz="850" dirty="0"/>
          </a:p>
        </p:txBody>
      </p:sp>
      <p:sp>
        <p:nvSpPr>
          <p:cNvPr id="48" name="Risk marker 7"/>
          <p:cNvSpPr txBox="1"/>
          <p:nvPr/>
        </p:nvSpPr>
        <p:spPr>
          <a:xfrm>
            <a:off x="8485632" y="36576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7</a:t>
            </a:r>
            <a:endParaRPr lang="en-US" sz="1000" dirty="0"/>
          </a:p>
        </p:txBody>
      </p:sp>
      <p:sp>
        <p:nvSpPr>
          <p:cNvPr id="49" name="Risk marker 2"/>
          <p:cNvSpPr txBox="1"/>
          <p:nvPr/>
        </p:nvSpPr>
        <p:spPr>
          <a:xfrm>
            <a:off x="8174736" y="365760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50" name="Shape 47"/>
          <p:cNvSpPr/>
          <p:nvPr/>
        </p:nvSpPr>
        <p:spPr>
          <a:xfrm>
            <a:off x="9098280" y="4206240"/>
            <a:ext cx="182880" cy="0"/>
          </a:xfrm>
          <a:prstGeom prst="line">
            <a:avLst/>
          </a:prstGeom>
          <a:noFill/>
          <a:ln w="15875">
            <a:solidFill>
              <a:srgbClr val="7D889B"/>
            </a:solidFill>
            <a:prstDash val="solid"/>
          </a:ln>
        </p:spPr>
      </p:sp>
      <p:sp>
        <p:nvSpPr>
          <p:cNvPr id="51" name="Shape 48"/>
          <p:cNvSpPr/>
          <p:nvPr/>
        </p:nvSpPr>
        <p:spPr>
          <a:xfrm flipV="1">
            <a:off x="9281160" y="3931920"/>
            <a:ext cx="0" cy="274320"/>
          </a:xfrm>
          <a:prstGeom prst="line">
            <a:avLst/>
          </a:prstGeom>
          <a:noFill/>
          <a:ln w="15875">
            <a:solidFill>
              <a:srgbClr val="7D889B"/>
            </a:solidFill>
            <a:prstDash val="solid"/>
          </a:ln>
        </p:spPr>
      </p:sp>
      <p:sp>
        <p:nvSpPr>
          <p:cNvPr id="52" name="Shape 49"/>
          <p:cNvSpPr/>
          <p:nvPr/>
        </p:nvSpPr>
        <p:spPr>
          <a:xfrm>
            <a:off x="9281160" y="3931920"/>
            <a:ext cx="182880" cy="0"/>
          </a:xfrm>
          <a:prstGeom prst="line">
            <a:avLst/>
          </a:prstGeom>
          <a:noFill/>
          <a:ln w="15875">
            <a:solidFill>
              <a:srgbClr val="7D889B"/>
            </a:solidFill>
            <a:prstDash val="solid"/>
            <a:tailEnd type="triangle"/>
          </a:ln>
        </p:spPr>
      </p:sp>
      <p:sp>
        <p:nvSpPr>
          <p:cNvPr id="53" name="Shape 50"/>
          <p:cNvSpPr/>
          <p:nvPr/>
        </p:nvSpPr>
        <p:spPr>
          <a:xfrm>
            <a:off x="9281160" y="4206240"/>
            <a:ext cx="0" cy="365760"/>
          </a:xfrm>
          <a:prstGeom prst="line">
            <a:avLst/>
          </a:prstGeom>
          <a:noFill/>
          <a:ln w="15875">
            <a:solidFill>
              <a:srgbClr val="7D889B"/>
            </a:solidFill>
            <a:prstDash val="solid"/>
          </a:ln>
        </p:spPr>
      </p:sp>
      <p:sp>
        <p:nvSpPr>
          <p:cNvPr id="54" name="Shape 51"/>
          <p:cNvSpPr/>
          <p:nvPr/>
        </p:nvSpPr>
        <p:spPr>
          <a:xfrm>
            <a:off x="9281160" y="4572000"/>
            <a:ext cx="182880" cy="0"/>
          </a:xfrm>
          <a:prstGeom prst="line">
            <a:avLst/>
          </a:prstGeom>
          <a:noFill/>
          <a:ln w="15875">
            <a:solidFill>
              <a:srgbClr val="7D889B"/>
            </a:solidFill>
            <a:prstDash val="solid"/>
            <a:tailEnd type="triangle"/>
          </a:ln>
        </p:spPr>
      </p:sp>
      <p:sp>
        <p:nvSpPr>
          <p:cNvPr id="55" name="Marked APPLIED"/>
          <p:cNvSpPr txBox="1"/>
          <p:nvPr/>
        </p:nvSpPr>
        <p:spPr>
          <a:xfrm>
            <a:off x="9464040" y="3657600"/>
            <a:ext cx="2176272" cy="548640"/>
          </a:xfrm>
          <a:prstGeom prst="roundRect">
            <a:avLst>
              <a:gd name="adj" fmla="val 50000"/>
            </a:avLst>
          </a:prstGeom>
          <a:solidFill>
            <a:srgbClr val="E3F4E7"/>
          </a:solidFill>
          <a:ln w="15875">
            <a:solidFill>
              <a:srgbClr val="2E8946"/>
            </a:solidFill>
            <a:prstDash val="solid"/>
          </a:ln>
        </p:spPr>
        <p:txBody>
          <a:bodyPr wrap="square" lIns="50800" tIns="25400" rIns="50800" bIns="25400" rtlCol="0" anchor="ctr"/>
          <a:lstStyle/>
          <a:p>
            <a:pPr algn="ctr" indent="0" marL="0">
              <a:buNone/>
            </a:pPr>
            <a:r>
              <a:rPr lang="en-US" sz="1150" b="1" dirty="0">
                <a:solidFill>
                  <a:srgbClr val="165229"/>
                </a:solidFill>
              </a:rPr>
              <a:t>Marked APPLIED</a:t>
            </a:r>
            <a:endParaRPr lang="en-US" sz="1150" dirty="0"/>
          </a:p>
          <a:p>
            <a:pPr algn="ctr" indent="0" marL="0">
              <a:buNone/>
            </a:pPr>
            <a:r>
              <a:rPr lang="en-US" sz="1000" dirty="0">
                <a:solidFill>
                  <a:srgbClr val="2C6D3F"/>
                </a:solidFill>
              </a:rPr>
              <a:t>No backup, no follow-up check</a:t>
            </a:r>
            <a:endParaRPr lang="en-US" sz="1150" dirty="0"/>
          </a:p>
        </p:txBody>
      </p:sp>
      <p:sp>
        <p:nvSpPr>
          <p:cNvPr id="56" name="Risk marker 12"/>
          <p:cNvSpPr txBox="1"/>
          <p:nvPr/>
        </p:nvSpPr>
        <p:spPr>
          <a:xfrm>
            <a:off x="11338560" y="3520440"/>
            <a:ext cx="274320" cy="274320"/>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12</a:t>
            </a:r>
            <a:endParaRPr lang="en-US" sz="850" dirty="0"/>
          </a:p>
        </p:txBody>
      </p:sp>
      <p:sp>
        <p:nvSpPr>
          <p:cNvPr id="57" name="Marked FAILED"/>
          <p:cNvSpPr txBox="1"/>
          <p:nvPr/>
        </p:nvSpPr>
        <p:spPr>
          <a:xfrm>
            <a:off x="9464040" y="4297680"/>
            <a:ext cx="2176272" cy="548640"/>
          </a:xfrm>
          <a:prstGeom prst="roundRect">
            <a:avLst>
              <a:gd name="adj" fmla="val 50000"/>
            </a:avLst>
          </a:prstGeom>
          <a:solidFill>
            <a:srgbClr val="FCEAE9"/>
          </a:solidFill>
          <a:ln w="25400">
            <a:solidFill>
              <a:srgbClr val="C93A32"/>
            </a:solidFill>
            <a:prstDash val="solid"/>
          </a:ln>
        </p:spPr>
        <p:txBody>
          <a:bodyPr wrap="square" lIns="50800" tIns="25400" rIns="50800" bIns="25400" rtlCol="0" anchor="ctr"/>
          <a:lstStyle/>
          <a:p>
            <a:pPr algn="ctr" indent="0" marL="0">
              <a:buNone/>
            </a:pPr>
            <a:r>
              <a:rPr lang="en-US" sz="1150" b="1" dirty="0">
                <a:solidFill>
                  <a:srgbClr val="7D1C16"/>
                </a:solidFill>
              </a:rPr>
              <a:t>Marked FAILED</a:t>
            </a:r>
            <a:endParaRPr lang="en-US" sz="1150" dirty="0"/>
          </a:p>
          <a:p>
            <a:pPr algn="ctr" indent="0" marL="0">
              <a:buNone/>
            </a:pPr>
            <a:r>
              <a:rPr lang="en-US" sz="1000" dirty="0">
                <a:solidFill>
                  <a:srgbClr val="A1332C"/>
                </a:solidFill>
              </a:rPr>
              <a:t>Script output in the summary</a:t>
            </a:r>
            <a:endParaRPr lang="en-US" sz="1150" dirty="0"/>
          </a:p>
        </p:txBody>
      </p:sp>
      <p:sp>
        <p:nvSpPr>
          <p:cNvPr id="58" name="Shape 55"/>
          <p:cNvSpPr/>
          <p:nvPr/>
        </p:nvSpPr>
        <p:spPr>
          <a:xfrm>
            <a:off x="1188720" y="4663440"/>
            <a:ext cx="0" cy="1005840"/>
          </a:xfrm>
          <a:prstGeom prst="line">
            <a:avLst/>
          </a:prstGeom>
          <a:noFill/>
          <a:ln w="15875">
            <a:solidFill>
              <a:srgbClr val="7D889B"/>
            </a:solidFill>
            <a:prstDash val="solid"/>
          </a:ln>
        </p:spPr>
      </p:sp>
      <p:sp>
        <p:nvSpPr>
          <p:cNvPr id="59" name="Shape 56"/>
          <p:cNvSpPr/>
          <p:nvPr/>
        </p:nvSpPr>
        <p:spPr>
          <a:xfrm>
            <a:off x="1188720" y="5669280"/>
            <a:ext cx="5097780" cy="0"/>
          </a:xfrm>
          <a:prstGeom prst="line">
            <a:avLst/>
          </a:prstGeom>
          <a:noFill/>
          <a:ln w="15875">
            <a:solidFill>
              <a:srgbClr val="7D889B"/>
            </a:solidFill>
            <a:prstDash val="solid"/>
          </a:ln>
        </p:spPr>
      </p:sp>
      <p:sp>
        <p:nvSpPr>
          <p:cNvPr id="60" name="Shape 57"/>
          <p:cNvSpPr/>
          <p:nvPr/>
        </p:nvSpPr>
        <p:spPr>
          <a:xfrm flipV="1">
            <a:off x="6286500" y="4617720"/>
            <a:ext cx="0" cy="1051560"/>
          </a:xfrm>
          <a:prstGeom prst="line">
            <a:avLst/>
          </a:prstGeom>
          <a:noFill/>
          <a:ln w="15875">
            <a:solidFill>
              <a:srgbClr val="7D889B"/>
            </a:solidFill>
            <a:prstDash val="solid"/>
            <a:tailEnd type="triangle"/>
          </a:ln>
        </p:spPr>
      </p:sp>
      <p:sp>
        <p:nvSpPr>
          <p:cNvPr id="61" name="Text 58"/>
          <p:cNvSpPr txBox="1"/>
          <p:nvPr/>
        </p:nvSpPr>
        <p:spPr>
          <a:xfrm>
            <a:off x="1298448" y="5349240"/>
            <a:ext cx="2103120" cy="219456"/>
          </a:xfrm>
          <a:prstGeom prst="rect">
            <a:avLst/>
          </a:prstGeom>
          <a:noFill/>
          <a:ln/>
        </p:spPr>
        <p:txBody>
          <a:bodyPr wrap="square" lIns="0" tIns="0" rIns="0" bIns="0" rtlCol="0" anchor="ctr"/>
          <a:lstStyle/>
          <a:p>
            <a:pPr algn="l" indent="0" marL="0">
              <a:buNone/>
            </a:pPr>
            <a:r>
              <a:rPr lang="en-US" sz="1000" b="1" dirty="0">
                <a:solidFill>
                  <a:srgbClr val="586275"/>
                </a:solidFill>
              </a:rPr>
              <a:t>Yes: sandbox skips approval</a:t>
            </a:r>
            <a:endParaRPr lang="en-US" sz="1000" dirty="0"/>
          </a:p>
        </p:txBody>
      </p:sp>
      <p:sp>
        <p:nvSpPr>
          <p:cNvPr id="62" name="Not in this workflow"/>
          <p:cNvSpPr/>
          <p:nvPr/>
        </p:nvSpPr>
        <p:spPr>
          <a:xfrm>
            <a:off x="6629400" y="5074920"/>
            <a:ext cx="2468880" cy="1289304"/>
          </a:xfrm>
          <a:prstGeom prst="roundRect">
            <a:avLst>
              <a:gd name="adj" fmla="val 5674"/>
            </a:avLst>
          </a:prstGeom>
          <a:solidFill>
            <a:srgbClr val="FFFFFF"/>
          </a:solidFill>
          <a:ln w="15875">
            <a:solidFill>
              <a:srgbClr val="C93A32"/>
            </a:solidFill>
            <a:prstDash val="dash"/>
          </a:ln>
        </p:spPr>
      </p:sp>
      <p:sp>
        <p:nvSpPr>
          <p:cNvPr id="63" name="Text 60"/>
          <p:cNvSpPr txBox="1"/>
          <p:nvPr/>
        </p:nvSpPr>
        <p:spPr>
          <a:xfrm>
            <a:off x="6757416" y="5148072"/>
            <a:ext cx="2212848" cy="256032"/>
          </a:xfrm>
          <a:prstGeom prst="rect">
            <a:avLst/>
          </a:prstGeom>
          <a:noFill/>
          <a:ln/>
        </p:spPr>
        <p:txBody>
          <a:bodyPr wrap="square" lIns="0" tIns="0" rIns="0" bIns="0" rtlCol="0" anchor="ctr"/>
          <a:lstStyle/>
          <a:p>
            <a:pPr indent="0" marL="0">
              <a:buNone/>
            </a:pPr>
            <a:r>
              <a:rPr lang="en-US" sz="1150" b="1" dirty="0">
                <a:solidFill>
                  <a:srgbClr val="7D1C16"/>
                </a:solidFill>
              </a:rPr>
              <a:t>Not in this workflow</a:t>
            </a:r>
            <a:endParaRPr lang="en-US" sz="1150" dirty="0"/>
          </a:p>
        </p:txBody>
      </p:sp>
      <p:sp>
        <p:nvSpPr>
          <p:cNvPr id="64" name="Text 61"/>
          <p:cNvSpPr txBox="1"/>
          <p:nvPr/>
        </p:nvSpPr>
        <p:spPr>
          <a:xfrm>
            <a:off x="6739128" y="5422392"/>
            <a:ext cx="2029968" cy="886968"/>
          </a:xfrm>
          <a:prstGeom prst="rect">
            <a:avLst/>
          </a:prstGeom>
          <a:noFill/>
          <a:ln/>
        </p:spPr>
        <p:txBody>
          <a:bodyPr wrap="square" lIns="0" tIns="0" rIns="0" bIns="0" rtlCol="0" anchor="t"/>
          <a:lstStyle/>
          <a:p>
            <a:pPr marL="127000" indent="-127000">
              <a:lnSpc>
                <a:spcPts val="1368"/>
              </a:lnSpc>
              <a:buSzPct val="100000"/>
              <a:buChar char="•"/>
            </a:pPr>
            <a:r>
              <a:rPr lang="en-US" sz="1000" dirty="0">
                <a:solidFill>
                  <a:srgbClr val="A1332C"/>
                </a:solidFill>
              </a:rPr>
              <a:t>Approved change reused</a:t>
            </a:r>
            <a:endParaRPr lang="en-US" sz="1000" dirty="0"/>
          </a:p>
          <a:p>
            <a:pPr marL="127000" indent="-127000">
              <a:lnSpc>
                <a:spcPts val="1368"/>
              </a:lnSpc>
              <a:buSzPct val="100000"/>
              <a:buChar char="•"/>
            </a:pPr>
            <a:r>
              <a:rPr lang="en-US" sz="1000" dirty="0">
                <a:solidFill>
                  <a:srgbClr val="A1332C"/>
                </a:solidFill>
              </a:rPr>
              <a:t>Ownership rule for deletes</a:t>
            </a:r>
            <a:endParaRPr lang="en-US" sz="1000" dirty="0"/>
          </a:p>
          <a:p>
            <a:pPr marL="127000" indent="-127000">
              <a:lnSpc>
                <a:spcPts val="1368"/>
              </a:lnSpc>
              <a:buSzPct val="100000"/>
              <a:buChar char="•"/>
            </a:pPr>
            <a:r>
              <a:rPr lang="en-US" sz="1000" dirty="0">
                <a:solidFill>
                  <a:srgbClr val="A1332C"/>
                </a:solidFill>
              </a:rPr>
              <a:t>Scheduled drift check</a:t>
            </a:r>
            <a:endParaRPr lang="en-US" sz="1000" dirty="0"/>
          </a:p>
          <a:p>
            <a:pPr marL="127000" indent="-127000">
              <a:lnSpc>
                <a:spcPts val="1368"/>
              </a:lnSpc>
              <a:buSzPct val="100000"/>
              <a:buChar char="•"/>
            </a:pPr>
            <a:r>
              <a:rPr lang="en-US" sz="1000" dirty="0">
                <a:solidFill>
                  <a:srgbClr val="A1332C"/>
                </a:solidFill>
              </a:rPr>
              <a:t>One apply per zone</a:t>
            </a:r>
            <a:endParaRPr lang="en-US" sz="1000" dirty="0"/>
          </a:p>
          <a:p>
            <a:pPr marL="127000" indent="-127000">
              <a:lnSpc>
                <a:spcPts val="1368"/>
              </a:lnSpc>
              <a:buSzPct val="100000"/>
              <a:buChar char="•"/>
            </a:pPr>
            <a:r>
              <a:rPr lang="en-US" sz="1000" dirty="0">
                <a:solidFill>
                  <a:srgbClr val="A1332C"/>
                </a:solidFill>
              </a:rPr>
              <a:t>Backup, then re-check</a:t>
            </a:r>
            <a:endParaRPr lang="en-US" sz="1000" dirty="0"/>
          </a:p>
        </p:txBody>
      </p:sp>
      <p:sp>
        <p:nvSpPr>
          <p:cNvPr id="65" name="Risk marker 1"/>
          <p:cNvSpPr txBox="1"/>
          <p:nvPr/>
        </p:nvSpPr>
        <p:spPr>
          <a:xfrm>
            <a:off x="8787384" y="5399532"/>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66" name="Risk marker 2"/>
          <p:cNvSpPr txBox="1"/>
          <p:nvPr/>
        </p:nvSpPr>
        <p:spPr>
          <a:xfrm>
            <a:off x="8787384" y="5573268"/>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67" name="Risk marker 3"/>
          <p:cNvSpPr txBox="1"/>
          <p:nvPr/>
        </p:nvSpPr>
        <p:spPr>
          <a:xfrm>
            <a:off x="8787384" y="5747004"/>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68" name="Risk marker 11"/>
          <p:cNvSpPr txBox="1"/>
          <p:nvPr/>
        </p:nvSpPr>
        <p:spPr>
          <a:xfrm>
            <a:off x="8787384" y="5920740"/>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11</a:t>
            </a:r>
            <a:endParaRPr lang="en-US" sz="850" dirty="0"/>
          </a:p>
        </p:txBody>
      </p:sp>
      <p:sp>
        <p:nvSpPr>
          <p:cNvPr id="69" name="Risk marker 12"/>
          <p:cNvSpPr txBox="1"/>
          <p:nvPr/>
        </p:nvSpPr>
        <p:spPr>
          <a:xfrm>
            <a:off x="8787384" y="6094476"/>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12</a:t>
            </a:r>
            <a:endParaRPr lang="en-US" sz="850" dirty="0"/>
          </a:p>
        </p:txBody>
      </p:sp>
      <p:sp>
        <p:nvSpPr>
          <p:cNvPr id="70" name="Run options"/>
          <p:cNvSpPr/>
          <p:nvPr/>
        </p:nvSpPr>
        <p:spPr>
          <a:xfrm>
            <a:off x="9235440" y="5074920"/>
            <a:ext cx="2404872" cy="1115568"/>
          </a:xfrm>
          <a:prstGeom prst="roundRect">
            <a:avLst>
              <a:gd name="adj" fmla="val 6557"/>
            </a:avLst>
          </a:prstGeom>
          <a:solidFill>
            <a:srgbClr val="FFFFFF"/>
          </a:solidFill>
          <a:ln w="15875">
            <a:solidFill>
              <a:srgbClr val="22866A"/>
            </a:solidFill>
            <a:prstDash val="dash"/>
          </a:ln>
        </p:spPr>
      </p:sp>
      <p:sp>
        <p:nvSpPr>
          <p:cNvPr id="71" name="Text 68"/>
          <p:cNvSpPr txBox="1"/>
          <p:nvPr/>
        </p:nvSpPr>
        <p:spPr>
          <a:xfrm>
            <a:off x="9363456" y="5148072"/>
            <a:ext cx="2148840" cy="256032"/>
          </a:xfrm>
          <a:prstGeom prst="rect">
            <a:avLst/>
          </a:prstGeom>
          <a:noFill/>
          <a:ln/>
        </p:spPr>
        <p:txBody>
          <a:bodyPr wrap="square" lIns="0" tIns="0" rIns="0" bIns="0" rtlCol="0" anchor="ctr"/>
          <a:lstStyle/>
          <a:p>
            <a:pPr indent="0" marL="0">
              <a:buNone/>
            </a:pPr>
            <a:r>
              <a:rPr lang="en-US" sz="1150" b="1" dirty="0">
                <a:solidFill>
                  <a:srgbClr val="0C4D3C"/>
                </a:solidFill>
              </a:rPr>
              <a:t>Run options</a:t>
            </a:r>
            <a:endParaRPr lang="en-US" sz="1150" dirty="0"/>
          </a:p>
        </p:txBody>
      </p:sp>
      <p:sp>
        <p:nvSpPr>
          <p:cNvPr id="72" name="Text 69"/>
          <p:cNvSpPr txBox="1"/>
          <p:nvPr/>
        </p:nvSpPr>
        <p:spPr>
          <a:xfrm>
            <a:off x="9345168" y="5422392"/>
            <a:ext cx="1965960" cy="713232"/>
          </a:xfrm>
          <a:prstGeom prst="rect">
            <a:avLst/>
          </a:prstGeom>
          <a:noFill/>
          <a:ln/>
        </p:spPr>
        <p:txBody>
          <a:bodyPr wrap="square" lIns="0" tIns="0" rIns="0" bIns="0" rtlCol="0" anchor="t"/>
          <a:lstStyle/>
          <a:p>
            <a:pPr marL="127000" indent="-127000">
              <a:lnSpc>
                <a:spcPts val="1368"/>
              </a:lnSpc>
              <a:buSzPct val="100000"/>
              <a:buChar char="•"/>
            </a:pPr>
            <a:r>
              <a:rPr lang="en-US" sz="1000" dirty="0">
                <a:solidFill>
                  <a:srgbClr val="586275"/>
                </a:solidFill>
              </a:rPr>
              <a:t>Account defaults to network-prod</a:t>
            </a:r>
            <a:endParaRPr lang="en-US" sz="1000" dirty="0"/>
          </a:p>
          <a:p>
            <a:pPr marL="127000" indent="-127000">
              <a:lnSpc>
                <a:spcPts val="1368"/>
              </a:lnSpc>
              <a:buSzPct val="100000"/>
              <a:buChar char="•"/>
            </a:pPr>
            <a:r>
              <a:rPr lang="en-US" sz="1000" dirty="0">
                <a:solidFill>
                  <a:srgbClr val="586275"/>
                </a:solidFill>
              </a:rPr>
              <a:t>Zone: stack ID, name or zone ID</a:t>
            </a:r>
            <a:endParaRPr lang="en-US" sz="1000" dirty="0"/>
          </a:p>
          <a:p>
            <a:pPr marL="127000" indent="-127000">
              <a:lnSpc>
                <a:spcPts val="1368"/>
              </a:lnSpc>
              <a:buSzPct val="100000"/>
              <a:buChar char="•"/>
            </a:pPr>
            <a:r>
              <a:rPr lang="en-US" sz="1000" dirty="0">
                <a:solidFill>
                  <a:srgbClr val="586275"/>
                </a:solidFill>
              </a:rPr>
              <a:t>Execute changes: off by default</a:t>
            </a:r>
            <a:endParaRPr lang="en-US" sz="1000" dirty="0"/>
          </a:p>
          <a:p>
            <a:pPr marL="127000" indent="-127000">
              <a:lnSpc>
                <a:spcPts val="1368"/>
              </a:lnSpc>
              <a:buSzPct val="100000"/>
              <a:buChar char="•"/>
            </a:pPr>
            <a:r>
              <a:rPr lang="en-US" sz="1000" dirty="0">
                <a:solidFill>
                  <a:srgbClr val="586275"/>
                </a:solidFill>
              </a:rPr>
              <a:t>Allow deletes: off by default</a:t>
            </a:r>
            <a:endParaRPr lang="en-US" sz="1000" dirty="0"/>
          </a:p>
        </p:txBody>
      </p:sp>
      <p:sp>
        <p:nvSpPr>
          <p:cNvPr id="73" name="Risk marker 15"/>
          <p:cNvSpPr txBox="1"/>
          <p:nvPr/>
        </p:nvSpPr>
        <p:spPr>
          <a:xfrm>
            <a:off x="11329416" y="5399532"/>
            <a:ext cx="219456" cy="219456"/>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15</a:t>
            </a:r>
            <a:endParaRPr lang="en-US" sz="8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Apply: advantages and disadvantages</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Recommendation: close the high-severity gaps first · numbers match the DNS risk tables</a:t>
            </a:r>
            <a:endParaRPr lang="en-US" sz="1400" dirty="0"/>
          </a:p>
        </p:txBody>
      </p:sp>
      <p:sp>
        <p:nvSpPr>
          <p:cNvPr id="5" name="Shape 2"/>
          <p:cNvSpPr/>
          <p:nvPr/>
        </p:nvSpPr>
        <p:spPr>
          <a:xfrm>
            <a:off x="548640" y="1481328"/>
            <a:ext cx="5413248" cy="4700016"/>
          </a:xfrm>
          <a:prstGeom prst="roundRect">
            <a:avLst>
              <a:gd name="adj" fmla="val 2335"/>
            </a:avLst>
          </a:prstGeom>
          <a:solidFill>
            <a:srgbClr val="F4FAF6"/>
          </a:solidFill>
          <a:ln w="12700">
            <a:solidFill>
              <a:srgbClr val="CFE6D7"/>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777240" y="1664208"/>
            <a:ext cx="402336" cy="402336"/>
          </a:xfrm>
          <a:prstGeom prst="ellipse">
            <a:avLst/>
          </a:prstGeom>
          <a:solidFill>
            <a:srgbClr val="2E8946"/>
          </a:solidFill>
          <a:ln w="6350">
            <a:solidFill>
              <a:srgbClr val="2E8946"/>
            </a:solidFill>
            <a:prstDash val="solid"/>
          </a:ln>
        </p:spPr>
      </p:sp>
      <p:pic>
        <p:nvPicPr>
          <p:cNvPr id="7" name="Image 0" descr="Icon">    </p:cNvPr>
          <p:cNvPicPr>
            <a:picLocks noChangeAspect="1"/>
          </p:cNvPicPr>
          <p:nvPr/>
        </p:nvPicPr>
        <p:blipFill>
          <a:blip r:embed="rId1"/>
          <a:stretch>
            <a:fillRect/>
          </a:stretch>
        </p:blipFill>
        <p:spPr>
          <a:xfrm>
            <a:off x="873801" y="1760769"/>
            <a:ext cx="209215" cy="209215"/>
          </a:xfrm>
          <a:prstGeom prst="rect">
            <a:avLst/>
          </a:prstGeom>
        </p:spPr>
      </p:pic>
      <p:sp>
        <p:nvSpPr>
          <p:cNvPr id="8" name="Text 4"/>
          <p:cNvSpPr txBox="1"/>
          <p:nvPr/>
        </p:nvSpPr>
        <p:spPr>
          <a:xfrm>
            <a:off x="1298448" y="1664208"/>
            <a:ext cx="4206240" cy="402336"/>
          </a:xfrm>
          <a:prstGeom prst="rect">
            <a:avLst/>
          </a:prstGeom>
          <a:noFill/>
          <a:ln/>
        </p:spPr>
        <p:txBody>
          <a:bodyPr wrap="square" lIns="0" tIns="0" rIns="0" bIns="0" rtlCol="0" anchor="ctr"/>
          <a:lstStyle/>
          <a:p>
            <a:pPr indent="0" marL="0">
              <a:buNone/>
            </a:pPr>
            <a:r>
              <a:rPr lang="en-US" sz="1800" b="1" dirty="0">
                <a:solidFill>
                  <a:srgbClr val="165229"/>
                </a:solidFill>
              </a:rPr>
              <a:t>Advantages</a:t>
            </a:r>
            <a:endParaRPr lang="en-US" sz="1800" dirty="0"/>
          </a:p>
        </p:txBody>
      </p:sp>
      <p:pic>
        <p:nvPicPr>
          <p:cNvPr id="9" name="Image 1" descr="Advantage">    </p:cNvPr>
          <p:cNvPicPr>
            <a:picLocks noChangeAspect="1"/>
          </p:cNvPicPr>
          <p:nvPr/>
        </p:nvPicPr>
        <p:blipFill>
          <a:blip r:embed="rId2"/>
          <a:stretch>
            <a:fillRect/>
          </a:stretch>
        </p:blipFill>
        <p:spPr>
          <a:xfrm>
            <a:off x="804672" y="2295144"/>
            <a:ext cx="201168" cy="201168"/>
          </a:xfrm>
          <a:prstGeom prst="rect">
            <a:avLst/>
          </a:prstGeom>
        </p:spPr>
      </p:pic>
      <p:sp>
        <p:nvSpPr>
          <p:cNvPr id="10" name="Text 5"/>
          <p:cNvSpPr txBox="1"/>
          <p:nvPr/>
        </p:nvSpPr>
        <p:spPr>
          <a:xfrm>
            <a:off x="1115568" y="2258568"/>
            <a:ext cx="4636008" cy="420624"/>
          </a:xfrm>
          <a:prstGeom prst="rect">
            <a:avLst/>
          </a:prstGeom>
          <a:noFill/>
          <a:ln/>
        </p:spPr>
        <p:txBody>
          <a:bodyPr wrap="square" lIns="0" tIns="0" rIns="0" bIns="0" rtlCol="0" anchor="t"/>
          <a:lstStyle/>
          <a:p>
            <a:pPr indent="0" marL="0">
              <a:buNone/>
            </a:pPr>
            <a:r>
              <a:rPr lang="en-US" sz="1400" dirty="0">
                <a:solidFill>
                  <a:srgbClr val="131925"/>
                </a:solidFill>
              </a:rPr>
              <a:t>Started by hand; a plain run only previews</a:t>
            </a:r>
            <a:endParaRPr lang="en-US" sz="1400" dirty="0"/>
          </a:p>
        </p:txBody>
      </p:sp>
      <p:pic>
        <p:nvPicPr>
          <p:cNvPr id="11" name="Image 2" descr="Advantage">    </p:cNvPr>
          <p:cNvPicPr>
            <a:picLocks noChangeAspect="1"/>
          </p:cNvPicPr>
          <p:nvPr/>
        </p:nvPicPr>
        <p:blipFill>
          <a:blip r:embed="rId3"/>
          <a:stretch>
            <a:fillRect/>
          </a:stretch>
        </p:blipFill>
        <p:spPr>
          <a:xfrm>
            <a:off x="804672" y="2715768"/>
            <a:ext cx="201168" cy="201168"/>
          </a:xfrm>
          <a:prstGeom prst="rect">
            <a:avLst/>
          </a:prstGeom>
        </p:spPr>
      </p:pic>
      <p:sp>
        <p:nvSpPr>
          <p:cNvPr id="12" name="Text 6"/>
          <p:cNvSpPr txBox="1"/>
          <p:nvPr/>
        </p:nvSpPr>
        <p:spPr>
          <a:xfrm>
            <a:off x="1115568" y="2679192"/>
            <a:ext cx="4636008" cy="420624"/>
          </a:xfrm>
          <a:prstGeom prst="rect">
            <a:avLst/>
          </a:prstGeom>
          <a:noFill/>
          <a:ln/>
        </p:spPr>
        <p:txBody>
          <a:bodyPr wrap="square" lIns="0" tIns="0" rIns="0" bIns="0" rtlCol="0" anchor="t"/>
          <a:lstStyle/>
          <a:p>
            <a:pPr indent="0" marL="0">
              <a:buNone/>
            </a:pPr>
            <a:r>
              <a:rPr lang="en-US" sz="1400" dirty="0">
                <a:solidFill>
                  <a:srgbClr val="131925"/>
                </a:solidFill>
              </a:rPr>
              <a:t>A zone must be named; no all-zones apply</a:t>
            </a:r>
            <a:endParaRPr lang="en-US" sz="1400" dirty="0"/>
          </a:p>
        </p:txBody>
      </p:sp>
      <p:pic>
        <p:nvPicPr>
          <p:cNvPr id="13" name="Image 3" descr="Advantage">    </p:cNvPr>
          <p:cNvPicPr>
            <a:picLocks noChangeAspect="1"/>
          </p:cNvPicPr>
          <p:nvPr/>
        </p:nvPicPr>
        <p:blipFill>
          <a:blip r:embed="rId4"/>
          <a:stretch>
            <a:fillRect/>
          </a:stretch>
        </p:blipFill>
        <p:spPr>
          <a:xfrm>
            <a:off x="804672" y="3136392"/>
            <a:ext cx="201168" cy="201168"/>
          </a:xfrm>
          <a:prstGeom prst="rect">
            <a:avLst/>
          </a:prstGeom>
        </p:spPr>
      </p:pic>
      <p:sp>
        <p:nvSpPr>
          <p:cNvPr id="14" name="Text 7"/>
          <p:cNvSpPr txBox="1"/>
          <p:nvPr/>
        </p:nvSpPr>
        <p:spPr>
          <a:xfrm>
            <a:off x="1115568" y="3099816"/>
            <a:ext cx="4636008" cy="420624"/>
          </a:xfrm>
          <a:prstGeom prst="rect">
            <a:avLst/>
          </a:prstGeom>
          <a:noFill/>
          <a:ln/>
        </p:spPr>
        <p:txBody>
          <a:bodyPr wrap="square" lIns="0" tIns="0" rIns="0" bIns="0" rtlCol="0" anchor="t"/>
          <a:lstStyle/>
          <a:p>
            <a:pPr indent="0" marL="0">
              <a:buNone/>
            </a:pPr>
            <a:r>
              <a:rPr lang="en-US" sz="1400" dirty="0">
                <a:solidFill>
                  <a:srgbClr val="131925"/>
                </a:solidFill>
              </a:rPr>
              <a:t>Conflicting stack ID and zone ID rejected</a:t>
            </a:r>
            <a:endParaRPr lang="en-US" sz="1400" dirty="0"/>
          </a:p>
        </p:txBody>
      </p:sp>
      <p:pic>
        <p:nvPicPr>
          <p:cNvPr id="15" name="Image 4" descr="Advantage">    </p:cNvPr>
          <p:cNvPicPr>
            <a:picLocks noChangeAspect="1"/>
          </p:cNvPicPr>
          <p:nvPr/>
        </p:nvPicPr>
        <p:blipFill>
          <a:blip r:embed="rId5"/>
          <a:stretch>
            <a:fillRect/>
          </a:stretch>
        </p:blipFill>
        <p:spPr>
          <a:xfrm>
            <a:off x="804672" y="3557016"/>
            <a:ext cx="201168" cy="201168"/>
          </a:xfrm>
          <a:prstGeom prst="rect">
            <a:avLst/>
          </a:prstGeom>
        </p:spPr>
      </p:pic>
      <p:sp>
        <p:nvSpPr>
          <p:cNvPr id="16" name="Text 8"/>
          <p:cNvSpPr txBox="1"/>
          <p:nvPr/>
        </p:nvSpPr>
        <p:spPr>
          <a:xfrm>
            <a:off x="1115568" y="3520440"/>
            <a:ext cx="4636008" cy="420624"/>
          </a:xfrm>
          <a:prstGeom prst="rect">
            <a:avLst/>
          </a:prstGeom>
          <a:noFill/>
          <a:ln/>
        </p:spPr>
        <p:txBody>
          <a:bodyPr wrap="square" lIns="0" tIns="0" rIns="0" bIns="0" rtlCol="0" anchor="t"/>
          <a:lstStyle/>
          <a:p>
            <a:pPr indent="0" marL="0">
              <a:buNone/>
            </a:pPr>
            <a:r>
              <a:rPr lang="en-US" sz="1400" dirty="0">
                <a:solidFill>
                  <a:srgbClr val="131925"/>
                </a:solidFill>
              </a:rPr>
              <a:t>Every UPSERT and DELETE shown before approval</a:t>
            </a:r>
            <a:endParaRPr lang="en-US" sz="1400" dirty="0"/>
          </a:p>
        </p:txBody>
      </p:sp>
      <p:pic>
        <p:nvPicPr>
          <p:cNvPr id="17" name="Image 5" descr="Advantage">    </p:cNvPr>
          <p:cNvPicPr>
            <a:picLocks noChangeAspect="1"/>
          </p:cNvPicPr>
          <p:nvPr/>
        </p:nvPicPr>
        <p:blipFill>
          <a:blip r:embed="rId6"/>
          <a:stretch>
            <a:fillRect/>
          </a:stretch>
        </p:blipFill>
        <p:spPr>
          <a:xfrm>
            <a:off x="804672" y="3977640"/>
            <a:ext cx="201168" cy="201168"/>
          </a:xfrm>
          <a:prstGeom prst="rect">
            <a:avLst/>
          </a:prstGeom>
        </p:spPr>
      </p:pic>
      <p:sp>
        <p:nvSpPr>
          <p:cNvPr id="18" name="Text 9"/>
          <p:cNvSpPr txBox="1"/>
          <p:nvPr/>
        </p:nvSpPr>
        <p:spPr>
          <a:xfrm>
            <a:off x="1115568" y="3941064"/>
            <a:ext cx="4636008" cy="420624"/>
          </a:xfrm>
          <a:prstGeom prst="rect">
            <a:avLst/>
          </a:prstGeom>
          <a:noFill/>
          <a:ln/>
        </p:spPr>
        <p:txBody>
          <a:bodyPr wrap="square" lIns="0" tIns="0" rIns="0" bIns="0" rtlCol="0" anchor="t"/>
          <a:lstStyle/>
          <a:p>
            <a:pPr indent="0" marL="0">
              <a:buNone/>
            </a:pPr>
            <a:r>
              <a:rPr lang="en-US" sz="1400" dirty="0">
                <a:solidFill>
                  <a:srgbClr val="131925"/>
                </a:solidFill>
              </a:rPr>
              <a:t>Approval required outside sandbox, after the preview</a:t>
            </a:r>
            <a:endParaRPr lang="en-US" sz="1400" dirty="0"/>
          </a:p>
        </p:txBody>
      </p:sp>
      <p:pic>
        <p:nvPicPr>
          <p:cNvPr id="19" name="Image 6" descr="Advantage">    </p:cNvPr>
          <p:cNvPicPr>
            <a:picLocks noChangeAspect="1"/>
          </p:cNvPicPr>
          <p:nvPr/>
        </p:nvPicPr>
        <p:blipFill>
          <a:blip r:embed="rId7"/>
          <a:stretch>
            <a:fillRect/>
          </a:stretch>
        </p:blipFill>
        <p:spPr>
          <a:xfrm>
            <a:off x="804672" y="4398264"/>
            <a:ext cx="201168" cy="201168"/>
          </a:xfrm>
          <a:prstGeom prst="rect">
            <a:avLst/>
          </a:prstGeom>
        </p:spPr>
      </p:pic>
      <p:sp>
        <p:nvSpPr>
          <p:cNvPr id="20" name="Text 10"/>
          <p:cNvSpPr txBox="1"/>
          <p:nvPr/>
        </p:nvSpPr>
        <p:spPr>
          <a:xfrm>
            <a:off x="1115568" y="4361688"/>
            <a:ext cx="4636008" cy="420624"/>
          </a:xfrm>
          <a:prstGeom prst="rect">
            <a:avLst/>
          </a:prstGeom>
          <a:noFill/>
          <a:ln/>
        </p:spPr>
        <p:txBody>
          <a:bodyPr wrap="square" lIns="0" tIns="0" rIns="0" bIns="0" rtlCol="0" anchor="t"/>
          <a:lstStyle/>
          <a:p>
            <a:pPr indent="0" marL="0">
              <a:buNone/>
            </a:pPr>
            <a:r>
              <a:rPr lang="en-US" sz="1400" dirty="0">
                <a:solidFill>
                  <a:srgbClr val="131925"/>
                </a:solidFill>
              </a:rPr>
              <a:t>Deletes off unless explicitly ticked</a:t>
            </a:r>
            <a:endParaRPr lang="en-US" sz="1400" dirty="0"/>
          </a:p>
        </p:txBody>
      </p:sp>
      <p:pic>
        <p:nvPicPr>
          <p:cNvPr id="21" name="Image 7" descr="Advantage">    </p:cNvPr>
          <p:cNvPicPr>
            <a:picLocks noChangeAspect="1"/>
          </p:cNvPicPr>
          <p:nvPr/>
        </p:nvPicPr>
        <p:blipFill>
          <a:blip r:embed="rId8"/>
          <a:stretch>
            <a:fillRect/>
          </a:stretch>
        </p:blipFill>
        <p:spPr>
          <a:xfrm>
            <a:off x="804672" y="4818888"/>
            <a:ext cx="201168" cy="201168"/>
          </a:xfrm>
          <a:prstGeom prst="rect">
            <a:avLst/>
          </a:prstGeom>
        </p:spPr>
      </p:pic>
      <p:sp>
        <p:nvSpPr>
          <p:cNvPr id="22" name="Text 11"/>
          <p:cNvSpPr txBox="1"/>
          <p:nvPr/>
        </p:nvSpPr>
        <p:spPr>
          <a:xfrm>
            <a:off x="1115568" y="4782312"/>
            <a:ext cx="4636008" cy="420624"/>
          </a:xfrm>
          <a:prstGeom prst="rect">
            <a:avLst/>
          </a:prstGeom>
          <a:noFill/>
          <a:ln/>
        </p:spPr>
        <p:txBody>
          <a:bodyPr wrap="square" lIns="0" tIns="0" rIns="0" bIns="0" rtlCol="0" anchor="t"/>
          <a:lstStyle/>
          <a:p>
            <a:pPr indent="0" marL="0">
              <a:buNone/>
            </a:pPr>
            <a:r>
              <a:rPr lang="en-US" sz="1400" dirty="0">
                <a:solidFill>
                  <a:srgbClr val="131925"/>
                </a:solidFill>
              </a:rPr>
              <a:t>Inputs passed as environment variables</a:t>
            </a:r>
            <a:endParaRPr lang="en-US" sz="1400" dirty="0"/>
          </a:p>
        </p:txBody>
      </p:sp>
      <p:pic>
        <p:nvPicPr>
          <p:cNvPr id="23" name="Image 8" descr="Advantage">    </p:cNvPr>
          <p:cNvPicPr>
            <a:picLocks noChangeAspect="1"/>
          </p:cNvPicPr>
          <p:nvPr/>
        </p:nvPicPr>
        <p:blipFill>
          <a:blip r:embed="rId9"/>
          <a:stretch>
            <a:fillRect/>
          </a:stretch>
        </p:blipFill>
        <p:spPr>
          <a:xfrm>
            <a:off x="804672" y="5239512"/>
            <a:ext cx="201168" cy="201168"/>
          </a:xfrm>
          <a:prstGeom prst="rect">
            <a:avLst/>
          </a:prstGeom>
        </p:spPr>
      </p:pic>
      <p:sp>
        <p:nvSpPr>
          <p:cNvPr id="24" name="Text 12"/>
          <p:cNvSpPr txBox="1"/>
          <p:nvPr/>
        </p:nvSpPr>
        <p:spPr>
          <a:xfrm>
            <a:off x="1115568" y="5202936"/>
            <a:ext cx="4636008" cy="420624"/>
          </a:xfrm>
          <a:prstGeom prst="rect">
            <a:avLst/>
          </a:prstGeom>
          <a:noFill/>
          <a:ln/>
        </p:spPr>
        <p:txBody>
          <a:bodyPr wrap="square" lIns="0" tIns="0" rIns="0" bIns="0" rtlCol="0" anchor="t"/>
          <a:lstStyle/>
          <a:p>
            <a:pPr indent="0" marL="0">
              <a:buNone/>
            </a:pPr>
            <a:r>
              <a:rPr lang="en-US" sz="1400" dirty="0">
                <a:solidFill>
                  <a:srgbClr val="131925"/>
                </a:solidFill>
              </a:rPr>
              <a:t>APPLIED or FAILED shown per zone in the summary</a:t>
            </a:r>
            <a:endParaRPr lang="en-US" sz="1400" dirty="0"/>
          </a:p>
        </p:txBody>
      </p:sp>
      <p:sp>
        <p:nvSpPr>
          <p:cNvPr id="25" name="Shape 13"/>
          <p:cNvSpPr/>
          <p:nvPr/>
        </p:nvSpPr>
        <p:spPr>
          <a:xfrm>
            <a:off x="6227064" y="1481328"/>
            <a:ext cx="5413248" cy="4700016"/>
          </a:xfrm>
          <a:prstGeom prst="roundRect">
            <a:avLst>
              <a:gd name="adj" fmla="val 2335"/>
            </a:avLst>
          </a:prstGeom>
          <a:solidFill>
            <a:srgbClr val="FDF4F3"/>
          </a:solidFill>
          <a:ln w="12700">
            <a:solidFill>
              <a:srgbClr val="F0D3D0"/>
            </a:solidFill>
            <a:prstDash val="solid"/>
          </a:ln>
          <a:effectLst>
            <a:outerShdw sx="100000" sy="100000" kx="0" ky="0" algn="bl" rotWithShape="0" blurRad="76200" dist="25400" dir="5400000">
              <a:srgbClr val="1B2A41">
                <a:alpha val="10000"/>
              </a:srgbClr>
            </a:outerShdw>
          </a:effectLst>
        </p:spPr>
      </p:sp>
      <p:sp>
        <p:nvSpPr>
          <p:cNvPr id="26" name="Shape 14"/>
          <p:cNvSpPr/>
          <p:nvPr/>
        </p:nvSpPr>
        <p:spPr>
          <a:xfrm>
            <a:off x="6455664" y="1664208"/>
            <a:ext cx="402336" cy="402336"/>
          </a:xfrm>
          <a:prstGeom prst="ellipse">
            <a:avLst/>
          </a:prstGeom>
          <a:solidFill>
            <a:srgbClr val="C93A32"/>
          </a:solidFill>
          <a:ln w="6350">
            <a:solidFill>
              <a:srgbClr val="C93A32"/>
            </a:solidFill>
            <a:prstDash val="solid"/>
          </a:ln>
        </p:spPr>
      </p:sp>
      <p:pic>
        <p:nvPicPr>
          <p:cNvPr id="27" name="Image 9" descr="Icon">    </p:cNvPr>
          <p:cNvPicPr>
            <a:picLocks noChangeAspect="1"/>
          </p:cNvPicPr>
          <p:nvPr/>
        </p:nvPicPr>
        <p:blipFill>
          <a:blip r:embed="rId10"/>
          <a:stretch>
            <a:fillRect/>
          </a:stretch>
        </p:blipFill>
        <p:spPr>
          <a:xfrm>
            <a:off x="6552225" y="1760769"/>
            <a:ext cx="209215" cy="209215"/>
          </a:xfrm>
          <a:prstGeom prst="rect">
            <a:avLst/>
          </a:prstGeom>
        </p:spPr>
      </p:pic>
      <p:sp>
        <p:nvSpPr>
          <p:cNvPr id="28" name="Text 15"/>
          <p:cNvSpPr txBox="1"/>
          <p:nvPr/>
        </p:nvSpPr>
        <p:spPr>
          <a:xfrm>
            <a:off x="6976872" y="1664208"/>
            <a:ext cx="4206240" cy="402336"/>
          </a:xfrm>
          <a:prstGeom prst="rect">
            <a:avLst/>
          </a:prstGeom>
          <a:noFill/>
          <a:ln/>
        </p:spPr>
        <p:txBody>
          <a:bodyPr wrap="square" lIns="0" tIns="0" rIns="0" bIns="0" rtlCol="0" anchor="ctr"/>
          <a:lstStyle/>
          <a:p>
            <a:pPr indent="0" marL="0">
              <a:buNone/>
            </a:pPr>
            <a:r>
              <a:rPr lang="en-US" sz="1800" b="1" dirty="0">
                <a:solidFill>
                  <a:srgbClr val="7D1C16"/>
                </a:solidFill>
              </a:rPr>
              <a:t>Disadvantages</a:t>
            </a:r>
            <a:endParaRPr lang="en-US" sz="1800" dirty="0"/>
          </a:p>
        </p:txBody>
      </p:sp>
      <p:sp>
        <p:nvSpPr>
          <p:cNvPr id="29" name="Risk marker 1"/>
          <p:cNvSpPr txBox="1"/>
          <p:nvPr/>
        </p:nvSpPr>
        <p:spPr>
          <a:xfrm>
            <a:off x="6464808" y="2267712"/>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30" name="Text 17"/>
          <p:cNvSpPr txBox="1"/>
          <p:nvPr/>
        </p:nvSpPr>
        <p:spPr>
          <a:xfrm>
            <a:off x="6848856" y="2258568"/>
            <a:ext cx="4590288" cy="356616"/>
          </a:xfrm>
          <a:prstGeom prst="rect">
            <a:avLst/>
          </a:prstGeom>
          <a:noFill/>
          <a:ln/>
        </p:spPr>
        <p:txBody>
          <a:bodyPr wrap="square" lIns="0" tIns="0" rIns="0" bIns="0" rtlCol="0" anchor="t"/>
          <a:lstStyle/>
          <a:p>
            <a:pPr indent="0" marL="0">
              <a:buNone/>
            </a:pPr>
            <a:r>
              <a:rPr lang="en-US" sz="1400" dirty="0">
                <a:solidFill>
                  <a:srgbClr val="131925"/>
                </a:solidFill>
              </a:rPr>
              <a:t>The approved preview isn't what runs</a:t>
            </a:r>
            <a:endParaRPr lang="en-US" sz="1400" dirty="0"/>
          </a:p>
        </p:txBody>
      </p:sp>
      <p:sp>
        <p:nvSpPr>
          <p:cNvPr id="31" name="Risk marker 2"/>
          <p:cNvSpPr txBox="1"/>
          <p:nvPr/>
        </p:nvSpPr>
        <p:spPr>
          <a:xfrm>
            <a:off x="6464808" y="2624328"/>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32" name="Text 19"/>
          <p:cNvSpPr txBox="1"/>
          <p:nvPr/>
        </p:nvSpPr>
        <p:spPr>
          <a:xfrm>
            <a:off x="6848856" y="2615184"/>
            <a:ext cx="4590288" cy="356616"/>
          </a:xfrm>
          <a:prstGeom prst="rect">
            <a:avLst/>
          </a:prstGeom>
          <a:noFill/>
          <a:ln/>
        </p:spPr>
        <p:txBody>
          <a:bodyPr wrap="square" lIns="0" tIns="0" rIns="0" bIns="0" rtlCol="0" anchor="t"/>
          <a:lstStyle/>
          <a:p>
            <a:pPr indent="0" marL="0">
              <a:buNone/>
            </a:pPr>
            <a:r>
              <a:rPr lang="en-US" sz="1400" dirty="0">
                <a:solidFill>
                  <a:srgbClr val="131925"/>
                </a:solidFill>
              </a:rPr>
              <a:t>Deletes can remove other tools' records</a:t>
            </a:r>
            <a:pPr indent="0" marL="0">
              <a:buNone/>
            </a:pPr>
            <a:r>
              <a:rPr lang="en-US" sz="1100" b="1" dirty="0">
                <a:solidFill>
                  <a:srgbClr val="2A5BD7"/>
                </a:solidFill>
              </a:rPr>
              <a:t>  Check</a:t>
            </a:r>
            <a:endParaRPr lang="en-US" sz="1400" dirty="0"/>
          </a:p>
        </p:txBody>
      </p:sp>
      <p:sp>
        <p:nvSpPr>
          <p:cNvPr id="33" name="Risk marker 3"/>
          <p:cNvSpPr txBox="1"/>
          <p:nvPr/>
        </p:nvSpPr>
        <p:spPr>
          <a:xfrm>
            <a:off x="6464808" y="2980944"/>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34" name="Text 21"/>
          <p:cNvSpPr txBox="1"/>
          <p:nvPr/>
        </p:nvSpPr>
        <p:spPr>
          <a:xfrm>
            <a:off x="6848856" y="2971800"/>
            <a:ext cx="4590288" cy="356616"/>
          </a:xfrm>
          <a:prstGeom prst="rect">
            <a:avLst/>
          </a:prstGeom>
          <a:noFill/>
          <a:ln/>
        </p:spPr>
        <p:txBody>
          <a:bodyPr wrap="square" lIns="0" tIns="0" rIns="0" bIns="0" rtlCol="0" anchor="t"/>
          <a:lstStyle/>
          <a:p>
            <a:pPr indent="0" marL="0">
              <a:buNone/>
            </a:pPr>
            <a:r>
              <a:rPr lang="en-US" sz="1400" dirty="0">
                <a:solidFill>
                  <a:srgbClr val="131925"/>
                </a:solidFill>
              </a:rPr>
              <a:t>Nothing detects drift</a:t>
            </a:r>
            <a:endParaRPr lang="en-US" sz="1400" dirty="0"/>
          </a:p>
        </p:txBody>
      </p:sp>
      <p:sp>
        <p:nvSpPr>
          <p:cNvPr id="35" name="Risk marker 4"/>
          <p:cNvSpPr txBox="1"/>
          <p:nvPr/>
        </p:nvSpPr>
        <p:spPr>
          <a:xfrm>
            <a:off x="6464808" y="3337560"/>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36" name="Text 23"/>
          <p:cNvSpPr txBox="1"/>
          <p:nvPr/>
        </p:nvSpPr>
        <p:spPr>
          <a:xfrm>
            <a:off x="6848856" y="3328416"/>
            <a:ext cx="4590288" cy="356616"/>
          </a:xfrm>
          <a:prstGeom prst="rect">
            <a:avLst/>
          </a:prstGeom>
          <a:noFill/>
          <a:ln/>
        </p:spPr>
        <p:txBody>
          <a:bodyPr wrap="square" lIns="0" tIns="0" rIns="0" bIns="0" rtlCol="0" anchor="t"/>
          <a:lstStyle/>
          <a:p>
            <a:pPr indent="0" marL="0">
              <a:buNone/>
            </a:pPr>
            <a:r>
              <a:rPr lang="en-US" sz="1400" dirty="0">
                <a:solidFill>
                  <a:srgbClr val="131925"/>
                </a:solidFill>
              </a:rPr>
              <a:t>Split-horizon twins not told apart</a:t>
            </a:r>
            <a:pPr indent="0" marL="0">
              <a:buNone/>
            </a:pPr>
            <a:r>
              <a:rPr lang="en-US" sz="1100" b="1" dirty="0">
                <a:solidFill>
                  <a:srgbClr val="2A5BD7"/>
                </a:solidFill>
              </a:rPr>
              <a:t>  Check</a:t>
            </a:r>
            <a:endParaRPr lang="en-US" sz="1400" dirty="0"/>
          </a:p>
        </p:txBody>
      </p:sp>
      <p:sp>
        <p:nvSpPr>
          <p:cNvPr id="37" name="Risk marker 5"/>
          <p:cNvSpPr txBox="1"/>
          <p:nvPr/>
        </p:nvSpPr>
        <p:spPr>
          <a:xfrm>
            <a:off x="6464808" y="3694176"/>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38" name="Text 25"/>
          <p:cNvSpPr txBox="1"/>
          <p:nvPr/>
        </p:nvSpPr>
        <p:spPr>
          <a:xfrm>
            <a:off x="6848856" y="3685032"/>
            <a:ext cx="4590288" cy="356616"/>
          </a:xfrm>
          <a:prstGeom prst="rect">
            <a:avLst/>
          </a:prstGeom>
          <a:noFill/>
          <a:ln/>
        </p:spPr>
        <p:txBody>
          <a:bodyPr wrap="square" lIns="0" tIns="0" rIns="0" bIns="0" rtlCol="0" anchor="t"/>
          <a:lstStyle/>
          <a:p>
            <a:pPr indent="0" marL="0">
              <a:buNone/>
            </a:pPr>
            <a:r>
              <a:rPr lang="en-US" sz="1400" dirty="0">
                <a:solidFill>
                  <a:srgbClr val="131925"/>
                </a:solidFill>
              </a:rPr>
              <a:t>Only the workflow file enforces approval</a:t>
            </a:r>
            <a:pPr indent="0" marL="0">
              <a:buNone/>
            </a:pPr>
            <a:r>
              <a:rPr lang="en-US" sz="1100" b="1" dirty="0">
                <a:solidFill>
                  <a:srgbClr val="2A5BD7"/>
                </a:solidFill>
              </a:rPr>
              <a:t>  Check</a:t>
            </a:r>
            <a:endParaRPr lang="en-US" sz="1400" dirty="0"/>
          </a:p>
        </p:txBody>
      </p:sp>
      <p:sp>
        <p:nvSpPr>
          <p:cNvPr id="39" name="Risk marker 6"/>
          <p:cNvSpPr txBox="1"/>
          <p:nvPr/>
        </p:nvSpPr>
        <p:spPr>
          <a:xfrm>
            <a:off x="6464808" y="4050792"/>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6</a:t>
            </a:r>
            <a:endParaRPr lang="en-US" sz="1000" dirty="0"/>
          </a:p>
        </p:txBody>
      </p:sp>
      <p:sp>
        <p:nvSpPr>
          <p:cNvPr id="40" name="Text 27"/>
          <p:cNvSpPr txBox="1"/>
          <p:nvPr/>
        </p:nvSpPr>
        <p:spPr>
          <a:xfrm>
            <a:off x="6848856" y="4041648"/>
            <a:ext cx="4590288" cy="356616"/>
          </a:xfrm>
          <a:prstGeom prst="rect">
            <a:avLst/>
          </a:prstGeom>
          <a:noFill/>
          <a:ln/>
        </p:spPr>
        <p:txBody>
          <a:bodyPr wrap="square" lIns="0" tIns="0" rIns="0" bIns="0" rtlCol="0" anchor="t"/>
          <a:lstStyle/>
          <a:p>
            <a:pPr indent="0" marL="0">
              <a:buNone/>
            </a:pPr>
            <a:r>
              <a:rPr lang="en-US" sz="1400" dirty="0">
                <a:solidFill>
                  <a:srgbClr val="131925"/>
                </a:solidFill>
              </a:rPr>
              <a:t>DRY_RUN holds the opposite value</a:t>
            </a:r>
            <a:pPr indent="0" marL="0">
              <a:buNone/>
            </a:pPr>
            <a:r>
              <a:rPr lang="en-US" sz="1100" b="1" dirty="0">
                <a:solidFill>
                  <a:srgbClr val="2A5BD7"/>
                </a:solidFill>
              </a:rPr>
              <a:t>  Check</a:t>
            </a:r>
            <a:endParaRPr lang="en-US" sz="1400" dirty="0"/>
          </a:p>
        </p:txBody>
      </p:sp>
      <p:sp>
        <p:nvSpPr>
          <p:cNvPr id="41" name="Risk marker 7"/>
          <p:cNvSpPr txBox="1"/>
          <p:nvPr/>
        </p:nvSpPr>
        <p:spPr>
          <a:xfrm>
            <a:off x="6464808" y="4407408"/>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7</a:t>
            </a:r>
            <a:endParaRPr lang="en-US" sz="1000" dirty="0"/>
          </a:p>
        </p:txBody>
      </p:sp>
      <p:sp>
        <p:nvSpPr>
          <p:cNvPr id="42" name="Text 29"/>
          <p:cNvSpPr txBox="1"/>
          <p:nvPr/>
        </p:nvSpPr>
        <p:spPr>
          <a:xfrm>
            <a:off x="6848856" y="4398264"/>
            <a:ext cx="4590288" cy="356616"/>
          </a:xfrm>
          <a:prstGeom prst="rect">
            <a:avLst/>
          </a:prstGeom>
          <a:noFill/>
          <a:ln/>
        </p:spPr>
        <p:txBody>
          <a:bodyPr wrap="square" lIns="0" tIns="0" rIns="0" bIns="0" rtlCol="0" anchor="t"/>
          <a:lstStyle/>
          <a:p>
            <a:pPr indent="0" marL="0">
              <a:buNone/>
            </a:pPr>
            <a:r>
              <a:rPr lang="en-US" sz="1400" dirty="0">
                <a:solidFill>
                  <a:srgbClr val="131925"/>
                </a:solidFill>
              </a:rPr>
              <a:t>Two tools own the same zones</a:t>
            </a:r>
            <a:endParaRPr lang="en-US" sz="1400" dirty="0"/>
          </a:p>
        </p:txBody>
      </p:sp>
      <p:sp>
        <p:nvSpPr>
          <p:cNvPr id="43" name="Risk marker 9"/>
          <p:cNvSpPr txBox="1"/>
          <p:nvPr/>
        </p:nvSpPr>
        <p:spPr>
          <a:xfrm>
            <a:off x="6464808" y="4764024"/>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44" name="Text 31"/>
          <p:cNvSpPr txBox="1"/>
          <p:nvPr/>
        </p:nvSpPr>
        <p:spPr>
          <a:xfrm>
            <a:off x="6848856" y="4754880"/>
            <a:ext cx="4590288" cy="356616"/>
          </a:xfrm>
          <a:prstGeom prst="rect">
            <a:avLst/>
          </a:prstGeom>
          <a:noFill/>
          <a:ln/>
        </p:spPr>
        <p:txBody>
          <a:bodyPr wrap="square" lIns="0" tIns="0" rIns="0" bIns="0" rtlCol="0" anchor="t"/>
          <a:lstStyle/>
          <a:p>
            <a:pPr indent="0" marL="0">
              <a:buNone/>
            </a:pPr>
            <a:r>
              <a:rPr lang="en-US" sz="1400" dirty="0">
                <a:solidFill>
                  <a:srgbClr val="131925"/>
                </a:solidFill>
              </a:rPr>
              <a:t>Console fixes silently put back</a:t>
            </a:r>
            <a:endParaRPr lang="en-US" sz="1400" dirty="0"/>
          </a:p>
        </p:txBody>
      </p:sp>
      <p:sp>
        <p:nvSpPr>
          <p:cNvPr id="45" name="Risk marker 11"/>
          <p:cNvSpPr txBox="1"/>
          <p:nvPr/>
        </p:nvSpPr>
        <p:spPr>
          <a:xfrm>
            <a:off x="6464808" y="5120640"/>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11</a:t>
            </a:r>
            <a:endParaRPr lang="en-US" sz="850" dirty="0"/>
          </a:p>
        </p:txBody>
      </p:sp>
      <p:sp>
        <p:nvSpPr>
          <p:cNvPr id="46" name="Text 33"/>
          <p:cNvSpPr txBox="1"/>
          <p:nvPr/>
        </p:nvSpPr>
        <p:spPr>
          <a:xfrm>
            <a:off x="6848856" y="5111496"/>
            <a:ext cx="4590288" cy="356616"/>
          </a:xfrm>
          <a:prstGeom prst="rect">
            <a:avLst/>
          </a:prstGeom>
          <a:noFill/>
          <a:ln/>
        </p:spPr>
        <p:txBody>
          <a:bodyPr wrap="square" lIns="0" tIns="0" rIns="0" bIns="0" rtlCol="0" anchor="t"/>
          <a:lstStyle/>
          <a:p>
            <a:pPr indent="0" marL="0">
              <a:buNone/>
            </a:pPr>
            <a:r>
              <a:rPr lang="en-US" sz="1400" dirty="0">
                <a:solidFill>
                  <a:srgbClr val="131925"/>
                </a:solidFill>
              </a:rPr>
              <a:t>Nothing stops two applies on one zone</a:t>
            </a:r>
            <a:endParaRPr lang="en-US" sz="1400" dirty="0"/>
          </a:p>
        </p:txBody>
      </p:sp>
      <p:sp>
        <p:nvSpPr>
          <p:cNvPr id="47" name="Risk marker 12"/>
          <p:cNvSpPr txBox="1"/>
          <p:nvPr/>
        </p:nvSpPr>
        <p:spPr>
          <a:xfrm>
            <a:off x="6464808" y="5477256"/>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12</a:t>
            </a:r>
            <a:endParaRPr lang="en-US" sz="850" dirty="0"/>
          </a:p>
        </p:txBody>
      </p:sp>
      <p:sp>
        <p:nvSpPr>
          <p:cNvPr id="48" name="Text 35"/>
          <p:cNvSpPr txBox="1"/>
          <p:nvPr/>
        </p:nvSpPr>
        <p:spPr>
          <a:xfrm>
            <a:off x="6848856" y="5468112"/>
            <a:ext cx="4590288" cy="356616"/>
          </a:xfrm>
          <a:prstGeom prst="rect">
            <a:avLst/>
          </a:prstGeom>
          <a:noFill/>
          <a:ln/>
        </p:spPr>
        <p:txBody>
          <a:bodyPr wrap="square" lIns="0" tIns="0" rIns="0" bIns="0" rtlCol="0" anchor="t"/>
          <a:lstStyle/>
          <a:p>
            <a:pPr indent="0" marL="0">
              <a:buNone/>
            </a:pPr>
            <a:r>
              <a:rPr lang="en-US" sz="1400" dirty="0">
                <a:solidFill>
                  <a:srgbClr val="131925"/>
                </a:solidFill>
              </a:rPr>
              <a:t>No backup before, no check after</a:t>
            </a:r>
            <a:pPr indent="0" marL="0">
              <a:buNone/>
            </a:pPr>
            <a:r>
              <a:rPr lang="en-US" sz="1100" b="1" dirty="0">
                <a:solidFill>
                  <a:srgbClr val="2A5BD7"/>
                </a:solidFill>
              </a:rPr>
              <a:t>  Check</a:t>
            </a:r>
            <a:endParaRPr lang="en-US" sz="1400" dirty="0"/>
          </a:p>
        </p:txBody>
      </p:sp>
      <p:sp>
        <p:nvSpPr>
          <p:cNvPr id="49" name="Risk marker 15"/>
          <p:cNvSpPr txBox="1"/>
          <p:nvPr/>
        </p:nvSpPr>
        <p:spPr>
          <a:xfrm>
            <a:off x="6464808" y="5833872"/>
            <a:ext cx="256032" cy="256032"/>
          </a:xfrm>
          <a:prstGeom prst="ellipse">
            <a:avLst/>
          </a:prstGeom>
          <a:solidFill>
            <a:srgbClr val="C93A32"/>
          </a:solidFill>
          <a:ln w="19050">
            <a:solidFill>
              <a:srgbClr val="FFFFFF"/>
            </a:solidFill>
          </a:ln>
        </p:spPr>
        <p:txBody>
          <a:bodyPr wrap="square" lIns="0" tIns="0" rIns="0" bIns="0" rtlCol="0" anchor="ctr"/>
          <a:lstStyle/>
          <a:p>
            <a:pPr algn="ctr" indent="0" marL="0">
              <a:buNone/>
            </a:pPr>
            <a:r>
              <a:rPr lang="en-US" sz="850" b="1" dirty="0">
                <a:solidFill>
                  <a:srgbClr val="FFFFFF"/>
                </a:solidFill>
              </a:rPr>
              <a:t>15</a:t>
            </a:r>
            <a:endParaRPr lang="en-US" sz="850" dirty="0"/>
          </a:p>
        </p:txBody>
      </p:sp>
      <p:sp>
        <p:nvSpPr>
          <p:cNvPr id="50" name="Text 37"/>
          <p:cNvSpPr txBox="1"/>
          <p:nvPr/>
        </p:nvSpPr>
        <p:spPr>
          <a:xfrm>
            <a:off x="6848856" y="5824728"/>
            <a:ext cx="4590288" cy="356616"/>
          </a:xfrm>
          <a:prstGeom prst="rect">
            <a:avLst/>
          </a:prstGeom>
          <a:noFill/>
          <a:ln/>
        </p:spPr>
        <p:txBody>
          <a:bodyPr wrap="square" lIns="0" tIns="0" rIns="0" bIns="0" rtlCol="0" anchor="t"/>
          <a:lstStyle/>
          <a:p>
            <a:pPr indent="0" marL="0">
              <a:buNone/>
            </a:pPr>
            <a:r>
              <a:rPr lang="en-US" sz="1400" dirty="0">
                <a:solidFill>
                  <a:srgbClr val="131925"/>
                </a:solidFill>
              </a:rPr>
              <a:t>Account defaults to network-prod</a:t>
            </a:r>
            <a:endParaRPr lang="en-US" sz="140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Export and Apply at a glance</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Numbers in brackets point to the DNS risk tables</a:t>
            </a:r>
            <a:endParaRPr lang="en-US" sz="1400" dirty="0"/>
          </a:p>
        </p:txBody>
      </p:sp>
      <p:sp>
        <p:nvSpPr>
          <p:cNvPr id="5" name="Text 2"/>
          <p:cNvSpPr txBox="1"/>
          <p:nvPr/>
        </p:nvSpPr>
        <p:spPr>
          <a:xfrm>
            <a:off x="548640" y="1371600"/>
            <a:ext cx="1371600" cy="237744"/>
          </a:xfrm>
          <a:prstGeom prst="rect">
            <a:avLst/>
          </a:prstGeom>
          <a:noFill/>
          <a:ln/>
        </p:spPr>
        <p:txBody>
          <a:bodyPr wrap="square" lIns="0" tIns="0" rIns="0" bIns="0" rtlCol="0" anchor="ctr"/>
          <a:lstStyle/>
          <a:p>
            <a:pPr indent="0" marL="0">
              <a:buNone/>
            </a:pPr>
            <a:r>
              <a:rPr lang="en-US" sz="1100" dirty="0">
                <a:solidFill>
                  <a:srgbClr val="2E8946"/>
                </a:solidFill>
              </a:rPr>
              <a:t>●  </a:t>
            </a:r>
            <a:pPr indent="0" marL="0">
              <a:buNone/>
            </a:pPr>
            <a:r>
              <a:rPr lang="en-US" sz="1100" dirty="0">
                <a:solidFill>
                  <a:srgbClr val="586275"/>
                </a:solidFill>
              </a:rPr>
              <a:t>In place</a:t>
            </a:r>
            <a:endParaRPr lang="en-US" sz="1100" dirty="0"/>
          </a:p>
        </p:txBody>
      </p:sp>
      <p:sp>
        <p:nvSpPr>
          <p:cNvPr id="6" name="Text 3"/>
          <p:cNvSpPr txBox="1"/>
          <p:nvPr/>
        </p:nvSpPr>
        <p:spPr>
          <a:xfrm>
            <a:off x="1965960" y="1371600"/>
            <a:ext cx="1371600" cy="237744"/>
          </a:xfrm>
          <a:prstGeom prst="rect">
            <a:avLst/>
          </a:prstGeom>
          <a:noFill/>
          <a:ln/>
        </p:spPr>
        <p:txBody>
          <a:bodyPr wrap="square" lIns="0" tIns="0" rIns="0" bIns="0" rtlCol="0" anchor="ctr"/>
          <a:lstStyle/>
          <a:p>
            <a:pPr indent="0" marL="0">
              <a:buNone/>
            </a:pPr>
            <a:r>
              <a:rPr lang="en-US" sz="1100" dirty="0">
                <a:solidFill>
                  <a:srgbClr val="BF8418"/>
                </a:solidFill>
              </a:rPr>
              <a:t>●  </a:t>
            </a:r>
            <a:pPr indent="0" marL="0">
              <a:buNone/>
            </a:pPr>
            <a:r>
              <a:rPr lang="en-US" sz="1100" dirty="0">
                <a:solidFill>
                  <a:srgbClr val="586275"/>
                </a:solidFill>
              </a:rPr>
              <a:t>Partly</a:t>
            </a:r>
            <a:endParaRPr lang="en-US" sz="1100" dirty="0"/>
          </a:p>
        </p:txBody>
      </p:sp>
      <p:sp>
        <p:nvSpPr>
          <p:cNvPr id="7" name="Text 4"/>
          <p:cNvSpPr txBox="1"/>
          <p:nvPr/>
        </p:nvSpPr>
        <p:spPr>
          <a:xfrm>
            <a:off x="3383280" y="1371600"/>
            <a:ext cx="1371600" cy="237744"/>
          </a:xfrm>
          <a:prstGeom prst="rect">
            <a:avLst/>
          </a:prstGeom>
          <a:noFill/>
          <a:ln/>
        </p:spPr>
        <p:txBody>
          <a:bodyPr wrap="square" lIns="0" tIns="0" rIns="0" bIns="0" rtlCol="0" anchor="ctr"/>
          <a:lstStyle/>
          <a:p>
            <a:pPr indent="0" marL="0">
              <a:buNone/>
            </a:pPr>
            <a:r>
              <a:rPr lang="en-US" sz="1100" dirty="0">
                <a:solidFill>
                  <a:srgbClr val="C93A32"/>
                </a:solidFill>
              </a:rPr>
              <a:t>●  </a:t>
            </a:r>
            <a:pPr indent="0" marL="0">
              <a:buNone/>
            </a:pPr>
            <a:r>
              <a:rPr lang="en-US" sz="1100" dirty="0">
                <a:solidFill>
                  <a:srgbClr val="586275"/>
                </a:solidFill>
              </a:rPr>
              <a:t>Missing</a:t>
            </a:r>
            <a:endParaRPr lang="en-US" sz="1100" dirty="0"/>
          </a:p>
        </p:txBody>
      </p:sp>
      <p:sp>
        <p:nvSpPr>
          <p:cNvPr id="8" name="Text 5"/>
          <p:cNvSpPr txBox="1"/>
          <p:nvPr/>
        </p:nvSpPr>
        <p:spPr>
          <a:xfrm>
            <a:off x="4800600" y="1371600"/>
            <a:ext cx="1371600" cy="237744"/>
          </a:xfrm>
          <a:prstGeom prst="rect">
            <a:avLst/>
          </a:prstGeom>
          <a:noFill/>
          <a:ln/>
        </p:spPr>
        <p:txBody>
          <a:bodyPr wrap="square" lIns="0" tIns="0" rIns="0" bIns="0" rtlCol="0" anchor="ctr"/>
          <a:lstStyle/>
          <a:p>
            <a:pPr indent="0" marL="0">
              <a:buNone/>
            </a:pPr>
            <a:r>
              <a:rPr lang="en-US" sz="1100" dirty="0">
                <a:solidFill>
                  <a:srgbClr val="A9B3C3"/>
                </a:solidFill>
              </a:rPr>
              <a:t>●  </a:t>
            </a:r>
            <a:pPr indent="0" marL="0">
              <a:buNone/>
            </a:pPr>
            <a:r>
              <a:rPr lang="en-US" sz="1100" dirty="0">
                <a:solidFill>
                  <a:srgbClr val="586275"/>
                </a:solidFill>
              </a:rPr>
              <a:t>Not applicable</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971800"/>
                <a:gridCol w="4023360"/>
                <a:gridCol w="4096512"/>
              </a:tblGrid>
              <a:tr h="0">
                <a:tc>
                  <a:txBody>
                    <a:bodyPr/>
                    <a:lstStyle/>
                    <a:p>
                      <a:pPr indent="0" marL="0">
                        <a:buNone/>
                      </a:pPr>
                      <a:r>
                        <a:rPr lang="en-US" sz="1050" b="1" dirty="0">
                          <a:solidFill>
                            <a:srgbClr val="586275"/>
                          </a:solidFill>
                        </a:rPr>
                        <a:t>Safeguard</a:t>
                      </a:r>
                      <a:endParaRPr lang="en-US" sz="10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Export</a:t>
                      </a:r>
                      <a:endParaRPr lang="en-US" sz="10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Apply</a:t>
                      </a:r>
                      <a:endParaRPr lang="en-US" sz="10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250" b="1" dirty="0">
                          <a:solidFill>
                            <a:srgbClr val="131925"/>
                          </a:solidFill>
                        </a:rPr>
                        <a:t>Preview before anything changes</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Nothing changes in Route 53</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Always; preview only unless ticked</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Human approval</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All-zone exports outside sandbox; single zones via PR</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Outside sandbox, after the preview</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Approved change is the one applied</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applicable</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 recomputed after approval</a:t>
                      </a:r>
                      <a:pPr indent="0" marL="0">
                        <a:buNone/>
                      </a:pPr>
                      <a:r>
                        <a:rPr lang="en-US" sz="1150" b="1" dirty="0">
                          <a:solidFill>
                            <a:srgbClr val="C93A32"/>
                          </a:solidFill>
                        </a:rPr>
                        <a:t>  (1)</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Drift detected and reported</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 diffs too noisy to use</a:t>
                      </a:r>
                      <a:pPr indent="0" marL="0">
                        <a:buNone/>
                      </a:pPr>
                      <a:r>
                        <a:rPr lang="en-US" sz="1150" b="1" dirty="0">
                          <a:solidFill>
                            <a:srgbClr val="C93A32"/>
                          </a:solidFill>
                        </a:rPr>
                        <a:t>  (8)</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 only a hand-run preview</a:t>
                      </a:r>
                      <a:pPr indent="0" marL="0">
                        <a:buNone/>
                      </a:pPr>
                      <a:r>
                        <a:rPr lang="en-US" sz="1150" b="1" dirty="0">
                          <a:solidFill>
                            <a:srgbClr val="C93A32"/>
                          </a:solidFill>
                        </a:rPr>
                        <a:t>  (3)</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Same output for an unchanged zone</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 large diffs between runs</a:t>
                      </a:r>
                      <a:pPr indent="0" marL="0">
                        <a:buNone/>
                      </a:pPr>
                      <a:r>
                        <a:rPr lang="en-US" sz="1150" b="1" dirty="0">
                          <a:solidFill>
                            <a:srgbClr val="C93A32"/>
                          </a:solidFill>
                        </a:rPr>
                        <a:t>  (8)</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applicable</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One tool owns each record</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applicable</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 scripts and CloudFormation share zones</a:t>
                      </a:r>
                      <a:pPr indent="0" marL="0">
                        <a:buNone/>
                      </a:pPr>
                      <a:r>
                        <a:rPr lang="en-US" sz="1150" b="1" dirty="0">
                          <a:solidFill>
                            <a:srgbClr val="C93A32"/>
                          </a:solidFill>
                        </a:rPr>
                        <a:t>  (7)</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Records owned by other tools left alone</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ALIAS, SOA, apex NS skipped</a:t>
                      </a:r>
                      <a:pPr indent="0" marL="0">
                        <a:buNone/>
                      </a:pPr>
                      <a:r>
                        <a:rPr lang="en-US" sz="1150" b="1" dirty="0">
                          <a:solidFill>
                            <a:srgbClr val="C93A32"/>
                          </a:solidFill>
                        </a:rPr>
                        <a:t>  (2)</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 deletes remove anything not in config</a:t>
                      </a:r>
                      <a:pPr indent="0" marL="0">
                        <a:buNone/>
                      </a:pPr>
                      <a:r>
                        <a:rPr lang="en-US" sz="1150" b="1" dirty="0">
                          <a:solidFill>
                            <a:srgbClr val="C93A32"/>
                          </a:solidFill>
                        </a:rPr>
                        <a:t>  (2)</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Split-horizon zones kept apart</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Each zone in its own file</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Neither half picked reliably</a:t>
                      </a:r>
                      <a:pPr indent="0" marL="0">
                        <a:buNone/>
                      </a:pPr>
                      <a:r>
                        <a:rPr lang="en-US" sz="1150" b="1" dirty="0">
                          <a:solidFill>
                            <a:srgbClr val="C93A32"/>
                          </a:solidFill>
                        </a:rPr>
                        <a:t>  (4)</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Least-privilege AWS access</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Same deploy role as Apply</a:t>
                      </a:r>
                      <a:pPr indent="0" marL="0">
                        <a:buNone/>
                      </a:pPr>
                      <a:r>
                        <a:rPr lang="en-US" sz="1150" b="1" dirty="0">
                          <a:solidFill>
                            <a:srgbClr val="C93A32"/>
                          </a:solidFill>
                        </a:rPr>
                        <a:t>  (5)</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One role; apply job has no environment</a:t>
                      </a:r>
                      <a:pPr indent="0" marL="0">
                        <a:buNone/>
                      </a:pPr>
                      <a:r>
                        <a:rPr lang="en-US" sz="1150" b="1" dirty="0">
                          <a:solidFill>
                            <a:srgbClr val="C93A32"/>
                          </a:solidFill>
                        </a:rPr>
                        <a:t>  (5)</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One run per zone at a time</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needed</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 lock</a:t>
                      </a:r>
                      <a:pPr indent="0" marL="0">
                        <a:buNone/>
                      </a:pPr>
                      <a:r>
                        <a:rPr lang="en-US" sz="1150" b="1" dirty="0">
                          <a:solidFill>
                            <a:srgbClr val="C93A32"/>
                          </a:solidFill>
                        </a:rPr>
                        <a:t>  (11)</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Backup and check after a change</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A9B3C3"/>
                          </a:solidFill>
                        </a:rPr>
                        <a:t>●  </a:t>
                      </a:r>
                      <a:pPr indent="0" marL="0">
                        <a:buNone/>
                      </a:pPr>
                      <a:r>
                        <a:rPr lang="en-US" sz="1250" dirty="0">
                          <a:solidFill>
                            <a:srgbClr val="586275"/>
                          </a:solidFill>
                        </a:rPr>
                        <a:t>Not applicable</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C93A32"/>
                          </a:solidFill>
                        </a:rPr>
                        <a:t>●  </a:t>
                      </a:r>
                      <a:pPr indent="0" marL="0">
                        <a:buNone/>
                      </a:pPr>
                      <a:r>
                        <a:rPr lang="en-US" sz="1250" dirty="0">
                          <a:solidFill>
                            <a:srgbClr val="A1332C"/>
                          </a:solidFill>
                        </a:rPr>
                        <a:t>Not in the workflow</a:t>
                      </a:r>
                      <a:pPr indent="0" marL="0">
                        <a:buNone/>
                      </a:pPr>
                      <a:r>
                        <a:rPr lang="en-US" sz="1150" b="1" dirty="0">
                          <a:solidFill>
                            <a:srgbClr val="C93A32"/>
                          </a:solidFill>
                        </a:rPr>
                        <a:t>  (12)</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250" b="1" dirty="0">
                          <a:solidFill>
                            <a:srgbClr val="131925"/>
                          </a:solidFill>
                        </a:rPr>
                        <a:t>Failures reported clearly</a:t>
                      </a:r>
                      <a:endParaRPr lang="en-US" sz="125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BF8418"/>
                          </a:solidFill>
                        </a:rPr>
                        <a:t>●  </a:t>
                      </a:r>
                      <a:pPr indent="0" marL="0">
                        <a:buNone/>
                      </a:pPr>
                      <a:r>
                        <a:rPr lang="en-US" sz="1250" dirty="0">
                          <a:solidFill>
                            <a:srgbClr val="131925"/>
                          </a:solidFill>
                        </a:rPr>
                        <a:t>Skips hidden; one error stops all</a:t>
                      </a:r>
                      <a:pPr indent="0" marL="0">
                        <a:buNone/>
                      </a:pPr>
                      <a:r>
                        <a:rPr lang="en-US" sz="1150" b="1" dirty="0">
                          <a:solidFill>
                            <a:srgbClr val="C93A32"/>
                          </a:solidFill>
                        </a:rPr>
                        <a:t>  (13)</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2E8946"/>
                          </a:solidFill>
                        </a:rPr>
                        <a:t>●  </a:t>
                      </a:r>
                      <a:pPr indent="0" marL="0">
                        <a:buNone/>
                      </a:pPr>
                      <a:r>
                        <a:rPr lang="en-US" sz="1250" dirty="0">
                          <a:solidFill>
                            <a:srgbClr val="131925"/>
                          </a:solidFill>
                        </a:rPr>
                        <a:t>Per zone, in the run summary</a:t>
                      </a:r>
                      <a:endParaRPr lang="en-US" sz="1200" dirty="0"/>
                    </a:p>
                  </a:txBody>
                  <a:tcPr marL="101600" marR="101600" marT="63500" marB="635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DNS risks and fixes (1–4)</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High severity · Check means the risk depends on code or settings outside the workflow files</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502920"/>
                <a:gridCol w="3429000"/>
                <a:gridCol w="3566160"/>
                <a:gridCol w="3593592"/>
              </a:tblGrid>
              <a:tr h="0">
                <a:tc>
                  <a:txBody>
                    <a:bodyPr/>
                    <a:lstStyle/>
                    <a:p>
                      <a:pPr indent="0" marL="0">
                        <a:buNone/>
                      </a:pPr>
                      <a:r>
                        <a:rPr lang="en-US" sz="1050" b="1" dirty="0">
                          <a:solidFill>
                            <a:srgbClr val="586275"/>
                          </a:solidFill>
                        </a:rPr>
                        <a:t>#</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Risk</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What can happen</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Recommended fix</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algn="ctr" indent="0" marL="0">
                        <a:buNone/>
                      </a:pPr>
                      <a:r>
                        <a:rPr lang="en-US" sz="1500" b="1" dirty="0">
                          <a:solidFill>
                            <a:srgbClr val="C93A32"/>
                          </a:solidFill>
                        </a:rPr>
                        <a:t>1</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C93A32"/>
                          </a:solidFill>
                        </a:rPr>
                        <a:t>High</a:t>
                      </a:r>
                      <a:endParaRPr lang="en-US" sz="1250" dirty="0"/>
                    </a:p>
                    <a:p>
                      <a:pPr indent="0" marL="0">
                        <a:buNone/>
                      </a:pPr>
                      <a:r>
                        <a:rPr lang="en-US" sz="1300" b="1" dirty="0">
                          <a:solidFill>
                            <a:srgbClr val="131925"/>
                          </a:solidFill>
                        </a:rPr>
                        <a:t>The approved preview isn't what runs</a:t>
                      </a:r>
                      <a:endParaRPr lang="en-US" sz="1250" dirty="0"/>
                    </a:p>
                    <a:p>
                      <a:pPr indent="0" marL="0">
                        <a:buNone/>
                      </a:pPr>
                      <a:r>
                        <a:rPr lang="en-US" sz="1150" dirty="0">
                          <a:solidFill>
                            <a:srgbClr val="586275"/>
                          </a:solidFill>
                        </a:rPr>
                        <a:t>After approval a new job compares config with the zone again. Approval can wait up to 30 days.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Records changed while the run waits are overwritten, or deleted with deletes on, without appearing in the approved preview.</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Save the previewed change batch and apply exactly that, after checking each record still has the previewed value.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2</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C93A32"/>
                          </a:solidFill>
                        </a:rPr>
                        <a:t>High</a:t>
                      </a:r>
                      <a:pPr indent="0" marL="0">
                        <a:buNone/>
                      </a:pPr>
                      <a:r>
                        <a:rPr lang="en-US" sz="1100" b="1" dirty="0">
                          <a:solidFill>
                            <a:srgbClr val="2A5BD7"/>
                          </a:solidFill>
                        </a:rPr>
                        <a:t>  ·  Check</a:t>
                      </a:r>
                      <a:endParaRPr lang="en-US" sz="1250" dirty="0"/>
                    </a:p>
                    <a:p>
                      <a:pPr indent="0" marL="0">
                        <a:buNone/>
                      </a:pPr>
                      <a:r>
                        <a:rPr lang="en-US" sz="1300" b="1" dirty="0">
                          <a:solidFill>
                            <a:srgbClr val="131925"/>
                          </a:solidFill>
                        </a:rPr>
                        <a:t>Deletes take out records that other tools own</a:t>
                      </a:r>
                      <a:endParaRPr lang="en-US" sz="1250" dirty="0"/>
                    </a:p>
                    <a:p>
                      <a:pPr indent="0" marL="0">
                        <a:buNone/>
                      </a:pPr>
                      <a:r>
                        <a:rPr lang="en-US" sz="1150" dirty="0">
                          <a:solidFill>
                            <a:srgbClr val="586275"/>
                          </a:solidFill>
                        </a:rPr>
                        <a:t>With deletes on, every live record missing from config is deleted. Export never writes ALIAS records.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CloudFormation, ACM validation, ExternalDNS or console records can disappear; ALIAS names for load balancers and CloudFront can go down.</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Delete only records the pipeline owns. Never delete ALIAS, SOA, apex NS or ACM validation records. Show each DELETE with its value.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3</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C93A32"/>
                          </a:solidFill>
                        </a:rPr>
                        <a:t>High</a:t>
                      </a:r>
                      <a:endParaRPr lang="en-US" sz="1250" dirty="0"/>
                    </a:p>
                    <a:p>
                      <a:pPr indent="0" marL="0">
                        <a:buNone/>
                      </a:pPr>
                      <a:r>
                        <a:rPr lang="en-US" sz="1300" b="1" dirty="0">
                          <a:solidFill>
                            <a:srgbClr val="131925"/>
                          </a:solidFill>
                        </a:rPr>
                        <a:t>Nothing detects drift</a:t>
                      </a:r>
                      <a:endParaRPr lang="en-US" sz="1250" dirty="0"/>
                    </a:p>
                    <a:p>
                      <a:pPr indent="0" marL="0">
                        <a:buNone/>
                      </a:pPr>
                      <a:r>
                        <a:rPr lang="en-US" sz="1150" dirty="0">
                          <a:solidFill>
                            <a:srgbClr val="586275"/>
                          </a:solidFill>
                        </a:rPr>
                        <a:t>No job compares the live zones with main; only a hand-run preview shows differences.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Console edits and other tools' records go unnoticed until an apply overwrites or deletes them.</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Scheduled read-only comparison with alerts, plus an EventBridge rule in us-east-1 on record changes made by anyone but the pipeline role.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4</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C93A32"/>
                          </a:solidFill>
                        </a:rPr>
                        <a:t>High</a:t>
                      </a:r>
                      <a:pPr indent="0" marL="0">
                        <a:buNone/>
                      </a:pPr>
                      <a:r>
                        <a:rPr lang="en-US" sz="1100" b="1" dirty="0">
                          <a:solidFill>
                            <a:srgbClr val="2A5BD7"/>
                          </a:solidFill>
                        </a:rPr>
                        <a:t>  ·  Check</a:t>
                      </a:r>
                      <a:endParaRPr lang="en-US" sz="1250" dirty="0"/>
                    </a:p>
                    <a:p>
                      <a:pPr indent="0" marL="0">
                        <a:buNone/>
                      </a:pPr>
                      <a:r>
                        <a:rPr lang="en-US" sz="1300" b="1" dirty="0">
                          <a:solidFill>
                            <a:srgbClr val="131925"/>
                          </a:solidFill>
                        </a:rPr>
                        <a:t>Apply can't tell split-horizon twins apart</a:t>
                      </a:r>
                      <a:endParaRPr lang="en-US" sz="1250" dirty="0"/>
                    </a:p>
                    <a:p>
                      <a:pPr indent="0" marL="0">
                        <a:buNone/>
                      </a:pPr>
                      <a:r>
                        <a:rPr lang="en-US" sz="1150" dirty="0">
                          <a:solidFill>
                            <a:srgbClr val="586275"/>
                          </a:solidFill>
                        </a:rPr>
                        <a:t>Export writes -public and -private files and passes the zone ID. Apply knows neither suffix and passes only a stack ID.</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A change meant for the private zone can land in the public one; with deletes on, records missing from that config are deleted there.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One shared zone resolver for both workflows; pass the zone ID through; stop when a name matches two zones.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DNS risks and fixes (5–8)</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High and medium severity · Seen in runs means the team has observed it in real export runs</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502920"/>
                <a:gridCol w="3429000"/>
                <a:gridCol w="3566160"/>
                <a:gridCol w="3593592"/>
              </a:tblGrid>
              <a:tr h="0">
                <a:tc>
                  <a:txBody>
                    <a:bodyPr/>
                    <a:lstStyle/>
                    <a:p>
                      <a:pPr indent="0" marL="0">
                        <a:buNone/>
                      </a:pPr>
                      <a:r>
                        <a:rPr lang="en-US" sz="1050" b="1" dirty="0">
                          <a:solidFill>
                            <a:srgbClr val="586275"/>
                          </a:solidFill>
                        </a:rPr>
                        <a:t>#</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Risk</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What can happen</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Recommended fix</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algn="ctr" indent="0" marL="0">
                        <a:buNone/>
                      </a:pPr>
                      <a:r>
                        <a:rPr lang="en-US" sz="1500" b="1" dirty="0">
                          <a:solidFill>
                            <a:srgbClr val="C93A32"/>
                          </a:solidFill>
                        </a:rPr>
                        <a:t>5</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C93A32"/>
                          </a:solidFill>
                        </a:rPr>
                        <a:t>High</a:t>
                      </a:r>
                      <a:pPr indent="0" marL="0">
                        <a:buNone/>
                      </a:pPr>
                      <a:r>
                        <a:rPr lang="en-US" sz="1100" b="1" dirty="0">
                          <a:solidFill>
                            <a:srgbClr val="2A5BD7"/>
                          </a:solidFill>
                        </a:rPr>
                        <a:t>  ·  Check</a:t>
                      </a:r>
                      <a:endParaRPr lang="en-US" sz="1250" dirty="0"/>
                    </a:p>
                    <a:p>
                      <a:pPr indent="0" marL="0">
                        <a:buNone/>
                      </a:pPr>
                      <a:r>
                        <a:rPr lang="en-US" sz="1300" b="1" dirty="0">
                          <a:solidFill>
                            <a:srgbClr val="131925"/>
                          </a:solidFill>
                        </a:rPr>
                        <a:t>Only the workflow file enforces the approval</a:t>
                      </a:r>
                      <a:endParaRPr lang="en-US" sz="1250" dirty="0"/>
                    </a:p>
                    <a:p>
                      <a:pPr indent="0" marL="0">
                        <a:buNone/>
                      </a:pPr>
                      <a:r>
                        <a:rPr lang="en-US" sz="1150" dirty="0">
                          <a:solidFill>
                            <a:srgbClr val="586275"/>
                          </a:solidFill>
                        </a:rPr>
                        <a:t>The apply job has no environment, every job shares one deploy role, and a run can start from any branch.</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If the role trusts any branch, an edited workflow on a branch can change Route 53 with no preview or approval.</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Dedicated DNS environment on the apply job (main only, DNS reviewers); write role trusted only for it; read-only role elsewhere.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6</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C93A32"/>
                          </a:solidFill>
                        </a:rPr>
                        <a:t>High</a:t>
                      </a:r>
                      <a:pPr indent="0" marL="0">
                        <a:buNone/>
                      </a:pPr>
                      <a:r>
                        <a:rPr lang="en-US" sz="1100" b="1" dirty="0">
                          <a:solidFill>
                            <a:srgbClr val="2A5BD7"/>
                          </a:solidFill>
                        </a:rPr>
                        <a:t>  ·  Check</a:t>
                      </a:r>
                      <a:endParaRPr lang="en-US" sz="1250" dirty="0"/>
                    </a:p>
                    <a:p>
                      <a:pPr indent="0" marL="0">
                        <a:buNone/>
                      </a:pPr>
                      <a:r>
                        <a:rPr lang="en-US" sz="1300" b="1" dirty="0">
                          <a:solidFill>
                            <a:srgbClr val="131925"/>
                          </a:solidFill>
                        </a:rPr>
                        <a:t>DRY_RUN holds the opposite value</a:t>
                      </a:r>
                      <a:endParaRPr lang="en-US" sz="1250" dirty="0"/>
                    </a:p>
                    <a:p>
                      <a:pPr indent="0" marL="0">
                        <a:buNone/>
                      </a:pPr>
                      <a:r>
                        <a:rPr lang="en-US" sz="1150" dirty="0">
                          <a:solidFill>
                            <a:srgbClr val="586275"/>
                          </a:solidFill>
                        </a:rPr>
                        <a:t>The preview step sets DRY_RUN from execute_changes, so a preview-only run has DRY_RUN=false.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If dns_records_apply.py reads DRY_RUN, a plain preview would change Route 53 with no approval.</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Search the script for DRY_RUN; remove the variable or set it to the opposite of execute_changes.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7</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endParaRPr lang="en-US" sz="1250" dirty="0"/>
                    </a:p>
                    <a:p>
                      <a:pPr indent="0" marL="0">
                        <a:buNone/>
                      </a:pPr>
                      <a:r>
                        <a:rPr lang="en-US" sz="1300" b="1" dirty="0">
                          <a:solidFill>
                            <a:srgbClr val="131925"/>
                          </a:solidFill>
                        </a:rPr>
                        <a:t>Two tools own the same zones</a:t>
                      </a:r>
                      <a:endParaRPr lang="en-US" sz="1250" dirty="0"/>
                    </a:p>
                    <a:p>
                      <a:pPr indent="0" marL="0">
                        <a:buNone/>
                      </a:pPr>
                      <a:r>
                        <a:rPr lang="en-US" sz="1150" dirty="0">
                          <a:solidFill>
                            <a:srgbClr val="586275"/>
                          </a:solidFill>
                        </a:rPr>
                        <a:t>boto3 scripts change records; CloudFormation creates the zones and holds ALIAS records.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Neither tool knows what the other owns. The scripts lack ownership, a reviewed plan and rollback.</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Pick one owner per zone (see the scripts versus CloudFormation slide).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8</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pPr indent="0" marL="0">
                        <a:buNone/>
                      </a:pPr>
                      <a:r>
                        <a:rPr lang="en-US" sz="1100" b="1" dirty="0">
                          <a:solidFill>
                            <a:srgbClr val="4F5ED0"/>
                          </a:solidFill>
                        </a:rPr>
                        <a:t>  ·  Seen in runs</a:t>
                      </a:r>
                      <a:endParaRPr lang="en-US" sz="1250" dirty="0"/>
                    </a:p>
                    <a:p>
                      <a:pPr indent="0" marL="0">
                        <a:buNone/>
                      </a:pPr>
                      <a:r>
                        <a:rPr lang="en-US" sz="1300" b="1" dirty="0">
                          <a:solidFill>
                            <a:srgbClr val="131925"/>
                          </a:solidFill>
                        </a:rPr>
                        <a:t>Export output changes between runs</a:t>
                      </a:r>
                      <a:endParaRPr lang="en-US" sz="1250" dirty="0"/>
                    </a:p>
                    <a:p>
                      <a:pPr indent="0" marL="0">
                        <a:buNone/>
                      </a:pPr>
                      <a:r>
                        <a:rPr lang="en-US" sz="1150" dirty="0">
                          <a:solidFill>
                            <a:srgbClr val="586275"/>
                          </a:solidFill>
                        </a:rPr>
                        <a:t>Exporting the same zone twice gives large Git diffs.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Real changes hide in the noise, every export opens a PR, and the export can't serve as a drift check.</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Canonical output: sorted records and values, normalised names, no timestamps. Test that two exports match.</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DNS risks and fixes (9–12)</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Medium severity</a:t>
            </a:r>
            <a:endParaRPr lang="en-US" sz="1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502920"/>
                <a:gridCol w="3429000"/>
                <a:gridCol w="3566160"/>
                <a:gridCol w="3593592"/>
              </a:tblGrid>
              <a:tr h="0">
                <a:tc>
                  <a:txBody>
                    <a:bodyPr/>
                    <a:lstStyle/>
                    <a:p>
                      <a:pPr indent="0" marL="0">
                        <a:buNone/>
                      </a:pPr>
                      <a:r>
                        <a:rPr lang="en-US" sz="1050" b="1" dirty="0">
                          <a:solidFill>
                            <a:srgbClr val="586275"/>
                          </a:solidFill>
                        </a:rPr>
                        <a:t>#</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Risk</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What can happen</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Recommended fix</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algn="ctr" indent="0" marL="0">
                        <a:buNone/>
                      </a:pPr>
                      <a:r>
                        <a:rPr lang="en-US" sz="1500" b="1" dirty="0">
                          <a:solidFill>
                            <a:srgbClr val="C93A32"/>
                          </a:solidFill>
                        </a:rPr>
                        <a:t>9</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endParaRPr lang="en-US" sz="1250" dirty="0"/>
                    </a:p>
                    <a:p>
                      <a:pPr indent="0" marL="0">
                        <a:buNone/>
                      </a:pPr>
                      <a:r>
                        <a:rPr lang="en-US" sz="1300" b="1" dirty="0">
                          <a:solidFill>
                            <a:srgbClr val="131925"/>
                          </a:solidFill>
                        </a:rPr>
                        <a:t>Console fixes are silently put back</a:t>
                      </a:r>
                      <a:endParaRPr lang="en-US" sz="1250" dirty="0"/>
                    </a:p>
                    <a:p>
                      <a:pPr indent="0" marL="0">
                        <a:buNone/>
                      </a:pPr>
                      <a:r>
                        <a:rPr lang="en-US" sz="1150" dirty="0">
                          <a:solidFill>
                            <a:srgbClr val="586275"/>
                          </a:solidFill>
                        </a:rPr>
                        <a:t>Apply makes the live zone match config, whatever caused the difference.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An emergency console change is reverted by the next apply for any change in that zone.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Show changes made outside the pipeline separately, and stop unless the run accepts overwriting them.</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10</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endParaRPr lang="en-US" sz="1250" dirty="0"/>
                    </a:p>
                    <a:p>
                      <a:pPr indent="0" marL="0">
                        <a:buNone/>
                      </a:pPr>
                      <a:r>
                        <a:rPr lang="en-US" sz="1300" b="1" dirty="0">
                          <a:solidFill>
                            <a:srgbClr val="131925"/>
                          </a:solidFill>
                        </a:rPr>
                        <a:t>Export pull requests pile up and can roll config back</a:t>
                      </a:r>
                      <a:endParaRPr lang="en-US" sz="1250" dirty="0"/>
                    </a:p>
                    <a:p>
                      <a:pPr indent="0" marL="0">
                        <a:buNone/>
                      </a:pPr>
                      <a:r>
                        <a:rPr lang="en-US" sz="1150" dirty="0">
                          <a:solidFill>
                            <a:srgbClr val="586275"/>
                          </a:solidFill>
                        </a:rPr>
                        <a:t>Every run opens a new branch and PR, each replacing the zone files with live state.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Merging one can drop edits merged but not yet applied. GITHUB_TOKEN PRs don't trigger PR checks.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Open a PR only when something changed; one branch per zone, updated in place; warn when unapplied edits are removed.</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11</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endParaRPr lang="en-US" sz="1250" dirty="0"/>
                    </a:p>
                    <a:p>
                      <a:pPr indent="0" marL="0">
                        <a:buNone/>
                      </a:pPr>
                      <a:r>
                        <a:rPr lang="en-US" sz="1300" b="1" dirty="0">
                          <a:solidFill>
                            <a:srgbClr val="131925"/>
                          </a:solidFill>
                        </a:rPr>
                        <a:t>Nothing stops two applies on one zone</a:t>
                      </a:r>
                      <a:endParaRPr lang="en-US" sz="1250" dirty="0"/>
                    </a:p>
                    <a:p>
                      <a:pPr indent="0" marL="0">
                        <a:buNone/>
                      </a:pPr>
                      <a:r>
                        <a:rPr lang="en-US" sz="1150" dirty="0">
                          <a:solidFill>
                            <a:srgbClr val="586275"/>
                          </a:solidFill>
                        </a:rPr>
                        <a:t>The workflow has no concurrency group.</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Two runs preview from the same starting point; the second can undo the first.</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Queue runs per account with a concurrency group, never cancelling a run in progress.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12</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pPr indent="0" marL="0">
                        <a:buNone/>
                      </a:pPr>
                      <a:r>
                        <a:rPr lang="en-US" sz="1100" b="1" dirty="0">
                          <a:solidFill>
                            <a:srgbClr val="2A5BD7"/>
                          </a:solidFill>
                        </a:rPr>
                        <a:t>  ·  Check</a:t>
                      </a:r>
                      <a:endParaRPr lang="en-US" sz="1250" dirty="0"/>
                    </a:p>
                    <a:p>
                      <a:pPr indent="0" marL="0">
                        <a:buNone/>
                      </a:pPr>
                      <a:r>
                        <a:rPr lang="en-US" sz="1300" b="1" dirty="0">
                          <a:solidFill>
                            <a:srgbClr val="131925"/>
                          </a:solidFill>
                        </a:rPr>
                        <a:t>No backup before, no check after</a:t>
                      </a:r>
                      <a:endParaRPr lang="en-US" sz="1250" dirty="0"/>
                    </a:p>
                    <a:p>
                      <a:pPr indent="0" marL="0">
                        <a:buNone/>
                      </a:pPr>
                      <a:r>
                        <a:rPr lang="en-US" sz="1150" dirty="0">
                          <a:solidFill>
                            <a:srgbClr val="586275"/>
                          </a:solidFill>
                        </a:rPr>
                        <a:t>The zone isn't saved first, and nothing confirms INSYNC or compares again afterwards.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Rolling back means rebuilding records from logs; APPLIED is not proof the change took effect.</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Save the zone, wait for INSYNC, then compare again and expect no changes.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DNS risks and fixes (13–16)</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Medium and low severity · risks 4, 13 and 15 were reproduced by running the workflows' own shell steps against a mock AWS CLI</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502920"/>
                <a:gridCol w="3429000"/>
                <a:gridCol w="3566160"/>
                <a:gridCol w="3593592"/>
              </a:tblGrid>
              <a:tr h="0">
                <a:tc>
                  <a:txBody>
                    <a:bodyPr/>
                    <a:lstStyle/>
                    <a:p>
                      <a:pPr indent="0" marL="0">
                        <a:buNone/>
                      </a:pPr>
                      <a:r>
                        <a:rPr lang="en-US" sz="1050" b="1" dirty="0">
                          <a:solidFill>
                            <a:srgbClr val="586275"/>
                          </a:solidFill>
                        </a:rPr>
                        <a:t>#</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Risk</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What can happen</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Recommended fix</a:t>
                      </a:r>
                      <a:endParaRPr lang="en-US" sz="1050" dirty="0"/>
                    </a:p>
                  </a:txBody>
                  <a:tcPr marL="114300" marR="1143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algn="ctr" indent="0" marL="0">
                        <a:buNone/>
                      </a:pPr>
                      <a:r>
                        <a:rPr lang="en-US" sz="1500" b="1" dirty="0">
                          <a:solidFill>
                            <a:srgbClr val="C93A32"/>
                          </a:solidFill>
                        </a:rPr>
                        <a:t>13</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A86F0E"/>
                          </a:solidFill>
                        </a:rPr>
                        <a:t>Medium</a:t>
                      </a:r>
                      <a:endParaRPr lang="en-US" sz="1250" dirty="0"/>
                    </a:p>
                    <a:p>
                      <a:pPr indent="0" marL="0">
                        <a:buNone/>
                      </a:pPr>
                      <a:r>
                        <a:rPr lang="en-US" sz="1300" b="1" dirty="0">
                          <a:solidFill>
                            <a:srgbClr val="131925"/>
                          </a:solidFill>
                        </a:rPr>
                        <a:t>Export failures are hidden, or stop everything</a:t>
                      </a:r>
                      <a:endParaRPr lang="en-US" sz="1250" dirty="0"/>
                    </a:p>
                    <a:p>
                      <a:pPr indent="0" marL="0">
                        <a:buNone/>
                      </a:pPr>
                      <a:r>
                        <a:rPr lang="en-US" sz="1150" dirty="0">
                          <a:solidFill>
                            <a:srgbClr val="586275"/>
                          </a:solidFill>
                        </a:rPr>
                        <a:t>Skipped zones are missing from the summary; one failing zone ends the step; the results table prints without counts.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An all-zones export can finish green with zones missing, or fail without saving the zones already done.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Capture each zone's exit code, list skipped and failed zones, and fix the printf format strings.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14</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66728A"/>
                          </a:solidFill>
                        </a:rPr>
                        <a:t>Low</a:t>
                      </a:r>
                      <a:endParaRPr lang="en-US" sz="1250" dirty="0"/>
                    </a:p>
                    <a:p>
                      <a:pPr indent="0" marL="0">
                        <a:buNone/>
                      </a:pPr>
                      <a:r>
                        <a:rPr lang="en-US" sz="1300" b="1" dirty="0">
                          <a:solidFill>
                            <a:srgbClr val="131925"/>
                          </a:solidFill>
                        </a:rPr>
                        <a:t>Private DNS copied to Git and a 30-day artifact</a:t>
                      </a:r>
                      <a:endParaRPr lang="en-US" sz="1250" dirty="0"/>
                    </a:p>
                    <a:p>
                      <a:pPr indent="0" marL="0">
                        <a:buNone/>
                      </a:pPr>
                      <a:r>
                        <a:rPr lang="en-US" sz="1150" dirty="0">
                          <a:solidFill>
                            <a:srgbClr val="586275"/>
                          </a:solidFill>
                        </a:rPr>
                        <a:t>Expected for config as code, but private records also land in every export run.</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Anyone with repository or run access sees internal host names and IP addresses.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Limit repository access; drop the artifact or keep it for a day.</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15</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66728A"/>
                          </a:solidFill>
                        </a:rPr>
                        <a:t>Low</a:t>
                      </a:r>
                      <a:endParaRPr lang="en-US" sz="1250" dirty="0"/>
                    </a:p>
                    <a:p>
                      <a:pPr indent="0" marL="0">
                        <a:buNone/>
                      </a:pPr>
                      <a:r>
                        <a:rPr lang="en-US" sz="1300" b="1" dirty="0">
                          <a:solidFill>
                            <a:srgbClr val="131925"/>
                          </a:solidFill>
                        </a:rPr>
                        <a:t>Inputs are typed by hand</a:t>
                      </a:r>
                      <a:endParaRPr lang="en-US" sz="1250" dirty="0"/>
                    </a:p>
                    <a:p>
                      <a:pPr indent="0" marL="0">
                        <a:buNone/>
                      </a:pPr>
                      <a:r>
                        <a:rPr lang="en-US" sz="1150" dirty="0">
                          <a:solidFill>
                            <a:srgbClr val="586275"/>
                          </a:solidFill>
                        </a:rPr>
                        <a:t>Free-text account matched as a pattern; Apply defaults to network-prod; my-zone.com and my.zone.com collide.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A forgotten default targets production (approval still applies); a colliding zone is skipped silently.</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Account dropdown with no production default; exact registry match; fail on stack-ID collisions.</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16</a:t>
                      </a:r>
                      <a:endParaRPr lang="en-US" sz="150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100" b="1" dirty="0">
                          <a:solidFill>
                            <a:srgbClr val="66728A"/>
                          </a:solidFill>
                        </a:rPr>
                        <a:t>Low</a:t>
                      </a:r>
                      <a:endParaRPr lang="en-US" sz="1250" dirty="0"/>
                    </a:p>
                    <a:p>
                      <a:pPr indent="0" marL="0">
                        <a:buNone/>
                      </a:pPr>
                      <a:r>
                        <a:rPr lang="en-US" sz="1300" b="1" dirty="0">
                          <a:solidFill>
                            <a:srgbClr val="131925"/>
                          </a:solidFill>
                        </a:rPr>
                        <a:t>Workflow hygiene</a:t>
                      </a:r>
                      <a:endParaRPr lang="en-US" sz="1250" dirty="0"/>
                    </a:p>
                    <a:p>
                      <a:pPr indent="0" marL="0">
                        <a:buNone/>
                      </a:pPr>
                      <a:r>
                        <a:rPr lang="en-US" sz="1150" dirty="0">
                          <a:solidFill>
                            <a:srgbClr val="586275"/>
                          </a:solidFill>
                        </a:rPr>
                        <a:t>Direct ${{ }} use in run steps, no top-level permissions in Export, Node 20-era actions, unpinned boto3.</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Nothing exploitable today, but each gap widens as the workflows change.</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250" dirty="0">
                          <a:solidFill>
                            <a:srgbClr val="131925"/>
                          </a:solidFill>
                        </a:rPr>
                        <a:t>Use env: everywhere, add permissions, move to current pinned actions, pin boto3.</a:t>
                      </a:r>
                      <a:endParaRPr lang="en-US" sz="1250" dirty="0"/>
                    </a:p>
                  </a:txBody>
                  <a:tcPr marL="114300" marR="114300" marT="114300" marB="114300" anchor="t">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Custom scripts or CloudFormation for DNS records</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Calling Route 53 from boto3 is fully supported by AWS; what matters is what the engine around those calls provides</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743200"/>
                <a:gridCol w="4114800"/>
                <a:gridCol w="4233672"/>
              </a:tblGrid>
              <a:tr h="0">
                <a:tc>
                  <a:txBody>
                    <a:bodyPr/>
                    <a:lstStyle/>
                    <a:p>
                      <a:pPr indent="0" marL="0">
                        <a:buNone/>
                      </a:pPr>
                      <a:r>
                        <a:rPr lang="en-US" sz="1050" b="1" dirty="0">
                          <a:solidFill>
                            <a:srgbClr val="586275"/>
                          </a:solidFill>
                        </a:rPr>
                        <a:t>Capability</a:t>
                      </a:r>
                      <a:endParaRPr lang="en-US" sz="10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boto3 scripts today</a:t>
                      </a:r>
                      <a:endParaRPr lang="en-US" sz="10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CloudFormation stack per zone</a:t>
                      </a:r>
                      <a:endParaRPr lang="en-US" sz="10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indent="0" marL="0">
                        <a:buNone/>
                      </a:pPr>
                      <a:r>
                        <a:rPr lang="en-US" sz="1350" b="1" dirty="0">
                          <a:solidFill>
                            <a:srgbClr val="131925"/>
                          </a:solidFill>
                        </a:rPr>
                        <a:t>Knows which records it owns</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No; anything in the zone can be changed or deleted</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Yes; it only touches records in its stack</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Runs exactly what was reviewed</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No; the change is worked out again after approval</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Yes; an approved change set runs as reviewed</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Failure part-way through</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BF8418"/>
                          </a:solidFill>
                        </a:rPr>
                        <a:t>●  </a:t>
                      </a:r>
                      <a:pPr indent="0" marL="0">
                        <a:buNone/>
                      </a:pPr>
                      <a:r>
                        <a:rPr lang="en-US" sz="1350" dirty="0">
                          <a:solidFill>
                            <a:srgbClr val="131925"/>
                          </a:solidFill>
                        </a:rPr>
                        <a:t>Up to the script; each Route 53 batch is all-or-nothing</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The stack rolls back automatically</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ALIAS records</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Not supported; left to CloudFormation</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Supported</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Drift detection</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None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BF8418"/>
                          </a:solidFill>
                        </a:rPr>
                        <a:t>●  </a:t>
                      </a:r>
                      <a:pPr indent="0" marL="0">
                        <a:buNone/>
                      </a:pPr>
                      <a:r>
                        <a:rPr lang="en-US" sz="1350" dirty="0">
                          <a:solidFill>
                            <a:srgbClr val="131925"/>
                          </a:solidFill>
                        </a:rPr>
                        <a:t>Confirm record-set support; keep a scheduled comparison either way</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Taking over existing records</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Already in place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C93A32"/>
                          </a:solidFill>
                        </a:rPr>
                        <a:t>●  </a:t>
                      </a:r>
                      <a:pPr indent="0" marL="0">
                        <a:buNone/>
                      </a:pPr>
                      <a:r>
                        <a:rPr lang="en-US" sz="1350" dirty="0">
                          <a:solidFill>
                            <a:srgbClr val="A1332C"/>
                          </a:solidFill>
                        </a:rPr>
                        <a:t>Record sets can't be imported; plan a cutover per zone</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indent="0" marL="0">
                        <a:buNone/>
                      </a:pPr>
                      <a:r>
                        <a:rPr lang="en-US" sz="1350" b="1" dirty="0">
                          <a:solidFill>
                            <a:srgbClr val="131925"/>
                          </a:solidFill>
                        </a:rPr>
                        <a:t>Fits the other pipelines</a:t>
                      </a:r>
                      <a:endParaRPr lang="en-US" sz="135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BF8418"/>
                          </a:solidFill>
                        </a:rPr>
                        <a:t>●  </a:t>
                      </a:r>
                      <a:pPr indent="0" marL="0">
                        <a:buNone/>
                      </a:pPr>
                      <a:r>
                        <a:rPr lang="en-US" sz="1350" dirty="0">
                          <a:solidFill>
                            <a:srgbClr val="131925"/>
                          </a:solidFill>
                        </a:rPr>
                        <a:t>Separate workflows and scripts</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50" dirty="0">
                          <a:solidFill>
                            <a:srgbClr val="2E8946"/>
                          </a:solidFill>
                        </a:rPr>
                        <a:t>●  </a:t>
                      </a:r>
                      <a:pPr indent="0" marL="0">
                        <a:buNone/>
                      </a:pPr>
                      <a:r>
                        <a:rPr lang="en-US" sz="1350" dirty="0">
                          <a:solidFill>
                            <a:srgbClr val="131925"/>
                          </a:solidFill>
                        </a:rPr>
                        <a:t>Same change set and approval flow as other stacks</a:t>
                      </a:r>
                      <a:endParaRPr lang="en-US" sz="1200" dirty="0"/>
                    </a:p>
                  </a:txBody>
                  <a:tcPr marL="127000" marR="127000" marT="127000" marB="1270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Recommended next steps</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Short, low-risk changes first; the bigger DNS decision once drift is visible</a:t>
            </a:r>
            <a:endParaRPr lang="en-US" sz="1400" dirty="0"/>
          </a:p>
        </p:txBody>
      </p:sp>
      <p:sp>
        <p:nvSpPr>
          <p:cNvPr id="5" name="Shape 2"/>
          <p:cNvSpPr/>
          <p:nvPr/>
        </p:nvSpPr>
        <p:spPr>
          <a:xfrm>
            <a:off x="548640" y="1481328"/>
            <a:ext cx="5413248" cy="4709160"/>
          </a:xfrm>
          <a:prstGeom prst="roundRect">
            <a:avLst>
              <a:gd name="adj" fmla="val 2330"/>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6" name="Shape 3"/>
          <p:cNvSpPr/>
          <p:nvPr/>
        </p:nvSpPr>
        <p:spPr>
          <a:xfrm>
            <a:off x="804672" y="1682496"/>
            <a:ext cx="493776" cy="493776"/>
          </a:xfrm>
          <a:prstGeom prst="ellipse">
            <a:avLst/>
          </a:prstGeom>
          <a:solidFill>
            <a:srgbClr val="16243A"/>
          </a:solidFill>
          <a:ln w="6350">
            <a:solidFill>
              <a:srgbClr val="16243A"/>
            </a:solidFill>
            <a:prstDash val="solid"/>
          </a:ln>
        </p:spPr>
      </p:sp>
      <p:pic>
        <p:nvPicPr>
          <p:cNvPr id="7" name="Image 0" descr="Icon">    </p:cNvPr>
          <p:cNvPicPr>
            <a:picLocks noChangeAspect="1"/>
          </p:cNvPicPr>
          <p:nvPr/>
        </p:nvPicPr>
        <p:blipFill>
          <a:blip r:embed="rId1"/>
          <a:stretch>
            <a:fillRect/>
          </a:stretch>
        </p:blipFill>
        <p:spPr>
          <a:xfrm>
            <a:off x="923178" y="1801002"/>
            <a:ext cx="256764" cy="256764"/>
          </a:xfrm>
          <a:prstGeom prst="rect">
            <a:avLst/>
          </a:prstGeom>
        </p:spPr>
      </p:pic>
      <p:sp>
        <p:nvSpPr>
          <p:cNvPr id="8" name="Text 4"/>
          <p:cNvSpPr txBox="1"/>
          <p:nvPr/>
        </p:nvSpPr>
        <p:spPr>
          <a:xfrm>
            <a:off x="1444752" y="1682496"/>
            <a:ext cx="4206240" cy="493776"/>
          </a:xfrm>
          <a:prstGeom prst="rect">
            <a:avLst/>
          </a:prstGeom>
          <a:noFill/>
          <a:ln/>
        </p:spPr>
        <p:txBody>
          <a:bodyPr wrap="square" lIns="0" tIns="0" rIns="0" bIns="0" rtlCol="0" anchor="ctr"/>
          <a:lstStyle/>
          <a:p>
            <a:pPr indent="0" marL="0">
              <a:buNone/>
            </a:pPr>
            <a:r>
              <a:rPr lang="en-US" sz="2000" b="1" dirty="0">
                <a:solidFill>
                  <a:srgbClr val="16243A"/>
                </a:solidFill>
              </a:rPr>
              <a:t>CloudFormation</a:t>
            </a:r>
            <a:endParaRPr lang="en-US" sz="2000" dirty="0"/>
          </a:p>
        </p:txBody>
      </p:sp>
      <p:sp>
        <p:nvSpPr>
          <p:cNvPr id="9" name="Text 5"/>
          <p:cNvSpPr txBox="1"/>
          <p:nvPr/>
        </p:nvSpPr>
        <p:spPr>
          <a:xfrm>
            <a:off x="822960" y="251460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1</a:t>
            </a:r>
            <a:endParaRPr lang="en-US" sz="1500" dirty="0"/>
          </a:p>
        </p:txBody>
      </p:sp>
      <p:sp>
        <p:nvSpPr>
          <p:cNvPr id="10" name="Text 6"/>
          <p:cNvSpPr txBox="1"/>
          <p:nvPr/>
        </p:nvSpPr>
        <p:spPr>
          <a:xfrm>
            <a:off x="1444752" y="249631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Set up</a:t>
            </a:r>
            <a:endParaRPr lang="en-US" sz="1500" dirty="0"/>
          </a:p>
        </p:txBody>
      </p:sp>
      <p:sp>
        <p:nvSpPr>
          <p:cNvPr id="11" name="Text 7"/>
          <p:cNvSpPr txBox="1"/>
          <p:nvPr/>
        </p:nvSpPr>
        <p:spPr>
          <a:xfrm>
            <a:off x="1444752" y="2825496"/>
            <a:ext cx="4251960" cy="731520"/>
          </a:xfrm>
          <a:prstGeom prst="rect">
            <a:avLst/>
          </a:prstGeom>
          <a:noFill/>
          <a:ln/>
        </p:spPr>
        <p:txBody>
          <a:bodyPr wrap="square" lIns="0" tIns="0" rIns="0" bIns="0" rtlCol="0" anchor="t"/>
          <a:lstStyle/>
          <a:p>
            <a:pPr indent="0" marL="0">
              <a:buNone/>
            </a:pPr>
            <a:r>
              <a:rPr lang="en-US" sz="1350" dirty="0">
                <a:solidFill>
                  <a:srgbClr val="131925"/>
                </a:solidFill>
              </a:rPr>
              <a:t>Deploy the support stack; add the SES sender, CFN_PIPELINE_SERVICES_ROLE and, optionally, KIRO_API_KEY.</a:t>
            </a:r>
            <a:endParaRPr lang="en-US" sz="1350" dirty="0"/>
          </a:p>
        </p:txBody>
      </p:sp>
      <p:sp>
        <p:nvSpPr>
          <p:cNvPr id="12" name="Text 8"/>
          <p:cNvSpPr txBox="1"/>
          <p:nvPr/>
        </p:nvSpPr>
        <p:spPr>
          <a:xfrm>
            <a:off x="822960" y="3721608"/>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2</a:t>
            </a:r>
            <a:endParaRPr lang="en-US" sz="1500" dirty="0"/>
          </a:p>
        </p:txBody>
      </p:sp>
      <p:sp>
        <p:nvSpPr>
          <p:cNvPr id="13" name="Text 9"/>
          <p:cNvSpPr txBox="1"/>
          <p:nvPr/>
        </p:nvSpPr>
        <p:spPr>
          <a:xfrm>
            <a:off x="1444752" y="3703320"/>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Trial</a:t>
            </a:r>
            <a:endParaRPr lang="en-US" sz="1500" dirty="0"/>
          </a:p>
        </p:txBody>
      </p:sp>
      <p:sp>
        <p:nvSpPr>
          <p:cNvPr id="14" name="Text 10"/>
          <p:cNvSpPr txBox="1"/>
          <p:nvPr/>
        </p:nvSpPr>
        <p:spPr>
          <a:xfrm>
            <a:off x="1444752" y="4032504"/>
            <a:ext cx="4251960" cy="731520"/>
          </a:xfrm>
          <a:prstGeom prst="rect">
            <a:avLst/>
          </a:prstGeom>
          <a:noFill/>
          <a:ln/>
        </p:spPr>
        <p:txBody>
          <a:bodyPr wrap="square" lIns="0" tIns="0" rIns="0" bIns="0" rtlCol="0" anchor="t"/>
          <a:lstStyle/>
          <a:p>
            <a:pPr indent="0" marL="0">
              <a:buNone/>
            </a:pPr>
            <a:r>
              <a:rPr lang="en-US" sz="1350" dirty="0">
                <a:solidFill>
                  <a:srgbClr val="131925"/>
                </a:solidFill>
              </a:rPr>
              <a:t>Run the proposed pipeline beside the current workflow on a sandbox stack, including the drift demo.</a:t>
            </a:r>
            <a:endParaRPr lang="en-US" sz="1350" dirty="0"/>
          </a:p>
        </p:txBody>
      </p:sp>
      <p:sp>
        <p:nvSpPr>
          <p:cNvPr id="15" name="Text 11"/>
          <p:cNvSpPr txBox="1"/>
          <p:nvPr/>
        </p:nvSpPr>
        <p:spPr>
          <a:xfrm>
            <a:off x="822960" y="4928616"/>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3</a:t>
            </a:r>
            <a:endParaRPr lang="en-US" sz="1500" dirty="0"/>
          </a:p>
        </p:txBody>
      </p:sp>
      <p:sp>
        <p:nvSpPr>
          <p:cNvPr id="16" name="Text 12"/>
          <p:cNvSpPr txBox="1"/>
          <p:nvPr/>
        </p:nvSpPr>
        <p:spPr>
          <a:xfrm>
            <a:off x="1444752" y="4910328"/>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Switch</a:t>
            </a:r>
            <a:endParaRPr lang="en-US" sz="1500" dirty="0"/>
          </a:p>
        </p:txBody>
      </p:sp>
      <p:sp>
        <p:nvSpPr>
          <p:cNvPr id="17" name="Text 13"/>
          <p:cNvSpPr txBox="1"/>
          <p:nvPr/>
        </p:nvSpPr>
        <p:spPr>
          <a:xfrm>
            <a:off x="1444752" y="5239512"/>
            <a:ext cx="4251960" cy="731520"/>
          </a:xfrm>
          <a:prstGeom prst="rect">
            <a:avLst/>
          </a:prstGeom>
          <a:noFill/>
          <a:ln/>
        </p:spPr>
        <p:txBody>
          <a:bodyPr wrap="square" lIns="0" tIns="0" rIns="0" bIns="0" rtlCol="0" anchor="t"/>
          <a:lstStyle/>
          <a:p>
            <a:pPr indent="0" marL="0">
              <a:buNone/>
            </a:pPr>
            <a:r>
              <a:rPr lang="en-US" sz="1350" dirty="0">
                <a:solidFill>
                  <a:srgbClr val="131925"/>
                </a:solidFill>
              </a:rPr>
              <a:t>Move production stacks across, then retire latest_cft_deployment.yml.</a:t>
            </a:r>
            <a:endParaRPr lang="en-US" sz="1350" dirty="0"/>
          </a:p>
        </p:txBody>
      </p:sp>
      <p:sp>
        <p:nvSpPr>
          <p:cNvPr id="18" name="Shape 14"/>
          <p:cNvSpPr/>
          <p:nvPr/>
        </p:nvSpPr>
        <p:spPr>
          <a:xfrm>
            <a:off x="6227064" y="1481328"/>
            <a:ext cx="5413248" cy="4709160"/>
          </a:xfrm>
          <a:prstGeom prst="roundRect">
            <a:avLst>
              <a:gd name="adj" fmla="val 2330"/>
            </a:avLst>
          </a:prstGeom>
          <a:solidFill>
            <a:srgbClr val="FFFFFF"/>
          </a:solidFill>
          <a:ln w="12700">
            <a:solidFill>
              <a:srgbClr val="DCE1E9"/>
            </a:solidFill>
            <a:prstDash val="solid"/>
          </a:ln>
          <a:effectLst>
            <a:outerShdw sx="100000" sy="100000" kx="0" ky="0" algn="bl" rotWithShape="0" blurRad="76200" dist="25400" dir="5400000">
              <a:srgbClr val="1B2A41">
                <a:alpha val="10000"/>
              </a:srgbClr>
            </a:outerShdw>
          </a:effectLst>
        </p:spPr>
      </p:sp>
      <p:sp>
        <p:nvSpPr>
          <p:cNvPr id="19" name="Shape 15"/>
          <p:cNvSpPr/>
          <p:nvPr/>
        </p:nvSpPr>
        <p:spPr>
          <a:xfrm>
            <a:off x="6483096" y="1682496"/>
            <a:ext cx="493776" cy="493776"/>
          </a:xfrm>
          <a:prstGeom prst="ellipse">
            <a:avLst/>
          </a:prstGeom>
          <a:solidFill>
            <a:srgbClr val="16243A"/>
          </a:solidFill>
          <a:ln w="6350">
            <a:solidFill>
              <a:srgbClr val="16243A"/>
            </a:solidFill>
            <a:prstDash val="solid"/>
          </a:ln>
        </p:spPr>
      </p:sp>
      <p:pic>
        <p:nvPicPr>
          <p:cNvPr id="20" name="Image 1" descr="Icon">    </p:cNvPr>
          <p:cNvPicPr>
            <a:picLocks noChangeAspect="1"/>
          </p:cNvPicPr>
          <p:nvPr/>
        </p:nvPicPr>
        <p:blipFill>
          <a:blip r:embed="rId2"/>
          <a:stretch>
            <a:fillRect/>
          </a:stretch>
        </p:blipFill>
        <p:spPr>
          <a:xfrm>
            <a:off x="6601602" y="1801002"/>
            <a:ext cx="256764" cy="256764"/>
          </a:xfrm>
          <a:prstGeom prst="rect">
            <a:avLst/>
          </a:prstGeom>
        </p:spPr>
      </p:pic>
      <p:sp>
        <p:nvSpPr>
          <p:cNvPr id="21" name="Text 16"/>
          <p:cNvSpPr txBox="1"/>
          <p:nvPr/>
        </p:nvSpPr>
        <p:spPr>
          <a:xfrm>
            <a:off x="7123176" y="1682496"/>
            <a:ext cx="4206240" cy="493776"/>
          </a:xfrm>
          <a:prstGeom prst="rect">
            <a:avLst/>
          </a:prstGeom>
          <a:noFill/>
          <a:ln/>
        </p:spPr>
        <p:txBody>
          <a:bodyPr wrap="square" lIns="0" tIns="0" rIns="0" bIns="0" rtlCol="0" anchor="ctr"/>
          <a:lstStyle/>
          <a:p>
            <a:pPr indent="0" marL="0">
              <a:buNone/>
            </a:pPr>
            <a:r>
              <a:rPr lang="en-US" sz="2000" b="1" dirty="0">
                <a:solidFill>
                  <a:srgbClr val="16243A"/>
                </a:solidFill>
              </a:rPr>
              <a:t>DNS record pipelines</a:t>
            </a:r>
            <a:endParaRPr lang="en-US" sz="2000" dirty="0"/>
          </a:p>
        </p:txBody>
      </p:sp>
      <p:sp>
        <p:nvSpPr>
          <p:cNvPr id="22" name="Text 17"/>
          <p:cNvSpPr txBox="1"/>
          <p:nvPr/>
        </p:nvSpPr>
        <p:spPr>
          <a:xfrm>
            <a:off x="6501384" y="2514600"/>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1</a:t>
            </a:r>
            <a:endParaRPr lang="en-US" sz="1500" dirty="0"/>
          </a:p>
        </p:txBody>
      </p:sp>
      <p:sp>
        <p:nvSpPr>
          <p:cNvPr id="23" name="Text 18"/>
          <p:cNvSpPr txBox="1"/>
          <p:nvPr/>
        </p:nvSpPr>
        <p:spPr>
          <a:xfrm>
            <a:off x="7123176" y="2496312"/>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Fix</a:t>
            </a:r>
            <a:endParaRPr lang="en-US" sz="1500" dirty="0"/>
          </a:p>
        </p:txBody>
      </p:sp>
      <p:sp>
        <p:nvSpPr>
          <p:cNvPr id="24" name="Text 19"/>
          <p:cNvSpPr txBox="1"/>
          <p:nvPr/>
        </p:nvSpPr>
        <p:spPr>
          <a:xfrm>
            <a:off x="7123176" y="2825496"/>
            <a:ext cx="4251960" cy="731520"/>
          </a:xfrm>
          <a:prstGeom prst="rect">
            <a:avLst/>
          </a:prstGeom>
          <a:noFill/>
          <a:ln/>
        </p:spPr>
        <p:txBody>
          <a:bodyPr wrap="square" lIns="0" tIns="0" rIns="0" bIns="0" rtlCol="0" anchor="t"/>
          <a:lstStyle/>
          <a:p>
            <a:pPr indent="0" marL="0">
              <a:buNone/>
            </a:pPr>
            <a:r>
              <a:rPr lang="en-US" sz="1350" dirty="0">
                <a:solidFill>
                  <a:srgbClr val="131925"/>
                </a:solidFill>
              </a:rPr>
              <a:t>Close risks 1, 2, 4, 5 and 6 in the current workflows; most are small changes.</a:t>
            </a:r>
            <a:endParaRPr lang="en-US" sz="1350" dirty="0"/>
          </a:p>
        </p:txBody>
      </p:sp>
      <p:sp>
        <p:nvSpPr>
          <p:cNvPr id="25" name="Text 20"/>
          <p:cNvSpPr txBox="1"/>
          <p:nvPr/>
        </p:nvSpPr>
        <p:spPr>
          <a:xfrm>
            <a:off x="6501384" y="3721608"/>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2</a:t>
            </a:r>
            <a:endParaRPr lang="en-US" sz="1500" dirty="0"/>
          </a:p>
        </p:txBody>
      </p:sp>
      <p:sp>
        <p:nvSpPr>
          <p:cNvPr id="26" name="Text 21"/>
          <p:cNvSpPr txBox="1"/>
          <p:nvPr/>
        </p:nvSpPr>
        <p:spPr>
          <a:xfrm>
            <a:off x="7123176" y="3703320"/>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See drift</a:t>
            </a:r>
            <a:endParaRPr lang="en-US" sz="1500" dirty="0"/>
          </a:p>
        </p:txBody>
      </p:sp>
      <p:sp>
        <p:nvSpPr>
          <p:cNvPr id="27" name="Text 22"/>
          <p:cNvSpPr txBox="1"/>
          <p:nvPr/>
        </p:nvSpPr>
        <p:spPr>
          <a:xfrm>
            <a:off x="7123176" y="4032504"/>
            <a:ext cx="4251960" cy="731520"/>
          </a:xfrm>
          <a:prstGeom prst="rect">
            <a:avLst/>
          </a:prstGeom>
          <a:noFill/>
          <a:ln/>
        </p:spPr>
        <p:txBody>
          <a:bodyPr wrap="square" lIns="0" tIns="0" rIns="0" bIns="0" rtlCol="0" anchor="t"/>
          <a:lstStyle/>
          <a:p>
            <a:pPr indent="0" marL="0">
              <a:buNone/>
            </a:pPr>
            <a:r>
              <a:rPr lang="en-US" sz="1350" dirty="0">
                <a:solidFill>
                  <a:srgbClr val="131925"/>
                </a:solidFill>
              </a:rPr>
              <a:t>Add the scheduled drift comparison and canonical export output (risks 3 and 8).</a:t>
            </a:r>
            <a:endParaRPr lang="en-US" sz="1350" dirty="0"/>
          </a:p>
        </p:txBody>
      </p:sp>
      <p:sp>
        <p:nvSpPr>
          <p:cNvPr id="28" name="Text 23"/>
          <p:cNvSpPr txBox="1"/>
          <p:nvPr/>
        </p:nvSpPr>
        <p:spPr>
          <a:xfrm>
            <a:off x="6501384" y="4928616"/>
            <a:ext cx="420624" cy="420624"/>
          </a:xfrm>
          <a:prstGeom prst="ellipse">
            <a:avLst/>
          </a:prstGeom>
          <a:solidFill>
            <a:srgbClr val="EAF0FD"/>
          </a:solidFill>
          <a:ln w="6350">
            <a:solidFill>
              <a:srgbClr val="EAF0FD"/>
            </a:solidFill>
          </a:ln>
        </p:spPr>
        <p:txBody>
          <a:bodyPr wrap="square" lIns="0" tIns="0" rIns="0" bIns="0" rtlCol="0" anchor="ctr"/>
          <a:lstStyle/>
          <a:p>
            <a:pPr algn="ctr" indent="0" marL="0">
              <a:buNone/>
            </a:pPr>
            <a:r>
              <a:rPr lang="en-US" sz="1500" b="1" dirty="0">
                <a:solidFill>
                  <a:srgbClr val="173A8F"/>
                </a:solidFill>
              </a:rPr>
              <a:t>3</a:t>
            </a:r>
            <a:endParaRPr lang="en-US" sz="1500" dirty="0"/>
          </a:p>
        </p:txBody>
      </p:sp>
      <p:sp>
        <p:nvSpPr>
          <p:cNvPr id="29" name="Text 24"/>
          <p:cNvSpPr txBox="1"/>
          <p:nvPr/>
        </p:nvSpPr>
        <p:spPr>
          <a:xfrm>
            <a:off x="7123176" y="4910328"/>
            <a:ext cx="4206240" cy="310896"/>
          </a:xfrm>
          <a:prstGeom prst="rect">
            <a:avLst/>
          </a:prstGeom>
          <a:noFill/>
          <a:ln/>
        </p:spPr>
        <p:txBody>
          <a:bodyPr wrap="square" lIns="0" tIns="0" rIns="0" bIns="0" rtlCol="0" anchor="ctr"/>
          <a:lstStyle/>
          <a:p>
            <a:pPr indent="0" marL="0">
              <a:buNone/>
            </a:pPr>
            <a:r>
              <a:rPr lang="en-US" sz="1500" b="1" dirty="0">
                <a:solidFill>
                  <a:srgbClr val="16243A"/>
                </a:solidFill>
              </a:rPr>
              <a:t>Decide</a:t>
            </a:r>
            <a:endParaRPr lang="en-US" sz="1500" dirty="0"/>
          </a:p>
        </p:txBody>
      </p:sp>
      <p:sp>
        <p:nvSpPr>
          <p:cNvPr id="30" name="Text 25"/>
          <p:cNvSpPr txBox="1"/>
          <p:nvPr/>
        </p:nvSpPr>
        <p:spPr>
          <a:xfrm>
            <a:off x="7123176" y="5239512"/>
            <a:ext cx="4251960" cy="731520"/>
          </a:xfrm>
          <a:prstGeom prst="rect">
            <a:avLst/>
          </a:prstGeom>
          <a:noFill/>
          <a:ln/>
        </p:spPr>
        <p:txBody>
          <a:bodyPr wrap="square" lIns="0" tIns="0" rIns="0" bIns="0" rtlCol="0" anchor="t"/>
          <a:lstStyle/>
          <a:p>
            <a:pPr indent="0" marL="0">
              <a:buNone/>
            </a:pPr>
            <a:r>
              <a:rPr lang="en-US" sz="1350" dirty="0">
                <a:solidFill>
                  <a:srgbClr val="131925"/>
                </a:solidFill>
              </a:rPr>
              <a:t>Choose one owner per zone: CloudFormation stacks per zone, or completed scripts.</a:t>
            </a:r>
            <a:endParaRPr lang="en-US" sz="13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658368"/>
          </a:xfrm>
          <a:prstGeom prst="rect">
            <a:avLst/>
          </a:prstGeom>
          <a:noFill/>
          <a:ln/>
        </p:spPr>
        <p:txBody>
          <a:bodyPr wrap="square" lIns="0" tIns="0" rIns="0" bIns="0" rtlCol="0" anchor="ctr"/>
          <a:lstStyle/>
          <a:p>
            <a:pPr algn="l" indent="0" marL="0">
              <a:buNone/>
            </a:pPr>
            <a:r>
              <a:rPr lang="en-US" sz="3200" b="1" dirty="0">
                <a:solidFill>
                  <a:schemeClr val="tx2"/>
                </a:solidFill>
              </a:rPr>
              <a:t>Open items to confirm</a:t>
            </a:r>
            <a:endParaRPr lang="en-US" sz="3200" dirty="0"/>
          </a:p>
        </p:txBody>
      </p:sp>
      <p:sp>
        <p:nvSpPr>
          <p:cNvPr id="3" name="Text 0"/>
          <p:cNvSpPr/>
          <p:nvPr>
            <p:ph idx="101" type="body" hasCustomPrompt="1"/>
          </p:nvPr>
        </p:nvSpPr>
        <p:spPr>
          <a:xfrm>
            <a:off x="548640" y="914400"/>
            <a:ext cx="11091672" cy="384048"/>
          </a:xfrm>
          <a:prstGeom prst="rect">
            <a:avLst/>
          </a:prstGeom>
          <a:noFill/>
          <a:ln/>
        </p:spPr>
        <p:txBody>
          <a:bodyPr wrap="square" lIns="0" tIns="0" rIns="0" bIns="0" rtlCol="0" anchor="t"/>
          <a:lstStyle/>
          <a:p>
            <a:pPr indent="0" marL="0">
              <a:buNone/>
            </a:pPr>
            <a:r>
              <a:rPr lang="en-US" sz="1400" dirty="0">
                <a:solidFill>
                  <a:srgbClr val="586275"/>
                </a:solidFill>
              </a:rPr>
              <a:t>Each depends on code or settings outside the workflow files and takes minutes to check</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731520"/>
                <a:gridCol w="6675120"/>
                <a:gridCol w="3685032"/>
              </a:tblGrid>
              <a:tr h="0">
                <a:tc>
                  <a:txBody>
                    <a:bodyPr/>
                    <a:lstStyle/>
                    <a:p>
                      <a:pPr indent="0" marL="0">
                        <a:buNone/>
                      </a:pPr>
                      <a:r>
                        <a:rPr lang="en-US" sz="1050" b="1" dirty="0">
                          <a:solidFill>
                            <a:srgbClr val="586275"/>
                          </a:solidFill>
                        </a:rPr>
                        <a:t>Risk</a:t>
                      </a:r>
                      <a:endParaRPr lang="en-US" sz="105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Question</a:t>
                      </a:r>
                      <a:endParaRPr lang="en-US" sz="105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c>
                  <a:txBody>
                    <a:bodyPr/>
                    <a:lstStyle/>
                    <a:p>
                      <a:pPr indent="0" marL="0">
                        <a:buNone/>
                      </a:pPr>
                      <a:r>
                        <a:rPr lang="en-US" sz="1050" b="1" dirty="0">
                          <a:solidFill>
                            <a:srgbClr val="586275"/>
                          </a:solidFill>
                        </a:rPr>
                        <a:t>Where to look</a:t>
                      </a:r>
                      <a:endParaRPr lang="en-US" sz="105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solidFill>
                      <a:srgbClr val="EEF1F6"/>
                    </a:solidFill>
                  </a:tcPr>
                </a:tc>
              </a:tr>
              <a:tr h="0">
                <a:tc>
                  <a:txBody>
                    <a:bodyPr/>
                    <a:lstStyle/>
                    <a:p>
                      <a:pPr algn="ctr" indent="0" marL="0">
                        <a:buNone/>
                      </a:pPr>
                      <a:r>
                        <a:rPr lang="en-US" sz="1500" b="1" dirty="0">
                          <a:solidFill>
                            <a:srgbClr val="C93A32"/>
                          </a:solidFill>
                        </a:rPr>
                        <a:t>2</a:t>
                      </a:r>
                      <a:endParaRPr lang="en-US" sz="15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400" dirty="0">
                          <a:solidFill>
                            <a:srgbClr val="131925"/>
                          </a:solidFill>
                        </a:rPr>
                        <a:t>Does the apply script skip ALIAS, SOA, apex NS and ACM validation records when deleting?</a:t>
                      </a:r>
                      <a:endParaRPr lang="en-US" sz="14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586275"/>
                          </a:solidFill>
                        </a:rPr>
                        <a:t>pipeline/dns_records_apply.py</a:t>
                      </a:r>
                      <a:endParaRPr lang="en-US" sz="13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4</a:t>
                      </a:r>
                      <a:endParaRPr lang="en-US" sz="15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400" dirty="0">
                          <a:solidFill>
                            <a:srgbClr val="131925"/>
                          </a:solidFill>
                        </a:rPr>
                        <a:t>How does the apply script pick the zone when one name matches a public and a private zone?</a:t>
                      </a:r>
                      <a:endParaRPr lang="en-US" sz="14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586275"/>
                          </a:solidFill>
                        </a:rPr>
                        <a:t>pipeline/dns_records_apply.py</a:t>
                      </a:r>
                      <a:endParaRPr lang="en-US" sz="13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5</a:t>
                      </a:r>
                      <a:endParaRPr lang="en-US" sz="15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400" dirty="0">
                          <a:solidFill>
                            <a:srgbClr val="131925"/>
                          </a:solidFill>
                        </a:rPr>
                        <a:t>Does the deploy role trust any branch? Does the production environment allow only main?</a:t>
                      </a:r>
                      <a:endParaRPr lang="en-US" sz="14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586275"/>
                          </a:solidFill>
                        </a:rPr>
                        <a:t>IAM role trust policy; GitHub environment settings</a:t>
                      </a:r>
                      <a:endParaRPr lang="en-US" sz="13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6</a:t>
                      </a:r>
                      <a:endParaRPr lang="en-US" sz="15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400" dirty="0">
                          <a:solidFill>
                            <a:srgbClr val="131925"/>
                          </a:solidFill>
                        </a:rPr>
                        <a:t>Does the apply script read the DRY_RUN environment variable?</a:t>
                      </a:r>
                      <a:endParaRPr lang="en-US" sz="14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586275"/>
                          </a:solidFill>
                        </a:rPr>
                        <a:t>pipeline/dns_records_apply.py</a:t>
                      </a:r>
                      <a:endParaRPr lang="en-US" sz="13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12</a:t>
                      </a:r>
                      <a:endParaRPr lang="en-US" sz="15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400" dirty="0">
                          <a:solidFill>
                            <a:srgbClr val="131925"/>
                          </a:solidFill>
                        </a:rPr>
                        <a:t>Does the apply script wait for INSYNC or compare again after applying?</a:t>
                      </a:r>
                      <a:endParaRPr lang="en-US" sz="14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586275"/>
                          </a:solidFill>
                        </a:rPr>
                        <a:t>pipeline/dns_records_apply.py</a:t>
                      </a:r>
                      <a:endParaRPr lang="en-US" sz="13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8</a:t>
                      </a:r>
                      <a:endParaRPr lang="en-US" sz="15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400" dirty="0">
                          <a:solidFill>
                            <a:srgbClr val="131925"/>
                          </a:solidFill>
                        </a:rPr>
                        <a:t>Do two exports of an unchanged zone produce identical files?</a:t>
                      </a:r>
                      <a:endParaRPr lang="en-US" sz="14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586275"/>
                          </a:solidFill>
                        </a:rPr>
                        <a:t>pipeline/dns_records_export.py; run it twice</a:t>
                      </a:r>
                      <a:endParaRPr lang="en-US" sz="13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r h="0">
                <a:tc>
                  <a:txBody>
                    <a:bodyPr/>
                    <a:lstStyle/>
                    <a:p>
                      <a:pPr algn="ctr" indent="0" marL="0">
                        <a:buNone/>
                      </a:pPr>
                      <a:r>
                        <a:rPr lang="en-US" sz="1500" b="1" dirty="0">
                          <a:solidFill>
                            <a:srgbClr val="C93A32"/>
                          </a:solidFill>
                        </a:rPr>
                        <a:t>—</a:t>
                      </a:r>
                      <a:endParaRPr lang="en-US" sz="15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400" dirty="0">
                          <a:solidFill>
                            <a:srgbClr val="131925"/>
                          </a:solidFill>
                        </a:rPr>
                        <a:t>Does CloudFormation drift detection cover Route 53 record sets?</a:t>
                      </a:r>
                      <a:endParaRPr lang="en-US" sz="14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c>
                  <a:txBody>
                    <a:bodyPr/>
                    <a:lstStyle/>
                    <a:p>
                      <a:pPr indent="0" marL="0">
                        <a:buNone/>
                      </a:pPr>
                      <a:r>
                        <a:rPr lang="en-US" sz="1300" dirty="0">
                          <a:solidFill>
                            <a:srgbClr val="586275"/>
                          </a:solidFill>
                        </a:rPr>
                        <a:t>CloudFormation resource type support table</a:t>
                      </a:r>
                      <a:endParaRPr lang="en-US" sz="1300" dirty="0"/>
                    </a:p>
                  </a:txBody>
                  <a:tcPr marL="127000" marR="127000" marT="114300" marB="114300" anchor="ctr">
                    <a:lnL w="9525" cap="flat" cmpd="sng" algn="ctr">
                      <a:solidFill>
                        <a:srgbClr val="DCE1E9"/>
                      </a:solidFill>
                      <a:prstDash val="solid"/>
                      <a:round/>
                      <a:headEnd type="none" w="med" len="med"/>
                      <a:tailEnd type="none" w="med" len="med"/>
                    </a:lnL>
                    <a:lnR w="9525" cap="flat" cmpd="sng" algn="ctr">
                      <a:solidFill>
                        <a:srgbClr val="DCE1E9"/>
                      </a:solidFill>
                      <a:prstDash val="solid"/>
                      <a:round/>
                      <a:headEnd type="none" w="med" len="med"/>
                      <a:tailEnd type="none" w="med" len="med"/>
                    </a:lnR>
                    <a:lnT w="9525" cap="flat" cmpd="sng" algn="ctr">
                      <a:solidFill>
                        <a:srgbClr val="DCE1E9"/>
                      </a:solidFill>
                      <a:prstDash val="solid"/>
                      <a:round/>
                      <a:headEnd type="none" w="med" len="med"/>
                      <a:tailEnd type="none" w="med" len="med"/>
                    </a:lnT>
                    <a:lnB w="9525" cap="flat" cmpd="sng" algn="ctr">
                      <a:solidFill>
                        <a:srgbClr val="DCE1E9"/>
                      </a:solidFill>
                      <a:prstDash val="solid"/>
                      <a:round/>
                      <a:headEnd type="none" w="med" len="med"/>
                      <a:tailEnd type="none" w="med" len="med"/>
                    </a:lnB>
                  </a:tcPr>
                </a:tc>
              </a:tr>
            </a:tbl>
          </a:graphicData>
        </a:graphic>
      </p:graphicFrame>
      <p:sp>
        <p:nvSpPr>
          <p:cNvPr id="6" name="Text 2"/>
          <p:cNvSpPr txBox="1"/>
          <p:nvPr/>
        </p:nvSpPr>
        <p:spPr>
          <a:xfrm>
            <a:off x="548640" y="5897880"/>
            <a:ext cx="11091672" cy="320040"/>
          </a:xfrm>
          <a:prstGeom prst="rect">
            <a:avLst/>
          </a:prstGeom>
          <a:noFill/>
          <a:ln/>
        </p:spPr>
        <p:txBody>
          <a:bodyPr wrap="square" lIns="0" tIns="0" rIns="0" bIns="0" rtlCol="0" anchor="ctr"/>
          <a:lstStyle/>
          <a:p>
            <a:pPr indent="0" marL="0">
              <a:buNone/>
            </a:pPr>
            <a:r>
              <a:rPr lang="en-US" sz="1050" i="1" dirty="0">
                <a:solidFill>
                  <a:srgbClr val="586275"/>
                </a:solidFill>
              </a:rPr>
              <a:t>References: CloudFormation resource type support · Route 53 API calls in CloudTrail · GitHub changelog: Node 20 removed from runners (September 2026)</a:t>
            </a:r>
            <a:endParaRPr lang="en-US" sz="1050" dirty="0"/>
          </a:p>
        </p:txBody>
      </p:sp>
      <p:sp>
        <p:nvSpPr>
          <p:cNvPr id="25" name="Slide Number Placeholder 0"/>
          <p:cNvSpPr>
            <a:spLocks noGrp="1"/>
          </p:cNvSpPr>
          <p:nvPr>
            <p:ph type="sldNum" sz="quarter" idx="4294967295"/>
          </p:nvPr>
        </p:nvSpPr>
        <p:spPr>
          <a:xfrm>
            <a:off x="11183112" y="644652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7D889B"/>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Pipeline Review">
  <a:themeElements>
    <a:clrScheme name="Pipeline Review">
      <a:dk1>
        <a:srgbClr val="131925"/>
      </a:dk1>
      <a:lt1>
        <a:srgbClr val="FFFFFF"/>
      </a:lt1>
      <a:dk2>
        <a:srgbClr val="16243A"/>
      </a:dk2>
      <a:lt2>
        <a:srgbClr val="EEF1F6"/>
      </a:lt2>
      <a:accent1>
        <a:srgbClr val="2A5BD7"/>
      </a:accent1>
      <a:accent2>
        <a:srgbClr val="22866A"/>
      </a:accent2>
      <a:accent3>
        <a:srgbClr val="BF8418"/>
      </a:accent3>
      <a:accent4>
        <a:srgbClr val="4F5ED0"/>
      </a:accent4>
      <a:accent5>
        <a:srgbClr val="2E8946"/>
      </a:accent5>
      <a:accent6>
        <a:srgbClr val="C93A32"/>
      </a:accent6>
      <a:hlink>
        <a:srgbClr val="2A5BD7"/>
      </a:hlink>
      <a:folHlink>
        <a:srgbClr val="4650A9"/>
      </a:folHlink>
    </a:clrScheme>
    <a:fontScheme name="Pipeline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Deployment pipeline review</dc:title>
  <dc:subject>CloudFormation deployment and Route 53 DNS record pipelines</dc:subject>
  <dc:creator>Platform engineering</dc:creator>
  <cp:lastModifiedBy>Platform engineering</cp:lastModifiedBy>
  <cp:revision>1</cp:revision>
  <dcterms:created xsi:type="dcterms:W3CDTF">2026-10-11T14:34:05Z</dcterms:created>
  <dcterms:modified xsi:type="dcterms:W3CDTF">2026-10-11T14:34:05Z</dcterms:modified>
</cp:coreProperties>
</file>