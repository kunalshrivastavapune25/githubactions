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98d1f9e-67e6-4112-cc2f-52bc183a55c1}">
          <p14:sldIdLst>
            <p14:sldId id="256"/>
            <p14:sldId id="257"/>
          </p14:sldIdLst>
        </p14:section>
        <p14:section name="Scenario 1 · EC2 instance" id="{6642e5da-c858-a0c2-61da-b71091416909}">
          <p14:sldIdLst>
            <p14:sldId id="258"/>
            <p14:sldId id="259"/>
            <p14:sldId id="260"/>
            <p14:sldId id="261"/>
            <p14:sldId id="262"/>
          </p14:sldIdLst>
        </p14:section>
        <p14:section name="Scenario 2 · Drifted instance" id="{524ae1bb-ddc2-9d86-e0c3-061637aeb6af}">
          <p14:sldIdLst>
            <p14:sldId id="263"/>
            <p14:sldId id="264"/>
            <p14:sldId id="265"/>
            <p14:sldId id="266"/>
            <p14:sldId id="267"/>
          </p14:sldIdLst>
        </p14:section>
        <p14:section name="Scenario 3 · DNS record" id="{be582929-7849-6b9c-3c57-527d6d996401}">
          <p14:sldIdLst>
            <p14:sldId id="268"/>
            <p14:sldId id="269"/>
            <p14:sldId id="270"/>
            <p14:sldId id="271"/>
            <p14:sldId id="272"/>
            <p14:sldId id="273"/>
          </p14:sldIdLst>
        </p14:section>
        <p14:section name="Summary" id="{d5be8484-2817-2d1e-a3ea-e28ba32a5b7e}">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the pipeline review deck. Three concrete changes are run through each pipeline that can handle them, so the difference between the current workflows and the proposed pipeline is visible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changes go through the CloudFormation workflows only; the DNS workflows handle Route 53 records. A DNS record can also live in a CloudFormation template, so scenario 3 is shown in the DNS workflows, the current CloudFormation workflow and the proposed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uses the same template and params.json in both CloudFormation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 1 is a typo in params.json. The template's AllowedValues rule rejects it, and CloudFormation enforces that rule itself, so both pipelines stop it before anything is created. Mistake 2 is a security group that allows SSH from anywhere: nothing in CloudFormation objects to it, so only a scan or a reviewer would catch it. Everything else is an ordinary private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aws cloudformation deploy asks CloudFormation for a change set, and CloudFormation rejects t3.mirco straight away because it isn't in the parameter's AllowedValues. Nothing is created; the error is in the job log. Run 2: with the typo fixed, deploy creates and executes the change set in one go. The instance goes live with SSH open to the internet: nothing scans the template, nobody sees a preview, and nobody is asked to approve. Third lane: some failures only show up while resources are being created, such as a capacity or quota limit, or an AMI ID copied from another Region when the parameter is a plain String. The new stack rolls back to ROLLBACK_COMPLETE. The small-template step runs under GitHub's default bash -e, so when deploy fails the step stops at once and the lines meant to print the failure reason never run; the log shows only the CLI's generic message. A ROLLBACK_COMPLETE stack can't be updated, so every re-run fails until someone deletes the stack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preflight compares every params.json value with the template's rules and stops on t3.mirco before AWS is called. The outcome matches today's (CloudFormation would reject it too), with a clearer message. Run 2: lint passes, Checkov flags SSH open to 0.0.0.0/0, the CREATE change set is rated (instance LOW, security group MEDIUM as a network-sensitive type) and the approval email includes the scan finding, so the approver rejects it and deletes the change set. Run 3: with the SSH rule removed every check passes; the approver approves the GitHub gate, and the pipeline executes the change set and emails the result with the stack outputs. If the approver executes in the AWS console instead (the default mode), the pipeline run has already finished, so the outcome is seen in the console. If the create fails half-way, the result email names the failed resource and the reason, and the next run is blocked with the exact command to delete the failed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of scenario 1. The typo row is a tie: CloudFormation enforces AllowedValues itself. The difference is everything CloudFormation doesn't check: risky settings, a preview, an approval, and a usable report when something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follows the instance from scenario 1 after someone changes it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 means the live resource no longer matches the stack's last deployment. Here two things drift: the instance type and the security group's ingress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day 10 the workflow deploys the tag change. A standard change set compares the new template with the last one, not with live resources, so the console changes are invisible: the tag is added, the instance stays t3.medium and SSH stays open, and nothing reports either. Weeks later someone sets InstanceType to t3.small in params.json. CloudFormation applies it (the instance is stopped, resized and started) and the incident change is undone without anyone seeing it. Source: AWS DevOps blog, 'Safely handle configuration drift with CloudFormation drift-aware change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10: drift detection runs on the stack and every nested stack and finds two drifted resources, so the run stops before a change set is made. The drift email shows expected against actual values, the live YAML, a CloudTrail command to see who made each change, and Amazon Q's suggested template code with a keep-or-revert recommendation. The team keeps t3.medium by changing params.json (t3.medium is already in the template's AllowedValues) and leaves the SSH rule out of the template, then re-runs with driftPolicy = revert-drift. The drift-aware change set keeps the instance as it is (sync with live), adds the tag and removes the SSH rule. It is approved like any other change; the result is emailed when the GitHub gate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of scenario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compares the DNS workflows, the current CloudFormation workflow with records in a template, and the proposed pipeline with records in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zone holds records from several sources: the DNS workflows, a console change made during a failover, ACM certificate validation and an ALIAS record managed by another CloudFormation stack. A good pipeline changes only the two records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copies the zone into JSON on a new branch and opens a pull request. The team has seen large diffs between exports, and checks don't run on a pull request opened with the workflow's own token. The edit is merged. In this example status.example.com was repointed in the console during a failover while the pull request was in review, so the file still holds the old value and Apply's preview contains an UPSERT that puts it back. After approval a new job works out the difference again and sends the change batch with boto3, so anything changed while the approval waited is overwritten too. The run is marked APPLIED; the workflow keeps no copy of the zone beforehand and doesn't check afterwards. With Allow deletes ticked, anything live but missing from the file is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in a CloudFormation template only affect records the stack owns, which is good. But the workflow changes them as soon as it runs, with no preview, approval or record. A record that already exists in the zone, such as www.example.com created by the DNS workflows, can't simply be added to the template: CloudFormation refuses to create a record that already exists and won't take over one it didn't create, and record sets can't be imported. Someone has to sort it out by hand, for example by deleting the old record and re-running, which leaves a short gap for that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records in a stack, the proposed pipeline checks the template, runs the drift check, and creates a change set that shows Add for app.example.com and Modify for www.example.com with before and after values. Route 53 changes are rated MEDIUM. The approver approves the GitHub gate and the pipeline executes the change set exactly as reviewed; on failure the stack rolls back and the root cause is emailed. (In the default mode the approver executes the change set in the AWS console instead.) Records outside the stack are never touched. Caveats: confirm that CloudFormation drift detection covers Route 53 record sets, and plan the move of existing records, because record sets can't be imported into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of scenario 3 across the three ways a record can change today or in the proposed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scenario. In each case the proposed pipeline moves the discovery of a problem from the live account to a check that stops the run, and puts a person's approval in front of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1 and 2 can be rehearsed on a small sandbox EC2 stack. For DNS, the high-severity fixes to the apply workflow are worth doing regardless of where the records end up. Until a zone has moved, the DNS workflows will also export records that a stack manages, so the ownership rule matters: without it, a stale zone file can put back a record the stack has since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91640"/>
            <a:ext cx="102412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00400"/>
            <a:ext cx="9509760" cy="1097280"/>
          </a:xfrm>
          <a:prstGeom prst="rect">
            <a:avLst/>
          </a:prstGeom>
          <a:noFill/>
          <a:ln/>
        </p:spPr>
        <p:txBody>
          <a:bodyPr wrap="square" rtlCol="0"/>
          <a:lstStyle>
            <a:lvl1pPr indent="0" marL="0">
              <a:buNone/>
              <a:defRPr lang="en-US" sz="2000" dirty="0">
                <a:solidFill>
                  <a:srgbClr val="C9D3E3"/>
                </a:solidFill>
              </a:defRPr>
            </a:lvl1pPr>
          </a:lstStyle>
          <a:p>
            <a:pPr indent="0" marL="0">
              <a:buNone/>
            </a:pPr>
            <a:endParaRPr lang="en-US" sz="2000" dirty="0"/>
          </a:p>
        </p:txBody>
      </p:sp>
      <p:sp>
        <p:nvSpPr>
          <p:cNvPr id="4" name="Text 0"/>
          <p:cNvSpPr/>
          <p:nvPr>
            <p:ph idx="102" type="body" hasCustomPrompt="1"/>
          </p:nvPr>
        </p:nvSpPr>
        <p:spPr>
          <a:xfrm>
            <a:off x="731520" y="5806440"/>
            <a:ext cx="7315200" cy="365760"/>
          </a:xfrm>
          <a:prstGeom prst="rect">
            <a:avLst/>
          </a:prstGeom>
          <a:noFill/>
          <a:ln/>
        </p:spPr>
        <p:txBody>
          <a:bodyPr wrap="square" rtlCol="0"/>
          <a:lstStyle>
            <a:lvl1pPr indent="0" marL="0">
              <a:buNone/>
              <a:defRPr lang="en-US" sz="1400" dirty="0">
                <a:solidFill>
                  <a:srgbClr val="9FB0C8"/>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rtlCol="0"/>
          <a:lstStyle>
            <a:lvl1pPr indent="0" marL="0">
              <a:buNone/>
              <a:defRPr lang="en-US" sz="4000" b="1" dirty="0">
                <a:solidFill>
                  <a:srgbClr val="8FB0FF"/>
                </a:solidFill>
              </a:defRPr>
            </a:lvl1pPr>
          </a:lstStyle>
          <a:p>
            <a:pPr indent="0" marL="0">
              <a:buNone/>
            </a:pP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rtlCol="0"/>
          <a:lstStyle>
            <a:lvl1pPr indent="0" marL="0">
              <a:buNone/>
              <a:defRPr lang="en-US" sz="1800" dirty="0">
                <a:solidFill>
                  <a:srgbClr val="C9D3E3"/>
                </a:solidFill>
              </a:defRPr>
            </a:lvl1pPr>
          </a:lstStyle>
          <a:p>
            <a:pPr indent="0" marL="0">
              <a:buNone/>
            </a:pPr>
            <a:endParaRPr lang="en-US" sz="1800" dirty="0"/>
          </a:p>
        </p:txBody>
      </p:sp>
      <p:sp>
        <p:nvSpPr>
          <p:cNvPr id="5" name="Text 0"/>
          <p:cNvSpPr/>
          <p:nvPr/>
        </p:nvSpPr>
        <p:spPr>
          <a:xfrm>
            <a:off x="731520" y="6419088"/>
            <a:ext cx="7315200" cy="274320"/>
          </a:xfrm>
          <a:prstGeom prst="rect">
            <a:avLst/>
          </a:prstGeom>
          <a:noFill/>
          <a:ln/>
        </p:spPr>
        <p:txBody>
          <a:bodyPr wrap="square" lIns="0" tIns="0" rIns="0" bIns="0" rtlCol="0" anchor="ctr"/>
          <a:lstStyle/>
          <a:p>
            <a:pPr indent="0" marL="0">
              <a:buNone/>
            </a:pPr>
            <a:r>
              <a:rPr lang="en-US" sz="1000" dirty="0">
                <a:solidFill>
                  <a:srgbClr val="9FB0C8"/>
                </a:solidFill>
              </a:rPr>
              <a:t>Pipeline scenarios · October 2026</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rtlCol="0"/>
          <a:lstStyle>
            <a:lvl1pPr indent="0" marL="0">
              <a:buNone/>
              <a:defRPr lang="en-US" sz="1400" dirty="0">
                <a:solidFill>
                  <a:srgbClr val="586275"/>
                </a:solidFill>
              </a:defRPr>
            </a:lvl1pPr>
          </a:lstStyle>
          <a:p>
            <a:pPr indent="0" marL="0">
              <a:buNone/>
            </a:pPr>
            <a:endParaRPr lang="en-US" sz="1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1000" dirty="0">
                <a:solidFill>
                  <a:srgbClr val="7D889B"/>
                </a:solidFill>
              </a:rPr>
              <a:t>Pipeline scenarios · October 2026</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91640"/>
            <a:ext cx="10241280" cy="1371600"/>
          </a:xfrm>
          <a:prstGeom prst="rect">
            <a:avLst/>
          </a:prstGeom>
          <a:noFill/>
          <a:ln/>
        </p:spPr>
        <p:txBody>
          <a:bodyPr wrap="square" lIns="0" tIns="0" rIns="0" bIns="0" rtlCol="0" anchor="b"/>
          <a:lstStyle/>
          <a:p>
            <a:pPr algn="l" indent="0" marL="0">
              <a:buNone/>
            </a:pPr>
            <a:r>
              <a:rPr lang="en-US" sz="4400" b="1" dirty="0">
                <a:solidFill>
                  <a:schemeClr val="bg1"/>
                </a:solidFill>
              </a:rPr>
              <a:t>Three everyday changes, four pipelines</a:t>
            </a:r>
            <a:endParaRPr lang="en-US" sz="4400" dirty="0"/>
          </a:p>
        </p:txBody>
      </p:sp>
      <p:sp>
        <p:nvSpPr>
          <p:cNvPr id="3" name="Text 0"/>
          <p:cNvSpPr/>
          <p:nvPr>
            <p:ph idx="101" type="body" hasCustomPrompt="1"/>
          </p:nvPr>
        </p:nvSpPr>
        <p:spPr>
          <a:xfrm>
            <a:off x="731520" y="3200400"/>
            <a:ext cx="9509760" cy="1097280"/>
          </a:xfrm>
          <a:prstGeom prst="rect">
            <a:avLst/>
          </a:prstGeom>
          <a:noFill/>
          <a:ln/>
        </p:spPr>
        <p:txBody>
          <a:bodyPr wrap="square" lIns="0" tIns="0" rIns="0" bIns="0" rtlCol="0" anchor="t"/>
          <a:lstStyle/>
          <a:p>
            <a:pPr indent="0" marL="0">
              <a:buNone/>
            </a:pPr>
            <a:r>
              <a:rPr lang="en-US" sz="2000" dirty="0">
                <a:solidFill>
                  <a:srgbClr val="C9D3E3"/>
                </a:solidFill>
              </a:rPr>
              <a:t>Deploying a plain EC2 instance, handling an instance that has drifted, and adding or updating a DNS record: what each pipeline does, and where the proposed pipeline helps</a:t>
            </a:r>
            <a:endParaRPr lang="en-US" sz="2000" dirty="0"/>
          </a:p>
        </p:txBody>
      </p:sp>
      <p:sp>
        <p:nvSpPr>
          <p:cNvPr id="4" name="Text 0"/>
          <p:cNvSpPr/>
          <p:nvPr>
            <p:ph idx="102" type="body" hasCustomPrompt="1"/>
          </p:nvPr>
        </p:nvSpPr>
        <p:spPr>
          <a:xfrm>
            <a:off x="731520" y="5806440"/>
            <a:ext cx="7315200" cy="365760"/>
          </a:xfrm>
          <a:prstGeom prst="rect">
            <a:avLst/>
          </a:prstGeom>
          <a:noFill/>
          <a:ln/>
        </p:spPr>
        <p:txBody>
          <a:bodyPr wrap="square" lIns="0" tIns="0" rIns="0" bIns="0" rtlCol="0" anchor="ctr"/>
          <a:lstStyle/>
          <a:p>
            <a:pPr indent="0" marL="0">
              <a:buNone/>
            </a:pPr>
            <a:r>
              <a:rPr lang="en-US" sz="1400" dirty="0">
                <a:solidFill>
                  <a:srgbClr val="9FB0C8"/>
                </a:solidFill>
              </a:rPr>
              <a:t>October 2026</a:t>
            </a:r>
            <a:endParaRPr lang="en-US" sz="1400" dirty="0"/>
          </a:p>
        </p:txBody>
      </p:sp>
      <p:sp>
        <p:nvSpPr>
          <p:cNvPr id="5" name="Shape 3"/>
          <p:cNvSpPr/>
          <p:nvPr/>
        </p:nvSpPr>
        <p:spPr>
          <a:xfrm>
            <a:off x="7452360" y="4800600"/>
            <a:ext cx="822960" cy="457200"/>
          </a:xfrm>
          <a:prstGeom prst="roundRect">
            <a:avLst>
              <a:gd name="adj" fmla="val 16000"/>
            </a:avLst>
          </a:prstGeom>
          <a:solidFill>
            <a:srgbClr val="FFFFFF">
              <a:alpha val="12000"/>
            </a:srgbClr>
          </a:solidFill>
          <a:ln w="12700">
            <a:solidFill>
              <a:srgbClr val="8FB0FF"/>
            </a:solidFill>
            <a:prstDash val="solid"/>
          </a:ln>
        </p:spPr>
      </p:sp>
      <p:sp>
        <p:nvSpPr>
          <p:cNvPr id="6" name="Shape 4"/>
          <p:cNvSpPr/>
          <p:nvPr/>
        </p:nvSpPr>
        <p:spPr>
          <a:xfrm>
            <a:off x="8275320" y="5029200"/>
            <a:ext cx="292608" cy="0"/>
          </a:xfrm>
          <a:prstGeom prst="line">
            <a:avLst/>
          </a:prstGeom>
          <a:noFill/>
          <a:ln w="15875">
            <a:solidFill>
              <a:srgbClr val="8FB0FF"/>
            </a:solidFill>
            <a:prstDash val="solid"/>
            <a:tailEnd type="triangle"/>
          </a:ln>
        </p:spPr>
      </p:sp>
      <p:sp>
        <p:nvSpPr>
          <p:cNvPr id="7" name="Shape 5"/>
          <p:cNvSpPr/>
          <p:nvPr/>
        </p:nvSpPr>
        <p:spPr>
          <a:xfrm>
            <a:off x="8567928" y="4800600"/>
            <a:ext cx="822960" cy="457200"/>
          </a:xfrm>
          <a:prstGeom prst="roundRect">
            <a:avLst>
              <a:gd name="adj" fmla="val 16000"/>
            </a:avLst>
          </a:prstGeom>
          <a:solidFill>
            <a:srgbClr val="FFFFFF">
              <a:alpha val="12000"/>
            </a:srgbClr>
          </a:solidFill>
          <a:ln w="12700">
            <a:solidFill>
              <a:srgbClr val="8FB0FF"/>
            </a:solidFill>
            <a:prstDash val="solid"/>
          </a:ln>
        </p:spPr>
      </p:sp>
      <p:sp>
        <p:nvSpPr>
          <p:cNvPr id="8" name="Shape 6"/>
          <p:cNvSpPr/>
          <p:nvPr/>
        </p:nvSpPr>
        <p:spPr>
          <a:xfrm>
            <a:off x="9390888" y="5029200"/>
            <a:ext cx="292608" cy="0"/>
          </a:xfrm>
          <a:prstGeom prst="line">
            <a:avLst/>
          </a:prstGeom>
          <a:noFill/>
          <a:ln w="15875">
            <a:solidFill>
              <a:srgbClr val="8FB0FF"/>
            </a:solidFill>
            <a:prstDash val="solid"/>
            <a:tailEnd type="triangle"/>
          </a:ln>
        </p:spPr>
      </p:sp>
      <p:sp>
        <p:nvSpPr>
          <p:cNvPr id="9" name="Shape 7"/>
          <p:cNvSpPr/>
          <p:nvPr/>
        </p:nvSpPr>
        <p:spPr>
          <a:xfrm>
            <a:off x="9683496" y="4800600"/>
            <a:ext cx="822960" cy="457200"/>
          </a:xfrm>
          <a:prstGeom prst="roundRect">
            <a:avLst>
              <a:gd name="adj" fmla="val 16000"/>
            </a:avLst>
          </a:prstGeom>
          <a:solidFill>
            <a:srgbClr val="FFFFFF">
              <a:alpha val="12000"/>
            </a:srgbClr>
          </a:solidFill>
          <a:ln w="12700">
            <a:solidFill>
              <a:srgbClr val="8FB0FF"/>
            </a:solidFill>
            <a:prstDash val="solid"/>
          </a:ln>
        </p:spPr>
      </p:sp>
      <p:sp>
        <p:nvSpPr>
          <p:cNvPr id="10" name="Shape 8"/>
          <p:cNvSpPr/>
          <p:nvPr/>
        </p:nvSpPr>
        <p:spPr>
          <a:xfrm>
            <a:off x="10506456" y="5029200"/>
            <a:ext cx="292608" cy="0"/>
          </a:xfrm>
          <a:prstGeom prst="line">
            <a:avLst/>
          </a:prstGeom>
          <a:noFill/>
          <a:ln w="15875">
            <a:solidFill>
              <a:srgbClr val="8FB0FF"/>
            </a:solidFill>
            <a:prstDash val="solid"/>
            <a:tailEnd type="triangle"/>
          </a:ln>
        </p:spPr>
      </p:sp>
      <p:sp>
        <p:nvSpPr>
          <p:cNvPr id="11" name="Shape 9"/>
          <p:cNvSpPr/>
          <p:nvPr/>
        </p:nvSpPr>
        <p:spPr>
          <a:xfrm>
            <a:off x="10799064" y="4800600"/>
            <a:ext cx="822960" cy="457200"/>
          </a:xfrm>
          <a:prstGeom prst="roundRect">
            <a:avLst>
              <a:gd name="adj" fmla="val 16000"/>
            </a:avLst>
          </a:prstGeom>
          <a:solidFill>
            <a:srgbClr val="FFFFFF">
              <a:alpha val="30000"/>
            </a:srgbClr>
          </a:solidFill>
          <a:ln w="12700">
            <a:solidFill>
              <a:srgbClr val="8FB0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scenarios and the pipelines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Each scenario is walked through every pipeline that can run it</a:t>
            </a:r>
            <a:endParaRPr lang="en-US" sz="1400" dirty="0"/>
          </a:p>
        </p:txBody>
      </p:sp>
      <p:sp>
        <p:nvSpPr>
          <p:cNvPr id="5" name="Shape 2"/>
          <p:cNvSpPr/>
          <p:nvPr/>
        </p:nvSpPr>
        <p:spPr>
          <a:xfrm>
            <a:off x="548640" y="1508760"/>
            <a:ext cx="5074920" cy="1371600"/>
          </a:xfrm>
          <a:prstGeom prst="roundRect">
            <a:avLst>
              <a:gd name="adj" fmla="val 800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737360"/>
            <a:ext cx="530352" cy="530352"/>
          </a:xfrm>
          <a:prstGeom prst="ellipse">
            <a:avLst/>
          </a:prstGeom>
          <a:solidFill>
            <a:srgbClr val="16243A"/>
          </a:solidFill>
          <a:ln w="6350">
            <a:solidFill>
              <a:srgbClr val="16243A"/>
            </a:solidFill>
            <a:prstDash val="solid"/>
          </a:ln>
        </p:spPr>
      </p:sp>
      <p:pic>
        <p:nvPicPr>
          <p:cNvPr id="7" name="Image 0" descr="Icon">    </p:cNvPr>
          <p:cNvPicPr>
            <a:picLocks noChangeAspect="1"/>
          </p:cNvPicPr>
          <p:nvPr/>
        </p:nvPicPr>
        <p:blipFill>
          <a:blip r:embed="rId1"/>
          <a:stretch>
            <a:fillRect/>
          </a:stretch>
        </p:blipFill>
        <p:spPr>
          <a:xfrm>
            <a:off x="904524" y="1864644"/>
            <a:ext cx="275783" cy="275783"/>
          </a:xfrm>
          <a:prstGeom prst="rect">
            <a:avLst/>
          </a:prstGeom>
        </p:spPr>
      </p:pic>
      <p:sp>
        <p:nvSpPr>
          <p:cNvPr id="8" name="Text 4"/>
          <p:cNvSpPr txBox="1"/>
          <p:nvPr/>
        </p:nvSpPr>
        <p:spPr>
          <a:xfrm>
            <a:off x="1481328" y="1709928"/>
            <a:ext cx="3977640" cy="329184"/>
          </a:xfrm>
          <a:prstGeom prst="rect">
            <a:avLst/>
          </a:prstGeom>
          <a:noFill/>
          <a:ln/>
        </p:spPr>
        <p:txBody>
          <a:bodyPr wrap="square" lIns="0" tIns="0" rIns="0" bIns="0" rtlCol="0" anchor="ctr"/>
          <a:lstStyle/>
          <a:p>
            <a:pPr indent="0" marL="0">
              <a:buNone/>
            </a:pPr>
            <a:r>
              <a:rPr lang="en-US" sz="1600" b="1" dirty="0">
                <a:solidFill>
                  <a:srgbClr val="16243A"/>
                </a:solidFill>
              </a:rPr>
              <a:t>1 · Deploy a plain EC2 instance</a:t>
            </a:r>
            <a:endParaRPr lang="en-US" sz="1600" dirty="0"/>
          </a:p>
        </p:txBody>
      </p:sp>
      <p:sp>
        <p:nvSpPr>
          <p:cNvPr id="9" name="Text 5"/>
          <p:cNvSpPr txBox="1"/>
          <p:nvPr/>
        </p:nvSpPr>
        <p:spPr>
          <a:xfrm>
            <a:off x="1481328" y="2075688"/>
            <a:ext cx="3977640" cy="685800"/>
          </a:xfrm>
          <a:prstGeom prst="rect">
            <a:avLst/>
          </a:prstGeom>
          <a:noFill/>
          <a:ln/>
        </p:spPr>
        <p:txBody>
          <a:bodyPr wrap="square" lIns="0" tIns="0" rIns="0" bIns="0" rtlCol="0" anchor="t"/>
          <a:lstStyle/>
          <a:p>
            <a:pPr indent="0" marL="0">
              <a:buNone/>
            </a:pPr>
            <a:r>
              <a:rPr lang="en-US" sz="1300" dirty="0">
                <a:solidFill>
                  <a:srgbClr val="131925"/>
                </a:solidFill>
              </a:rPr>
              <a:t>A new stack: one instance and its security group, with two planted mistakes.</a:t>
            </a:r>
            <a:endParaRPr lang="en-US" sz="1300" dirty="0"/>
          </a:p>
        </p:txBody>
      </p:sp>
      <p:sp>
        <p:nvSpPr>
          <p:cNvPr id="10" name="Shape 6"/>
          <p:cNvSpPr/>
          <p:nvPr/>
        </p:nvSpPr>
        <p:spPr>
          <a:xfrm>
            <a:off x="548640" y="3081528"/>
            <a:ext cx="5074920" cy="1371600"/>
          </a:xfrm>
          <a:prstGeom prst="roundRect">
            <a:avLst>
              <a:gd name="adj" fmla="val 800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1" name="Shape 7"/>
          <p:cNvSpPr/>
          <p:nvPr/>
        </p:nvSpPr>
        <p:spPr>
          <a:xfrm>
            <a:off x="777240" y="3310128"/>
            <a:ext cx="530352" cy="530352"/>
          </a:xfrm>
          <a:prstGeom prst="ellipse">
            <a:avLst/>
          </a:prstGeom>
          <a:solidFill>
            <a:srgbClr val="16243A"/>
          </a:solidFill>
          <a:ln w="6350">
            <a:solidFill>
              <a:srgbClr val="16243A"/>
            </a:solidFill>
            <a:prstDash val="solid"/>
          </a:ln>
        </p:spPr>
      </p:sp>
      <p:pic>
        <p:nvPicPr>
          <p:cNvPr id="12" name="Image 1" descr="Icon">    </p:cNvPr>
          <p:cNvPicPr>
            <a:picLocks noChangeAspect="1"/>
          </p:cNvPicPr>
          <p:nvPr/>
        </p:nvPicPr>
        <p:blipFill>
          <a:blip r:embed="rId2"/>
          <a:stretch>
            <a:fillRect/>
          </a:stretch>
        </p:blipFill>
        <p:spPr>
          <a:xfrm>
            <a:off x="904524" y="3437412"/>
            <a:ext cx="275783" cy="275783"/>
          </a:xfrm>
          <a:prstGeom prst="rect">
            <a:avLst/>
          </a:prstGeom>
        </p:spPr>
      </p:pic>
      <p:sp>
        <p:nvSpPr>
          <p:cNvPr id="13" name="Text 8"/>
          <p:cNvSpPr txBox="1"/>
          <p:nvPr/>
        </p:nvSpPr>
        <p:spPr>
          <a:xfrm>
            <a:off x="1481328" y="3282696"/>
            <a:ext cx="3977640" cy="329184"/>
          </a:xfrm>
          <a:prstGeom prst="rect">
            <a:avLst/>
          </a:prstGeom>
          <a:noFill/>
          <a:ln/>
        </p:spPr>
        <p:txBody>
          <a:bodyPr wrap="square" lIns="0" tIns="0" rIns="0" bIns="0" rtlCol="0" anchor="ctr"/>
          <a:lstStyle/>
          <a:p>
            <a:pPr indent="0" marL="0">
              <a:buNone/>
            </a:pPr>
            <a:r>
              <a:rPr lang="en-US" sz="1600" b="1" dirty="0">
                <a:solidFill>
                  <a:srgbClr val="16243A"/>
                </a:solidFill>
              </a:rPr>
              <a:t>2 · An instance has drifted</a:t>
            </a:r>
            <a:endParaRPr lang="en-US" sz="1600" dirty="0"/>
          </a:p>
        </p:txBody>
      </p:sp>
      <p:sp>
        <p:nvSpPr>
          <p:cNvPr id="14" name="Text 9"/>
          <p:cNvSpPr txBox="1"/>
          <p:nvPr/>
        </p:nvSpPr>
        <p:spPr>
          <a:xfrm>
            <a:off x="1481328" y="3648456"/>
            <a:ext cx="3977640" cy="685800"/>
          </a:xfrm>
          <a:prstGeom prst="rect">
            <a:avLst/>
          </a:prstGeom>
          <a:noFill/>
          <a:ln/>
        </p:spPr>
        <p:txBody>
          <a:bodyPr wrap="square" lIns="0" tIns="0" rIns="0" bIns="0" rtlCol="0" anchor="t"/>
          <a:lstStyle/>
          <a:p>
            <a:pPr indent="0" marL="0">
              <a:buNone/>
            </a:pPr>
            <a:r>
              <a:rPr lang="en-US" sz="1300" dirty="0">
                <a:solidFill>
                  <a:srgbClr val="131925"/>
                </a:solidFill>
              </a:rPr>
              <a:t>Someone resized the instance and opened SSH in the console; a routine tag change follows.</a:t>
            </a:r>
            <a:endParaRPr lang="en-US" sz="1300" dirty="0"/>
          </a:p>
        </p:txBody>
      </p:sp>
      <p:sp>
        <p:nvSpPr>
          <p:cNvPr id="15" name="Shape 10"/>
          <p:cNvSpPr/>
          <p:nvPr/>
        </p:nvSpPr>
        <p:spPr>
          <a:xfrm>
            <a:off x="548640" y="4654296"/>
            <a:ext cx="5074920" cy="1371600"/>
          </a:xfrm>
          <a:prstGeom prst="roundRect">
            <a:avLst>
              <a:gd name="adj" fmla="val 800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6" name="Shape 11"/>
          <p:cNvSpPr/>
          <p:nvPr/>
        </p:nvSpPr>
        <p:spPr>
          <a:xfrm>
            <a:off x="777240" y="4882896"/>
            <a:ext cx="530352" cy="530352"/>
          </a:xfrm>
          <a:prstGeom prst="ellipse">
            <a:avLst/>
          </a:prstGeom>
          <a:solidFill>
            <a:srgbClr val="16243A"/>
          </a:solidFill>
          <a:ln w="6350">
            <a:solidFill>
              <a:srgbClr val="16243A"/>
            </a:solidFill>
            <a:prstDash val="solid"/>
          </a:ln>
        </p:spPr>
      </p:sp>
      <p:pic>
        <p:nvPicPr>
          <p:cNvPr id="17" name="Image 2" descr="Icon">    </p:cNvPr>
          <p:cNvPicPr>
            <a:picLocks noChangeAspect="1"/>
          </p:cNvPicPr>
          <p:nvPr/>
        </p:nvPicPr>
        <p:blipFill>
          <a:blip r:embed="rId3"/>
          <a:stretch>
            <a:fillRect/>
          </a:stretch>
        </p:blipFill>
        <p:spPr>
          <a:xfrm>
            <a:off x="904524" y="5010180"/>
            <a:ext cx="275783" cy="275783"/>
          </a:xfrm>
          <a:prstGeom prst="rect">
            <a:avLst/>
          </a:prstGeom>
        </p:spPr>
      </p:pic>
      <p:sp>
        <p:nvSpPr>
          <p:cNvPr id="18" name="Text 12"/>
          <p:cNvSpPr txBox="1"/>
          <p:nvPr/>
        </p:nvSpPr>
        <p:spPr>
          <a:xfrm>
            <a:off x="1481328" y="4855464"/>
            <a:ext cx="3977640" cy="329184"/>
          </a:xfrm>
          <a:prstGeom prst="rect">
            <a:avLst/>
          </a:prstGeom>
          <a:noFill/>
          <a:ln/>
        </p:spPr>
        <p:txBody>
          <a:bodyPr wrap="square" lIns="0" tIns="0" rIns="0" bIns="0" rtlCol="0" anchor="ctr"/>
          <a:lstStyle/>
          <a:p>
            <a:pPr indent="0" marL="0">
              <a:buNone/>
            </a:pPr>
            <a:r>
              <a:rPr lang="en-US" sz="1600" b="1" dirty="0">
                <a:solidFill>
                  <a:srgbClr val="16243A"/>
                </a:solidFill>
              </a:rPr>
              <a:t>3 · Add or update a DNS record</a:t>
            </a:r>
            <a:endParaRPr lang="en-US" sz="1600" dirty="0"/>
          </a:p>
        </p:txBody>
      </p:sp>
      <p:sp>
        <p:nvSpPr>
          <p:cNvPr id="19" name="Text 13"/>
          <p:cNvSpPr txBox="1"/>
          <p:nvPr/>
        </p:nvSpPr>
        <p:spPr>
          <a:xfrm>
            <a:off x="1481328" y="5221224"/>
            <a:ext cx="3977640" cy="685800"/>
          </a:xfrm>
          <a:prstGeom prst="rect">
            <a:avLst/>
          </a:prstGeom>
          <a:noFill/>
          <a:ln/>
        </p:spPr>
        <p:txBody>
          <a:bodyPr wrap="square" lIns="0" tIns="0" rIns="0" bIns="0" rtlCol="0" anchor="t"/>
          <a:lstStyle/>
          <a:p>
            <a:pPr indent="0" marL="0">
              <a:buNone/>
            </a:pPr>
            <a:r>
              <a:rPr lang="en-US" sz="1300" dirty="0">
                <a:solidFill>
                  <a:srgbClr val="131925"/>
                </a:solidFill>
              </a:rPr>
              <a:t>Add app.example.com and repoint www.example.com in a zone other tools also write to.</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806440" y="1508760"/>
          <a:ext cx="5833872" cy="914400"/>
        </p:xfrm>
        <a:graphic>
          <a:graphicData uri="http://schemas.openxmlformats.org/drawingml/2006/table">
            <a:tbl>
              <a:tblPr/>
              <a:tblGrid>
                <a:gridCol w="2286000"/>
                <a:gridCol w="1024128"/>
                <a:gridCol w="1024128"/>
                <a:gridCol w="1499616"/>
              </a:tblGrid>
              <a:tr h="0">
                <a:tc>
                  <a:txBody>
                    <a:bodyPr/>
                    <a:lstStyle/>
                    <a:p>
                      <a:pPr indent="0" marL="0">
                        <a:buNone/>
                      </a:pPr>
                      <a:r>
                        <a:rPr lang="en-US" sz="1100" b="1" dirty="0">
                          <a:solidFill>
                            <a:srgbClr val="586275"/>
                          </a:solidFill>
                        </a:rPr>
                        <a:t>Pipeline</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1 · EC2</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2 · Drift</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3 · DNS record</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50" b="1" dirty="0">
                          <a:solidFill>
                            <a:srgbClr val="131925"/>
                          </a:solidFill>
                        </a:rPr>
                        <a:t>Current CloudFormation workflow</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latest_cft_deployment.yml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If the record is in a template</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Proposed CloudFormation pipeline</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cfn-deploy-pipeline.yml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If the record is in a stack</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DNS export</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ws2-dns-records-export.yml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Reads the zone into a PR</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DNS apply</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ws2-dns-records-apply.yml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Changes records from the file</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1" name="Text 14"/>
          <p:cNvSpPr txBox="1"/>
          <p:nvPr/>
        </p:nvSpPr>
        <p:spPr>
          <a:xfrm>
            <a:off x="5806440" y="4937760"/>
            <a:ext cx="5833872" cy="548640"/>
          </a:xfrm>
          <a:prstGeom prst="rect">
            <a:avLst/>
          </a:prstGeom>
          <a:noFill/>
          <a:ln/>
        </p:spPr>
        <p:txBody>
          <a:bodyPr wrap="square" lIns="0" tIns="0" rIns="0" bIns="0" rtlCol="0" anchor="t"/>
          <a:lstStyle/>
          <a:p>
            <a:pPr indent="0" marL="0">
              <a:buNone/>
            </a:pPr>
            <a:r>
              <a:rPr lang="en-US" sz="1200" i="1" dirty="0">
                <a:solidFill>
                  <a:srgbClr val="586275"/>
                </a:solidFill>
              </a:rPr>
              <a:t>The DNS workflows only manage Route 53 records, so they take no part in scenarios 1 and 2.</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01</a:t>
            </a: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lIns="0" tIns="0" rIns="0" bIns="0" rtlCol="0" anchor="t"/>
          <a:lstStyle/>
          <a:p>
            <a:pPr algn="l" indent="0" marL="0">
              <a:buNone/>
            </a:pPr>
            <a:r>
              <a:rPr lang="en-US" sz="4000" b="1" dirty="0">
                <a:solidFill>
                  <a:schemeClr val="bg1"/>
                </a:solidFill>
              </a:rPr>
              <a:t>Deploy a plain EC2 instance</a:t>
            </a: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lIns="0" tIns="0" rIns="0" bIns="0" rtlCol="0" anchor="t"/>
          <a:lstStyle/>
          <a:p>
            <a:pPr indent="0" marL="0">
              <a:buNone/>
            </a:pPr>
            <a:r>
              <a:rPr lang="en-US" sz="1800" dirty="0">
                <a:solidFill>
                  <a:srgbClr val="C9D3E3"/>
                </a:solidFill>
              </a:rPr>
              <a:t>A new stack with one t3.micro instance and its security group, and two planted mistakes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example: one instance, two planted mistakes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ec2-app-template.yaml and params.json, in a folder under cloudformation/</a:t>
            </a:r>
            <a:endParaRPr lang="en-US" sz="1400" dirty="0"/>
          </a:p>
        </p:txBody>
      </p:sp>
      <p:sp>
        <p:nvSpPr>
          <p:cNvPr id="5" name="ec2-app-template.yaml (excerpt)"/>
          <p:cNvSpPr/>
          <p:nvPr/>
        </p:nvSpPr>
        <p:spPr>
          <a:xfrm>
            <a:off x="548640" y="1463040"/>
            <a:ext cx="6172200" cy="4892040"/>
          </a:xfrm>
          <a:prstGeom prst="roundRect">
            <a:avLst>
              <a:gd name="adj" fmla="val 1869"/>
            </a:avLst>
          </a:prstGeom>
          <a:solidFill>
            <a:srgbClr val="1B2433"/>
          </a:solidFill>
          <a:ln w="6350">
            <a:solidFill>
              <a:srgbClr val="1B2433"/>
            </a:solidFill>
            <a:prstDash val="solid"/>
          </a:ln>
        </p:spPr>
      </p:sp>
      <p:sp>
        <p:nvSpPr>
          <p:cNvPr id="6" name="Text 3"/>
          <p:cNvSpPr txBox="1"/>
          <p:nvPr/>
        </p:nvSpPr>
        <p:spPr>
          <a:xfrm>
            <a:off x="731520" y="1554480"/>
            <a:ext cx="5806440" cy="237744"/>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ec2-app-template.yaml (excerpt)</a:t>
            </a:r>
            <a:endParaRPr lang="en-US" sz="1050" dirty="0"/>
          </a:p>
        </p:txBody>
      </p:sp>
      <p:sp>
        <p:nvSpPr>
          <p:cNvPr id="7" name="Shape 4"/>
          <p:cNvSpPr/>
          <p:nvPr/>
        </p:nvSpPr>
        <p:spPr>
          <a:xfrm>
            <a:off x="621792" y="4992624"/>
            <a:ext cx="6025896" cy="173736"/>
          </a:xfrm>
          <a:prstGeom prst="rect">
            <a:avLst/>
          </a:prstGeom>
          <a:solidFill>
            <a:srgbClr val="C93A32">
              <a:alpha val="28000"/>
            </a:srgbClr>
          </a:solidFill>
          <a:ln/>
        </p:spPr>
      </p:sp>
      <p:sp>
        <p:nvSpPr>
          <p:cNvPr id="8" name="Marker 2"/>
          <p:cNvSpPr txBox="1"/>
          <p:nvPr/>
        </p:nvSpPr>
        <p:spPr>
          <a:xfrm>
            <a:off x="6355080" y="4969764"/>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9" name="Text 6"/>
          <p:cNvSpPr txBox="1"/>
          <p:nvPr/>
        </p:nvSpPr>
        <p:spPr>
          <a:xfrm>
            <a:off x="731520" y="1865376"/>
            <a:ext cx="5623560" cy="4361688"/>
          </a:xfrm>
          <a:prstGeom prst="rect">
            <a:avLst/>
          </a:prstGeom>
          <a:noFill/>
          <a:ln/>
        </p:spPr>
        <p:txBody>
          <a:bodyPr wrap="square" lIns="0" tIns="0" rIns="0" bIns="0" rtlCol="0" anchor="t"/>
          <a:lstStyle/>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Parameters: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InstanceType: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Type: String</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AllowedValues: [t3.micro, t3.small, t3.medium]</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Resources: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AppSecurityGroup: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Type: AWS::EC2::SecurityGroup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Properties: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GroupDescription: App server</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VpcId: !Ref VpcId</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SecurityGroupIngress: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IpProtocol: tcp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FromPort: 443</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ToPort: 443</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CidrIp: 10.20.0.0/16</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IpProtocol: tcp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FromPort: 22</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ToPort: 22</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CidrIp: 0.0.0.0/0    # SSH from anywhere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AppInstance: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Type: AWS::EC2::Instance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Properties: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ImageId: !Ref AmiId</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InstanceType: !Ref InstanceType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SubnetId: !Ref PrivateSubnetId</a:t>
            </a:r>
            <a:endParaRPr lang="en-US" sz="1050" dirty="0"/>
          </a:p>
        </p:txBody>
      </p:sp>
      <p:sp>
        <p:nvSpPr>
          <p:cNvPr id="10" name="params.json (excerpt)"/>
          <p:cNvSpPr/>
          <p:nvPr/>
        </p:nvSpPr>
        <p:spPr>
          <a:xfrm>
            <a:off x="6995160" y="1463040"/>
            <a:ext cx="4645152" cy="1591056"/>
          </a:xfrm>
          <a:prstGeom prst="roundRect">
            <a:avLst>
              <a:gd name="adj" fmla="val 5747"/>
            </a:avLst>
          </a:prstGeom>
          <a:solidFill>
            <a:srgbClr val="1B2433"/>
          </a:solidFill>
          <a:ln w="6350">
            <a:solidFill>
              <a:srgbClr val="1B2433"/>
            </a:solidFill>
            <a:prstDash val="solid"/>
          </a:ln>
        </p:spPr>
      </p:sp>
      <p:sp>
        <p:nvSpPr>
          <p:cNvPr id="11" name="Text 8"/>
          <p:cNvSpPr txBox="1"/>
          <p:nvPr/>
        </p:nvSpPr>
        <p:spPr>
          <a:xfrm>
            <a:off x="7178040" y="1554480"/>
            <a:ext cx="4279392" cy="237744"/>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params.json (excerpt)</a:t>
            </a:r>
            <a:endParaRPr lang="en-US" sz="1050" dirty="0"/>
          </a:p>
        </p:txBody>
      </p:sp>
      <p:sp>
        <p:nvSpPr>
          <p:cNvPr id="12" name="Shape 9"/>
          <p:cNvSpPr/>
          <p:nvPr/>
        </p:nvSpPr>
        <p:spPr>
          <a:xfrm>
            <a:off x="7068312" y="2212848"/>
            <a:ext cx="4498848" cy="173736"/>
          </a:xfrm>
          <a:prstGeom prst="rect">
            <a:avLst/>
          </a:prstGeom>
          <a:solidFill>
            <a:srgbClr val="C93A32">
              <a:alpha val="28000"/>
            </a:srgbClr>
          </a:solidFill>
          <a:ln/>
        </p:spPr>
      </p:sp>
      <p:sp>
        <p:nvSpPr>
          <p:cNvPr id="13" name="Marker 1"/>
          <p:cNvSpPr txBox="1"/>
          <p:nvPr/>
        </p:nvSpPr>
        <p:spPr>
          <a:xfrm>
            <a:off x="11274552" y="2189988"/>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4" name="Text 11"/>
          <p:cNvSpPr txBox="1"/>
          <p:nvPr/>
        </p:nvSpPr>
        <p:spPr>
          <a:xfrm>
            <a:off x="7178040" y="1865376"/>
            <a:ext cx="4096512" cy="1060704"/>
          </a:xfrm>
          <a:prstGeom prst="rect">
            <a:avLst/>
          </a:prstGeom>
          <a:noFill/>
          <a:ln/>
        </p:spPr>
        <p:txBody>
          <a:bodyPr wrap="square" lIns="0" tIns="0" rIns="0" bIns="0" rtlCol="0" anchor="t"/>
          <a:lstStyle/>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"ParameterKey": "InstanceType",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"ParameterValue": "t3.mirco" },</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"ParameterKey": "AmiId",</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"ParameterValue": "ami-0abc1234" }</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a:t>
            </a:r>
            <a:endParaRPr lang="en-US" sz="1050" dirty="0"/>
          </a:p>
        </p:txBody>
      </p:sp>
      <p:sp>
        <p:nvSpPr>
          <p:cNvPr id="15" name="Shape 12"/>
          <p:cNvSpPr/>
          <p:nvPr/>
        </p:nvSpPr>
        <p:spPr>
          <a:xfrm>
            <a:off x="6995160" y="3154680"/>
            <a:ext cx="4645152" cy="1234440"/>
          </a:xfrm>
          <a:prstGeom prst="roundRect">
            <a:avLst>
              <a:gd name="adj" fmla="val 8889"/>
            </a:avLst>
          </a:prstGeom>
          <a:solidFill>
            <a:srgbClr val="FDF4F3"/>
          </a:solidFill>
          <a:ln w="12700">
            <a:solidFill>
              <a:srgbClr val="F0D3D0"/>
            </a:solidFill>
            <a:prstDash val="solid"/>
          </a:ln>
          <a:effectLst>
            <a:outerShdw sx="100000" sy="100000" kx="0" ky="0" algn="bl" rotWithShape="0" blurRad="76200" dist="25400" dir="5400000">
              <a:srgbClr val="1B2A41">
                <a:alpha val="10000"/>
              </a:srgbClr>
            </a:outerShdw>
          </a:effectLst>
        </p:spPr>
      </p:sp>
      <p:sp>
        <p:nvSpPr>
          <p:cNvPr id="16" name="Marker 1"/>
          <p:cNvSpPr txBox="1"/>
          <p:nvPr/>
        </p:nvSpPr>
        <p:spPr>
          <a:xfrm>
            <a:off x="7159752" y="3328416"/>
            <a:ext cx="310896" cy="31089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7" name="Text 14"/>
          <p:cNvSpPr txBox="1"/>
          <p:nvPr/>
        </p:nvSpPr>
        <p:spPr>
          <a:xfrm>
            <a:off x="7607808" y="3319272"/>
            <a:ext cx="3886200" cy="329184"/>
          </a:xfrm>
          <a:prstGeom prst="rect">
            <a:avLst/>
          </a:prstGeom>
          <a:noFill/>
          <a:ln/>
        </p:spPr>
        <p:txBody>
          <a:bodyPr wrap="square" lIns="0" tIns="0" rIns="0" bIns="0" rtlCol="0" anchor="ctr"/>
          <a:lstStyle/>
          <a:p>
            <a:pPr indent="0" marL="0">
              <a:buNone/>
            </a:pPr>
            <a:r>
              <a:rPr lang="en-US" sz="1500" b="1" dirty="0">
                <a:solidFill>
                  <a:srgbClr val="7D1C16"/>
                </a:solidFill>
              </a:rPr>
              <a:t>Typo in params.json</a:t>
            </a:r>
            <a:endParaRPr lang="en-US" sz="1500" dirty="0"/>
          </a:p>
        </p:txBody>
      </p:sp>
      <p:sp>
        <p:nvSpPr>
          <p:cNvPr id="18" name="Text 15"/>
          <p:cNvSpPr txBox="1"/>
          <p:nvPr/>
        </p:nvSpPr>
        <p:spPr>
          <a:xfrm>
            <a:off x="7607808" y="3685032"/>
            <a:ext cx="3886200" cy="640080"/>
          </a:xfrm>
          <a:prstGeom prst="rect">
            <a:avLst/>
          </a:prstGeom>
          <a:noFill/>
          <a:ln/>
        </p:spPr>
        <p:txBody>
          <a:bodyPr wrap="square" lIns="0" tIns="0" rIns="0" bIns="0" rtlCol="0" anchor="t"/>
          <a:lstStyle/>
          <a:p>
            <a:pPr indent="0" marL="0">
              <a:buNone/>
            </a:pPr>
            <a:r>
              <a:rPr lang="en-US" sz="1250" dirty="0">
                <a:solidFill>
                  <a:srgbClr val="131925"/>
                </a:solidFill>
              </a:rPr>
              <a:t>t3.mirco instead of t3.micro. The template only allows t3.micro, t3.small and t3.medium.</a:t>
            </a:r>
            <a:endParaRPr lang="en-US" sz="1250" dirty="0"/>
          </a:p>
        </p:txBody>
      </p:sp>
      <p:sp>
        <p:nvSpPr>
          <p:cNvPr id="19" name="Shape 16"/>
          <p:cNvSpPr/>
          <p:nvPr/>
        </p:nvSpPr>
        <p:spPr>
          <a:xfrm>
            <a:off x="6995160" y="4572000"/>
            <a:ext cx="4645152" cy="1234440"/>
          </a:xfrm>
          <a:prstGeom prst="roundRect">
            <a:avLst>
              <a:gd name="adj" fmla="val 8889"/>
            </a:avLst>
          </a:prstGeom>
          <a:solidFill>
            <a:srgbClr val="FDF4F3"/>
          </a:solidFill>
          <a:ln w="12700">
            <a:solidFill>
              <a:srgbClr val="F0D3D0"/>
            </a:solidFill>
            <a:prstDash val="solid"/>
          </a:ln>
          <a:effectLst>
            <a:outerShdw sx="100000" sy="100000" kx="0" ky="0" algn="bl" rotWithShape="0" blurRad="76200" dist="25400" dir="5400000">
              <a:srgbClr val="1B2A41">
                <a:alpha val="10000"/>
              </a:srgbClr>
            </a:outerShdw>
          </a:effectLst>
        </p:spPr>
      </p:sp>
      <p:sp>
        <p:nvSpPr>
          <p:cNvPr id="20" name="Marker 2"/>
          <p:cNvSpPr txBox="1"/>
          <p:nvPr/>
        </p:nvSpPr>
        <p:spPr>
          <a:xfrm>
            <a:off x="7159752" y="4745736"/>
            <a:ext cx="310896" cy="31089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1" name="Text 18"/>
          <p:cNvSpPr txBox="1"/>
          <p:nvPr/>
        </p:nvSpPr>
        <p:spPr>
          <a:xfrm>
            <a:off x="7607808" y="4736592"/>
            <a:ext cx="3886200" cy="329184"/>
          </a:xfrm>
          <a:prstGeom prst="rect">
            <a:avLst/>
          </a:prstGeom>
          <a:noFill/>
          <a:ln/>
        </p:spPr>
        <p:txBody>
          <a:bodyPr wrap="square" lIns="0" tIns="0" rIns="0" bIns="0" rtlCol="0" anchor="ctr"/>
          <a:lstStyle/>
          <a:p>
            <a:pPr indent="0" marL="0">
              <a:buNone/>
            </a:pPr>
            <a:r>
              <a:rPr lang="en-US" sz="1500" b="1" dirty="0">
                <a:solidFill>
                  <a:srgbClr val="7D1C16"/>
                </a:solidFill>
              </a:rPr>
              <a:t>SSH open to the world</a:t>
            </a:r>
            <a:endParaRPr lang="en-US" sz="1500" dirty="0"/>
          </a:p>
        </p:txBody>
      </p:sp>
      <p:sp>
        <p:nvSpPr>
          <p:cNvPr id="22" name="Text 19"/>
          <p:cNvSpPr txBox="1"/>
          <p:nvPr/>
        </p:nvSpPr>
        <p:spPr>
          <a:xfrm>
            <a:off x="7607808" y="5102352"/>
            <a:ext cx="3886200" cy="640080"/>
          </a:xfrm>
          <a:prstGeom prst="rect">
            <a:avLst/>
          </a:prstGeom>
          <a:noFill/>
          <a:ln/>
        </p:spPr>
        <p:txBody>
          <a:bodyPr wrap="square" lIns="0" tIns="0" rIns="0" bIns="0" rtlCol="0" anchor="t"/>
          <a:lstStyle/>
          <a:p>
            <a:pPr indent="0" marL="0">
              <a:buNone/>
            </a:pPr>
            <a:r>
              <a:rPr lang="en-US" sz="1250" dirty="0">
                <a:solidFill>
                  <a:srgbClr val="131925"/>
                </a:solidFill>
              </a:rPr>
              <a:t>The second ingress rule lets anyone on the internet reach port 22 on the instance.</a:t>
            </a:r>
            <a:endParaRPr lang="en-US" sz="12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the typo is caught, but SSH goes live open</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latest_cft_deployment.yml · CloudFormation's own checks are the only checks, and the stack is created as soon as the run starts</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1</a:t>
            </a:r>
            <a:pPr indent="0" marL="0">
              <a:buNone/>
            </a:pPr>
            <a:r>
              <a:rPr lang="en-US" sz="1300" dirty="0">
                <a:solidFill>
                  <a:srgbClr val="586275"/>
                </a:solidFill>
              </a:rPr>
              <a:t>   typo in params.json</a:t>
            </a:r>
            <a:endParaRPr lang="en-US" sz="1300" dirty="0"/>
          </a:p>
        </p:txBody>
      </p:sp>
      <p:sp>
        <p:nvSpPr>
          <p:cNvPr id="6" name="Engineer runs the workflow"/>
          <p:cNvSpPr txBox="1"/>
          <p:nvPr/>
        </p:nvSpPr>
        <p:spPr>
          <a:xfrm>
            <a:off x="548640" y="182880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Inputs typed by hand</a:t>
            </a:r>
            <a:endParaRPr lang="en-US" sz="1200" dirty="0"/>
          </a:p>
        </p:txBody>
      </p:sp>
      <p:sp>
        <p:nvSpPr>
          <p:cNvPr id="7" name="Shape 4"/>
          <p:cNvSpPr/>
          <p:nvPr/>
        </p:nvSpPr>
        <p:spPr>
          <a:xfrm>
            <a:off x="3291840" y="2217420"/>
            <a:ext cx="292608" cy="0"/>
          </a:xfrm>
          <a:prstGeom prst="line">
            <a:avLst/>
          </a:prstGeom>
          <a:noFill/>
          <a:ln w="15875">
            <a:solidFill>
              <a:srgbClr val="7D889B"/>
            </a:solidFill>
            <a:prstDash val="solid"/>
            <a:tailEnd type="triangle"/>
          </a:ln>
        </p:spPr>
      </p:sp>
      <p:sp>
        <p:nvSpPr>
          <p:cNvPr id="8" name="CloudFormation rejects it"/>
          <p:cNvSpPr txBox="1"/>
          <p:nvPr/>
        </p:nvSpPr>
        <p:spPr>
          <a:xfrm>
            <a:off x="3584448" y="1828800"/>
            <a:ext cx="2743200"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CloudFormation rejects it</a:t>
            </a:r>
            <a:endParaRPr lang="en-US" sz="1200" dirty="0"/>
          </a:p>
          <a:p>
            <a:pPr algn="ctr" indent="0" marL="0">
              <a:buNone/>
            </a:pPr>
            <a:r>
              <a:rPr lang="en-US" sz="1050" dirty="0">
                <a:solidFill>
                  <a:srgbClr val="2B6C59"/>
                </a:solidFill>
              </a:rPr>
              <a:t>t3.mirco is not in AllowedValues</a:t>
            </a:r>
            <a:endParaRPr lang="en-US" sz="1200" dirty="0"/>
          </a:p>
        </p:txBody>
      </p:sp>
      <p:sp>
        <p:nvSpPr>
          <p:cNvPr id="9" name="Shape 6"/>
          <p:cNvSpPr/>
          <p:nvPr/>
        </p:nvSpPr>
        <p:spPr>
          <a:xfrm>
            <a:off x="6327648" y="2217420"/>
            <a:ext cx="292608" cy="0"/>
          </a:xfrm>
          <a:prstGeom prst="line">
            <a:avLst/>
          </a:prstGeom>
          <a:noFill/>
          <a:ln w="15875">
            <a:solidFill>
              <a:srgbClr val="7D889B"/>
            </a:solidFill>
            <a:prstDash val="solid"/>
            <a:tailEnd type="triangle"/>
          </a:ln>
        </p:spPr>
      </p:sp>
      <p:sp>
        <p:nvSpPr>
          <p:cNvPr id="10" name="Run fails; nothing created"/>
          <p:cNvSpPr txBox="1"/>
          <p:nvPr/>
        </p:nvSpPr>
        <p:spPr>
          <a:xfrm>
            <a:off x="6620256" y="1828800"/>
            <a:ext cx="2743200"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Run fails; nothing created</a:t>
            </a:r>
            <a:endParaRPr lang="en-US" sz="1200" dirty="0"/>
          </a:p>
          <a:p>
            <a:pPr algn="ctr" indent="0" marL="0">
              <a:buNone/>
            </a:pPr>
            <a:r>
              <a:rPr lang="en-US" sz="1050" dirty="0">
                <a:solidFill>
                  <a:srgbClr val="4650A9"/>
                </a:solidFill>
              </a:rPr>
              <a:t>Fix params.json and re-run</a:t>
            </a:r>
            <a:endParaRPr lang="en-US" sz="1200" dirty="0"/>
          </a:p>
        </p:txBody>
      </p:sp>
      <p:sp>
        <p:nvSpPr>
          <p:cNvPr id="11" name="Text 8"/>
          <p:cNvSpPr txBox="1"/>
          <p:nvPr/>
        </p:nvSpPr>
        <p:spPr>
          <a:xfrm>
            <a:off x="548640" y="2852928"/>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2</a:t>
            </a:r>
            <a:pPr indent="0" marL="0">
              <a:buNone/>
            </a:pPr>
            <a:r>
              <a:rPr lang="en-US" sz="1300" dirty="0">
                <a:solidFill>
                  <a:srgbClr val="586275"/>
                </a:solidFill>
              </a:rPr>
              <a:t>   typo fixed</a:t>
            </a:r>
            <a:endParaRPr lang="en-US" sz="1300" dirty="0"/>
          </a:p>
        </p:txBody>
      </p:sp>
      <p:sp>
        <p:nvSpPr>
          <p:cNvPr id="12" name="Engineer runs it again"/>
          <p:cNvSpPr txBox="1"/>
          <p:nvPr/>
        </p:nvSpPr>
        <p:spPr>
          <a:xfrm>
            <a:off x="548640" y="3218688"/>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it again</a:t>
            </a:r>
            <a:endParaRPr lang="en-US" sz="1200" dirty="0"/>
          </a:p>
        </p:txBody>
      </p:sp>
      <p:sp>
        <p:nvSpPr>
          <p:cNvPr id="13" name="Shape 10"/>
          <p:cNvSpPr/>
          <p:nvPr/>
        </p:nvSpPr>
        <p:spPr>
          <a:xfrm>
            <a:off x="3063240" y="3607308"/>
            <a:ext cx="292608" cy="0"/>
          </a:xfrm>
          <a:prstGeom prst="line">
            <a:avLst/>
          </a:prstGeom>
          <a:noFill/>
          <a:ln w="15875">
            <a:solidFill>
              <a:srgbClr val="7D889B"/>
            </a:solidFill>
            <a:prstDash val="solid"/>
            <a:tailEnd type="triangle"/>
          </a:ln>
        </p:spPr>
      </p:sp>
      <p:sp>
        <p:nvSpPr>
          <p:cNvPr id="14" name="Instance created at once"/>
          <p:cNvSpPr txBox="1"/>
          <p:nvPr/>
        </p:nvSpPr>
        <p:spPr>
          <a:xfrm>
            <a:off x="3355848" y="3218688"/>
            <a:ext cx="25146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Instance created at once</a:t>
            </a:r>
            <a:endParaRPr lang="en-US" sz="1200" dirty="0"/>
          </a:p>
          <a:p>
            <a:pPr algn="ctr" indent="0" marL="0">
              <a:buNone/>
            </a:pPr>
            <a:r>
              <a:rPr lang="en-US" sz="1050" dirty="0">
                <a:solidFill>
                  <a:srgbClr val="8F4F17"/>
                </a:solidFill>
              </a:rPr>
              <a:t>No scan, no preview, no approval</a:t>
            </a:r>
            <a:endParaRPr lang="en-US" sz="1200" dirty="0"/>
          </a:p>
        </p:txBody>
      </p:sp>
      <p:sp>
        <p:nvSpPr>
          <p:cNvPr id="15" name="Shape 12"/>
          <p:cNvSpPr/>
          <p:nvPr/>
        </p:nvSpPr>
        <p:spPr>
          <a:xfrm>
            <a:off x="5870448" y="3607308"/>
            <a:ext cx="292608" cy="0"/>
          </a:xfrm>
          <a:prstGeom prst="line">
            <a:avLst/>
          </a:prstGeom>
          <a:noFill/>
          <a:ln w="15875">
            <a:solidFill>
              <a:srgbClr val="7D889B"/>
            </a:solidFill>
            <a:prstDash val="solid"/>
            <a:tailEnd type="triangle"/>
          </a:ln>
        </p:spPr>
      </p:sp>
      <p:sp>
        <p:nvSpPr>
          <p:cNvPr id="16" name="Live with SSH open to the world"/>
          <p:cNvSpPr txBox="1"/>
          <p:nvPr/>
        </p:nvSpPr>
        <p:spPr>
          <a:xfrm>
            <a:off x="6163056" y="3218688"/>
            <a:ext cx="25146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Live with SSH open to the world</a:t>
            </a:r>
            <a:endParaRPr lang="en-US" sz="1200" dirty="0"/>
          </a:p>
          <a:p>
            <a:pPr algn="ctr" indent="0" marL="0">
              <a:buNone/>
            </a:pPr>
            <a:r>
              <a:rPr lang="en-US" sz="1050" dirty="0">
                <a:solidFill>
                  <a:srgbClr val="A1332C"/>
                </a:solidFill>
              </a:rPr>
              <a:t>Nobody is told</a:t>
            </a:r>
            <a:endParaRPr lang="en-US" sz="1200" dirty="0"/>
          </a:p>
        </p:txBody>
      </p:sp>
      <p:sp>
        <p:nvSpPr>
          <p:cNvPr id="17" name="Shape 14"/>
          <p:cNvSpPr/>
          <p:nvPr/>
        </p:nvSpPr>
        <p:spPr>
          <a:xfrm>
            <a:off x="8677656" y="3607308"/>
            <a:ext cx="292608" cy="0"/>
          </a:xfrm>
          <a:prstGeom prst="line">
            <a:avLst/>
          </a:prstGeom>
          <a:noFill/>
          <a:ln w="15875">
            <a:solidFill>
              <a:srgbClr val="7D889B"/>
            </a:solidFill>
            <a:prstDash val="solid"/>
            <a:tailEnd type="triangle"/>
          </a:ln>
        </p:spPr>
      </p:sp>
      <p:sp>
        <p:nvSpPr>
          <p:cNvPr id="18" name="Outputs printed in the log"/>
          <p:cNvSpPr txBox="1"/>
          <p:nvPr/>
        </p:nvSpPr>
        <p:spPr>
          <a:xfrm>
            <a:off x="8970264" y="3218688"/>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Outputs printed in the log</a:t>
            </a:r>
            <a:endParaRPr lang="en-US" sz="1200" dirty="0"/>
          </a:p>
          <a:p>
            <a:pPr algn="ctr" indent="0" marL="0">
              <a:buNone/>
            </a:pPr>
            <a:r>
              <a:rPr lang="en-US" sz="1050" dirty="0">
                <a:solidFill>
                  <a:srgbClr val="586275"/>
                </a:solidFill>
              </a:rPr>
              <a:t>No email, no record of approval</a:t>
            </a:r>
            <a:endParaRPr lang="en-US" sz="1200" dirty="0"/>
          </a:p>
        </p:txBody>
      </p:sp>
      <p:sp>
        <p:nvSpPr>
          <p:cNvPr id="19" name="Text 16"/>
          <p:cNvSpPr txBox="1"/>
          <p:nvPr/>
        </p:nvSpPr>
        <p:spPr>
          <a:xfrm>
            <a:off x="548640" y="4242816"/>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If the create fails half-way</a:t>
            </a:r>
            <a:pPr indent="0" marL="0">
              <a:buNone/>
            </a:pPr>
            <a:r>
              <a:rPr lang="en-US" sz="1300" dirty="0">
                <a:solidFill>
                  <a:srgbClr val="586275"/>
                </a:solidFill>
              </a:rPr>
              <a:t>   for example a capacity or quota limit, or an AMI ID from another Region</a:t>
            </a:r>
            <a:endParaRPr lang="en-US" sz="1300" dirty="0"/>
          </a:p>
        </p:txBody>
      </p:sp>
      <p:sp>
        <p:nvSpPr>
          <p:cNvPr id="20" name="Stack rolls back"/>
          <p:cNvSpPr txBox="1"/>
          <p:nvPr/>
        </p:nvSpPr>
        <p:spPr>
          <a:xfrm>
            <a:off x="548640" y="4608576"/>
            <a:ext cx="25146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Stack rolls back</a:t>
            </a:r>
            <a:endParaRPr lang="en-US" sz="1200" dirty="0"/>
          </a:p>
          <a:p>
            <a:pPr algn="ctr" indent="0" marL="0">
              <a:buNone/>
            </a:pPr>
            <a:r>
              <a:rPr lang="en-US" sz="1050" dirty="0">
                <a:solidFill>
                  <a:srgbClr val="8F4F17"/>
                </a:solidFill>
              </a:rPr>
              <a:t>Left in ROLLBACK_COMPLETE</a:t>
            </a:r>
            <a:endParaRPr lang="en-US" sz="1200" dirty="0"/>
          </a:p>
        </p:txBody>
      </p:sp>
      <p:sp>
        <p:nvSpPr>
          <p:cNvPr id="21" name="Shape 18"/>
          <p:cNvSpPr/>
          <p:nvPr/>
        </p:nvSpPr>
        <p:spPr>
          <a:xfrm>
            <a:off x="3063240" y="4997196"/>
            <a:ext cx="292608" cy="0"/>
          </a:xfrm>
          <a:prstGeom prst="line">
            <a:avLst/>
          </a:prstGeom>
          <a:noFill/>
          <a:ln w="15875">
            <a:solidFill>
              <a:srgbClr val="7D889B"/>
            </a:solidFill>
            <a:prstDash val="solid"/>
            <a:tailEnd type="triangle"/>
          </a:ln>
        </p:spPr>
      </p:sp>
      <p:sp>
        <p:nvSpPr>
          <p:cNvPr id="22" name="Generic CLI error"/>
          <p:cNvSpPr txBox="1"/>
          <p:nvPr/>
        </p:nvSpPr>
        <p:spPr>
          <a:xfrm>
            <a:off x="3355848" y="4608576"/>
            <a:ext cx="2514600" cy="777240"/>
          </a:xfrm>
          <a:prstGeom prst="roundRect">
            <a:avLst>
              <a:gd name="adj" fmla="val 10588"/>
            </a:avLst>
          </a:prstGeom>
          <a:solidFill>
            <a:srgbClr val="FCEAE9"/>
          </a:solidFill>
          <a:ln w="25400">
            <a:solidFill>
              <a:srgbClr val="C93A32"/>
            </a:solidFill>
          </a:ln>
        </p:spPr>
        <p:txBody>
          <a:bodyPr wrap="square" lIns="50800" tIns="25400" rIns="50800" bIns="25400" rtlCol="0" anchor="ctr"/>
          <a:lstStyle/>
          <a:p>
            <a:pPr algn="ctr" indent="0" marL="0">
              <a:buNone/>
            </a:pPr>
            <a:r>
              <a:rPr lang="en-US" sz="1200" b="1" dirty="0">
                <a:solidFill>
                  <a:srgbClr val="7D1C16"/>
                </a:solidFill>
              </a:rPr>
              <a:t>Generic CLI error</a:t>
            </a:r>
            <a:endParaRPr lang="en-US" sz="1200" dirty="0"/>
          </a:p>
          <a:p>
            <a:pPr algn="ctr" indent="0" marL="0">
              <a:buNone/>
            </a:pPr>
            <a:r>
              <a:rPr lang="en-US" sz="1050" dirty="0">
                <a:solidFill>
                  <a:srgbClr val="A1332C"/>
                </a:solidFill>
              </a:rPr>
              <a:t>The workflow's own diagnostics never run</a:t>
            </a:r>
            <a:endParaRPr lang="en-US" sz="1200" dirty="0"/>
          </a:p>
        </p:txBody>
      </p:sp>
      <p:sp>
        <p:nvSpPr>
          <p:cNvPr id="23" name="Shape 20"/>
          <p:cNvSpPr/>
          <p:nvPr/>
        </p:nvSpPr>
        <p:spPr>
          <a:xfrm>
            <a:off x="5870448" y="4997196"/>
            <a:ext cx="292608" cy="0"/>
          </a:xfrm>
          <a:prstGeom prst="line">
            <a:avLst/>
          </a:prstGeom>
          <a:noFill/>
          <a:ln w="15875">
            <a:solidFill>
              <a:srgbClr val="7D889B"/>
            </a:solidFill>
            <a:prstDash val="solid"/>
            <a:tailEnd type="triangle"/>
          </a:ln>
        </p:spPr>
      </p:sp>
      <p:sp>
        <p:nvSpPr>
          <p:cNvPr id="24" name="Every re-run fails"/>
          <p:cNvSpPr txBox="1"/>
          <p:nvPr/>
        </p:nvSpPr>
        <p:spPr>
          <a:xfrm>
            <a:off x="6163056" y="4608576"/>
            <a:ext cx="25146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Every re-run fails</a:t>
            </a:r>
            <a:endParaRPr lang="en-US" sz="1200" dirty="0"/>
          </a:p>
          <a:p>
            <a:pPr algn="ctr" indent="0" marL="0">
              <a:buNone/>
            </a:pPr>
            <a:r>
              <a:rPr lang="en-US" sz="1050" dirty="0">
                <a:solidFill>
                  <a:srgbClr val="A1332C"/>
                </a:solidFill>
              </a:rPr>
              <a:t>A ROLLBACK_COMPLETE stack can't be updated</a:t>
            </a:r>
            <a:endParaRPr lang="en-US" sz="1200" dirty="0"/>
          </a:p>
        </p:txBody>
      </p:sp>
      <p:sp>
        <p:nvSpPr>
          <p:cNvPr id="25" name="Shape 22"/>
          <p:cNvSpPr/>
          <p:nvPr/>
        </p:nvSpPr>
        <p:spPr>
          <a:xfrm>
            <a:off x="8677656" y="4997196"/>
            <a:ext cx="292608" cy="0"/>
          </a:xfrm>
          <a:prstGeom prst="line">
            <a:avLst/>
          </a:prstGeom>
          <a:noFill/>
          <a:ln w="15875">
            <a:solidFill>
              <a:srgbClr val="7D889B"/>
            </a:solidFill>
            <a:prstDash val="solid"/>
            <a:tailEnd type="triangle"/>
          </a:ln>
        </p:spPr>
      </p:sp>
      <p:sp>
        <p:nvSpPr>
          <p:cNvPr id="26" name="Stack deleted by hand"/>
          <p:cNvSpPr txBox="1"/>
          <p:nvPr/>
        </p:nvSpPr>
        <p:spPr>
          <a:xfrm>
            <a:off x="8970264" y="4608576"/>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Stack deleted by hand</a:t>
            </a:r>
            <a:endParaRPr lang="en-US" sz="1200" dirty="0"/>
          </a:p>
          <a:p>
            <a:pPr algn="ctr" indent="0" marL="0">
              <a:buNone/>
            </a:pPr>
            <a:r>
              <a:rPr lang="en-US" sz="1050" dirty="0">
                <a:solidFill>
                  <a:srgbClr val="586275"/>
                </a:solidFill>
              </a:rPr>
              <a:t>In the console, outside the pipeline</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Proposed: both mistakes are caught before anything is created</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cfn-deploy-pipeline.yml · each run stops safely until the change is right</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1</a:t>
            </a:r>
            <a:pPr indent="0" marL="0">
              <a:buNone/>
            </a:pPr>
            <a:r>
              <a:rPr lang="en-US" sz="1300" dirty="0">
                <a:solidFill>
                  <a:srgbClr val="586275"/>
                </a:solidFill>
              </a:rPr>
              <a:t>   typo in params.json</a:t>
            </a:r>
            <a:endParaRPr lang="en-US" sz="1300" dirty="0"/>
          </a:p>
        </p:txBody>
      </p:sp>
      <p:sp>
        <p:nvSpPr>
          <p:cNvPr id="6" name="Engineer runs the pipeline"/>
          <p:cNvSpPr txBox="1"/>
          <p:nvPr/>
        </p:nvSpPr>
        <p:spPr>
          <a:xfrm>
            <a:off x="548640" y="182880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pipeline</a:t>
            </a:r>
            <a:endParaRPr lang="en-US" sz="1200" dirty="0"/>
          </a:p>
          <a:p>
            <a:pPr algn="ctr" indent="0" marL="0">
              <a:buNone/>
            </a:pPr>
            <a:r>
              <a:rPr lang="en-US" sz="1050" dirty="0">
                <a:solidFill>
                  <a:srgbClr val="586275"/>
                </a:solidFill>
              </a:rPr>
              <a:t>Account picked from a list</a:t>
            </a:r>
            <a:endParaRPr lang="en-US" sz="1200" dirty="0"/>
          </a:p>
        </p:txBody>
      </p:sp>
      <p:sp>
        <p:nvSpPr>
          <p:cNvPr id="7" name="Shape 4"/>
          <p:cNvSpPr/>
          <p:nvPr/>
        </p:nvSpPr>
        <p:spPr>
          <a:xfrm>
            <a:off x="3291840" y="2217420"/>
            <a:ext cx="292608" cy="0"/>
          </a:xfrm>
          <a:prstGeom prst="line">
            <a:avLst/>
          </a:prstGeom>
          <a:noFill/>
          <a:ln w="15875">
            <a:solidFill>
              <a:srgbClr val="7D889B"/>
            </a:solidFill>
            <a:prstDash val="solid"/>
            <a:tailEnd type="triangle"/>
          </a:ln>
        </p:spPr>
      </p:sp>
      <p:sp>
        <p:nvSpPr>
          <p:cNvPr id="8" name="Preflight"/>
          <p:cNvSpPr txBox="1"/>
          <p:nvPr/>
        </p:nvSpPr>
        <p:spPr>
          <a:xfrm>
            <a:off x="3584448" y="1828800"/>
            <a:ext cx="2743200"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Preflight</a:t>
            </a:r>
            <a:endParaRPr lang="en-US" sz="1200" dirty="0"/>
          </a:p>
          <a:p>
            <a:pPr algn="ctr" indent="0" marL="0">
              <a:buNone/>
            </a:pPr>
            <a:r>
              <a:rPr lang="en-US" sz="1050" dirty="0">
                <a:solidFill>
                  <a:srgbClr val="2B6C59"/>
                </a:solidFill>
              </a:rPr>
              <a:t>t3.mirco is not an allowed value</a:t>
            </a:r>
            <a:endParaRPr lang="en-US" sz="1200" dirty="0"/>
          </a:p>
        </p:txBody>
      </p:sp>
      <p:sp>
        <p:nvSpPr>
          <p:cNvPr id="9" name="Shape 6"/>
          <p:cNvSpPr/>
          <p:nvPr/>
        </p:nvSpPr>
        <p:spPr>
          <a:xfrm>
            <a:off x="6327648" y="2217420"/>
            <a:ext cx="292608" cy="0"/>
          </a:xfrm>
          <a:prstGeom prst="line">
            <a:avLst/>
          </a:prstGeom>
          <a:noFill/>
          <a:ln w="15875">
            <a:solidFill>
              <a:srgbClr val="7D889B"/>
            </a:solidFill>
            <a:prstDash val="solid"/>
            <a:tailEnd type="triangle"/>
          </a:ln>
        </p:spPr>
      </p:sp>
      <p:sp>
        <p:nvSpPr>
          <p:cNvPr id="10" name="Stopped before AWS"/>
          <p:cNvSpPr txBox="1"/>
          <p:nvPr/>
        </p:nvSpPr>
        <p:spPr>
          <a:xfrm>
            <a:off x="6620256" y="1828800"/>
            <a:ext cx="2743200"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Stopped before AWS</a:t>
            </a:r>
            <a:endParaRPr lang="en-US" sz="1200" dirty="0"/>
          </a:p>
          <a:p>
            <a:pPr algn="ctr" indent="0" marL="0">
              <a:buNone/>
            </a:pPr>
            <a:r>
              <a:rPr lang="en-US" sz="1050" dirty="0">
                <a:solidFill>
                  <a:srgbClr val="4650A9"/>
                </a:solidFill>
              </a:rPr>
              <a:t>Nothing created; fix params.json</a:t>
            </a:r>
            <a:endParaRPr lang="en-US" sz="1200" dirty="0"/>
          </a:p>
        </p:txBody>
      </p:sp>
      <p:sp>
        <p:nvSpPr>
          <p:cNvPr id="11" name="Text 8"/>
          <p:cNvSpPr txBox="1"/>
          <p:nvPr/>
        </p:nvSpPr>
        <p:spPr>
          <a:xfrm>
            <a:off x="548640" y="274320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2</a:t>
            </a:r>
            <a:pPr indent="0" marL="0">
              <a:buNone/>
            </a:pPr>
            <a:r>
              <a:rPr lang="en-US" sz="1300" dirty="0">
                <a:solidFill>
                  <a:srgbClr val="586275"/>
                </a:solidFill>
              </a:rPr>
              <a:t>   typo fixed, SSH still open</a:t>
            </a:r>
            <a:endParaRPr lang="en-US" sz="1300" dirty="0"/>
          </a:p>
        </p:txBody>
      </p:sp>
      <p:sp>
        <p:nvSpPr>
          <p:cNvPr id="12" name="Preflight and lint pass"/>
          <p:cNvSpPr txBox="1"/>
          <p:nvPr/>
        </p:nvSpPr>
        <p:spPr>
          <a:xfrm>
            <a:off x="548640" y="310896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Preflight and lint pass</a:t>
            </a:r>
            <a:endParaRPr lang="en-US" sz="1200" dirty="0"/>
          </a:p>
          <a:p>
            <a:pPr algn="ctr" indent="0" marL="0">
              <a:buNone/>
            </a:pPr>
            <a:r>
              <a:rPr lang="en-US" sz="1050" dirty="0">
                <a:solidFill>
                  <a:srgbClr val="2B6C59"/>
                </a:solidFill>
              </a:rPr>
              <a:t>Template and params valid</a:t>
            </a:r>
            <a:endParaRPr lang="en-US" sz="1200" dirty="0"/>
          </a:p>
        </p:txBody>
      </p:sp>
      <p:sp>
        <p:nvSpPr>
          <p:cNvPr id="13" name="Shape 10"/>
          <p:cNvSpPr/>
          <p:nvPr/>
        </p:nvSpPr>
        <p:spPr>
          <a:xfrm>
            <a:off x="2532888" y="3497580"/>
            <a:ext cx="292608" cy="0"/>
          </a:xfrm>
          <a:prstGeom prst="line">
            <a:avLst/>
          </a:prstGeom>
          <a:noFill/>
          <a:ln w="15875">
            <a:solidFill>
              <a:srgbClr val="7D889B"/>
            </a:solidFill>
            <a:prstDash val="solid"/>
            <a:tailEnd type="triangle"/>
          </a:ln>
        </p:spPr>
      </p:sp>
      <p:sp>
        <p:nvSpPr>
          <p:cNvPr id="14" name="Security scan"/>
          <p:cNvSpPr txBox="1"/>
          <p:nvPr/>
        </p:nvSpPr>
        <p:spPr>
          <a:xfrm>
            <a:off x="2825496" y="310896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Security scan</a:t>
            </a:r>
            <a:endParaRPr lang="en-US" sz="1200" dirty="0"/>
          </a:p>
          <a:p>
            <a:pPr algn="ctr" indent="0" marL="0">
              <a:buNone/>
            </a:pPr>
            <a:r>
              <a:rPr lang="en-US" sz="1050" dirty="0">
                <a:solidFill>
                  <a:srgbClr val="2B6C59"/>
                </a:solidFill>
              </a:rPr>
              <a:t>SSH open to 0.0.0.0/0 flagged</a:t>
            </a:r>
            <a:endParaRPr lang="en-US" sz="1200" dirty="0"/>
          </a:p>
        </p:txBody>
      </p:sp>
      <p:sp>
        <p:nvSpPr>
          <p:cNvPr id="15" name="Shape 12"/>
          <p:cNvSpPr/>
          <p:nvPr/>
        </p:nvSpPr>
        <p:spPr>
          <a:xfrm>
            <a:off x="4809744" y="3497580"/>
            <a:ext cx="292608" cy="0"/>
          </a:xfrm>
          <a:prstGeom prst="line">
            <a:avLst/>
          </a:prstGeom>
          <a:noFill/>
          <a:ln w="15875">
            <a:solidFill>
              <a:srgbClr val="7D889B"/>
            </a:solidFill>
            <a:prstDash val="solid"/>
            <a:tailEnd type="triangle"/>
          </a:ln>
        </p:spPr>
      </p:sp>
      <p:sp>
        <p:nvSpPr>
          <p:cNvPr id="16" name="CREATE change set"/>
          <p:cNvSpPr txBox="1"/>
          <p:nvPr/>
        </p:nvSpPr>
        <p:spPr>
          <a:xfrm>
            <a:off x="5102352" y="310896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CREATE change set</a:t>
            </a:r>
            <a:endParaRPr lang="en-US" sz="1200" dirty="0"/>
          </a:p>
          <a:p>
            <a:pPr algn="ctr" indent="0" marL="0">
              <a:buNone/>
            </a:pPr>
            <a:r>
              <a:rPr lang="en-US" sz="1050" dirty="0">
                <a:solidFill>
                  <a:srgbClr val="586275"/>
                </a:solidFill>
              </a:rPr>
              <a:t>Instance LOW · security group MEDIUM</a:t>
            </a:r>
            <a:endParaRPr lang="en-US" sz="1200" dirty="0"/>
          </a:p>
        </p:txBody>
      </p:sp>
      <p:sp>
        <p:nvSpPr>
          <p:cNvPr id="17" name="Shape 14"/>
          <p:cNvSpPr/>
          <p:nvPr/>
        </p:nvSpPr>
        <p:spPr>
          <a:xfrm>
            <a:off x="7086600" y="3497580"/>
            <a:ext cx="292608" cy="0"/>
          </a:xfrm>
          <a:prstGeom prst="line">
            <a:avLst/>
          </a:prstGeom>
          <a:noFill/>
          <a:ln w="15875">
            <a:solidFill>
              <a:srgbClr val="7D889B"/>
            </a:solidFill>
            <a:prstDash val="solid"/>
            <a:tailEnd type="triangle"/>
          </a:ln>
        </p:spPr>
      </p:sp>
      <p:sp>
        <p:nvSpPr>
          <p:cNvPr id="18" name="Approval email"/>
          <p:cNvSpPr txBox="1"/>
          <p:nvPr/>
        </p:nvSpPr>
        <p:spPr>
          <a:xfrm>
            <a:off x="7379208" y="310896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Includes the scan finding</a:t>
            </a:r>
            <a:endParaRPr lang="en-US" sz="1200" dirty="0"/>
          </a:p>
        </p:txBody>
      </p:sp>
      <p:sp>
        <p:nvSpPr>
          <p:cNvPr id="19" name="Email sent"/>
          <p:cNvSpPr/>
          <p:nvPr/>
        </p:nvSpPr>
        <p:spPr>
          <a:xfrm>
            <a:off x="7434072" y="2962656"/>
            <a:ext cx="292608" cy="292608"/>
          </a:xfrm>
          <a:prstGeom prst="ellipse">
            <a:avLst/>
          </a:prstGeom>
          <a:solidFill>
            <a:srgbClr val="FFFFFF"/>
          </a:solidFill>
          <a:ln w="15875">
            <a:solidFill>
              <a:srgbClr val="2A5BD7"/>
            </a:solidFill>
            <a:prstDash val="solid"/>
          </a:ln>
        </p:spPr>
      </p:sp>
      <p:pic>
        <p:nvPicPr>
          <p:cNvPr id="20" name="Image 0" descr="Email sent">    </p:cNvPr>
          <p:cNvPicPr>
            <a:picLocks noChangeAspect="1"/>
          </p:cNvPicPr>
          <p:nvPr/>
        </p:nvPicPr>
        <p:blipFill>
          <a:blip r:embed="rId1"/>
          <a:stretch>
            <a:fillRect/>
          </a:stretch>
        </p:blipFill>
        <p:spPr>
          <a:xfrm>
            <a:off x="7489668" y="3018252"/>
            <a:ext cx="181417" cy="181417"/>
          </a:xfrm>
          <a:prstGeom prst="rect">
            <a:avLst/>
          </a:prstGeom>
        </p:spPr>
      </p:pic>
      <p:sp>
        <p:nvSpPr>
          <p:cNvPr id="21" name="Shape 17"/>
          <p:cNvSpPr/>
          <p:nvPr/>
        </p:nvSpPr>
        <p:spPr>
          <a:xfrm>
            <a:off x="9363456" y="3497580"/>
            <a:ext cx="292608" cy="0"/>
          </a:xfrm>
          <a:prstGeom prst="line">
            <a:avLst/>
          </a:prstGeom>
          <a:noFill/>
          <a:ln w="15875">
            <a:solidFill>
              <a:srgbClr val="7D889B"/>
            </a:solidFill>
            <a:prstDash val="solid"/>
            <a:tailEnd type="triangle"/>
          </a:ln>
        </p:spPr>
      </p:sp>
      <p:sp>
        <p:nvSpPr>
          <p:cNvPr id="22" name="Approver rejects"/>
          <p:cNvSpPr txBox="1"/>
          <p:nvPr/>
        </p:nvSpPr>
        <p:spPr>
          <a:xfrm>
            <a:off x="9656064" y="3108960"/>
            <a:ext cx="1984248"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Approver rejects</a:t>
            </a:r>
            <a:endParaRPr lang="en-US" sz="1200" dirty="0"/>
          </a:p>
          <a:p>
            <a:pPr algn="ctr" indent="0" marL="0">
              <a:buNone/>
            </a:pPr>
            <a:r>
              <a:rPr lang="en-US" sz="1050" dirty="0">
                <a:solidFill>
                  <a:srgbClr val="4650A9"/>
                </a:solidFill>
              </a:rPr>
              <a:t>Change set deleted; nothing created</a:t>
            </a:r>
            <a:endParaRPr lang="en-US" sz="1200" dirty="0"/>
          </a:p>
        </p:txBody>
      </p:sp>
      <p:sp>
        <p:nvSpPr>
          <p:cNvPr id="23" name="Text 19"/>
          <p:cNvSpPr txBox="1"/>
          <p:nvPr/>
        </p:nvSpPr>
        <p:spPr>
          <a:xfrm>
            <a:off x="548640" y="402336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3</a:t>
            </a:r>
            <a:pPr indent="0" marL="0">
              <a:buNone/>
            </a:pPr>
            <a:r>
              <a:rPr lang="en-US" sz="1300" dirty="0">
                <a:solidFill>
                  <a:srgbClr val="586275"/>
                </a:solidFill>
              </a:rPr>
              <a:t>   SSH rule removed</a:t>
            </a:r>
            <a:endParaRPr lang="en-US" sz="1300" dirty="0"/>
          </a:p>
        </p:txBody>
      </p:sp>
      <p:sp>
        <p:nvSpPr>
          <p:cNvPr id="24" name="All checks pass"/>
          <p:cNvSpPr txBox="1"/>
          <p:nvPr/>
        </p:nvSpPr>
        <p:spPr>
          <a:xfrm>
            <a:off x="548640" y="438912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All checks pass</a:t>
            </a:r>
            <a:endParaRPr lang="en-US" sz="1200" dirty="0"/>
          </a:p>
          <a:p>
            <a:pPr algn="ctr" indent="0" marL="0">
              <a:buNone/>
            </a:pPr>
            <a:r>
              <a:rPr lang="en-US" sz="1050" dirty="0">
                <a:solidFill>
                  <a:srgbClr val="2B6C59"/>
                </a:solidFill>
              </a:rPr>
              <a:t>Preflight, lint, security scan</a:t>
            </a:r>
            <a:endParaRPr lang="en-US" sz="1200" dirty="0"/>
          </a:p>
        </p:txBody>
      </p:sp>
      <p:sp>
        <p:nvSpPr>
          <p:cNvPr id="25" name="Shape 21"/>
          <p:cNvSpPr/>
          <p:nvPr/>
        </p:nvSpPr>
        <p:spPr>
          <a:xfrm>
            <a:off x="2532888" y="4777740"/>
            <a:ext cx="292608" cy="0"/>
          </a:xfrm>
          <a:prstGeom prst="line">
            <a:avLst/>
          </a:prstGeom>
          <a:noFill/>
          <a:ln w="15875">
            <a:solidFill>
              <a:srgbClr val="7D889B"/>
            </a:solidFill>
            <a:prstDash val="solid"/>
            <a:tailEnd type="triangle"/>
          </a:ln>
        </p:spPr>
      </p:sp>
      <p:sp>
        <p:nvSpPr>
          <p:cNvPr id="26" name="CREATE change set"/>
          <p:cNvSpPr txBox="1"/>
          <p:nvPr/>
        </p:nvSpPr>
        <p:spPr>
          <a:xfrm>
            <a:off x="2825496" y="438912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CREATE change set</a:t>
            </a:r>
            <a:endParaRPr lang="en-US" sz="1200" dirty="0"/>
          </a:p>
          <a:p>
            <a:pPr algn="ctr" indent="0" marL="0">
              <a:buNone/>
            </a:pPr>
            <a:r>
              <a:rPr lang="en-US" sz="1050" dirty="0">
                <a:solidFill>
                  <a:srgbClr val="586275"/>
                </a:solidFill>
              </a:rPr>
              <a:t>Every new resource rated</a:t>
            </a:r>
            <a:endParaRPr lang="en-US" sz="1200" dirty="0"/>
          </a:p>
        </p:txBody>
      </p:sp>
      <p:sp>
        <p:nvSpPr>
          <p:cNvPr id="27" name="Shape 23"/>
          <p:cNvSpPr/>
          <p:nvPr/>
        </p:nvSpPr>
        <p:spPr>
          <a:xfrm>
            <a:off x="4809744" y="4777740"/>
            <a:ext cx="292608" cy="0"/>
          </a:xfrm>
          <a:prstGeom prst="line">
            <a:avLst/>
          </a:prstGeom>
          <a:noFill/>
          <a:ln w="15875">
            <a:solidFill>
              <a:srgbClr val="7D889B"/>
            </a:solidFill>
            <a:prstDash val="solid"/>
            <a:tailEnd type="triangle"/>
          </a:ln>
        </p:spPr>
      </p:sp>
      <p:sp>
        <p:nvSpPr>
          <p:cNvPr id="28" name="Approval email"/>
          <p:cNvSpPr txBox="1"/>
          <p:nvPr/>
        </p:nvSpPr>
        <p:spPr>
          <a:xfrm>
            <a:off x="5102352" y="438912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What will be created, and why</a:t>
            </a:r>
            <a:endParaRPr lang="en-US" sz="1200" dirty="0"/>
          </a:p>
        </p:txBody>
      </p:sp>
      <p:sp>
        <p:nvSpPr>
          <p:cNvPr id="29" name="Email sent"/>
          <p:cNvSpPr/>
          <p:nvPr/>
        </p:nvSpPr>
        <p:spPr>
          <a:xfrm>
            <a:off x="5157216" y="4242816"/>
            <a:ext cx="292608" cy="292608"/>
          </a:xfrm>
          <a:prstGeom prst="ellipse">
            <a:avLst/>
          </a:prstGeom>
          <a:solidFill>
            <a:srgbClr val="FFFFFF"/>
          </a:solidFill>
          <a:ln w="15875">
            <a:solidFill>
              <a:srgbClr val="2A5BD7"/>
            </a:solidFill>
            <a:prstDash val="solid"/>
          </a:ln>
        </p:spPr>
      </p:sp>
      <p:pic>
        <p:nvPicPr>
          <p:cNvPr id="30" name="Image 1" descr="Email sent">    </p:cNvPr>
          <p:cNvPicPr>
            <a:picLocks noChangeAspect="1"/>
          </p:cNvPicPr>
          <p:nvPr/>
        </p:nvPicPr>
        <p:blipFill>
          <a:blip r:embed="rId2"/>
          <a:stretch>
            <a:fillRect/>
          </a:stretch>
        </p:blipFill>
        <p:spPr>
          <a:xfrm>
            <a:off x="5212812" y="4298412"/>
            <a:ext cx="181417" cy="181417"/>
          </a:xfrm>
          <a:prstGeom prst="rect">
            <a:avLst/>
          </a:prstGeom>
        </p:spPr>
      </p:pic>
      <p:sp>
        <p:nvSpPr>
          <p:cNvPr id="31" name="Shape 26"/>
          <p:cNvSpPr/>
          <p:nvPr/>
        </p:nvSpPr>
        <p:spPr>
          <a:xfrm>
            <a:off x="7086600" y="4777740"/>
            <a:ext cx="292608" cy="0"/>
          </a:xfrm>
          <a:prstGeom prst="line">
            <a:avLst/>
          </a:prstGeom>
          <a:noFill/>
          <a:ln w="15875">
            <a:solidFill>
              <a:srgbClr val="7D889B"/>
            </a:solidFill>
            <a:prstDash val="solid"/>
            <a:tailEnd type="triangle"/>
          </a:ln>
        </p:spPr>
      </p:sp>
      <p:sp>
        <p:nvSpPr>
          <p:cNvPr id="32" name="Approver approves"/>
          <p:cNvSpPr txBox="1"/>
          <p:nvPr/>
        </p:nvSpPr>
        <p:spPr>
          <a:xfrm>
            <a:off x="7379208" y="438912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Approver approves</a:t>
            </a:r>
            <a:endParaRPr lang="en-US" sz="1200" dirty="0"/>
          </a:p>
          <a:p>
            <a:pPr algn="ctr" indent="0" marL="0">
              <a:buNone/>
            </a:pPr>
            <a:r>
              <a:rPr lang="en-US" sz="1050" dirty="0">
                <a:solidFill>
                  <a:srgbClr val="586275"/>
                </a:solidFill>
              </a:rPr>
              <a:t>GitHub gate</a:t>
            </a:r>
            <a:endParaRPr lang="en-US" sz="1200" dirty="0"/>
          </a:p>
        </p:txBody>
      </p:sp>
      <p:sp>
        <p:nvSpPr>
          <p:cNvPr id="33" name="Shape 28"/>
          <p:cNvSpPr/>
          <p:nvPr/>
        </p:nvSpPr>
        <p:spPr>
          <a:xfrm>
            <a:off x="9363456" y="4777740"/>
            <a:ext cx="292608" cy="0"/>
          </a:xfrm>
          <a:prstGeom prst="line">
            <a:avLst/>
          </a:prstGeom>
          <a:noFill/>
          <a:ln w="15875">
            <a:solidFill>
              <a:srgbClr val="7D889B"/>
            </a:solidFill>
            <a:prstDash val="solid"/>
            <a:tailEnd type="triangle"/>
          </a:ln>
        </p:spPr>
      </p:sp>
      <p:sp>
        <p:nvSpPr>
          <p:cNvPr id="34" name="Deployed"/>
          <p:cNvSpPr txBox="1"/>
          <p:nvPr/>
        </p:nvSpPr>
        <p:spPr>
          <a:xfrm>
            <a:off x="9656064" y="4389120"/>
            <a:ext cx="1984248" cy="777240"/>
          </a:xfrm>
          <a:prstGeom prst="roundRect">
            <a:avLst>
              <a:gd name="adj" fmla="val 50000"/>
            </a:avLst>
          </a:prstGeom>
          <a:solidFill>
            <a:srgbClr val="E3F4E7"/>
          </a:solidFill>
          <a:ln w="15875">
            <a:solidFill>
              <a:srgbClr val="2E8946"/>
            </a:solidFill>
          </a:ln>
        </p:spPr>
        <p:txBody>
          <a:bodyPr wrap="square" lIns="127000" tIns="25400" rIns="127000" bIns="25400" rtlCol="0" anchor="ctr"/>
          <a:lstStyle/>
          <a:p>
            <a:pPr algn="ctr" indent="0" marL="0">
              <a:buNone/>
            </a:pPr>
            <a:r>
              <a:rPr lang="en-US" sz="1200" b="1" dirty="0">
                <a:solidFill>
                  <a:srgbClr val="165229"/>
                </a:solidFill>
              </a:rPr>
              <a:t>Deployed</a:t>
            </a:r>
            <a:endParaRPr lang="en-US" sz="1200" dirty="0"/>
          </a:p>
          <a:p>
            <a:pPr algn="ctr" indent="0" marL="0">
              <a:buNone/>
            </a:pPr>
            <a:r>
              <a:rPr lang="en-US" sz="1050" dirty="0">
                <a:solidFill>
                  <a:srgbClr val="2C6D3F"/>
                </a:solidFill>
              </a:rPr>
              <a:t>Result and outputs emailed</a:t>
            </a:r>
            <a:endParaRPr lang="en-US" sz="1200" dirty="0"/>
          </a:p>
        </p:txBody>
      </p:sp>
      <p:sp>
        <p:nvSpPr>
          <p:cNvPr id="35" name="Email sent"/>
          <p:cNvSpPr/>
          <p:nvPr/>
        </p:nvSpPr>
        <p:spPr>
          <a:xfrm>
            <a:off x="9898380" y="4242816"/>
            <a:ext cx="292608" cy="292608"/>
          </a:xfrm>
          <a:prstGeom prst="ellipse">
            <a:avLst/>
          </a:prstGeom>
          <a:solidFill>
            <a:srgbClr val="FFFFFF"/>
          </a:solidFill>
          <a:ln w="15875">
            <a:solidFill>
              <a:srgbClr val="2A5BD7"/>
            </a:solidFill>
            <a:prstDash val="solid"/>
          </a:ln>
        </p:spPr>
      </p:sp>
      <p:pic>
        <p:nvPicPr>
          <p:cNvPr id="36" name="Image 2" descr="Email sent">    </p:cNvPr>
          <p:cNvPicPr>
            <a:picLocks noChangeAspect="1"/>
          </p:cNvPicPr>
          <p:nvPr/>
        </p:nvPicPr>
        <p:blipFill>
          <a:blip r:embed="rId3"/>
          <a:stretch>
            <a:fillRect/>
          </a:stretch>
        </p:blipFill>
        <p:spPr>
          <a:xfrm>
            <a:off x="9953976" y="4298412"/>
            <a:ext cx="181417" cy="181417"/>
          </a:xfrm>
          <a:prstGeom prst="rect">
            <a:avLst/>
          </a:prstGeom>
        </p:spPr>
      </p:pic>
      <p:sp>
        <p:nvSpPr>
          <p:cNvPr id="37" name="Shape 31"/>
          <p:cNvSpPr/>
          <p:nvPr/>
        </p:nvSpPr>
        <p:spPr>
          <a:xfrm>
            <a:off x="548640" y="5486400"/>
            <a:ext cx="5458968" cy="786384"/>
          </a:xfrm>
          <a:prstGeom prst="roundRect">
            <a:avLst>
              <a:gd name="adj" fmla="val 11628"/>
            </a:avLst>
          </a:prstGeom>
          <a:solidFill>
            <a:srgbClr val="F4FAF6"/>
          </a:solidFill>
          <a:ln w="6350">
            <a:solidFill>
              <a:srgbClr val="F4FAF6"/>
            </a:solidFill>
            <a:prstDash val="solid"/>
          </a:ln>
        </p:spPr>
      </p:sp>
      <p:sp>
        <p:nvSpPr>
          <p:cNvPr id="38" name="Shape 32"/>
          <p:cNvSpPr/>
          <p:nvPr/>
        </p:nvSpPr>
        <p:spPr>
          <a:xfrm>
            <a:off x="694944" y="5678424"/>
            <a:ext cx="402336" cy="402336"/>
          </a:xfrm>
          <a:prstGeom prst="ellipse">
            <a:avLst/>
          </a:prstGeom>
          <a:solidFill>
            <a:srgbClr val="22866A"/>
          </a:solidFill>
          <a:ln w="6350">
            <a:solidFill>
              <a:srgbClr val="22866A"/>
            </a:solidFill>
            <a:prstDash val="solid"/>
          </a:ln>
        </p:spPr>
      </p:sp>
      <p:pic>
        <p:nvPicPr>
          <p:cNvPr id="39" name="Image 3" descr="Icon">    </p:cNvPr>
          <p:cNvPicPr>
            <a:picLocks noChangeAspect="1"/>
          </p:cNvPicPr>
          <p:nvPr/>
        </p:nvPicPr>
        <p:blipFill>
          <a:blip r:embed="rId4"/>
          <a:stretch>
            <a:fillRect/>
          </a:stretch>
        </p:blipFill>
        <p:spPr>
          <a:xfrm>
            <a:off x="791505" y="5774985"/>
            <a:ext cx="209215" cy="209215"/>
          </a:xfrm>
          <a:prstGeom prst="rect">
            <a:avLst/>
          </a:prstGeom>
        </p:spPr>
      </p:pic>
      <p:sp>
        <p:nvSpPr>
          <p:cNvPr id="40" name="Text 33"/>
          <p:cNvSpPr txBox="1"/>
          <p:nvPr/>
        </p:nvSpPr>
        <p:spPr>
          <a:xfrm>
            <a:off x="1261872" y="5486400"/>
            <a:ext cx="4590288" cy="786384"/>
          </a:xfrm>
          <a:prstGeom prst="rect">
            <a:avLst/>
          </a:prstGeom>
          <a:noFill/>
          <a:ln/>
        </p:spPr>
        <p:txBody>
          <a:bodyPr wrap="square" lIns="0" tIns="0" rIns="0" bIns="0" rtlCol="0" anchor="ctr"/>
          <a:lstStyle/>
          <a:p>
            <a:pPr indent="0" marL="0">
              <a:buNone/>
            </a:pPr>
            <a:r>
              <a:rPr lang="en-US" sz="1200" b="1" dirty="0">
                <a:solidFill>
                  <a:srgbClr val="0C4D3C"/>
                </a:solidFill>
              </a:rPr>
              <a:t>Stricter option.  </a:t>
            </a:r>
            <a:pPr indent="0" marL="0">
              <a:buNone/>
            </a:pPr>
            <a:r>
              <a:rPr lang="en-US" sz="1200" dirty="0">
                <a:solidFill>
                  <a:srgbClr val="131925"/>
                </a:solidFill>
              </a:rPr>
              <a:t>With CFN_SECURITY_SCAN_BLOCKING=true, run 2 stops at the security scan instead of reaching the approver.</a:t>
            </a:r>
            <a:endParaRPr lang="en-US" sz="1200" dirty="0"/>
          </a:p>
        </p:txBody>
      </p:sp>
      <p:sp>
        <p:nvSpPr>
          <p:cNvPr id="41" name="Shape 34"/>
          <p:cNvSpPr/>
          <p:nvPr/>
        </p:nvSpPr>
        <p:spPr>
          <a:xfrm>
            <a:off x="6181344" y="5486400"/>
            <a:ext cx="5458968" cy="786384"/>
          </a:xfrm>
          <a:prstGeom prst="roundRect">
            <a:avLst>
              <a:gd name="adj" fmla="val 11628"/>
            </a:avLst>
          </a:prstGeom>
          <a:solidFill>
            <a:srgbClr val="EAF0FD"/>
          </a:solidFill>
          <a:ln w="6350">
            <a:solidFill>
              <a:srgbClr val="EAF0FD"/>
            </a:solidFill>
            <a:prstDash val="solid"/>
          </a:ln>
        </p:spPr>
      </p:sp>
      <p:sp>
        <p:nvSpPr>
          <p:cNvPr id="42" name="Shape 35"/>
          <p:cNvSpPr/>
          <p:nvPr/>
        </p:nvSpPr>
        <p:spPr>
          <a:xfrm>
            <a:off x="6327648" y="5678424"/>
            <a:ext cx="402336" cy="402336"/>
          </a:xfrm>
          <a:prstGeom prst="ellipse">
            <a:avLst/>
          </a:prstGeom>
          <a:solidFill>
            <a:srgbClr val="2A5BD7"/>
          </a:solidFill>
          <a:ln w="6350">
            <a:solidFill>
              <a:srgbClr val="2A5BD7"/>
            </a:solidFill>
            <a:prstDash val="solid"/>
          </a:ln>
        </p:spPr>
      </p:sp>
      <p:pic>
        <p:nvPicPr>
          <p:cNvPr id="43" name="Image 4" descr="Icon">    </p:cNvPr>
          <p:cNvPicPr>
            <a:picLocks noChangeAspect="1"/>
          </p:cNvPicPr>
          <p:nvPr/>
        </p:nvPicPr>
        <p:blipFill>
          <a:blip r:embed="rId5"/>
          <a:stretch>
            <a:fillRect/>
          </a:stretch>
        </p:blipFill>
        <p:spPr>
          <a:xfrm>
            <a:off x="6424209" y="5774985"/>
            <a:ext cx="209215" cy="209215"/>
          </a:xfrm>
          <a:prstGeom prst="rect">
            <a:avLst/>
          </a:prstGeom>
        </p:spPr>
      </p:pic>
      <p:sp>
        <p:nvSpPr>
          <p:cNvPr id="44" name="Text 36"/>
          <p:cNvSpPr txBox="1"/>
          <p:nvPr/>
        </p:nvSpPr>
        <p:spPr>
          <a:xfrm>
            <a:off x="6894576" y="5486400"/>
            <a:ext cx="4590288" cy="786384"/>
          </a:xfrm>
          <a:prstGeom prst="rect">
            <a:avLst/>
          </a:prstGeom>
          <a:noFill/>
          <a:ln/>
        </p:spPr>
        <p:txBody>
          <a:bodyPr wrap="square" lIns="0" tIns="0" rIns="0" bIns="0" rtlCol="0" anchor="ctr"/>
          <a:lstStyle/>
          <a:p>
            <a:pPr indent="0" marL="0">
              <a:buNone/>
            </a:pPr>
            <a:r>
              <a:rPr lang="en-US" sz="1200" b="1" dirty="0">
                <a:solidFill>
                  <a:srgbClr val="173A8F"/>
                </a:solidFill>
              </a:rPr>
              <a:t>If the create fails half-way.  </a:t>
            </a:r>
            <a:pPr indent="0" marL="0">
              <a:buNone/>
            </a:pPr>
            <a:r>
              <a:rPr lang="en-US" sz="1200" dirty="0">
                <a:solidFill>
                  <a:srgbClr val="131925"/>
                </a:solidFill>
              </a:rPr>
              <a:t>The result email names the failed resource and why, and the next run gives the exact command to recover.</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Deploying an instance: side by side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Same template, same mistakes</a:t>
            </a:r>
            <a:endParaRPr lang="en-US" sz="1400" dirty="0"/>
          </a:p>
        </p:txBody>
      </p:sp>
      <p:sp>
        <p:nvSpPr>
          <p:cNvPr id="5" name="Text 2"/>
          <p:cNvSpPr txBox="1"/>
          <p:nvPr/>
        </p:nvSpPr>
        <p:spPr>
          <a:xfrm>
            <a:off x="548640" y="1371600"/>
            <a:ext cx="1828800" cy="237744"/>
          </a:xfrm>
          <a:prstGeom prst="rect">
            <a:avLst/>
          </a:prstGeom>
          <a:noFill/>
          <a:ln/>
        </p:spPr>
        <p:txBody>
          <a:bodyPr wrap="square" lIns="0" tIns="0" rIns="0" bIns="0" rtlCol="0" anchor="ctr"/>
          <a:lstStyle/>
          <a:p>
            <a:pPr indent="0" marL="0">
              <a:buNone/>
            </a:pPr>
            <a:r>
              <a:rPr lang="en-US" sz="1150" dirty="0">
                <a:solidFill>
                  <a:srgbClr val="2E8946"/>
                </a:solidFill>
              </a:rPr>
              <a:t>●  </a:t>
            </a:r>
            <a:pPr indent="0" marL="0">
              <a:buNone/>
            </a:pPr>
            <a:r>
              <a:rPr lang="en-US" sz="1150" dirty="0">
                <a:solidFill>
                  <a:srgbClr val="586275"/>
                </a:solidFill>
              </a:rPr>
              <a:t>Handled well</a:t>
            </a:r>
            <a:endParaRPr lang="en-US" sz="1150" dirty="0"/>
          </a:p>
        </p:txBody>
      </p:sp>
      <p:sp>
        <p:nvSpPr>
          <p:cNvPr id="6" name="Text 3"/>
          <p:cNvSpPr txBox="1"/>
          <p:nvPr/>
        </p:nvSpPr>
        <p:spPr>
          <a:xfrm>
            <a:off x="2468880" y="1371600"/>
            <a:ext cx="1828800" cy="237744"/>
          </a:xfrm>
          <a:prstGeom prst="rect">
            <a:avLst/>
          </a:prstGeom>
          <a:noFill/>
          <a:ln/>
        </p:spPr>
        <p:txBody>
          <a:bodyPr wrap="square" lIns="0" tIns="0" rIns="0" bIns="0" rtlCol="0" anchor="ctr"/>
          <a:lstStyle/>
          <a:p>
            <a:pPr indent="0" marL="0">
              <a:buNone/>
            </a:pPr>
            <a:r>
              <a:rPr lang="en-US" sz="1150" dirty="0">
                <a:solidFill>
                  <a:srgbClr val="BF8418"/>
                </a:solidFill>
              </a:rPr>
              <a:t>●  </a:t>
            </a:r>
            <a:pPr indent="0" marL="0">
              <a:buNone/>
            </a:pPr>
            <a:r>
              <a:rPr lang="en-US" sz="1150" dirty="0">
                <a:solidFill>
                  <a:srgbClr val="586275"/>
                </a:solidFill>
              </a:rPr>
              <a:t>Partly handled</a:t>
            </a:r>
            <a:endParaRPr lang="en-US" sz="1150" dirty="0"/>
          </a:p>
        </p:txBody>
      </p:sp>
      <p:sp>
        <p:nvSpPr>
          <p:cNvPr id="7" name="Text 4"/>
          <p:cNvSpPr txBox="1"/>
          <p:nvPr/>
        </p:nvSpPr>
        <p:spPr>
          <a:xfrm>
            <a:off x="4389120" y="1371600"/>
            <a:ext cx="1828800" cy="237744"/>
          </a:xfrm>
          <a:prstGeom prst="rect">
            <a:avLst/>
          </a:prstGeom>
          <a:noFill/>
          <a:ln/>
        </p:spPr>
        <p:txBody>
          <a:bodyPr wrap="square" lIns="0" tIns="0" rIns="0" bIns="0" rtlCol="0" anchor="ctr"/>
          <a:lstStyle/>
          <a:p>
            <a:pPr indent="0" marL="0">
              <a:buNone/>
            </a:pPr>
            <a:r>
              <a:rPr lang="en-US" sz="1150" dirty="0">
                <a:solidFill>
                  <a:srgbClr val="C93A32"/>
                </a:solidFill>
              </a:rPr>
              <a:t>●  </a:t>
            </a:r>
            <a:pPr indent="0" marL="0">
              <a:buNone/>
            </a:pPr>
            <a:r>
              <a:rPr lang="en-US" sz="1150" dirty="0">
                <a:solidFill>
                  <a:srgbClr val="586275"/>
                </a:solidFill>
              </a:rPr>
              <a:t>Not handled</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743200"/>
                <a:gridCol w="4114800"/>
                <a:gridCol w="4233672"/>
              </a:tblGrid>
              <a:tr h="0">
                <a:tc>
                  <a:txBody>
                    <a:bodyPr/>
                    <a:lstStyle/>
                    <a:p>
                      <a:pPr indent="0" marL="0">
                        <a:buNone/>
                      </a:pPr>
                      <a:r>
                        <a:rPr lang="en-US" sz="1100" b="1" dirty="0">
                          <a:solidFill>
                            <a:srgbClr val="586275"/>
                          </a:solidFill>
                        </a:rPr>
                        <a:t>Situation</a:t>
                      </a:r>
                      <a:endParaRPr lang="en-US" sz="11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Current workflow</a:t>
                      </a:r>
                      <a:endParaRPr lang="en-US" sz="11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Proposed pipeline</a:t>
                      </a:r>
                      <a:endParaRPr lang="en-US" sz="11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50" b="1" dirty="0">
                          <a:solidFill>
                            <a:srgbClr val="131925"/>
                          </a:solidFill>
                        </a:rPr>
                        <a:t>Typo in params.json</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CloudFormation rejects it at once; nothing is created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Preflight stops it before AWS is called; nothing is created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SSH open to 0.0.0.0/0</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Goes live; nobody is told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Flagged by the security scan and shown to the approver</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What gets created</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Whatever the template says, at once</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A rated CREATE change set, executed only after approval</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Create fails half-way</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Generic CLI error; every re-run fails until someone deletes the stack by hand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Failed resource and reason emailed; the next run says how to recover</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Record afterwards</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BF8418"/>
                          </a:solidFill>
                        </a:rPr>
                        <a:t>●  </a:t>
                      </a:r>
                      <a:pPr indent="0" marL="0">
                        <a:buNone/>
                      </a:pPr>
                      <a:r>
                        <a:rPr lang="en-US" sz="1350" dirty="0">
                          <a:solidFill>
                            <a:srgbClr val="131925"/>
                          </a:solidFill>
                        </a:rPr>
                        <a:t>Outputs in the job log</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Approval email; result and outputs emailed through the GitHub gate</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02</a:t>
            </a: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lIns="0" tIns="0" rIns="0" bIns="0" rtlCol="0" anchor="t"/>
          <a:lstStyle/>
          <a:p>
            <a:pPr algn="l" indent="0" marL="0">
              <a:buNone/>
            </a:pPr>
            <a:r>
              <a:rPr lang="en-US" sz="4000" b="1" dirty="0">
                <a:solidFill>
                  <a:schemeClr val="bg1"/>
                </a:solidFill>
              </a:rPr>
              <a:t>An instance has drifted</a:t>
            </a: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lIns="0" tIns="0" rIns="0" bIns="0" rtlCol="0" anchor="t"/>
          <a:lstStyle/>
          <a:p>
            <a:pPr indent="0" marL="0">
              <a:buNone/>
            </a:pPr>
            <a:r>
              <a:rPr lang="en-US" sz="1800" dirty="0">
                <a:solidFill>
                  <a:srgbClr val="C9D3E3"/>
                </a:solidFill>
              </a:rPr>
              <a:t>Console changes made during an incident, then a routine tag change through the pipeline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example: console changes during an incident</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Day 10's change only adds a tag; the question is what happens to the console changes</a:t>
            </a:r>
            <a:endParaRPr lang="en-US" sz="1400" dirty="0"/>
          </a:p>
        </p:txBody>
      </p:sp>
      <p:sp>
        <p:nvSpPr>
          <p:cNvPr id="5" name="Shape 2"/>
          <p:cNvSpPr/>
          <p:nvPr/>
        </p:nvSpPr>
        <p:spPr>
          <a:xfrm>
            <a:off x="1097280" y="2331720"/>
            <a:ext cx="9966960" cy="0"/>
          </a:xfrm>
          <a:prstGeom prst="line">
            <a:avLst/>
          </a:prstGeom>
          <a:noFill/>
          <a:ln w="25400">
            <a:solidFill>
              <a:srgbClr val="A9B3C3"/>
            </a:solidFill>
            <a:prstDash val="solid"/>
          </a:ln>
        </p:spPr>
      </p:sp>
      <p:sp>
        <p:nvSpPr>
          <p:cNvPr id="6" name="Shape 3"/>
          <p:cNvSpPr/>
          <p:nvPr/>
        </p:nvSpPr>
        <p:spPr>
          <a:xfrm>
            <a:off x="2084832" y="2176272"/>
            <a:ext cx="310896" cy="310896"/>
          </a:xfrm>
          <a:prstGeom prst="ellipse">
            <a:avLst/>
          </a:prstGeom>
          <a:solidFill>
            <a:srgbClr val="2E8946"/>
          </a:solidFill>
          <a:ln w="25400">
            <a:solidFill>
              <a:srgbClr val="FFFFFF"/>
            </a:solidFill>
            <a:prstDash val="solid"/>
          </a:ln>
        </p:spPr>
      </p:sp>
      <p:sp>
        <p:nvSpPr>
          <p:cNvPr id="7" name="Text 4"/>
          <p:cNvSpPr txBox="1"/>
          <p:nvPr/>
        </p:nvSpPr>
        <p:spPr>
          <a:xfrm>
            <a:off x="1325880" y="1554480"/>
            <a:ext cx="1828800" cy="365760"/>
          </a:xfrm>
          <a:prstGeom prst="rect">
            <a:avLst/>
          </a:prstGeom>
          <a:noFill/>
          <a:ln/>
        </p:spPr>
        <p:txBody>
          <a:bodyPr wrap="square" lIns="0" tIns="0" rIns="0" bIns="0" rtlCol="0" anchor="ctr"/>
          <a:lstStyle/>
          <a:p>
            <a:pPr algn="ctr" indent="0" marL="0">
              <a:buNone/>
            </a:pPr>
            <a:r>
              <a:rPr lang="en-US" sz="1600" b="1" dirty="0">
                <a:solidFill>
                  <a:srgbClr val="2E8946"/>
                </a:solidFill>
              </a:rPr>
              <a:t>Day 1</a:t>
            </a:r>
            <a:endParaRPr lang="en-US" sz="1600" dirty="0"/>
          </a:p>
        </p:txBody>
      </p:sp>
      <p:sp>
        <p:nvSpPr>
          <p:cNvPr id="8" name="Shape 5"/>
          <p:cNvSpPr/>
          <p:nvPr/>
        </p:nvSpPr>
        <p:spPr>
          <a:xfrm>
            <a:off x="594360" y="2743200"/>
            <a:ext cx="3291840" cy="1234440"/>
          </a:xfrm>
          <a:prstGeom prst="roundRect">
            <a:avLst>
              <a:gd name="adj" fmla="val 888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9" name="Text 6"/>
          <p:cNvSpPr txBox="1"/>
          <p:nvPr/>
        </p:nvSpPr>
        <p:spPr>
          <a:xfrm>
            <a:off x="777240" y="2871216"/>
            <a:ext cx="2926080" cy="310896"/>
          </a:xfrm>
          <a:prstGeom prst="rect">
            <a:avLst/>
          </a:prstGeom>
          <a:noFill/>
          <a:ln/>
        </p:spPr>
        <p:txBody>
          <a:bodyPr wrap="square" lIns="0" tIns="0" rIns="0" bIns="0" rtlCol="0" anchor="ctr"/>
          <a:lstStyle/>
          <a:p>
            <a:pPr indent="0" marL="0">
              <a:buNone/>
            </a:pPr>
            <a:r>
              <a:rPr lang="en-US" sz="1450" b="1" dirty="0">
                <a:solidFill>
                  <a:srgbClr val="16243A"/>
                </a:solidFill>
              </a:rPr>
              <a:t>Deployed</a:t>
            </a:r>
            <a:endParaRPr lang="en-US" sz="1450" dirty="0"/>
          </a:p>
        </p:txBody>
      </p:sp>
      <p:sp>
        <p:nvSpPr>
          <p:cNvPr id="10" name="Text 7"/>
          <p:cNvSpPr txBox="1"/>
          <p:nvPr/>
        </p:nvSpPr>
        <p:spPr>
          <a:xfrm>
            <a:off x="777240" y="3218688"/>
            <a:ext cx="2926080" cy="685800"/>
          </a:xfrm>
          <a:prstGeom prst="rect">
            <a:avLst/>
          </a:prstGeom>
          <a:noFill/>
          <a:ln/>
        </p:spPr>
        <p:txBody>
          <a:bodyPr wrap="square" lIns="0" tIns="0" rIns="0" bIns="0" rtlCol="0" anchor="t"/>
          <a:lstStyle/>
          <a:p>
            <a:pPr indent="0" marL="0">
              <a:buNone/>
            </a:pPr>
            <a:r>
              <a:rPr lang="en-US" sz="1250" dirty="0">
                <a:solidFill>
                  <a:srgbClr val="131925"/>
                </a:solidFill>
              </a:rPr>
              <a:t>t3.micro; the security group allows HTTPS from the VPC only.</a:t>
            </a:r>
            <a:endParaRPr lang="en-US" sz="1250" dirty="0"/>
          </a:p>
        </p:txBody>
      </p:sp>
      <p:sp>
        <p:nvSpPr>
          <p:cNvPr id="11" name="Shape 8"/>
          <p:cNvSpPr/>
          <p:nvPr/>
        </p:nvSpPr>
        <p:spPr>
          <a:xfrm>
            <a:off x="5939028" y="2176272"/>
            <a:ext cx="310896" cy="310896"/>
          </a:xfrm>
          <a:prstGeom prst="ellipse">
            <a:avLst/>
          </a:prstGeom>
          <a:solidFill>
            <a:srgbClr val="C93A32"/>
          </a:solidFill>
          <a:ln w="25400">
            <a:solidFill>
              <a:srgbClr val="FFFFFF"/>
            </a:solidFill>
            <a:prstDash val="solid"/>
          </a:ln>
        </p:spPr>
      </p:sp>
      <p:sp>
        <p:nvSpPr>
          <p:cNvPr id="12" name="Text 9"/>
          <p:cNvSpPr txBox="1"/>
          <p:nvPr/>
        </p:nvSpPr>
        <p:spPr>
          <a:xfrm>
            <a:off x="5180076" y="1554480"/>
            <a:ext cx="1828800" cy="365760"/>
          </a:xfrm>
          <a:prstGeom prst="rect">
            <a:avLst/>
          </a:prstGeom>
          <a:noFill/>
          <a:ln/>
        </p:spPr>
        <p:txBody>
          <a:bodyPr wrap="square" lIns="0" tIns="0" rIns="0" bIns="0" rtlCol="0" anchor="ctr"/>
          <a:lstStyle/>
          <a:p>
            <a:pPr algn="ctr" indent="0" marL="0">
              <a:buNone/>
            </a:pPr>
            <a:r>
              <a:rPr lang="en-US" sz="1600" b="1" dirty="0">
                <a:solidFill>
                  <a:srgbClr val="C93A32"/>
                </a:solidFill>
              </a:rPr>
              <a:t>Day 3</a:t>
            </a:r>
            <a:endParaRPr lang="en-US" sz="1600" dirty="0"/>
          </a:p>
        </p:txBody>
      </p:sp>
      <p:sp>
        <p:nvSpPr>
          <p:cNvPr id="13" name="Shape 10"/>
          <p:cNvSpPr/>
          <p:nvPr/>
        </p:nvSpPr>
        <p:spPr>
          <a:xfrm>
            <a:off x="4448556" y="2743200"/>
            <a:ext cx="3291840" cy="1234440"/>
          </a:xfrm>
          <a:prstGeom prst="roundRect">
            <a:avLst>
              <a:gd name="adj" fmla="val 888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4" name="Text 11"/>
          <p:cNvSpPr txBox="1"/>
          <p:nvPr/>
        </p:nvSpPr>
        <p:spPr>
          <a:xfrm>
            <a:off x="4631436" y="2871216"/>
            <a:ext cx="2926080" cy="310896"/>
          </a:xfrm>
          <a:prstGeom prst="rect">
            <a:avLst/>
          </a:prstGeom>
          <a:noFill/>
          <a:ln/>
        </p:spPr>
        <p:txBody>
          <a:bodyPr wrap="square" lIns="0" tIns="0" rIns="0" bIns="0" rtlCol="0" anchor="ctr"/>
          <a:lstStyle/>
          <a:p>
            <a:pPr indent="0" marL="0">
              <a:buNone/>
            </a:pPr>
            <a:r>
              <a:rPr lang="en-US" sz="1450" b="1" dirty="0">
                <a:solidFill>
                  <a:srgbClr val="16243A"/>
                </a:solidFill>
              </a:rPr>
              <a:t>Incident</a:t>
            </a:r>
            <a:endParaRPr lang="en-US" sz="1450" dirty="0"/>
          </a:p>
        </p:txBody>
      </p:sp>
      <p:sp>
        <p:nvSpPr>
          <p:cNvPr id="15" name="Text 12"/>
          <p:cNvSpPr txBox="1"/>
          <p:nvPr/>
        </p:nvSpPr>
        <p:spPr>
          <a:xfrm>
            <a:off x="4631436" y="3218688"/>
            <a:ext cx="2926080" cy="685800"/>
          </a:xfrm>
          <a:prstGeom prst="rect">
            <a:avLst/>
          </a:prstGeom>
          <a:noFill/>
          <a:ln/>
        </p:spPr>
        <p:txBody>
          <a:bodyPr wrap="square" lIns="0" tIns="0" rIns="0" bIns="0" rtlCol="0" anchor="t"/>
          <a:lstStyle/>
          <a:p>
            <a:pPr indent="0" marL="0">
              <a:buNone/>
            </a:pPr>
            <a:r>
              <a:rPr lang="en-US" sz="1250" dirty="0">
                <a:solidFill>
                  <a:srgbClr val="131925"/>
                </a:solidFill>
              </a:rPr>
              <a:t>In the console: resized to t3.medium, and SSH opened to 0.0.0.0/0.</a:t>
            </a:r>
            <a:endParaRPr lang="en-US" sz="1250" dirty="0"/>
          </a:p>
        </p:txBody>
      </p:sp>
      <p:sp>
        <p:nvSpPr>
          <p:cNvPr id="16" name="Shape 13"/>
          <p:cNvSpPr/>
          <p:nvPr/>
        </p:nvSpPr>
        <p:spPr>
          <a:xfrm>
            <a:off x="9793224" y="2176272"/>
            <a:ext cx="310896" cy="310896"/>
          </a:xfrm>
          <a:prstGeom prst="ellipse">
            <a:avLst/>
          </a:prstGeom>
          <a:solidFill>
            <a:srgbClr val="2A5BD7"/>
          </a:solidFill>
          <a:ln w="25400">
            <a:solidFill>
              <a:srgbClr val="FFFFFF"/>
            </a:solidFill>
            <a:prstDash val="solid"/>
          </a:ln>
        </p:spPr>
      </p:sp>
      <p:sp>
        <p:nvSpPr>
          <p:cNvPr id="17" name="Text 14"/>
          <p:cNvSpPr txBox="1"/>
          <p:nvPr/>
        </p:nvSpPr>
        <p:spPr>
          <a:xfrm>
            <a:off x="9034272" y="1554480"/>
            <a:ext cx="1828800" cy="365760"/>
          </a:xfrm>
          <a:prstGeom prst="rect">
            <a:avLst/>
          </a:prstGeom>
          <a:noFill/>
          <a:ln/>
        </p:spPr>
        <p:txBody>
          <a:bodyPr wrap="square" lIns="0" tIns="0" rIns="0" bIns="0" rtlCol="0" anchor="ctr"/>
          <a:lstStyle/>
          <a:p>
            <a:pPr algn="ctr" indent="0" marL="0">
              <a:buNone/>
            </a:pPr>
            <a:r>
              <a:rPr lang="en-US" sz="1600" b="1" dirty="0">
                <a:solidFill>
                  <a:srgbClr val="2A5BD7"/>
                </a:solidFill>
              </a:rPr>
              <a:t>Day 10</a:t>
            </a:r>
            <a:endParaRPr lang="en-US" sz="1600" dirty="0"/>
          </a:p>
        </p:txBody>
      </p:sp>
      <p:sp>
        <p:nvSpPr>
          <p:cNvPr id="18" name="Shape 15"/>
          <p:cNvSpPr/>
          <p:nvPr/>
        </p:nvSpPr>
        <p:spPr>
          <a:xfrm>
            <a:off x="8302752" y="2743200"/>
            <a:ext cx="3291840" cy="1234440"/>
          </a:xfrm>
          <a:prstGeom prst="roundRect">
            <a:avLst>
              <a:gd name="adj" fmla="val 888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9" name="Text 16"/>
          <p:cNvSpPr txBox="1"/>
          <p:nvPr/>
        </p:nvSpPr>
        <p:spPr>
          <a:xfrm>
            <a:off x="8485632" y="2871216"/>
            <a:ext cx="2926080" cy="310896"/>
          </a:xfrm>
          <a:prstGeom prst="rect">
            <a:avLst/>
          </a:prstGeom>
          <a:noFill/>
          <a:ln/>
        </p:spPr>
        <p:txBody>
          <a:bodyPr wrap="square" lIns="0" tIns="0" rIns="0" bIns="0" rtlCol="0" anchor="ctr"/>
          <a:lstStyle/>
          <a:p>
            <a:pPr indent="0" marL="0">
              <a:buNone/>
            </a:pPr>
            <a:r>
              <a:rPr lang="en-US" sz="1450" b="1" dirty="0">
                <a:solidFill>
                  <a:srgbClr val="16243A"/>
                </a:solidFill>
              </a:rPr>
              <a:t>Routine change</a:t>
            </a:r>
            <a:endParaRPr lang="en-US" sz="1450" dirty="0"/>
          </a:p>
        </p:txBody>
      </p:sp>
      <p:sp>
        <p:nvSpPr>
          <p:cNvPr id="20" name="Text 17"/>
          <p:cNvSpPr txBox="1"/>
          <p:nvPr/>
        </p:nvSpPr>
        <p:spPr>
          <a:xfrm>
            <a:off x="8485632" y="3218688"/>
            <a:ext cx="2926080" cy="685800"/>
          </a:xfrm>
          <a:prstGeom prst="rect">
            <a:avLst/>
          </a:prstGeom>
          <a:noFill/>
          <a:ln/>
        </p:spPr>
        <p:txBody>
          <a:bodyPr wrap="square" lIns="0" tIns="0" rIns="0" bIns="0" rtlCol="0" anchor="t"/>
          <a:lstStyle/>
          <a:p>
            <a:pPr indent="0" marL="0">
              <a:buNone/>
            </a:pPr>
            <a:r>
              <a:rPr lang="en-US" sz="1250" dirty="0">
                <a:solidFill>
                  <a:srgbClr val="131925"/>
                </a:solidFill>
              </a:rPr>
              <a:t>The template adds a CostCentre tag and is deployed.</a:t>
            </a:r>
            <a:endParaRPr lang="en-US" sz="1250" dirty="0"/>
          </a:p>
        </p:txBody>
      </p:sp>
      <p:sp>
        <p:nvSpPr>
          <p:cNvPr id="21" name="Text 18"/>
          <p:cNvSpPr txBox="1"/>
          <p:nvPr/>
        </p:nvSpPr>
        <p:spPr>
          <a:xfrm>
            <a:off x="548640" y="4297680"/>
            <a:ext cx="3657600" cy="310896"/>
          </a:xfrm>
          <a:prstGeom prst="rect">
            <a:avLst/>
          </a:prstGeom>
          <a:noFill/>
          <a:ln/>
        </p:spPr>
        <p:txBody>
          <a:bodyPr wrap="square" lIns="0" tIns="0" rIns="0" bIns="0" rtlCol="0" anchor="ctr"/>
          <a:lstStyle/>
          <a:p>
            <a:pPr indent="0" marL="0">
              <a:buNone/>
            </a:pPr>
            <a:r>
              <a:rPr lang="en-US" sz="1500" b="1" dirty="0">
                <a:solidFill>
                  <a:srgbClr val="16243A"/>
                </a:solidFill>
              </a:rPr>
              <a:t>On day 10</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11091672" cy="914400"/>
        </p:xfrm>
        <a:graphic>
          <a:graphicData uri="http://schemas.openxmlformats.org/drawingml/2006/table">
            <a:tbl>
              <a:tblPr/>
              <a:tblGrid>
                <a:gridCol w="2743200"/>
                <a:gridCol w="3840480"/>
                <a:gridCol w="4507992"/>
              </a:tblGrid>
              <a:tr h="0">
                <a:tc>
                  <a:txBody>
                    <a:bodyPr/>
                    <a:lstStyle/>
                    <a:p>
                      <a:pPr indent="0" marL="0">
                        <a:buNone/>
                      </a:pPr>
                      <a:r>
                        <a:rPr lang="en-US" sz="1100" b="1" dirty="0">
                          <a:solidFill>
                            <a:srgbClr val="586275"/>
                          </a:solidFill>
                        </a:rPr>
                        <a:t>Property</a:t>
                      </a:r>
                      <a:endParaRPr lang="en-US" sz="11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The stack's last deployment says</a:t>
                      </a:r>
                      <a:endParaRPr lang="en-US" sz="11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Live in AWS</a:t>
                      </a:r>
                      <a:endParaRPr lang="en-US" sz="11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00" b="1" dirty="0">
                          <a:solidFill>
                            <a:srgbClr val="131925"/>
                          </a:solidFill>
                        </a:rPr>
                        <a:t>Instance type</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t3.micro</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b="1" dirty="0">
                          <a:solidFill>
                            <a:srgbClr val="A1332C"/>
                          </a:solidFill>
                        </a:rPr>
                        <a:t>t3.medium</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Security group ingress</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HTTPS (443) from the VPC</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b="1" dirty="0">
                          <a:solidFill>
                            <a:srgbClr val="A1332C"/>
                          </a:solidFill>
                        </a:rPr>
                        <a:t>HTTPS from the VPC, plus SSH (22) from anywhere</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the tag goes on and the drift stays hidden</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A standard deployment compares the new template with the last one, not with what is running</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Day 10</a:t>
            </a:r>
            <a:pPr indent="0" marL="0">
              <a:buNone/>
            </a:pPr>
            <a:r>
              <a:rPr lang="en-US" sz="1300" dirty="0">
                <a:solidFill>
                  <a:srgbClr val="586275"/>
                </a:solidFill>
              </a:rPr>
              <a:t>   add a CostCentre tag</a:t>
            </a:r>
            <a:endParaRPr lang="en-US" sz="1300" dirty="0"/>
          </a:p>
        </p:txBody>
      </p:sp>
      <p:sp>
        <p:nvSpPr>
          <p:cNvPr id="6" name="Engineer runs the workflow"/>
          <p:cNvSpPr txBox="1"/>
          <p:nvPr/>
        </p:nvSpPr>
        <p:spPr>
          <a:xfrm>
            <a:off x="548640"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Template with the new tag</a:t>
            </a:r>
            <a:endParaRPr lang="en-US" sz="1200" dirty="0"/>
          </a:p>
        </p:txBody>
      </p:sp>
      <p:sp>
        <p:nvSpPr>
          <p:cNvPr id="7" name="Shape 4"/>
          <p:cNvSpPr/>
          <p:nvPr/>
        </p:nvSpPr>
        <p:spPr>
          <a:xfrm>
            <a:off x="3063240" y="2217420"/>
            <a:ext cx="292608" cy="0"/>
          </a:xfrm>
          <a:prstGeom prst="line">
            <a:avLst/>
          </a:prstGeom>
          <a:noFill/>
          <a:ln w="15875">
            <a:solidFill>
              <a:srgbClr val="7D889B"/>
            </a:solidFill>
            <a:prstDash val="solid"/>
            <a:tailEnd type="triangle"/>
          </a:ln>
        </p:spPr>
      </p:sp>
      <p:sp>
        <p:nvSpPr>
          <p:cNvPr id="8" name="Change set compares templates"/>
          <p:cNvSpPr txBox="1"/>
          <p:nvPr/>
        </p:nvSpPr>
        <p:spPr>
          <a:xfrm>
            <a:off x="3355848" y="1828800"/>
            <a:ext cx="25146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Change set compares templates</a:t>
            </a:r>
            <a:endParaRPr lang="en-US" sz="1200" dirty="0"/>
          </a:p>
          <a:p>
            <a:pPr algn="ctr" indent="0" marL="0">
              <a:buNone/>
            </a:pPr>
            <a:r>
              <a:rPr lang="en-US" sz="1050" dirty="0">
                <a:solidFill>
                  <a:srgbClr val="8F4F17"/>
                </a:solidFill>
              </a:rPr>
              <a:t>Old template against new, not live</a:t>
            </a:r>
            <a:endParaRPr lang="en-US" sz="1200" dirty="0"/>
          </a:p>
        </p:txBody>
      </p:sp>
      <p:sp>
        <p:nvSpPr>
          <p:cNvPr id="9" name="Shape 6"/>
          <p:cNvSpPr/>
          <p:nvPr/>
        </p:nvSpPr>
        <p:spPr>
          <a:xfrm>
            <a:off x="5870448" y="2217420"/>
            <a:ext cx="292608" cy="0"/>
          </a:xfrm>
          <a:prstGeom prst="line">
            <a:avLst/>
          </a:prstGeom>
          <a:noFill/>
          <a:ln w="15875">
            <a:solidFill>
              <a:srgbClr val="7D889B"/>
            </a:solidFill>
            <a:prstDash val="solid"/>
            <a:tailEnd type="triangle"/>
          </a:ln>
        </p:spPr>
      </p:sp>
      <p:sp>
        <p:nvSpPr>
          <p:cNvPr id="10" name="Tag added"/>
          <p:cNvSpPr txBox="1"/>
          <p:nvPr/>
        </p:nvSpPr>
        <p:spPr>
          <a:xfrm>
            <a:off x="6163056"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Tag added</a:t>
            </a:r>
            <a:endParaRPr lang="en-US" sz="1200" dirty="0"/>
          </a:p>
          <a:p>
            <a:pPr algn="ctr" indent="0" marL="0">
              <a:buNone/>
            </a:pPr>
            <a:r>
              <a:rPr lang="en-US" sz="1050" dirty="0">
                <a:solidFill>
                  <a:srgbClr val="586275"/>
                </a:solidFill>
              </a:rPr>
              <a:t>Nothing else is looked at</a:t>
            </a:r>
            <a:endParaRPr lang="en-US" sz="1200" dirty="0"/>
          </a:p>
        </p:txBody>
      </p:sp>
      <p:sp>
        <p:nvSpPr>
          <p:cNvPr id="11" name="Shape 8"/>
          <p:cNvSpPr/>
          <p:nvPr/>
        </p:nvSpPr>
        <p:spPr>
          <a:xfrm>
            <a:off x="8677656" y="2217420"/>
            <a:ext cx="292608" cy="0"/>
          </a:xfrm>
          <a:prstGeom prst="line">
            <a:avLst/>
          </a:prstGeom>
          <a:noFill/>
          <a:ln w="15875">
            <a:solidFill>
              <a:srgbClr val="7D889B"/>
            </a:solidFill>
            <a:prstDash val="solid"/>
            <a:tailEnd type="triangle"/>
          </a:ln>
        </p:spPr>
      </p:sp>
      <p:sp>
        <p:nvSpPr>
          <p:cNvPr id="12" name="Drift stays hidden"/>
          <p:cNvSpPr txBox="1"/>
          <p:nvPr/>
        </p:nvSpPr>
        <p:spPr>
          <a:xfrm>
            <a:off x="8970264" y="1828800"/>
            <a:ext cx="25146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Drift stays hidden</a:t>
            </a:r>
            <a:endParaRPr lang="en-US" sz="1200" dirty="0"/>
          </a:p>
          <a:p>
            <a:pPr algn="ctr" indent="0" marL="0">
              <a:buNone/>
            </a:pPr>
            <a:r>
              <a:rPr lang="en-US" sz="1050" dirty="0">
                <a:solidFill>
                  <a:srgbClr val="A1332C"/>
                </a:solidFill>
              </a:rPr>
              <a:t>t3.medium and open SSH, unreported</a:t>
            </a:r>
            <a:endParaRPr lang="en-US" sz="1200" dirty="0"/>
          </a:p>
        </p:txBody>
      </p:sp>
      <p:sp>
        <p:nvSpPr>
          <p:cNvPr id="13" name="Text 10"/>
          <p:cNvSpPr txBox="1"/>
          <p:nvPr/>
        </p:nvSpPr>
        <p:spPr>
          <a:xfrm>
            <a:off x="548640" y="297180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Weeks later</a:t>
            </a:r>
            <a:pPr indent="0" marL="0">
              <a:buNone/>
            </a:pPr>
            <a:r>
              <a:rPr lang="en-US" sz="1300" dirty="0">
                <a:solidFill>
                  <a:srgbClr val="586275"/>
                </a:solidFill>
              </a:rPr>
              <a:t>   someone sets InstanceType to t3.small in params.json</a:t>
            </a:r>
            <a:endParaRPr lang="en-US" sz="1300" dirty="0"/>
          </a:p>
        </p:txBody>
      </p:sp>
      <p:sp>
        <p:nvSpPr>
          <p:cNvPr id="14" name="Engineer runs the workflow"/>
          <p:cNvSpPr txBox="1"/>
          <p:nvPr/>
        </p:nvSpPr>
        <p:spPr>
          <a:xfrm>
            <a:off x="548640" y="333756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params.json with t3.small</a:t>
            </a:r>
            <a:endParaRPr lang="en-US" sz="1200" dirty="0"/>
          </a:p>
        </p:txBody>
      </p:sp>
      <p:sp>
        <p:nvSpPr>
          <p:cNvPr id="15" name="Shape 12"/>
          <p:cNvSpPr/>
          <p:nvPr/>
        </p:nvSpPr>
        <p:spPr>
          <a:xfrm>
            <a:off x="3291840" y="3726180"/>
            <a:ext cx="292608" cy="0"/>
          </a:xfrm>
          <a:prstGeom prst="line">
            <a:avLst/>
          </a:prstGeom>
          <a:noFill/>
          <a:ln w="15875">
            <a:solidFill>
              <a:srgbClr val="7D889B"/>
            </a:solidFill>
            <a:prstDash val="solid"/>
            <a:tailEnd type="triangle"/>
          </a:ln>
        </p:spPr>
      </p:sp>
      <p:sp>
        <p:nvSpPr>
          <p:cNvPr id="16" name="Instance stopped and resized"/>
          <p:cNvSpPr txBox="1"/>
          <p:nvPr/>
        </p:nvSpPr>
        <p:spPr>
          <a:xfrm>
            <a:off x="3584448" y="3337560"/>
            <a:ext cx="27432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Instance stopped and resized</a:t>
            </a:r>
            <a:endParaRPr lang="en-US" sz="1200" dirty="0"/>
          </a:p>
          <a:p>
            <a:pPr algn="ctr" indent="0" marL="0">
              <a:buNone/>
            </a:pPr>
            <a:r>
              <a:rPr lang="en-US" sz="1050" dirty="0">
                <a:solidFill>
                  <a:srgbClr val="8F4F17"/>
                </a:solidFill>
              </a:rPr>
              <a:t>Live t3.medium becomes t3.small, unseen</a:t>
            </a:r>
            <a:endParaRPr lang="en-US" sz="1200" dirty="0"/>
          </a:p>
        </p:txBody>
      </p:sp>
      <p:sp>
        <p:nvSpPr>
          <p:cNvPr id="17" name="Shape 14"/>
          <p:cNvSpPr/>
          <p:nvPr/>
        </p:nvSpPr>
        <p:spPr>
          <a:xfrm>
            <a:off x="6327648" y="3726180"/>
            <a:ext cx="292608" cy="0"/>
          </a:xfrm>
          <a:prstGeom prst="line">
            <a:avLst/>
          </a:prstGeom>
          <a:noFill/>
          <a:ln w="15875">
            <a:solidFill>
              <a:srgbClr val="7D889B"/>
            </a:solidFill>
            <a:prstDash val="solid"/>
            <a:tailEnd type="triangle"/>
          </a:ln>
        </p:spPr>
      </p:sp>
      <p:sp>
        <p:nvSpPr>
          <p:cNvPr id="18" name="Incident change undone"/>
          <p:cNvSpPr txBox="1"/>
          <p:nvPr/>
        </p:nvSpPr>
        <p:spPr>
          <a:xfrm>
            <a:off x="6620256" y="3337560"/>
            <a:ext cx="27432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Incident change undone</a:t>
            </a:r>
            <a:endParaRPr lang="en-US" sz="1200" dirty="0"/>
          </a:p>
          <a:p>
            <a:pPr algn="ctr" indent="0" marL="0">
              <a:buNone/>
            </a:pPr>
            <a:r>
              <a:rPr lang="en-US" sz="1050" dirty="0">
                <a:solidFill>
                  <a:srgbClr val="A1332C"/>
                </a:solidFill>
              </a:rPr>
              <a:t>Nobody knew it was there</a:t>
            </a:r>
            <a:endParaRPr lang="en-US" sz="1200" dirty="0"/>
          </a:p>
        </p:txBody>
      </p:sp>
      <p:sp>
        <p:nvSpPr>
          <p:cNvPr id="19" name="Shape 16"/>
          <p:cNvSpPr/>
          <p:nvPr/>
        </p:nvSpPr>
        <p:spPr>
          <a:xfrm>
            <a:off x="548640" y="4617720"/>
            <a:ext cx="11091672" cy="868680"/>
          </a:xfrm>
          <a:prstGeom prst="roundRect">
            <a:avLst>
              <a:gd name="adj" fmla="val 10526"/>
            </a:avLst>
          </a:prstGeom>
          <a:solidFill>
            <a:srgbClr val="FDF4F3"/>
          </a:solidFill>
          <a:ln w="6350">
            <a:solidFill>
              <a:srgbClr val="FDF4F3"/>
            </a:solidFill>
            <a:prstDash val="solid"/>
          </a:ln>
        </p:spPr>
      </p:sp>
      <p:sp>
        <p:nvSpPr>
          <p:cNvPr id="20" name="Shape 17"/>
          <p:cNvSpPr/>
          <p:nvPr/>
        </p:nvSpPr>
        <p:spPr>
          <a:xfrm>
            <a:off x="694944" y="4850892"/>
            <a:ext cx="402336" cy="402336"/>
          </a:xfrm>
          <a:prstGeom prst="ellipse">
            <a:avLst/>
          </a:prstGeom>
          <a:solidFill>
            <a:srgbClr val="C93A32"/>
          </a:solidFill>
          <a:ln w="6350">
            <a:solidFill>
              <a:srgbClr val="C93A32"/>
            </a:solidFill>
            <a:prstDash val="solid"/>
          </a:ln>
        </p:spPr>
      </p:sp>
      <p:pic>
        <p:nvPicPr>
          <p:cNvPr id="21" name="Image 0" descr="Icon">    </p:cNvPr>
          <p:cNvPicPr>
            <a:picLocks noChangeAspect="1"/>
          </p:cNvPicPr>
          <p:nvPr/>
        </p:nvPicPr>
        <p:blipFill>
          <a:blip r:embed="rId1"/>
          <a:stretch>
            <a:fillRect/>
          </a:stretch>
        </p:blipFill>
        <p:spPr>
          <a:xfrm>
            <a:off x="791505" y="4947453"/>
            <a:ext cx="209215" cy="209215"/>
          </a:xfrm>
          <a:prstGeom prst="rect">
            <a:avLst/>
          </a:prstGeom>
        </p:spPr>
      </p:pic>
      <p:sp>
        <p:nvSpPr>
          <p:cNvPr id="22" name="Text 18"/>
          <p:cNvSpPr txBox="1"/>
          <p:nvPr/>
        </p:nvSpPr>
        <p:spPr>
          <a:xfrm>
            <a:off x="1261872" y="4617720"/>
            <a:ext cx="10222992" cy="868680"/>
          </a:xfrm>
          <a:prstGeom prst="rect">
            <a:avLst/>
          </a:prstGeom>
          <a:noFill/>
          <a:ln/>
        </p:spPr>
        <p:txBody>
          <a:bodyPr wrap="square" lIns="0" tIns="0" rIns="0" bIns="0" rtlCol="0" anchor="ctr"/>
          <a:lstStyle/>
          <a:p>
            <a:pPr indent="0" marL="0">
              <a:buNone/>
            </a:pPr>
            <a:r>
              <a:rPr lang="en-US" sz="1300" b="1" dirty="0">
                <a:solidFill>
                  <a:srgbClr val="7D1C16"/>
                </a:solidFill>
              </a:rPr>
              <a:t>Meanwhile SSH stays open to the internet.  </a:t>
            </a:r>
            <a:pPr indent="0" marL="0">
              <a:buNone/>
            </a:pPr>
            <a:r>
              <a:rPr lang="en-US" sz="1300" dirty="0">
                <a:solidFill>
                  <a:srgbClr val="131925"/>
                </a:solidFill>
              </a:rPr>
              <a:t>Nothing in any run reports it, because the template never mentions the extra rule and the deployment never compares with live state.</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Proposed: drift stops the run until the team decides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Then one approved change set keeps the resize, closes SSH and adds the tag</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Day 10</a:t>
            </a:r>
            <a:pPr indent="0" marL="0">
              <a:buNone/>
            </a:pPr>
            <a:r>
              <a:rPr lang="en-US" sz="1300" dirty="0">
                <a:solidFill>
                  <a:srgbClr val="586275"/>
                </a:solidFill>
              </a:rPr>
              <a:t>   first run</a:t>
            </a:r>
            <a:endParaRPr lang="en-US" sz="1300" dirty="0"/>
          </a:p>
        </p:txBody>
      </p:sp>
      <p:sp>
        <p:nvSpPr>
          <p:cNvPr id="6" name="Engineer runs the pipeline"/>
          <p:cNvSpPr txBox="1"/>
          <p:nvPr/>
        </p:nvSpPr>
        <p:spPr>
          <a:xfrm>
            <a:off x="548640" y="182880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pipeline</a:t>
            </a:r>
            <a:endParaRPr lang="en-US" sz="1200" dirty="0"/>
          </a:p>
          <a:p>
            <a:pPr algn="ctr" indent="0" marL="0">
              <a:buNone/>
            </a:pPr>
            <a:r>
              <a:rPr lang="en-US" sz="1050" dirty="0">
                <a:solidFill>
                  <a:srgbClr val="586275"/>
                </a:solidFill>
              </a:rPr>
              <a:t>Template with the new tag</a:t>
            </a:r>
            <a:endParaRPr lang="en-US" sz="1200" dirty="0"/>
          </a:p>
        </p:txBody>
      </p:sp>
      <p:sp>
        <p:nvSpPr>
          <p:cNvPr id="7" name="Shape 4"/>
          <p:cNvSpPr/>
          <p:nvPr/>
        </p:nvSpPr>
        <p:spPr>
          <a:xfrm>
            <a:off x="2532888" y="2217420"/>
            <a:ext cx="292608" cy="0"/>
          </a:xfrm>
          <a:prstGeom prst="line">
            <a:avLst/>
          </a:prstGeom>
          <a:noFill/>
          <a:ln w="15875">
            <a:solidFill>
              <a:srgbClr val="7D889B"/>
            </a:solidFill>
            <a:prstDash val="solid"/>
            <a:tailEnd type="triangle"/>
          </a:ln>
        </p:spPr>
      </p:sp>
      <p:sp>
        <p:nvSpPr>
          <p:cNvPr id="8" name="Drift detection"/>
          <p:cNvSpPr txBox="1"/>
          <p:nvPr/>
        </p:nvSpPr>
        <p:spPr>
          <a:xfrm>
            <a:off x="2825496" y="182880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Drift detection</a:t>
            </a:r>
            <a:endParaRPr lang="en-US" sz="1200" dirty="0"/>
          </a:p>
          <a:p>
            <a:pPr algn="ctr" indent="0" marL="0">
              <a:buNone/>
            </a:pPr>
            <a:r>
              <a:rPr lang="en-US" sz="1050" dirty="0">
                <a:solidFill>
                  <a:srgbClr val="2B6C59"/>
                </a:solidFill>
              </a:rPr>
              <a:t>2 resources changed outside CloudFormation</a:t>
            </a:r>
            <a:endParaRPr lang="en-US" sz="1200" dirty="0"/>
          </a:p>
        </p:txBody>
      </p:sp>
      <p:sp>
        <p:nvSpPr>
          <p:cNvPr id="9" name="Shape 6"/>
          <p:cNvSpPr/>
          <p:nvPr/>
        </p:nvSpPr>
        <p:spPr>
          <a:xfrm>
            <a:off x="4809744" y="2217420"/>
            <a:ext cx="292608" cy="0"/>
          </a:xfrm>
          <a:prstGeom prst="line">
            <a:avLst/>
          </a:prstGeom>
          <a:noFill/>
          <a:ln w="15875">
            <a:solidFill>
              <a:srgbClr val="7D889B"/>
            </a:solidFill>
            <a:prstDash val="solid"/>
            <a:tailEnd type="triangle"/>
          </a:ln>
        </p:spPr>
      </p:sp>
      <p:sp>
        <p:nvSpPr>
          <p:cNvPr id="10" name="Amazon Q drafts fixes"/>
          <p:cNvSpPr txBox="1"/>
          <p:nvPr/>
        </p:nvSpPr>
        <p:spPr>
          <a:xfrm>
            <a:off x="5102352" y="182880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Amazon Q drafts fixes</a:t>
            </a:r>
            <a:endParaRPr lang="en-US" sz="1200" dirty="0"/>
          </a:p>
          <a:p>
            <a:pPr algn="ctr" indent="0" marL="0">
              <a:buNone/>
            </a:pPr>
            <a:r>
              <a:rPr lang="en-US" sz="1050" dirty="0">
                <a:solidFill>
                  <a:srgbClr val="586275"/>
                </a:solidFill>
              </a:rPr>
              <a:t>Template code; keep or revert each</a:t>
            </a:r>
            <a:endParaRPr lang="en-US" sz="1200" dirty="0"/>
          </a:p>
        </p:txBody>
      </p:sp>
      <p:sp>
        <p:nvSpPr>
          <p:cNvPr id="11" name="Shape 8"/>
          <p:cNvSpPr/>
          <p:nvPr/>
        </p:nvSpPr>
        <p:spPr>
          <a:xfrm>
            <a:off x="7086600" y="2217420"/>
            <a:ext cx="292608" cy="0"/>
          </a:xfrm>
          <a:prstGeom prst="line">
            <a:avLst/>
          </a:prstGeom>
          <a:noFill/>
          <a:ln w="15875">
            <a:solidFill>
              <a:srgbClr val="7D889B"/>
            </a:solidFill>
            <a:prstDash val="solid"/>
            <a:tailEnd type="triangle"/>
          </a:ln>
        </p:spPr>
      </p:sp>
      <p:sp>
        <p:nvSpPr>
          <p:cNvPr id="12" name="Drift email"/>
          <p:cNvSpPr txBox="1"/>
          <p:nvPr/>
        </p:nvSpPr>
        <p:spPr>
          <a:xfrm>
            <a:off x="7379208" y="182880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Drift email</a:t>
            </a:r>
            <a:endParaRPr lang="en-US" sz="1200" dirty="0"/>
          </a:p>
          <a:p>
            <a:pPr algn="ctr" indent="0" marL="0">
              <a:buNone/>
            </a:pPr>
            <a:r>
              <a:rPr lang="en-US" sz="1050" dirty="0">
                <a:solidFill>
                  <a:srgbClr val="586275"/>
                </a:solidFill>
              </a:rPr>
              <a:t>Expected vs actual, live YAML</a:t>
            </a:r>
            <a:endParaRPr lang="en-US" sz="1200" dirty="0"/>
          </a:p>
        </p:txBody>
      </p:sp>
      <p:sp>
        <p:nvSpPr>
          <p:cNvPr id="13" name="Email sent"/>
          <p:cNvSpPr/>
          <p:nvPr/>
        </p:nvSpPr>
        <p:spPr>
          <a:xfrm>
            <a:off x="7434072" y="1682496"/>
            <a:ext cx="292608" cy="292608"/>
          </a:xfrm>
          <a:prstGeom prst="ellipse">
            <a:avLst/>
          </a:prstGeom>
          <a:solidFill>
            <a:srgbClr val="FFFFFF"/>
          </a:solidFill>
          <a:ln w="15875">
            <a:solidFill>
              <a:srgbClr val="2A5BD7"/>
            </a:solidFill>
            <a:prstDash val="solid"/>
          </a:ln>
        </p:spPr>
      </p:sp>
      <p:pic>
        <p:nvPicPr>
          <p:cNvPr id="14" name="Image 0" descr="Email sent">    </p:cNvPr>
          <p:cNvPicPr>
            <a:picLocks noChangeAspect="1"/>
          </p:cNvPicPr>
          <p:nvPr/>
        </p:nvPicPr>
        <p:blipFill>
          <a:blip r:embed="rId1"/>
          <a:stretch>
            <a:fillRect/>
          </a:stretch>
        </p:blipFill>
        <p:spPr>
          <a:xfrm>
            <a:off x="7489668" y="1738092"/>
            <a:ext cx="181417" cy="181417"/>
          </a:xfrm>
          <a:prstGeom prst="rect">
            <a:avLst/>
          </a:prstGeom>
        </p:spPr>
      </p:pic>
      <p:sp>
        <p:nvSpPr>
          <p:cNvPr id="15" name="Shape 11"/>
          <p:cNvSpPr/>
          <p:nvPr/>
        </p:nvSpPr>
        <p:spPr>
          <a:xfrm>
            <a:off x="9363456" y="2217420"/>
            <a:ext cx="292608" cy="0"/>
          </a:xfrm>
          <a:prstGeom prst="line">
            <a:avLst/>
          </a:prstGeom>
          <a:noFill/>
          <a:ln w="15875">
            <a:solidFill>
              <a:srgbClr val="7D889B"/>
            </a:solidFill>
            <a:prstDash val="solid"/>
            <a:tailEnd type="triangle"/>
          </a:ln>
        </p:spPr>
      </p:sp>
      <p:sp>
        <p:nvSpPr>
          <p:cNvPr id="16" name="Stopped"/>
          <p:cNvSpPr txBox="1"/>
          <p:nvPr/>
        </p:nvSpPr>
        <p:spPr>
          <a:xfrm>
            <a:off x="9656064" y="1828800"/>
            <a:ext cx="1984248"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Stopped</a:t>
            </a:r>
            <a:endParaRPr lang="en-US" sz="1200" dirty="0"/>
          </a:p>
          <a:p>
            <a:pPr algn="ctr" indent="0" marL="0">
              <a:buNone/>
            </a:pPr>
            <a:r>
              <a:rPr lang="en-US" sz="1050" dirty="0">
                <a:solidFill>
                  <a:srgbClr val="4650A9"/>
                </a:solidFill>
              </a:rPr>
              <a:t>Nothing changed in AWS</a:t>
            </a:r>
            <a:endParaRPr lang="en-US" sz="1200" dirty="0"/>
          </a:p>
        </p:txBody>
      </p:sp>
      <p:sp>
        <p:nvSpPr>
          <p:cNvPr id="17" name="Text 13"/>
          <p:cNvSpPr txBox="1"/>
          <p:nvPr/>
        </p:nvSpPr>
        <p:spPr>
          <a:xfrm>
            <a:off x="548640" y="292608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Next run</a:t>
            </a:r>
            <a:pPr indent="0" marL="0">
              <a:buNone/>
            </a:pPr>
            <a:r>
              <a:rPr lang="en-US" sz="1300" dirty="0">
                <a:solidFill>
                  <a:srgbClr val="586275"/>
                </a:solidFill>
              </a:rPr>
              <a:t>   the team keeps t3.medium and closes SSH</a:t>
            </a:r>
            <a:endParaRPr lang="en-US" sz="1300" dirty="0"/>
          </a:p>
        </p:txBody>
      </p:sp>
      <p:sp>
        <p:nvSpPr>
          <p:cNvPr id="18" name="params.json: t3.medium"/>
          <p:cNvSpPr txBox="1"/>
          <p:nvPr/>
        </p:nvSpPr>
        <p:spPr>
          <a:xfrm>
            <a:off x="548640"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params.json: t3.medium</a:t>
            </a:r>
            <a:endParaRPr lang="en-US" sz="1200" dirty="0"/>
          </a:p>
          <a:p>
            <a:pPr algn="ctr" indent="0" marL="0">
              <a:buNone/>
            </a:pPr>
            <a:r>
              <a:rPr lang="en-US" sz="1050" dirty="0">
                <a:solidFill>
                  <a:srgbClr val="586275"/>
                </a:solidFill>
              </a:rPr>
              <a:t>PR reviewed and merged</a:t>
            </a:r>
            <a:endParaRPr lang="en-US" sz="1200" dirty="0"/>
          </a:p>
        </p:txBody>
      </p:sp>
      <p:sp>
        <p:nvSpPr>
          <p:cNvPr id="19" name="Shape 15"/>
          <p:cNvSpPr/>
          <p:nvPr/>
        </p:nvSpPr>
        <p:spPr>
          <a:xfrm>
            <a:off x="2199132" y="3726180"/>
            <a:ext cx="237744" cy="0"/>
          </a:xfrm>
          <a:prstGeom prst="line">
            <a:avLst/>
          </a:prstGeom>
          <a:noFill/>
          <a:ln w="15875">
            <a:solidFill>
              <a:srgbClr val="7D889B"/>
            </a:solidFill>
            <a:prstDash val="solid"/>
            <a:tailEnd type="triangle"/>
          </a:ln>
        </p:spPr>
      </p:sp>
      <p:sp>
        <p:nvSpPr>
          <p:cNvPr id="20" name="Re-run"/>
          <p:cNvSpPr txBox="1"/>
          <p:nvPr/>
        </p:nvSpPr>
        <p:spPr>
          <a:xfrm>
            <a:off x="2436876"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Re-run</a:t>
            </a:r>
            <a:endParaRPr lang="en-US" sz="1200" dirty="0"/>
          </a:p>
          <a:p>
            <a:pPr algn="ctr" indent="0" marL="0">
              <a:buNone/>
            </a:pPr>
            <a:r>
              <a:rPr lang="en-US" sz="1050" dirty="0">
                <a:solidFill>
                  <a:srgbClr val="586275"/>
                </a:solidFill>
              </a:rPr>
              <a:t>driftPolicy = revert-drift</a:t>
            </a:r>
            <a:endParaRPr lang="en-US" sz="1200" dirty="0"/>
          </a:p>
        </p:txBody>
      </p:sp>
      <p:sp>
        <p:nvSpPr>
          <p:cNvPr id="21" name="Shape 17"/>
          <p:cNvSpPr/>
          <p:nvPr/>
        </p:nvSpPr>
        <p:spPr>
          <a:xfrm>
            <a:off x="4087368" y="3726180"/>
            <a:ext cx="237744" cy="0"/>
          </a:xfrm>
          <a:prstGeom prst="line">
            <a:avLst/>
          </a:prstGeom>
          <a:noFill/>
          <a:ln w="15875">
            <a:solidFill>
              <a:srgbClr val="7D889B"/>
            </a:solidFill>
            <a:prstDash val="solid"/>
            <a:tailEnd type="triangle"/>
          </a:ln>
        </p:spPr>
      </p:sp>
      <p:sp>
        <p:nvSpPr>
          <p:cNvPr id="22" name="Drift-aware change set"/>
          <p:cNvSpPr txBox="1"/>
          <p:nvPr/>
        </p:nvSpPr>
        <p:spPr>
          <a:xfrm>
            <a:off x="4325112" y="3291840"/>
            <a:ext cx="1650492" cy="868680"/>
          </a:xfrm>
          <a:prstGeom prst="roundRect">
            <a:avLst>
              <a:gd name="adj" fmla="val 9474"/>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Drift-aware change set</a:t>
            </a:r>
            <a:endParaRPr lang="en-US" sz="1200" dirty="0"/>
          </a:p>
          <a:p>
            <a:pPr algn="ctr" indent="0" marL="0">
              <a:buNone/>
            </a:pPr>
            <a:r>
              <a:rPr lang="en-US" sz="1050" dirty="0">
                <a:solidFill>
                  <a:srgbClr val="2B6C59"/>
                </a:solidFill>
              </a:rPr>
              <a:t>Keep instance, add tag, remove SSH</a:t>
            </a:r>
            <a:endParaRPr lang="en-US" sz="1200" dirty="0"/>
          </a:p>
        </p:txBody>
      </p:sp>
      <p:sp>
        <p:nvSpPr>
          <p:cNvPr id="23" name="Shape 19"/>
          <p:cNvSpPr/>
          <p:nvPr/>
        </p:nvSpPr>
        <p:spPr>
          <a:xfrm>
            <a:off x="5975604" y="3726180"/>
            <a:ext cx="237744" cy="0"/>
          </a:xfrm>
          <a:prstGeom prst="line">
            <a:avLst/>
          </a:prstGeom>
          <a:noFill/>
          <a:ln w="15875">
            <a:solidFill>
              <a:srgbClr val="7D889B"/>
            </a:solidFill>
            <a:prstDash val="solid"/>
            <a:tailEnd type="triangle"/>
          </a:ln>
        </p:spPr>
      </p:sp>
      <p:sp>
        <p:nvSpPr>
          <p:cNvPr id="24" name="Approval email"/>
          <p:cNvSpPr txBox="1"/>
          <p:nvPr/>
        </p:nvSpPr>
        <p:spPr>
          <a:xfrm>
            <a:off x="6213348"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Each change rated</a:t>
            </a:r>
            <a:endParaRPr lang="en-US" sz="1200" dirty="0"/>
          </a:p>
        </p:txBody>
      </p:sp>
      <p:sp>
        <p:nvSpPr>
          <p:cNvPr id="25" name="Email sent"/>
          <p:cNvSpPr/>
          <p:nvPr/>
        </p:nvSpPr>
        <p:spPr>
          <a:xfrm>
            <a:off x="6268212" y="3145536"/>
            <a:ext cx="292608" cy="292608"/>
          </a:xfrm>
          <a:prstGeom prst="ellipse">
            <a:avLst/>
          </a:prstGeom>
          <a:solidFill>
            <a:srgbClr val="FFFFFF"/>
          </a:solidFill>
          <a:ln w="15875">
            <a:solidFill>
              <a:srgbClr val="2A5BD7"/>
            </a:solidFill>
            <a:prstDash val="solid"/>
          </a:ln>
        </p:spPr>
      </p:sp>
      <p:pic>
        <p:nvPicPr>
          <p:cNvPr id="26" name="Image 1" descr="Email sent">    </p:cNvPr>
          <p:cNvPicPr>
            <a:picLocks noChangeAspect="1"/>
          </p:cNvPicPr>
          <p:nvPr/>
        </p:nvPicPr>
        <p:blipFill>
          <a:blip r:embed="rId2"/>
          <a:stretch>
            <a:fillRect/>
          </a:stretch>
        </p:blipFill>
        <p:spPr>
          <a:xfrm>
            <a:off x="6323808" y="3201132"/>
            <a:ext cx="181417" cy="181417"/>
          </a:xfrm>
          <a:prstGeom prst="rect">
            <a:avLst/>
          </a:prstGeom>
        </p:spPr>
      </p:pic>
      <p:sp>
        <p:nvSpPr>
          <p:cNvPr id="27" name="Shape 22"/>
          <p:cNvSpPr/>
          <p:nvPr/>
        </p:nvSpPr>
        <p:spPr>
          <a:xfrm>
            <a:off x="7863840" y="3726180"/>
            <a:ext cx="237744" cy="0"/>
          </a:xfrm>
          <a:prstGeom prst="line">
            <a:avLst/>
          </a:prstGeom>
          <a:noFill/>
          <a:ln w="15875">
            <a:solidFill>
              <a:srgbClr val="7D889B"/>
            </a:solidFill>
            <a:prstDash val="solid"/>
            <a:tailEnd type="triangle"/>
          </a:ln>
        </p:spPr>
      </p:sp>
      <p:sp>
        <p:nvSpPr>
          <p:cNvPr id="28" name="Approver approves"/>
          <p:cNvSpPr txBox="1"/>
          <p:nvPr/>
        </p:nvSpPr>
        <p:spPr>
          <a:xfrm>
            <a:off x="8101584"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Approver approves</a:t>
            </a:r>
            <a:endParaRPr lang="en-US" sz="1200" dirty="0"/>
          </a:p>
          <a:p>
            <a:pPr algn="ctr" indent="0" marL="0">
              <a:buNone/>
            </a:pPr>
            <a:r>
              <a:rPr lang="en-US" sz="1050" dirty="0">
                <a:solidFill>
                  <a:srgbClr val="586275"/>
                </a:solidFill>
              </a:rPr>
              <a:t>GitHub gate</a:t>
            </a:r>
            <a:endParaRPr lang="en-US" sz="1200" dirty="0"/>
          </a:p>
        </p:txBody>
      </p:sp>
      <p:sp>
        <p:nvSpPr>
          <p:cNvPr id="29" name="Shape 24"/>
          <p:cNvSpPr/>
          <p:nvPr/>
        </p:nvSpPr>
        <p:spPr>
          <a:xfrm>
            <a:off x="9752076" y="3726180"/>
            <a:ext cx="237744" cy="0"/>
          </a:xfrm>
          <a:prstGeom prst="line">
            <a:avLst/>
          </a:prstGeom>
          <a:noFill/>
          <a:ln w="15875">
            <a:solidFill>
              <a:srgbClr val="7D889B"/>
            </a:solidFill>
            <a:prstDash val="solid"/>
            <a:tailEnd type="triangle"/>
          </a:ln>
        </p:spPr>
      </p:sp>
      <p:sp>
        <p:nvSpPr>
          <p:cNvPr id="30" name="In sync"/>
          <p:cNvSpPr txBox="1"/>
          <p:nvPr/>
        </p:nvSpPr>
        <p:spPr>
          <a:xfrm>
            <a:off x="9989820" y="3291840"/>
            <a:ext cx="1650492" cy="868680"/>
          </a:xfrm>
          <a:prstGeom prst="roundRect">
            <a:avLst>
              <a:gd name="adj" fmla="val 50000"/>
            </a:avLst>
          </a:prstGeom>
          <a:solidFill>
            <a:srgbClr val="E3F4E7"/>
          </a:solidFill>
          <a:ln w="15875">
            <a:solidFill>
              <a:srgbClr val="2E8946"/>
            </a:solidFill>
          </a:ln>
        </p:spPr>
        <p:txBody>
          <a:bodyPr wrap="square" lIns="127000" tIns="25400" rIns="127000" bIns="25400" rtlCol="0" anchor="ctr"/>
          <a:lstStyle/>
          <a:p>
            <a:pPr algn="ctr" indent="0" marL="0">
              <a:buNone/>
            </a:pPr>
            <a:r>
              <a:rPr lang="en-US" sz="1200" b="1" dirty="0">
                <a:solidFill>
                  <a:srgbClr val="165229"/>
                </a:solidFill>
              </a:rPr>
              <a:t>In sync</a:t>
            </a:r>
            <a:endParaRPr lang="en-US" sz="1200" dirty="0"/>
          </a:p>
          <a:p>
            <a:pPr algn="ctr" indent="0" marL="0">
              <a:buNone/>
            </a:pPr>
            <a:r>
              <a:rPr lang="en-US" sz="1050" dirty="0">
                <a:solidFill>
                  <a:srgbClr val="2C6D3F"/>
                </a:solidFill>
              </a:rPr>
              <a:t>SSH closed; result emailed</a:t>
            </a:r>
            <a:endParaRPr lang="en-US" sz="1200" dirty="0"/>
          </a:p>
        </p:txBody>
      </p:sp>
      <p:sp>
        <p:nvSpPr>
          <p:cNvPr id="31" name="Email sent"/>
          <p:cNvSpPr/>
          <p:nvPr/>
        </p:nvSpPr>
        <p:spPr>
          <a:xfrm>
            <a:off x="10277856" y="3145536"/>
            <a:ext cx="292608" cy="292608"/>
          </a:xfrm>
          <a:prstGeom prst="ellipse">
            <a:avLst/>
          </a:prstGeom>
          <a:solidFill>
            <a:srgbClr val="FFFFFF"/>
          </a:solidFill>
          <a:ln w="15875">
            <a:solidFill>
              <a:srgbClr val="2A5BD7"/>
            </a:solidFill>
            <a:prstDash val="solid"/>
          </a:ln>
        </p:spPr>
      </p:sp>
      <p:pic>
        <p:nvPicPr>
          <p:cNvPr id="32" name="Image 2" descr="Email sent">    </p:cNvPr>
          <p:cNvPicPr>
            <a:picLocks noChangeAspect="1"/>
          </p:cNvPicPr>
          <p:nvPr/>
        </p:nvPicPr>
        <p:blipFill>
          <a:blip r:embed="rId3"/>
          <a:stretch>
            <a:fillRect/>
          </a:stretch>
        </p:blipFill>
        <p:spPr>
          <a:xfrm>
            <a:off x="10333452" y="3201132"/>
            <a:ext cx="181417" cy="181417"/>
          </a:xfrm>
          <a:prstGeom prst="rect">
            <a:avLst/>
          </a:prstGeom>
        </p:spPr>
      </p:pic>
      <p:sp>
        <p:nvSpPr>
          <p:cNvPr id="33" name="Shape 27"/>
          <p:cNvSpPr/>
          <p:nvPr/>
        </p:nvSpPr>
        <p:spPr>
          <a:xfrm>
            <a:off x="548640" y="4572000"/>
            <a:ext cx="11091672" cy="960120"/>
          </a:xfrm>
          <a:prstGeom prst="roundRect">
            <a:avLst>
              <a:gd name="adj" fmla="val 9524"/>
            </a:avLst>
          </a:prstGeom>
          <a:solidFill>
            <a:srgbClr val="EAF0FD"/>
          </a:solidFill>
          <a:ln w="6350">
            <a:solidFill>
              <a:srgbClr val="EAF0FD"/>
            </a:solidFill>
            <a:prstDash val="solid"/>
          </a:ln>
        </p:spPr>
      </p:sp>
      <p:sp>
        <p:nvSpPr>
          <p:cNvPr id="34" name="Shape 28"/>
          <p:cNvSpPr/>
          <p:nvPr/>
        </p:nvSpPr>
        <p:spPr>
          <a:xfrm>
            <a:off x="694944" y="4850892"/>
            <a:ext cx="402336" cy="402336"/>
          </a:xfrm>
          <a:prstGeom prst="ellipse">
            <a:avLst/>
          </a:prstGeom>
          <a:solidFill>
            <a:srgbClr val="2A5BD7"/>
          </a:solidFill>
          <a:ln w="6350">
            <a:solidFill>
              <a:srgbClr val="2A5BD7"/>
            </a:solidFill>
            <a:prstDash val="solid"/>
          </a:ln>
        </p:spPr>
      </p:sp>
      <p:pic>
        <p:nvPicPr>
          <p:cNvPr id="35" name="Image 3" descr="Icon">    </p:cNvPr>
          <p:cNvPicPr>
            <a:picLocks noChangeAspect="1"/>
          </p:cNvPicPr>
          <p:nvPr/>
        </p:nvPicPr>
        <p:blipFill>
          <a:blip r:embed="rId4"/>
          <a:stretch>
            <a:fillRect/>
          </a:stretch>
        </p:blipFill>
        <p:spPr>
          <a:xfrm>
            <a:off x="791505" y="4947453"/>
            <a:ext cx="209215" cy="209215"/>
          </a:xfrm>
          <a:prstGeom prst="rect">
            <a:avLst/>
          </a:prstGeom>
        </p:spPr>
      </p:pic>
      <p:sp>
        <p:nvSpPr>
          <p:cNvPr id="36" name="Text 29"/>
          <p:cNvSpPr txBox="1"/>
          <p:nvPr/>
        </p:nvSpPr>
        <p:spPr>
          <a:xfrm>
            <a:off x="1261872" y="4572000"/>
            <a:ext cx="10222992" cy="960120"/>
          </a:xfrm>
          <a:prstGeom prst="rect">
            <a:avLst/>
          </a:prstGeom>
          <a:noFill/>
          <a:ln/>
        </p:spPr>
        <p:txBody>
          <a:bodyPr wrap="square" lIns="0" tIns="0" rIns="0" bIns="0" rtlCol="0" anchor="ctr"/>
          <a:lstStyle/>
          <a:p>
            <a:pPr indent="0" marL="0">
              <a:buNone/>
            </a:pPr>
            <a:r>
              <a:rPr lang="en-US" sz="1300" b="1" dirty="0">
                <a:solidFill>
                  <a:srgbClr val="173A8F"/>
                </a:solidFill>
              </a:rPr>
              <a:t>Why one run settles both.  </a:t>
            </a:r>
            <a:pPr indent="0" marL="0">
              <a:buNone/>
            </a:pPr>
            <a:r>
              <a:rPr lang="en-US" sz="1300" dirty="0">
                <a:solidFill>
                  <a:srgbClr val="131925"/>
                </a:solidFill>
              </a:rPr>
              <a:t>A drift-aware change set compares the template, the last deployment and what is live. Where the template now matches live (the resize), CloudFormation leaves the resource as it is; where it doesn't (the SSH rule), it puts live back to the template.</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A drifted instance: side by side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Same console changes, same tag change</a:t>
            </a:r>
            <a:endParaRPr lang="en-US" sz="1400" dirty="0"/>
          </a:p>
        </p:txBody>
      </p:sp>
      <p:sp>
        <p:nvSpPr>
          <p:cNvPr id="5" name="Text 2"/>
          <p:cNvSpPr txBox="1"/>
          <p:nvPr/>
        </p:nvSpPr>
        <p:spPr>
          <a:xfrm>
            <a:off x="548640" y="1371600"/>
            <a:ext cx="1828800" cy="237744"/>
          </a:xfrm>
          <a:prstGeom prst="rect">
            <a:avLst/>
          </a:prstGeom>
          <a:noFill/>
          <a:ln/>
        </p:spPr>
        <p:txBody>
          <a:bodyPr wrap="square" lIns="0" tIns="0" rIns="0" bIns="0" rtlCol="0" anchor="ctr"/>
          <a:lstStyle/>
          <a:p>
            <a:pPr indent="0" marL="0">
              <a:buNone/>
            </a:pPr>
            <a:r>
              <a:rPr lang="en-US" sz="1150" dirty="0">
                <a:solidFill>
                  <a:srgbClr val="2E8946"/>
                </a:solidFill>
              </a:rPr>
              <a:t>●  </a:t>
            </a:r>
            <a:pPr indent="0" marL="0">
              <a:buNone/>
            </a:pPr>
            <a:r>
              <a:rPr lang="en-US" sz="1150" dirty="0">
                <a:solidFill>
                  <a:srgbClr val="586275"/>
                </a:solidFill>
              </a:rPr>
              <a:t>Handled well</a:t>
            </a:r>
            <a:endParaRPr lang="en-US" sz="1150" dirty="0"/>
          </a:p>
        </p:txBody>
      </p:sp>
      <p:sp>
        <p:nvSpPr>
          <p:cNvPr id="6" name="Text 3"/>
          <p:cNvSpPr txBox="1"/>
          <p:nvPr/>
        </p:nvSpPr>
        <p:spPr>
          <a:xfrm>
            <a:off x="2468880" y="1371600"/>
            <a:ext cx="1828800" cy="237744"/>
          </a:xfrm>
          <a:prstGeom prst="rect">
            <a:avLst/>
          </a:prstGeom>
          <a:noFill/>
          <a:ln/>
        </p:spPr>
        <p:txBody>
          <a:bodyPr wrap="square" lIns="0" tIns="0" rIns="0" bIns="0" rtlCol="0" anchor="ctr"/>
          <a:lstStyle/>
          <a:p>
            <a:pPr indent="0" marL="0">
              <a:buNone/>
            </a:pPr>
            <a:r>
              <a:rPr lang="en-US" sz="1150" dirty="0">
                <a:solidFill>
                  <a:srgbClr val="BF8418"/>
                </a:solidFill>
              </a:rPr>
              <a:t>●  </a:t>
            </a:r>
            <a:pPr indent="0" marL="0">
              <a:buNone/>
            </a:pPr>
            <a:r>
              <a:rPr lang="en-US" sz="1150" dirty="0">
                <a:solidFill>
                  <a:srgbClr val="586275"/>
                </a:solidFill>
              </a:rPr>
              <a:t>Partly handled</a:t>
            </a:r>
            <a:endParaRPr lang="en-US" sz="1150" dirty="0"/>
          </a:p>
        </p:txBody>
      </p:sp>
      <p:sp>
        <p:nvSpPr>
          <p:cNvPr id="7" name="Text 4"/>
          <p:cNvSpPr txBox="1"/>
          <p:nvPr/>
        </p:nvSpPr>
        <p:spPr>
          <a:xfrm>
            <a:off x="4389120" y="1371600"/>
            <a:ext cx="1828800" cy="237744"/>
          </a:xfrm>
          <a:prstGeom prst="rect">
            <a:avLst/>
          </a:prstGeom>
          <a:noFill/>
          <a:ln/>
        </p:spPr>
        <p:txBody>
          <a:bodyPr wrap="square" lIns="0" tIns="0" rIns="0" bIns="0" rtlCol="0" anchor="ctr"/>
          <a:lstStyle/>
          <a:p>
            <a:pPr indent="0" marL="0">
              <a:buNone/>
            </a:pPr>
            <a:r>
              <a:rPr lang="en-US" sz="1150" dirty="0">
                <a:solidFill>
                  <a:srgbClr val="C93A32"/>
                </a:solidFill>
              </a:rPr>
              <a:t>●  </a:t>
            </a:r>
            <a:pPr indent="0" marL="0">
              <a:buNone/>
            </a:pPr>
            <a:r>
              <a:rPr lang="en-US" sz="1150" dirty="0">
                <a:solidFill>
                  <a:srgbClr val="586275"/>
                </a:solidFill>
              </a:rPr>
              <a:t>Not handled</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971800"/>
                <a:gridCol w="3977640"/>
                <a:gridCol w="4142232"/>
              </a:tblGrid>
              <a:tr h="0">
                <a:tc>
                  <a:txBody>
                    <a:bodyPr/>
                    <a:lstStyle/>
                    <a:p>
                      <a:pPr indent="0" marL="0">
                        <a:buNone/>
                      </a:pPr>
                      <a:r>
                        <a:rPr lang="en-US" sz="1100" b="1" dirty="0">
                          <a:solidFill>
                            <a:srgbClr val="586275"/>
                          </a:solidFill>
                        </a:rPr>
                        <a:t>Situation</a:t>
                      </a:r>
                      <a:endParaRPr lang="en-US" sz="11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Current workflow</a:t>
                      </a:r>
                      <a:endParaRPr lang="en-US" sz="11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Proposed pipeline</a:t>
                      </a:r>
                      <a:endParaRPr lang="en-US" sz="11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00" b="1" dirty="0">
                          <a:solidFill>
                            <a:srgbClr val="131925"/>
                          </a:solidFill>
                        </a:rPr>
                        <a:t>Console changes found before deploying</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No; deploy compares old and new templates only</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Yes; drift on the stack and nested stacks stops the run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Who made the change</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Not shown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CloudTrail lookup in the drift email</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SSH opened to the world</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Stays open and unreported</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Reported, then removed through an approved change set</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Instance resized to t3.medium</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Kept until a later change silently undoes it</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Kept on purpose, or reverted, by an approved decision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Template code for the fix</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Live YAML and an Amazon Q suggestion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What changes in AWS on day 10</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BF8418"/>
                          </a:solidFill>
                        </a:rPr>
                        <a:t>●  </a:t>
                      </a:r>
                      <a:pPr indent="0" marL="0">
                        <a:buNone/>
                      </a:pPr>
                      <a:r>
                        <a:rPr lang="en-US" sz="1300" dirty="0">
                          <a:solidFill>
                            <a:srgbClr val="131925"/>
                          </a:solidFill>
                        </a:rPr>
                        <a:t>The tag, with the drift left in place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Nothing, until the team decides</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03</a:t>
            </a: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lIns="0" tIns="0" rIns="0" bIns="0" rtlCol="0" anchor="t"/>
          <a:lstStyle/>
          <a:p>
            <a:pPr algn="l" indent="0" marL="0">
              <a:buNone/>
            </a:pPr>
            <a:r>
              <a:rPr lang="en-US" sz="4000" b="1" dirty="0">
                <a:solidFill>
                  <a:schemeClr val="bg1"/>
                </a:solidFill>
              </a:rPr>
              <a:t>Add or update a DNS record</a:t>
            </a: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lIns="0" tIns="0" rIns="0" bIns="0" rtlCol="0" anchor="t"/>
          <a:lstStyle/>
          <a:p>
            <a:pPr indent="0" marL="0">
              <a:buNone/>
            </a:pPr>
            <a:r>
              <a:rPr lang="en-US" sz="1800" dirty="0">
                <a:solidFill>
                  <a:srgbClr val="C9D3E3"/>
                </a:solidFill>
              </a:rPr>
              <a:t>A new A record and a changed CNAME, in a zone that other tools also write to</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example: two changes in a busy zone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example.com · two records change; three others must be left exactly as they are</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514600"/>
                <a:gridCol w="1234440"/>
                <a:gridCol w="3794760"/>
                <a:gridCol w="3547872"/>
              </a:tblGrid>
              <a:tr h="0">
                <a:tc>
                  <a:txBody>
                    <a:bodyPr/>
                    <a:lstStyle/>
                    <a:p>
                      <a:pPr indent="0" marL="0">
                        <a:buNone/>
                      </a:pPr>
                      <a:r>
                        <a:rPr lang="en-US" sz="1100" b="1" dirty="0">
                          <a:solidFill>
                            <a:srgbClr val="586275"/>
                          </a:solidFill>
                        </a:rPr>
                        <a:t>Record</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Type</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Value</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In this example</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50" b="1" dirty="0">
                          <a:solidFill>
                            <a:srgbClr val="131925"/>
                          </a:solidFill>
                          <a:latin typeface="Courier New" pitchFamily="34" charset="0"/>
                          <a:ea typeface="Courier New" pitchFamily="34" charset="-122"/>
                          <a:cs typeface="Courier New" pitchFamily="34" charset="-120"/>
                        </a:rPr>
                        <a:t>app.example.com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A</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10.20.1.15</a:t>
                      </a:r>
                      <a:endParaRPr lang="en-US" sz="120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A5BD7"/>
                          </a:solidFill>
                        </a:rPr>
                        <a:t>●  </a:t>
                      </a:r>
                      <a:pPr indent="0" marL="0">
                        <a:buNone/>
                      </a:pPr>
                      <a:r>
                        <a:rPr lang="en-US" sz="1300" b="1" dirty="0">
                          <a:solidFill>
                            <a:srgbClr val="173A8F"/>
                          </a:solidFill>
                        </a:rPr>
                        <a:t>Add</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latin typeface="Courier New" pitchFamily="34" charset="0"/>
                          <a:ea typeface="Courier New" pitchFamily="34" charset="-122"/>
                          <a:cs typeface="Courier New" pitchFamily="34" charset="-120"/>
                        </a:rPr>
                        <a:t>www.example.com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CNAME</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web-old.example.net</a:t>
                      </a:r>
                      <a:endParaRPr lang="en-US" sz="1200" dirty="0"/>
                    </a:p>
                    <a:p>
                      <a:pPr indent="0" marL="0">
                        <a:buNone/>
                      </a:pPr>
                      <a:r>
                        <a:rPr lang="en-US" sz="1200" dirty="0">
                          <a:solidFill>
                            <a:srgbClr val="131925"/>
                          </a:solidFill>
                          <a:latin typeface="Courier New" pitchFamily="34" charset="0"/>
                          <a:ea typeface="Courier New" pitchFamily="34" charset="-122"/>
                          <a:cs typeface="Courier New" pitchFamily="34" charset="-120"/>
                        </a:rPr>
                        <a:t>→ web-new.example.net</a:t>
                      </a:r>
                      <a:endParaRPr lang="en-US" sz="12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A5BD7"/>
                          </a:solidFill>
                        </a:rPr>
                        <a:t>●  </a:t>
                      </a:r>
                      <a:pPr indent="0" marL="0">
                        <a:buNone/>
                      </a:pPr>
                      <a:r>
                        <a:rPr lang="en-US" sz="1300" b="1" dirty="0">
                          <a:solidFill>
                            <a:srgbClr val="173A8F"/>
                          </a:solidFill>
                        </a:rPr>
                        <a:t>Change</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dirty="0">
                          <a:solidFill>
                            <a:srgbClr val="131925"/>
                          </a:solidFill>
                          <a:latin typeface="Courier New" pitchFamily="34" charset="0"/>
                          <a:ea typeface="Courier New" pitchFamily="34" charset="-122"/>
                          <a:cs typeface="Courier New" pitchFamily="34" charset="-120"/>
                        </a:rPr>
                        <a:t>status.example.com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A</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10.20.9.41</a:t>
                      </a:r>
                      <a:endParaRPr lang="en-US" sz="1200" dirty="0"/>
                    </a:p>
                    <a:p>
                      <a:pPr indent="0" marL="0">
                        <a:buNone/>
                      </a:pPr>
                      <a:r>
                        <a:rPr lang="en-US" sz="1200" dirty="0">
                          <a:solidFill>
                            <a:srgbClr val="586275"/>
                          </a:solidFill>
                          <a:latin typeface="Courier New" pitchFamily="34" charset="0"/>
                          <a:ea typeface="Courier New" pitchFamily="34" charset="-122"/>
                          <a:cs typeface="Courier New" pitchFamily="34" charset="-120"/>
                        </a:rPr>
                        <a:t>(was 10.20.9.40)</a:t>
                      </a:r>
                      <a:endParaRPr lang="en-US" sz="12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66728A"/>
                          </a:solidFill>
                        </a:rPr>
                        <a:t>●  </a:t>
                      </a:r>
                      <a:pPr indent="0" marL="0">
                        <a:buNone/>
                      </a:pPr>
                      <a:r>
                        <a:rPr lang="en-US" sz="1300" dirty="0">
                          <a:solidFill>
                            <a:srgbClr val="586275"/>
                          </a:solidFill>
                        </a:rPr>
                        <a:t>Leave alone: repointed in the console during a failover, while the PR was in review</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dirty="0">
                          <a:solidFill>
                            <a:srgbClr val="131925"/>
                          </a:solidFill>
                          <a:latin typeface="Courier New" pitchFamily="34" charset="0"/>
                          <a:ea typeface="Courier New" pitchFamily="34" charset="-122"/>
                          <a:cs typeface="Courier New" pitchFamily="34" charset="-120"/>
                        </a:rPr>
                        <a:t>_3f2a9c.example.com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CNAME</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_9b1d…acm-validations.aws</a:t>
                      </a:r>
                      <a:endParaRPr lang="en-US" sz="120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66728A"/>
                          </a:solidFill>
                        </a:rPr>
                        <a:t>●  </a:t>
                      </a:r>
                      <a:pPr indent="0" marL="0">
                        <a:buNone/>
                      </a:pPr>
                      <a:r>
                        <a:rPr lang="en-US" sz="1300" dirty="0">
                          <a:solidFill>
                            <a:srgbClr val="586275"/>
                          </a:solidFill>
                        </a:rPr>
                        <a:t>Leave alone: ACM certificate validation</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dirty="0">
                          <a:solidFill>
                            <a:srgbClr val="131925"/>
                          </a:solidFill>
                          <a:latin typeface="Courier New" pitchFamily="34" charset="0"/>
                          <a:ea typeface="Courier New" pitchFamily="34" charset="-122"/>
                          <a:cs typeface="Courier New" pitchFamily="34" charset="-120"/>
                        </a:rPr>
                        <a:t>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A (ALIAS)</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CloudFront distribution</a:t>
                      </a:r>
                      <a:endParaRPr lang="en-US" sz="120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66728A"/>
                          </a:solidFill>
                        </a:rPr>
                        <a:t>●  </a:t>
                      </a:r>
                      <a:pPr indent="0" marL="0">
                        <a:buNone/>
                      </a:pPr>
                      <a:r>
                        <a:rPr lang="en-US" sz="1300" dirty="0">
                          <a:solidFill>
                            <a:srgbClr val="586275"/>
                          </a:solidFill>
                        </a:rPr>
                        <a:t>Leave alone: managed by another CloudFormation stack</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6" name="Shape 2"/>
          <p:cNvSpPr/>
          <p:nvPr/>
        </p:nvSpPr>
        <p:spPr>
          <a:xfrm>
            <a:off x="548640" y="5120640"/>
            <a:ext cx="11091672" cy="731520"/>
          </a:xfrm>
          <a:prstGeom prst="roundRect">
            <a:avLst>
              <a:gd name="adj" fmla="val 12500"/>
            </a:avLst>
          </a:prstGeom>
          <a:solidFill>
            <a:srgbClr val="F4FAF6"/>
          </a:solidFill>
          <a:ln w="6350">
            <a:solidFill>
              <a:srgbClr val="F4FAF6"/>
            </a:solidFill>
            <a:prstDash val="solid"/>
          </a:ln>
        </p:spPr>
      </p:sp>
      <p:sp>
        <p:nvSpPr>
          <p:cNvPr id="7" name="Shape 3"/>
          <p:cNvSpPr/>
          <p:nvPr/>
        </p:nvSpPr>
        <p:spPr>
          <a:xfrm>
            <a:off x="694944" y="5285232"/>
            <a:ext cx="402336" cy="402336"/>
          </a:xfrm>
          <a:prstGeom prst="ellipse">
            <a:avLst/>
          </a:prstGeom>
          <a:solidFill>
            <a:srgbClr val="2E8946"/>
          </a:solidFill>
          <a:ln w="6350">
            <a:solidFill>
              <a:srgbClr val="2E8946"/>
            </a:solidFill>
            <a:prstDash val="solid"/>
          </a:ln>
        </p:spPr>
      </p:sp>
      <p:pic>
        <p:nvPicPr>
          <p:cNvPr id="8" name="Image 0" descr="Icon">    </p:cNvPr>
          <p:cNvPicPr>
            <a:picLocks noChangeAspect="1"/>
          </p:cNvPicPr>
          <p:nvPr/>
        </p:nvPicPr>
        <p:blipFill>
          <a:blip r:embed="rId1"/>
          <a:stretch>
            <a:fillRect/>
          </a:stretch>
        </p:blipFill>
        <p:spPr>
          <a:xfrm>
            <a:off x="791505" y="5381793"/>
            <a:ext cx="209215" cy="209215"/>
          </a:xfrm>
          <a:prstGeom prst="rect">
            <a:avLst/>
          </a:prstGeom>
        </p:spPr>
      </p:pic>
      <p:sp>
        <p:nvSpPr>
          <p:cNvPr id="9" name="Text 4"/>
          <p:cNvSpPr txBox="1"/>
          <p:nvPr/>
        </p:nvSpPr>
        <p:spPr>
          <a:xfrm>
            <a:off x="1261872" y="5120640"/>
            <a:ext cx="10222992" cy="731520"/>
          </a:xfrm>
          <a:prstGeom prst="rect">
            <a:avLst/>
          </a:prstGeom>
          <a:noFill/>
          <a:ln/>
        </p:spPr>
        <p:txBody>
          <a:bodyPr wrap="square" lIns="0" tIns="0" rIns="0" bIns="0" rtlCol="0" anchor="ctr"/>
          <a:lstStyle/>
          <a:p>
            <a:pPr indent="0" marL="0">
              <a:buNone/>
            </a:pPr>
            <a:r>
              <a:rPr lang="en-US" sz="1300" b="1" dirty="0">
                <a:solidFill>
                  <a:srgbClr val="165229"/>
                </a:solidFill>
              </a:rPr>
              <a:t>What good looks like.  </a:t>
            </a:r>
            <a:pPr indent="0" marL="0">
              <a:buNone/>
            </a:pPr>
            <a:r>
              <a:rPr lang="en-US" sz="1300" dirty="0">
                <a:solidFill>
                  <a:srgbClr val="131925"/>
                </a:solidFill>
              </a:rPr>
              <a:t>The first two records change, exactly as reviewed; the other three stay exactly as they are.</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with the DNS workflows: two workflows and a pull request</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ws2-dns-records-export.yml, then ws2-dns-records-apply.yml</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Export</a:t>
            </a:r>
            <a:pPr indent="0" marL="0">
              <a:buNone/>
            </a:pPr>
            <a:r>
              <a:rPr lang="en-US" sz="1300" dirty="0">
                <a:solidFill>
                  <a:srgbClr val="586275"/>
                </a:solidFill>
              </a:rPr>
              <a:t>   get the zone into Git</a:t>
            </a:r>
            <a:endParaRPr lang="en-US" sz="1300" dirty="0"/>
          </a:p>
        </p:txBody>
      </p:sp>
      <p:sp>
        <p:nvSpPr>
          <p:cNvPr id="6" name="Run Export"/>
          <p:cNvSpPr txBox="1"/>
          <p:nvPr/>
        </p:nvSpPr>
        <p:spPr>
          <a:xfrm>
            <a:off x="548640"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Run Export</a:t>
            </a:r>
            <a:endParaRPr lang="en-US" sz="1200" dirty="0"/>
          </a:p>
          <a:p>
            <a:pPr algn="ctr" indent="0" marL="0">
              <a:buNone/>
            </a:pPr>
            <a:r>
              <a:rPr lang="en-US" sz="1050" dirty="0">
                <a:solidFill>
                  <a:srgbClr val="586275"/>
                </a:solidFill>
              </a:rPr>
              <a:t>One zone</a:t>
            </a:r>
            <a:endParaRPr lang="en-US" sz="1200" dirty="0"/>
          </a:p>
        </p:txBody>
      </p:sp>
      <p:sp>
        <p:nvSpPr>
          <p:cNvPr id="7" name="Shape 4"/>
          <p:cNvSpPr/>
          <p:nvPr/>
        </p:nvSpPr>
        <p:spPr>
          <a:xfrm>
            <a:off x="3063240" y="2217420"/>
            <a:ext cx="292608" cy="0"/>
          </a:xfrm>
          <a:prstGeom prst="line">
            <a:avLst/>
          </a:prstGeom>
          <a:noFill/>
          <a:ln w="15875">
            <a:solidFill>
              <a:srgbClr val="7D889B"/>
            </a:solidFill>
            <a:prstDash val="solid"/>
            <a:tailEnd type="triangle"/>
          </a:ln>
        </p:spPr>
      </p:sp>
      <p:sp>
        <p:nvSpPr>
          <p:cNvPr id="8" name="New branch and PR"/>
          <p:cNvSpPr txBox="1"/>
          <p:nvPr/>
        </p:nvSpPr>
        <p:spPr>
          <a:xfrm>
            <a:off x="3355848"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New branch and PR</a:t>
            </a:r>
            <a:endParaRPr lang="en-US" sz="1200" dirty="0"/>
          </a:p>
          <a:p>
            <a:pPr algn="ctr" indent="0" marL="0">
              <a:buNone/>
            </a:pPr>
            <a:r>
              <a:rPr lang="en-US" sz="1050" dirty="0">
                <a:solidFill>
                  <a:srgbClr val="586275"/>
                </a:solidFill>
              </a:rPr>
              <a:t>Large diff, even with nothing changed</a:t>
            </a:r>
            <a:endParaRPr lang="en-US" sz="1200" dirty="0"/>
          </a:p>
        </p:txBody>
      </p:sp>
      <p:sp>
        <p:nvSpPr>
          <p:cNvPr id="9" name="Shape 6"/>
          <p:cNvSpPr/>
          <p:nvPr/>
        </p:nvSpPr>
        <p:spPr>
          <a:xfrm>
            <a:off x="5870448" y="2217420"/>
            <a:ext cx="292608" cy="0"/>
          </a:xfrm>
          <a:prstGeom prst="line">
            <a:avLst/>
          </a:prstGeom>
          <a:noFill/>
          <a:ln w="15875">
            <a:solidFill>
              <a:srgbClr val="7D889B"/>
            </a:solidFill>
            <a:prstDash val="solid"/>
            <a:tailEnd type="triangle"/>
          </a:ln>
        </p:spPr>
      </p:sp>
      <p:sp>
        <p:nvSpPr>
          <p:cNvPr id="10" name="Edit the zone file"/>
          <p:cNvSpPr txBox="1"/>
          <p:nvPr/>
        </p:nvSpPr>
        <p:spPr>
          <a:xfrm>
            <a:off x="6163056"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Edit the zone file</a:t>
            </a:r>
            <a:endParaRPr lang="en-US" sz="1200" dirty="0"/>
          </a:p>
          <a:p>
            <a:pPr algn="ctr" indent="0" marL="0">
              <a:buNone/>
            </a:pPr>
            <a:r>
              <a:rPr lang="en-US" sz="1050" dirty="0">
                <a:solidFill>
                  <a:srgbClr val="586275"/>
                </a:solidFill>
              </a:rPr>
              <a:t>Add app; change www</a:t>
            </a:r>
            <a:endParaRPr lang="en-US" sz="1200" dirty="0"/>
          </a:p>
        </p:txBody>
      </p:sp>
      <p:sp>
        <p:nvSpPr>
          <p:cNvPr id="11" name="Shape 8"/>
          <p:cNvSpPr/>
          <p:nvPr/>
        </p:nvSpPr>
        <p:spPr>
          <a:xfrm>
            <a:off x="8677656" y="2217420"/>
            <a:ext cx="292608" cy="0"/>
          </a:xfrm>
          <a:prstGeom prst="line">
            <a:avLst/>
          </a:prstGeom>
          <a:noFill/>
          <a:ln w="15875">
            <a:solidFill>
              <a:srgbClr val="7D889B"/>
            </a:solidFill>
            <a:prstDash val="solid"/>
            <a:tailEnd type="triangle"/>
          </a:ln>
        </p:spPr>
      </p:sp>
      <p:sp>
        <p:nvSpPr>
          <p:cNvPr id="12" name="Review and merge"/>
          <p:cNvSpPr txBox="1"/>
          <p:nvPr/>
        </p:nvSpPr>
        <p:spPr>
          <a:xfrm>
            <a:off x="8970264"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Review and merge</a:t>
            </a:r>
            <a:endParaRPr lang="en-US" sz="1200" dirty="0"/>
          </a:p>
          <a:p>
            <a:pPr algn="ctr" indent="0" marL="0">
              <a:buNone/>
            </a:pPr>
            <a:r>
              <a:rPr lang="en-US" sz="1050" dirty="0">
                <a:solidFill>
                  <a:srgbClr val="586275"/>
                </a:solidFill>
              </a:rPr>
              <a:t>PR checks don't run on the bot PR</a:t>
            </a:r>
            <a:endParaRPr lang="en-US" sz="1200" dirty="0"/>
          </a:p>
        </p:txBody>
      </p:sp>
      <p:sp>
        <p:nvSpPr>
          <p:cNvPr id="13" name="Text 10"/>
          <p:cNvSpPr txBox="1"/>
          <p:nvPr/>
        </p:nvSpPr>
        <p:spPr>
          <a:xfrm>
            <a:off x="548640" y="292608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Apply</a:t>
            </a:r>
            <a:pPr indent="0" marL="0">
              <a:buNone/>
            </a:pPr>
            <a:r>
              <a:rPr lang="en-US" sz="1300" dirty="0">
                <a:solidFill>
                  <a:srgbClr val="586275"/>
                </a:solidFill>
              </a:rPr>
              <a:t>   status.example.com was repointed in the console while the PR was in review</a:t>
            </a:r>
            <a:endParaRPr lang="en-US" sz="1300" dirty="0"/>
          </a:p>
        </p:txBody>
      </p:sp>
      <p:sp>
        <p:nvSpPr>
          <p:cNvPr id="14" name="Run Apply"/>
          <p:cNvSpPr txBox="1"/>
          <p:nvPr/>
        </p:nvSpPr>
        <p:spPr>
          <a:xfrm>
            <a:off x="548640" y="3291840"/>
            <a:ext cx="1984248"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Run Apply</a:t>
            </a:r>
            <a:endParaRPr lang="en-US" sz="1200" dirty="0"/>
          </a:p>
          <a:p>
            <a:pPr algn="ctr" indent="0" marL="0">
              <a:buNone/>
            </a:pPr>
            <a:r>
              <a:rPr lang="en-US" sz="1050" dirty="0">
                <a:solidFill>
                  <a:srgbClr val="586275"/>
                </a:solidFill>
              </a:rPr>
              <a:t>Execute changes ticked</a:t>
            </a:r>
            <a:endParaRPr lang="en-US" sz="1200" dirty="0"/>
          </a:p>
        </p:txBody>
      </p:sp>
      <p:sp>
        <p:nvSpPr>
          <p:cNvPr id="15" name="Shape 12"/>
          <p:cNvSpPr/>
          <p:nvPr/>
        </p:nvSpPr>
        <p:spPr>
          <a:xfrm>
            <a:off x="2532888" y="3726180"/>
            <a:ext cx="292608" cy="0"/>
          </a:xfrm>
          <a:prstGeom prst="line">
            <a:avLst/>
          </a:prstGeom>
          <a:noFill/>
          <a:ln w="15875">
            <a:solidFill>
              <a:srgbClr val="7D889B"/>
            </a:solidFill>
            <a:prstDash val="solid"/>
            <a:tailEnd type="triangle"/>
          </a:ln>
        </p:spPr>
      </p:sp>
      <p:sp>
        <p:nvSpPr>
          <p:cNvPr id="16" name="Preview"/>
          <p:cNvSpPr txBox="1"/>
          <p:nvPr/>
        </p:nvSpPr>
        <p:spPr>
          <a:xfrm>
            <a:off x="2825496" y="3291840"/>
            <a:ext cx="1984248" cy="868680"/>
          </a:xfrm>
          <a:prstGeom prst="roundRect">
            <a:avLst>
              <a:gd name="adj" fmla="val 9474"/>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Preview</a:t>
            </a:r>
            <a:endParaRPr lang="en-US" sz="1200" dirty="0"/>
          </a:p>
          <a:p>
            <a:pPr algn="ctr" indent="0" marL="0">
              <a:buNone/>
            </a:pPr>
            <a:r>
              <a:rPr lang="en-US" sz="1050" dirty="0">
                <a:solidFill>
                  <a:srgbClr val="2B6C59"/>
                </a:solidFill>
              </a:rPr>
              <a:t>UPSERT app and www, and status back to its old value</a:t>
            </a:r>
            <a:endParaRPr lang="en-US" sz="1200" dirty="0"/>
          </a:p>
        </p:txBody>
      </p:sp>
      <p:sp>
        <p:nvSpPr>
          <p:cNvPr id="17" name="Shape 14"/>
          <p:cNvSpPr/>
          <p:nvPr/>
        </p:nvSpPr>
        <p:spPr>
          <a:xfrm>
            <a:off x="4809744" y="3726180"/>
            <a:ext cx="292608" cy="0"/>
          </a:xfrm>
          <a:prstGeom prst="line">
            <a:avLst/>
          </a:prstGeom>
          <a:noFill/>
          <a:ln w="15875">
            <a:solidFill>
              <a:srgbClr val="7D889B"/>
            </a:solidFill>
            <a:prstDash val="solid"/>
            <a:tailEnd type="triangle"/>
          </a:ln>
        </p:spPr>
      </p:sp>
      <p:sp>
        <p:nvSpPr>
          <p:cNvPr id="18" name="Approval"/>
          <p:cNvSpPr txBox="1"/>
          <p:nvPr/>
        </p:nvSpPr>
        <p:spPr>
          <a:xfrm>
            <a:off x="5102352" y="3291840"/>
            <a:ext cx="1984248"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a:t>
            </a:r>
            <a:endParaRPr lang="en-US" sz="1200" dirty="0"/>
          </a:p>
          <a:p>
            <a:pPr algn="ctr" indent="0" marL="0">
              <a:buNone/>
            </a:pPr>
            <a:r>
              <a:rPr lang="en-US" sz="1050" dirty="0">
                <a:solidFill>
                  <a:srgbClr val="586275"/>
                </a:solidFill>
              </a:rPr>
              <a:t>Shared production gate; can wait up to 30 days</a:t>
            </a:r>
            <a:endParaRPr lang="en-US" sz="1200" dirty="0"/>
          </a:p>
        </p:txBody>
      </p:sp>
      <p:sp>
        <p:nvSpPr>
          <p:cNvPr id="19" name="Shape 16"/>
          <p:cNvSpPr/>
          <p:nvPr/>
        </p:nvSpPr>
        <p:spPr>
          <a:xfrm>
            <a:off x="7086600" y="3726180"/>
            <a:ext cx="292608" cy="0"/>
          </a:xfrm>
          <a:prstGeom prst="line">
            <a:avLst/>
          </a:prstGeom>
          <a:noFill/>
          <a:ln w="15875">
            <a:solidFill>
              <a:srgbClr val="7D889B"/>
            </a:solidFill>
            <a:prstDash val="solid"/>
            <a:tailEnd type="triangle"/>
          </a:ln>
        </p:spPr>
      </p:sp>
      <p:sp>
        <p:nvSpPr>
          <p:cNvPr id="20" name="Change batch sent"/>
          <p:cNvSpPr txBox="1"/>
          <p:nvPr/>
        </p:nvSpPr>
        <p:spPr>
          <a:xfrm>
            <a:off x="7379208" y="3291840"/>
            <a:ext cx="1984248" cy="868680"/>
          </a:xfrm>
          <a:prstGeom prst="roundRect">
            <a:avLst>
              <a:gd name="adj" fmla="val 9474"/>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Change batch sent</a:t>
            </a:r>
            <a:endParaRPr lang="en-US" sz="1200" dirty="0"/>
          </a:p>
          <a:p>
            <a:pPr algn="ctr" indent="0" marL="0">
              <a:buNone/>
            </a:pPr>
            <a:r>
              <a:rPr lang="en-US" sz="1050" dirty="0">
                <a:solidFill>
                  <a:srgbClr val="8F4F17"/>
                </a:solidFill>
              </a:rPr>
              <a:t>Difference worked out again first</a:t>
            </a:r>
            <a:endParaRPr lang="en-US" sz="1200" dirty="0"/>
          </a:p>
        </p:txBody>
      </p:sp>
      <p:sp>
        <p:nvSpPr>
          <p:cNvPr id="21" name="Shape 18"/>
          <p:cNvSpPr/>
          <p:nvPr/>
        </p:nvSpPr>
        <p:spPr>
          <a:xfrm>
            <a:off x="9363456" y="3726180"/>
            <a:ext cx="292608" cy="0"/>
          </a:xfrm>
          <a:prstGeom prst="line">
            <a:avLst/>
          </a:prstGeom>
          <a:noFill/>
          <a:ln w="15875">
            <a:solidFill>
              <a:srgbClr val="7D889B"/>
            </a:solidFill>
            <a:prstDash val="solid"/>
            <a:tailEnd type="triangle"/>
          </a:ln>
        </p:spPr>
      </p:sp>
      <p:sp>
        <p:nvSpPr>
          <p:cNvPr id="22" name="Marked APPLIED"/>
          <p:cNvSpPr txBox="1"/>
          <p:nvPr/>
        </p:nvSpPr>
        <p:spPr>
          <a:xfrm>
            <a:off x="9656064" y="3291840"/>
            <a:ext cx="1984248" cy="86868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Marked APPLIED</a:t>
            </a:r>
            <a:endParaRPr lang="en-US" sz="1200" dirty="0"/>
          </a:p>
          <a:p>
            <a:pPr algn="ctr" indent="0" marL="0">
              <a:buNone/>
            </a:pPr>
            <a:r>
              <a:rPr lang="en-US" sz="1050" dirty="0">
                <a:solidFill>
                  <a:srgbClr val="A1332C"/>
                </a:solidFill>
              </a:rPr>
              <a:t>The failover change is undone</a:t>
            </a:r>
            <a:endParaRPr lang="en-US" sz="1200" dirty="0"/>
          </a:p>
        </p:txBody>
      </p:sp>
      <p:sp>
        <p:nvSpPr>
          <p:cNvPr id="23" name="Shape 20"/>
          <p:cNvSpPr/>
          <p:nvPr/>
        </p:nvSpPr>
        <p:spPr>
          <a:xfrm>
            <a:off x="548640" y="4526280"/>
            <a:ext cx="11091672" cy="868680"/>
          </a:xfrm>
          <a:prstGeom prst="roundRect">
            <a:avLst>
              <a:gd name="adj" fmla="val 10526"/>
            </a:avLst>
          </a:prstGeom>
          <a:solidFill>
            <a:srgbClr val="FDF4F3"/>
          </a:solidFill>
          <a:ln w="6350">
            <a:solidFill>
              <a:srgbClr val="FDF4F3"/>
            </a:solidFill>
            <a:prstDash val="solid"/>
          </a:ln>
        </p:spPr>
      </p:sp>
      <p:sp>
        <p:nvSpPr>
          <p:cNvPr id="24" name="Shape 21"/>
          <p:cNvSpPr/>
          <p:nvPr/>
        </p:nvSpPr>
        <p:spPr>
          <a:xfrm>
            <a:off x="694944" y="4759452"/>
            <a:ext cx="402336" cy="402336"/>
          </a:xfrm>
          <a:prstGeom prst="ellipse">
            <a:avLst/>
          </a:prstGeom>
          <a:solidFill>
            <a:srgbClr val="C93A32"/>
          </a:solidFill>
          <a:ln w="6350">
            <a:solidFill>
              <a:srgbClr val="C93A32"/>
            </a:solidFill>
            <a:prstDash val="solid"/>
          </a:ln>
        </p:spPr>
      </p:sp>
      <p:pic>
        <p:nvPicPr>
          <p:cNvPr id="25" name="Image 0" descr="Icon">    </p:cNvPr>
          <p:cNvPicPr>
            <a:picLocks noChangeAspect="1"/>
          </p:cNvPicPr>
          <p:nvPr/>
        </p:nvPicPr>
        <p:blipFill>
          <a:blip r:embed="rId1"/>
          <a:stretch>
            <a:fillRect/>
          </a:stretch>
        </p:blipFill>
        <p:spPr>
          <a:xfrm>
            <a:off x="791505" y="4856013"/>
            <a:ext cx="209215" cy="209215"/>
          </a:xfrm>
          <a:prstGeom prst="rect">
            <a:avLst/>
          </a:prstGeom>
        </p:spPr>
      </p:pic>
      <p:sp>
        <p:nvSpPr>
          <p:cNvPr id="26" name="Text 22"/>
          <p:cNvSpPr txBox="1"/>
          <p:nvPr/>
        </p:nvSpPr>
        <p:spPr>
          <a:xfrm>
            <a:off x="1261872" y="4526280"/>
            <a:ext cx="10222992" cy="868680"/>
          </a:xfrm>
          <a:prstGeom prst="rect">
            <a:avLst/>
          </a:prstGeom>
          <a:noFill/>
          <a:ln/>
        </p:spPr>
        <p:txBody>
          <a:bodyPr wrap="square" lIns="0" tIns="0" rIns="0" bIns="0" rtlCol="0" anchor="ctr"/>
          <a:lstStyle/>
          <a:p>
            <a:pPr indent="0" marL="0">
              <a:buNone/>
            </a:pPr>
            <a:r>
              <a:rPr lang="en-US" sz="1300" b="1" dirty="0">
                <a:solidFill>
                  <a:srgbClr val="7D1C16"/>
                </a:solidFill>
              </a:rPr>
              <a:t>With Allow deletes ticked.  </a:t>
            </a:r>
            <a:pPr indent="0" marL="0">
              <a:buNone/>
            </a:pPr>
            <a:r>
              <a:rPr lang="en-US" sz="1300" dirty="0">
                <a:solidFill>
                  <a:srgbClr val="131925"/>
                </a:solidFill>
              </a:rPr>
              <a:t>Anything live but missing from the file is deleted, such as records other tools created after the last export. The ALIAS record depends on how the apply script treats records that export skips.</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with the current CloudFormation workflow</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latest_cft_deployment.yml, with the records defined as AWS::Route53::RecordSet in a template</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Records in a template</a:t>
            </a:r>
            <a:pPr indent="0" marL="0">
              <a:buNone/>
            </a:pPr>
            <a:r>
              <a:rPr lang="en-US" sz="1300" dirty="0">
                <a:solidFill>
                  <a:srgbClr val="586275"/>
                </a:solidFill>
              </a:rPr>
              <a:t>   the usual path</a:t>
            </a:r>
            <a:endParaRPr lang="en-US" sz="1300" dirty="0"/>
          </a:p>
        </p:txBody>
      </p:sp>
      <p:sp>
        <p:nvSpPr>
          <p:cNvPr id="6" name="Engineer runs the workflow"/>
          <p:cNvSpPr txBox="1"/>
          <p:nvPr/>
        </p:nvSpPr>
        <p:spPr>
          <a:xfrm>
            <a:off x="548640" y="182880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Inputs typed by hand</a:t>
            </a:r>
            <a:endParaRPr lang="en-US" sz="1200" dirty="0"/>
          </a:p>
        </p:txBody>
      </p:sp>
      <p:sp>
        <p:nvSpPr>
          <p:cNvPr id="7" name="Shape 4"/>
          <p:cNvSpPr/>
          <p:nvPr/>
        </p:nvSpPr>
        <p:spPr>
          <a:xfrm>
            <a:off x="3291840" y="2217420"/>
            <a:ext cx="292608" cy="0"/>
          </a:xfrm>
          <a:prstGeom prst="line">
            <a:avLst/>
          </a:prstGeom>
          <a:noFill/>
          <a:ln w="15875">
            <a:solidFill>
              <a:srgbClr val="7D889B"/>
            </a:solidFill>
            <a:prstDash val="solid"/>
            <a:tailEnd type="triangle"/>
          </a:ln>
        </p:spPr>
      </p:sp>
      <p:sp>
        <p:nvSpPr>
          <p:cNvPr id="8" name="Records changed at once"/>
          <p:cNvSpPr txBox="1"/>
          <p:nvPr/>
        </p:nvSpPr>
        <p:spPr>
          <a:xfrm>
            <a:off x="3584448" y="1828800"/>
            <a:ext cx="27432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Records changed at once</a:t>
            </a:r>
            <a:endParaRPr lang="en-US" sz="1200" dirty="0"/>
          </a:p>
          <a:p>
            <a:pPr algn="ctr" indent="0" marL="0">
              <a:buNone/>
            </a:pPr>
            <a:r>
              <a:rPr lang="en-US" sz="1050" dirty="0">
                <a:solidFill>
                  <a:srgbClr val="8F4F17"/>
                </a:solidFill>
              </a:rPr>
              <a:t>No preview, no approval</a:t>
            </a:r>
            <a:endParaRPr lang="en-US" sz="1200" dirty="0"/>
          </a:p>
        </p:txBody>
      </p:sp>
      <p:sp>
        <p:nvSpPr>
          <p:cNvPr id="9" name="Shape 6"/>
          <p:cNvSpPr/>
          <p:nvPr/>
        </p:nvSpPr>
        <p:spPr>
          <a:xfrm>
            <a:off x="6327648" y="2217420"/>
            <a:ext cx="292608" cy="0"/>
          </a:xfrm>
          <a:prstGeom prst="line">
            <a:avLst/>
          </a:prstGeom>
          <a:noFill/>
          <a:ln w="15875">
            <a:solidFill>
              <a:srgbClr val="7D889B"/>
            </a:solidFill>
            <a:prstDash val="solid"/>
            <a:tailEnd type="triangle"/>
          </a:ln>
        </p:spPr>
      </p:sp>
      <p:sp>
        <p:nvSpPr>
          <p:cNvPr id="10" name="Live in Route 53"/>
          <p:cNvSpPr txBox="1"/>
          <p:nvPr/>
        </p:nvSpPr>
        <p:spPr>
          <a:xfrm>
            <a:off x="6620256" y="1828800"/>
            <a:ext cx="27432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Live in Route 53</a:t>
            </a:r>
            <a:endParaRPr lang="en-US" sz="1200" dirty="0"/>
          </a:p>
          <a:p>
            <a:pPr algn="ctr" indent="0" marL="0">
              <a:buNone/>
            </a:pPr>
            <a:r>
              <a:rPr lang="en-US" sz="1050" dirty="0">
                <a:solidFill>
                  <a:srgbClr val="A1332C"/>
                </a:solidFill>
              </a:rPr>
              <a:t>A typo goes live too</a:t>
            </a:r>
            <a:endParaRPr lang="en-US" sz="1200" dirty="0"/>
          </a:p>
        </p:txBody>
      </p:sp>
      <p:sp>
        <p:nvSpPr>
          <p:cNvPr id="11" name="Text 8"/>
          <p:cNvSpPr txBox="1"/>
          <p:nvPr/>
        </p:nvSpPr>
        <p:spPr>
          <a:xfrm>
            <a:off x="548640" y="292608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www.example.com isn't in the stack yet</a:t>
            </a:r>
            <a:pPr indent="0" marL="0">
              <a:buNone/>
            </a:pPr>
            <a:r>
              <a:rPr lang="en-US" sz="1300" dirty="0">
                <a:solidFill>
                  <a:srgbClr val="586275"/>
                </a:solidFill>
              </a:rPr>
              <a:t>   it was created outside CloudFormation</a:t>
            </a:r>
            <a:endParaRPr lang="en-US" sz="1300" dirty="0"/>
          </a:p>
        </p:txBody>
      </p:sp>
      <p:sp>
        <p:nvSpPr>
          <p:cNvPr id="12" name="Add it to the template"/>
          <p:cNvSpPr txBox="1"/>
          <p:nvPr/>
        </p:nvSpPr>
        <p:spPr>
          <a:xfrm>
            <a:off x="548640" y="329184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Add it to the template</a:t>
            </a:r>
            <a:endParaRPr lang="en-US" sz="1200" dirty="0"/>
          </a:p>
          <a:p>
            <a:pPr algn="ctr" indent="0" marL="0">
              <a:buNone/>
            </a:pPr>
            <a:r>
              <a:rPr lang="en-US" sz="1050" dirty="0">
                <a:solidFill>
                  <a:srgbClr val="586275"/>
                </a:solidFill>
              </a:rPr>
              <a:t>Then run the workflow</a:t>
            </a:r>
            <a:endParaRPr lang="en-US" sz="1200" dirty="0"/>
          </a:p>
        </p:txBody>
      </p:sp>
      <p:sp>
        <p:nvSpPr>
          <p:cNvPr id="13" name="Shape 10"/>
          <p:cNvSpPr/>
          <p:nvPr/>
        </p:nvSpPr>
        <p:spPr>
          <a:xfrm>
            <a:off x="3291840" y="3680460"/>
            <a:ext cx="292608" cy="0"/>
          </a:xfrm>
          <a:prstGeom prst="line">
            <a:avLst/>
          </a:prstGeom>
          <a:noFill/>
          <a:ln w="15875">
            <a:solidFill>
              <a:srgbClr val="7D889B"/>
            </a:solidFill>
            <a:prstDash val="solid"/>
            <a:tailEnd type="triangle"/>
          </a:ln>
        </p:spPr>
      </p:sp>
      <p:sp>
        <p:nvSpPr>
          <p:cNvPr id="14" name="Fails: already exists"/>
          <p:cNvSpPr txBox="1"/>
          <p:nvPr/>
        </p:nvSpPr>
        <p:spPr>
          <a:xfrm>
            <a:off x="3584448" y="3291840"/>
            <a:ext cx="27432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Fails: already exists</a:t>
            </a:r>
            <a:endParaRPr lang="en-US" sz="1200" dirty="0"/>
          </a:p>
          <a:p>
            <a:pPr algn="ctr" indent="0" marL="0">
              <a:buNone/>
            </a:pPr>
            <a:r>
              <a:rPr lang="en-US" sz="1050" dirty="0">
                <a:solidFill>
                  <a:srgbClr val="A1332C"/>
                </a:solidFill>
              </a:rPr>
              <a:t>CloudFormation won't take over a record it didn't create</a:t>
            </a:r>
            <a:endParaRPr lang="en-US" sz="1200" dirty="0"/>
          </a:p>
        </p:txBody>
      </p:sp>
      <p:sp>
        <p:nvSpPr>
          <p:cNvPr id="15" name="Shape 12"/>
          <p:cNvSpPr/>
          <p:nvPr/>
        </p:nvSpPr>
        <p:spPr>
          <a:xfrm>
            <a:off x="6327648" y="3680460"/>
            <a:ext cx="292608" cy="0"/>
          </a:xfrm>
          <a:prstGeom prst="line">
            <a:avLst/>
          </a:prstGeom>
          <a:noFill/>
          <a:ln w="15875">
            <a:solidFill>
              <a:srgbClr val="7D889B"/>
            </a:solidFill>
            <a:prstDash val="solid"/>
            <a:tailEnd type="triangle"/>
          </a:ln>
        </p:spPr>
      </p:sp>
      <p:sp>
        <p:nvSpPr>
          <p:cNvPr id="16" name="Sorted out by hand"/>
          <p:cNvSpPr txBox="1"/>
          <p:nvPr/>
        </p:nvSpPr>
        <p:spPr>
          <a:xfrm>
            <a:off x="6620256" y="329184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Sorted out by hand</a:t>
            </a:r>
            <a:endParaRPr lang="en-US" sz="1200" dirty="0"/>
          </a:p>
          <a:p>
            <a:pPr algn="ctr" indent="0" marL="0">
              <a:buNone/>
            </a:pPr>
            <a:r>
              <a:rPr lang="en-US" sz="1050" dirty="0">
                <a:solidFill>
                  <a:srgbClr val="586275"/>
                </a:solidFill>
              </a:rPr>
              <a:t>Delete the old record and re-run, or leave it out</a:t>
            </a:r>
            <a:endParaRPr lang="en-US" sz="1200" dirty="0"/>
          </a:p>
        </p:txBody>
      </p:sp>
      <p:sp>
        <p:nvSpPr>
          <p:cNvPr id="17" name="Shape 14"/>
          <p:cNvSpPr/>
          <p:nvPr/>
        </p:nvSpPr>
        <p:spPr>
          <a:xfrm>
            <a:off x="548640" y="4526280"/>
            <a:ext cx="11091672" cy="868680"/>
          </a:xfrm>
          <a:prstGeom prst="roundRect">
            <a:avLst>
              <a:gd name="adj" fmla="val 10526"/>
            </a:avLst>
          </a:prstGeom>
          <a:solidFill>
            <a:srgbClr val="EAF0FD"/>
          </a:solidFill>
          <a:ln w="6350">
            <a:solidFill>
              <a:srgbClr val="EAF0FD"/>
            </a:solidFill>
            <a:prstDash val="solid"/>
          </a:ln>
        </p:spPr>
      </p:sp>
      <p:sp>
        <p:nvSpPr>
          <p:cNvPr id="18" name="Shape 15"/>
          <p:cNvSpPr/>
          <p:nvPr/>
        </p:nvSpPr>
        <p:spPr>
          <a:xfrm>
            <a:off x="694944" y="4759452"/>
            <a:ext cx="402336" cy="402336"/>
          </a:xfrm>
          <a:prstGeom prst="ellipse">
            <a:avLst/>
          </a:prstGeom>
          <a:solidFill>
            <a:srgbClr val="2A5BD7"/>
          </a:solidFill>
          <a:ln w="6350">
            <a:solidFill>
              <a:srgbClr val="2A5BD7"/>
            </a:solidFill>
            <a:prstDash val="solid"/>
          </a:ln>
        </p:spPr>
      </p:sp>
      <p:pic>
        <p:nvPicPr>
          <p:cNvPr id="19" name="Image 0" descr="Icon">    </p:cNvPr>
          <p:cNvPicPr>
            <a:picLocks noChangeAspect="1"/>
          </p:cNvPicPr>
          <p:nvPr/>
        </p:nvPicPr>
        <p:blipFill>
          <a:blip r:embed="rId1"/>
          <a:stretch>
            <a:fillRect/>
          </a:stretch>
        </p:blipFill>
        <p:spPr>
          <a:xfrm>
            <a:off x="791505" y="4856013"/>
            <a:ext cx="209215" cy="209215"/>
          </a:xfrm>
          <a:prstGeom prst="rect">
            <a:avLst/>
          </a:prstGeom>
        </p:spPr>
      </p:pic>
      <p:sp>
        <p:nvSpPr>
          <p:cNvPr id="20" name="Text 16"/>
          <p:cNvSpPr txBox="1"/>
          <p:nvPr/>
        </p:nvSpPr>
        <p:spPr>
          <a:xfrm>
            <a:off x="1261872" y="4526280"/>
            <a:ext cx="10222992" cy="868680"/>
          </a:xfrm>
          <a:prstGeom prst="rect">
            <a:avLst/>
          </a:prstGeom>
          <a:noFill/>
          <a:ln/>
        </p:spPr>
        <p:txBody>
          <a:bodyPr wrap="square" lIns="0" tIns="0" rIns="0" bIns="0" rtlCol="0" anchor="ctr"/>
          <a:lstStyle/>
          <a:p>
            <a:pPr indent="0" marL="0">
              <a:buNone/>
            </a:pPr>
            <a:r>
              <a:rPr lang="en-US" sz="1300" b="1" dirty="0">
                <a:solidFill>
                  <a:srgbClr val="173A8F"/>
                </a:solidFill>
              </a:rPr>
              <a:t>What it gets right.  </a:t>
            </a:r>
            <a:pPr indent="0" marL="0">
              <a:buNone/>
            </a:pPr>
            <a:r>
              <a:rPr lang="en-US" sz="1300" dirty="0">
                <a:solidFill>
                  <a:srgbClr val="131925"/>
                </a:solidFill>
              </a:rPr>
              <a:t>Records outside the template, such as the failover change on status, the ACM validation record and the CloudFront ALIAS, are never touched.</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Proposed: one run, reviewed as it will happen</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cfn-deploy-pipeline.yml, with the zone's records in a CloudFormation stack</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One run</a:t>
            </a:r>
            <a:pPr indent="0" marL="0">
              <a:buNone/>
            </a:pPr>
            <a:r>
              <a:rPr lang="en-US" sz="1300" dirty="0">
                <a:solidFill>
                  <a:srgbClr val="586275"/>
                </a:solidFill>
              </a:rPr>
              <a:t>   stack dns-records-example-com</a:t>
            </a:r>
            <a:endParaRPr lang="en-US" sz="1300" dirty="0"/>
          </a:p>
        </p:txBody>
      </p:sp>
      <p:sp>
        <p:nvSpPr>
          <p:cNvPr id="6" name="Engineer runs the pipeline"/>
          <p:cNvSpPr txBox="1"/>
          <p:nvPr/>
        </p:nvSpPr>
        <p:spPr>
          <a:xfrm>
            <a:off x="54864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pipeline</a:t>
            </a:r>
            <a:endParaRPr lang="en-US" sz="1200" dirty="0"/>
          </a:p>
          <a:p>
            <a:pPr algn="ctr" indent="0" marL="0">
              <a:buNone/>
            </a:pPr>
            <a:r>
              <a:rPr lang="en-US" sz="1050" dirty="0">
                <a:solidFill>
                  <a:srgbClr val="586275"/>
                </a:solidFill>
              </a:rPr>
              <a:t>Account picked from a list</a:t>
            </a:r>
            <a:endParaRPr lang="en-US" sz="1200" dirty="0"/>
          </a:p>
        </p:txBody>
      </p:sp>
      <p:sp>
        <p:nvSpPr>
          <p:cNvPr id="7" name="Shape 4"/>
          <p:cNvSpPr/>
          <p:nvPr/>
        </p:nvSpPr>
        <p:spPr>
          <a:xfrm>
            <a:off x="2153412" y="2286000"/>
            <a:ext cx="292608" cy="0"/>
          </a:xfrm>
          <a:prstGeom prst="line">
            <a:avLst/>
          </a:prstGeom>
          <a:noFill/>
          <a:ln w="15875">
            <a:solidFill>
              <a:srgbClr val="7D889B"/>
            </a:solidFill>
            <a:prstDash val="solid"/>
            <a:tailEnd type="triangle"/>
          </a:ln>
        </p:spPr>
      </p:sp>
      <p:sp>
        <p:nvSpPr>
          <p:cNvPr id="8" name="Checks"/>
          <p:cNvSpPr txBox="1"/>
          <p:nvPr/>
        </p:nvSpPr>
        <p:spPr>
          <a:xfrm>
            <a:off x="2446020" y="1828800"/>
            <a:ext cx="1604772" cy="914400"/>
          </a:xfrm>
          <a:prstGeom prst="roundRect">
            <a:avLst>
              <a:gd name="adj" fmla="val 9000"/>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Checks</a:t>
            </a:r>
            <a:endParaRPr lang="en-US" sz="1200" dirty="0"/>
          </a:p>
          <a:p>
            <a:pPr algn="ctr" indent="0" marL="0">
              <a:buNone/>
            </a:pPr>
            <a:r>
              <a:rPr lang="en-US" sz="1050" dirty="0">
                <a:solidFill>
                  <a:srgbClr val="2B6C59"/>
                </a:solidFill>
              </a:rPr>
              <a:t>Preflight, lint, drift on the stack*</a:t>
            </a:r>
            <a:endParaRPr lang="en-US" sz="1200" dirty="0"/>
          </a:p>
        </p:txBody>
      </p:sp>
      <p:sp>
        <p:nvSpPr>
          <p:cNvPr id="9" name="Shape 6"/>
          <p:cNvSpPr/>
          <p:nvPr/>
        </p:nvSpPr>
        <p:spPr>
          <a:xfrm>
            <a:off x="4050792" y="2286000"/>
            <a:ext cx="292608" cy="0"/>
          </a:xfrm>
          <a:prstGeom prst="line">
            <a:avLst/>
          </a:prstGeom>
          <a:noFill/>
          <a:ln w="15875">
            <a:solidFill>
              <a:srgbClr val="7D889B"/>
            </a:solidFill>
            <a:prstDash val="solid"/>
            <a:tailEnd type="triangle"/>
          </a:ln>
        </p:spPr>
      </p:sp>
      <p:sp>
        <p:nvSpPr>
          <p:cNvPr id="10" name="Change set"/>
          <p:cNvSpPr txBox="1"/>
          <p:nvPr/>
        </p:nvSpPr>
        <p:spPr>
          <a:xfrm>
            <a:off x="434340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Change set</a:t>
            </a:r>
            <a:endParaRPr lang="en-US" sz="1200" dirty="0"/>
          </a:p>
          <a:p>
            <a:pPr algn="ctr" indent="0" marL="0">
              <a:buNone/>
            </a:pPr>
            <a:r>
              <a:rPr lang="en-US" sz="1050" dirty="0">
                <a:solidFill>
                  <a:srgbClr val="586275"/>
                </a:solidFill>
              </a:rPr>
              <a:t>Add app · Modify www, old → new</a:t>
            </a:r>
            <a:endParaRPr lang="en-US" sz="1200" dirty="0"/>
          </a:p>
        </p:txBody>
      </p:sp>
      <p:sp>
        <p:nvSpPr>
          <p:cNvPr id="11" name="Shape 8"/>
          <p:cNvSpPr/>
          <p:nvPr/>
        </p:nvSpPr>
        <p:spPr>
          <a:xfrm>
            <a:off x="5948172" y="2286000"/>
            <a:ext cx="292608" cy="0"/>
          </a:xfrm>
          <a:prstGeom prst="line">
            <a:avLst/>
          </a:prstGeom>
          <a:noFill/>
          <a:ln w="15875">
            <a:solidFill>
              <a:srgbClr val="7D889B"/>
            </a:solidFill>
            <a:prstDash val="solid"/>
            <a:tailEnd type="triangle"/>
          </a:ln>
        </p:spPr>
      </p:sp>
      <p:sp>
        <p:nvSpPr>
          <p:cNvPr id="12" name="Approval email"/>
          <p:cNvSpPr txBox="1"/>
          <p:nvPr/>
        </p:nvSpPr>
        <p:spPr>
          <a:xfrm>
            <a:off x="624078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Route 53 changes rated MEDIUM</a:t>
            </a:r>
            <a:endParaRPr lang="en-US" sz="1200" dirty="0"/>
          </a:p>
        </p:txBody>
      </p:sp>
      <p:sp>
        <p:nvSpPr>
          <p:cNvPr id="13" name="Email sent"/>
          <p:cNvSpPr/>
          <p:nvPr/>
        </p:nvSpPr>
        <p:spPr>
          <a:xfrm>
            <a:off x="6295644" y="1682496"/>
            <a:ext cx="292608" cy="292608"/>
          </a:xfrm>
          <a:prstGeom prst="ellipse">
            <a:avLst/>
          </a:prstGeom>
          <a:solidFill>
            <a:srgbClr val="FFFFFF"/>
          </a:solidFill>
          <a:ln w="15875">
            <a:solidFill>
              <a:srgbClr val="2A5BD7"/>
            </a:solidFill>
            <a:prstDash val="solid"/>
          </a:ln>
        </p:spPr>
      </p:sp>
      <p:pic>
        <p:nvPicPr>
          <p:cNvPr id="14" name="Image 0" descr="Email sent">    </p:cNvPr>
          <p:cNvPicPr>
            <a:picLocks noChangeAspect="1"/>
          </p:cNvPicPr>
          <p:nvPr/>
        </p:nvPicPr>
        <p:blipFill>
          <a:blip r:embed="rId1"/>
          <a:stretch>
            <a:fillRect/>
          </a:stretch>
        </p:blipFill>
        <p:spPr>
          <a:xfrm>
            <a:off x="6351240" y="1738092"/>
            <a:ext cx="181417" cy="181417"/>
          </a:xfrm>
          <a:prstGeom prst="rect">
            <a:avLst/>
          </a:prstGeom>
        </p:spPr>
      </p:pic>
      <p:sp>
        <p:nvSpPr>
          <p:cNvPr id="15" name="Shape 11"/>
          <p:cNvSpPr/>
          <p:nvPr/>
        </p:nvSpPr>
        <p:spPr>
          <a:xfrm>
            <a:off x="7845552" y="2286000"/>
            <a:ext cx="292608" cy="0"/>
          </a:xfrm>
          <a:prstGeom prst="line">
            <a:avLst/>
          </a:prstGeom>
          <a:noFill/>
          <a:ln w="15875">
            <a:solidFill>
              <a:srgbClr val="7D889B"/>
            </a:solidFill>
            <a:prstDash val="solid"/>
            <a:tailEnd type="triangle"/>
          </a:ln>
        </p:spPr>
      </p:sp>
      <p:sp>
        <p:nvSpPr>
          <p:cNvPr id="16" name="Approver approves"/>
          <p:cNvSpPr txBox="1"/>
          <p:nvPr/>
        </p:nvSpPr>
        <p:spPr>
          <a:xfrm>
            <a:off x="813816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Approver approves</a:t>
            </a:r>
            <a:endParaRPr lang="en-US" sz="1200" dirty="0"/>
          </a:p>
          <a:p>
            <a:pPr algn="ctr" indent="0" marL="0">
              <a:buNone/>
            </a:pPr>
            <a:r>
              <a:rPr lang="en-US" sz="1050" dirty="0">
                <a:solidFill>
                  <a:srgbClr val="586275"/>
                </a:solidFill>
              </a:rPr>
              <a:t>GitHub gate</a:t>
            </a:r>
            <a:endParaRPr lang="en-US" sz="1200" dirty="0"/>
          </a:p>
        </p:txBody>
      </p:sp>
      <p:sp>
        <p:nvSpPr>
          <p:cNvPr id="17" name="Shape 13"/>
          <p:cNvSpPr/>
          <p:nvPr/>
        </p:nvSpPr>
        <p:spPr>
          <a:xfrm>
            <a:off x="9742932" y="2286000"/>
            <a:ext cx="292608" cy="0"/>
          </a:xfrm>
          <a:prstGeom prst="line">
            <a:avLst/>
          </a:prstGeom>
          <a:noFill/>
          <a:ln w="15875">
            <a:solidFill>
              <a:srgbClr val="7D889B"/>
            </a:solidFill>
            <a:prstDash val="solid"/>
            <a:tailEnd type="triangle"/>
          </a:ln>
        </p:spPr>
      </p:sp>
      <p:sp>
        <p:nvSpPr>
          <p:cNvPr id="18" name="Applied"/>
          <p:cNvSpPr txBox="1"/>
          <p:nvPr/>
        </p:nvSpPr>
        <p:spPr>
          <a:xfrm>
            <a:off x="10035540" y="1828800"/>
            <a:ext cx="1604772" cy="914400"/>
          </a:xfrm>
          <a:prstGeom prst="roundRect">
            <a:avLst>
              <a:gd name="adj" fmla="val 50000"/>
            </a:avLst>
          </a:prstGeom>
          <a:solidFill>
            <a:srgbClr val="E3F4E7"/>
          </a:solidFill>
          <a:ln w="15875">
            <a:solidFill>
              <a:srgbClr val="2E8946"/>
            </a:solidFill>
          </a:ln>
        </p:spPr>
        <p:txBody>
          <a:bodyPr wrap="square" lIns="127000" tIns="25400" rIns="127000" bIns="25400" rtlCol="0" anchor="ctr"/>
          <a:lstStyle/>
          <a:p>
            <a:pPr algn="ctr" indent="0" marL="0">
              <a:buNone/>
            </a:pPr>
            <a:r>
              <a:rPr lang="en-US" sz="1200" b="1" dirty="0">
                <a:solidFill>
                  <a:srgbClr val="165229"/>
                </a:solidFill>
              </a:rPr>
              <a:t>Applied</a:t>
            </a:r>
            <a:endParaRPr lang="en-US" sz="1200" dirty="0"/>
          </a:p>
          <a:p>
            <a:pPr algn="ctr" indent="0" marL="0">
              <a:buNone/>
            </a:pPr>
            <a:r>
              <a:rPr lang="en-US" sz="1050" dirty="0">
                <a:solidFill>
                  <a:srgbClr val="2C6D3F"/>
                </a:solidFill>
              </a:rPr>
              <a:t>Result emailed; rolls back on failure</a:t>
            </a:r>
            <a:endParaRPr lang="en-US" sz="1200" dirty="0"/>
          </a:p>
        </p:txBody>
      </p:sp>
      <p:sp>
        <p:nvSpPr>
          <p:cNvPr id="19" name="Email sent"/>
          <p:cNvSpPr/>
          <p:nvPr/>
        </p:nvSpPr>
        <p:spPr>
          <a:xfrm>
            <a:off x="10346436" y="1682496"/>
            <a:ext cx="292608" cy="292608"/>
          </a:xfrm>
          <a:prstGeom prst="ellipse">
            <a:avLst/>
          </a:prstGeom>
          <a:solidFill>
            <a:srgbClr val="FFFFFF"/>
          </a:solidFill>
          <a:ln w="15875">
            <a:solidFill>
              <a:srgbClr val="2A5BD7"/>
            </a:solidFill>
            <a:prstDash val="solid"/>
          </a:ln>
        </p:spPr>
      </p:sp>
      <p:pic>
        <p:nvPicPr>
          <p:cNvPr id="20" name="Image 1" descr="Email sent">    </p:cNvPr>
          <p:cNvPicPr>
            <a:picLocks noChangeAspect="1"/>
          </p:cNvPicPr>
          <p:nvPr/>
        </p:nvPicPr>
        <p:blipFill>
          <a:blip r:embed="rId2"/>
          <a:stretch>
            <a:fillRect/>
          </a:stretch>
        </p:blipFill>
        <p:spPr>
          <a:xfrm>
            <a:off x="10402032" y="1738092"/>
            <a:ext cx="181417" cy="181417"/>
          </a:xfrm>
          <a:prstGeom prst="rect">
            <a:avLst/>
          </a:prstGeom>
        </p:spPr>
      </p:pic>
      <p:sp>
        <p:nvSpPr>
          <p:cNvPr id="21" name="Shape 16"/>
          <p:cNvSpPr/>
          <p:nvPr/>
        </p:nvSpPr>
        <p:spPr>
          <a:xfrm>
            <a:off x="548640" y="3246120"/>
            <a:ext cx="5449824" cy="1600200"/>
          </a:xfrm>
          <a:prstGeom prst="roundRect">
            <a:avLst>
              <a:gd name="adj" fmla="val 6857"/>
            </a:avLst>
          </a:prstGeom>
          <a:solidFill>
            <a:srgbClr val="F4FAF6"/>
          </a:solidFill>
          <a:ln w="6350">
            <a:solidFill>
              <a:srgbClr val="F4FAF6"/>
            </a:solidFill>
            <a:prstDash val="solid"/>
          </a:ln>
        </p:spPr>
      </p:sp>
      <p:sp>
        <p:nvSpPr>
          <p:cNvPr id="22" name="Shape 17"/>
          <p:cNvSpPr/>
          <p:nvPr/>
        </p:nvSpPr>
        <p:spPr>
          <a:xfrm>
            <a:off x="777240" y="3429000"/>
            <a:ext cx="457200" cy="457200"/>
          </a:xfrm>
          <a:prstGeom prst="ellipse">
            <a:avLst/>
          </a:prstGeom>
          <a:solidFill>
            <a:srgbClr val="2E8946"/>
          </a:solidFill>
          <a:ln w="6350">
            <a:solidFill>
              <a:srgbClr val="2E8946"/>
            </a:solidFill>
            <a:prstDash val="solid"/>
          </a:ln>
        </p:spPr>
      </p:sp>
      <p:pic>
        <p:nvPicPr>
          <p:cNvPr id="23" name="Image 2" descr="Icon">    </p:cNvPr>
          <p:cNvPicPr>
            <a:picLocks noChangeAspect="1"/>
          </p:cNvPicPr>
          <p:nvPr/>
        </p:nvPicPr>
        <p:blipFill>
          <a:blip r:embed="rId3"/>
          <a:stretch>
            <a:fillRect/>
          </a:stretch>
        </p:blipFill>
        <p:spPr>
          <a:xfrm>
            <a:off x="886968" y="3538728"/>
            <a:ext cx="237744" cy="237744"/>
          </a:xfrm>
          <a:prstGeom prst="rect">
            <a:avLst/>
          </a:prstGeom>
        </p:spPr>
      </p:pic>
      <p:sp>
        <p:nvSpPr>
          <p:cNvPr id="24" name="Text 18"/>
          <p:cNvSpPr txBox="1"/>
          <p:nvPr/>
        </p:nvSpPr>
        <p:spPr>
          <a:xfrm>
            <a:off x="1417320" y="3429000"/>
            <a:ext cx="4389120" cy="457200"/>
          </a:xfrm>
          <a:prstGeom prst="rect">
            <a:avLst/>
          </a:prstGeom>
          <a:noFill/>
          <a:ln/>
        </p:spPr>
        <p:txBody>
          <a:bodyPr wrap="square" lIns="0" tIns="0" rIns="0" bIns="0" rtlCol="0" anchor="ctr"/>
          <a:lstStyle/>
          <a:p>
            <a:pPr indent="0" marL="0">
              <a:buNone/>
            </a:pPr>
            <a:r>
              <a:rPr lang="en-US" sz="1500" b="1" dirty="0">
                <a:solidFill>
                  <a:srgbClr val="16243A"/>
                </a:solidFill>
              </a:rPr>
              <a:t>Only this stack's records change</a:t>
            </a:r>
            <a:endParaRPr lang="en-US" sz="1500" dirty="0"/>
          </a:p>
        </p:txBody>
      </p:sp>
      <p:sp>
        <p:nvSpPr>
          <p:cNvPr id="25" name="Text 19"/>
          <p:cNvSpPr txBox="1"/>
          <p:nvPr/>
        </p:nvSpPr>
        <p:spPr>
          <a:xfrm>
            <a:off x="1417320" y="3931920"/>
            <a:ext cx="4389120" cy="822960"/>
          </a:xfrm>
          <a:prstGeom prst="rect">
            <a:avLst/>
          </a:prstGeom>
          <a:noFill/>
          <a:ln/>
        </p:spPr>
        <p:txBody>
          <a:bodyPr wrap="square" lIns="0" tIns="0" rIns="0" bIns="0" rtlCol="0" anchor="t"/>
          <a:lstStyle/>
          <a:p>
            <a:pPr indent="0" marL="0">
              <a:buNone/>
            </a:pPr>
            <a:r>
              <a:rPr lang="en-US" sz="1300" dirty="0">
                <a:solidFill>
                  <a:srgbClr val="131925"/>
                </a:solidFill>
              </a:rPr>
              <a:t>The failover change on status, the ACM validation record and the CloudFront ALIAS are left alone.</a:t>
            </a:r>
            <a:endParaRPr lang="en-US" sz="1300" dirty="0"/>
          </a:p>
        </p:txBody>
      </p:sp>
      <p:sp>
        <p:nvSpPr>
          <p:cNvPr id="26" name="Shape 20"/>
          <p:cNvSpPr/>
          <p:nvPr/>
        </p:nvSpPr>
        <p:spPr>
          <a:xfrm>
            <a:off x="6190488" y="3246120"/>
            <a:ext cx="5449824" cy="1600200"/>
          </a:xfrm>
          <a:prstGeom prst="roundRect">
            <a:avLst>
              <a:gd name="adj" fmla="val 6857"/>
            </a:avLst>
          </a:prstGeom>
          <a:solidFill>
            <a:srgbClr val="EEF1F6"/>
          </a:solidFill>
          <a:ln w="6350">
            <a:solidFill>
              <a:srgbClr val="EEF1F6"/>
            </a:solidFill>
            <a:prstDash val="solid"/>
          </a:ln>
        </p:spPr>
      </p:sp>
      <p:sp>
        <p:nvSpPr>
          <p:cNvPr id="27" name="Shape 21"/>
          <p:cNvSpPr/>
          <p:nvPr/>
        </p:nvSpPr>
        <p:spPr>
          <a:xfrm>
            <a:off x="6419088" y="3429000"/>
            <a:ext cx="457200" cy="457200"/>
          </a:xfrm>
          <a:prstGeom prst="ellipse">
            <a:avLst/>
          </a:prstGeom>
          <a:solidFill>
            <a:srgbClr val="16243A"/>
          </a:solidFill>
          <a:ln w="6350">
            <a:solidFill>
              <a:srgbClr val="16243A"/>
            </a:solidFill>
            <a:prstDash val="solid"/>
          </a:ln>
        </p:spPr>
      </p:sp>
      <p:pic>
        <p:nvPicPr>
          <p:cNvPr id="28" name="Image 3" descr="Icon">    </p:cNvPr>
          <p:cNvPicPr>
            <a:picLocks noChangeAspect="1"/>
          </p:cNvPicPr>
          <p:nvPr/>
        </p:nvPicPr>
        <p:blipFill>
          <a:blip r:embed="rId4"/>
          <a:stretch>
            <a:fillRect/>
          </a:stretch>
        </p:blipFill>
        <p:spPr>
          <a:xfrm>
            <a:off x="6528816" y="3538728"/>
            <a:ext cx="237744" cy="237744"/>
          </a:xfrm>
          <a:prstGeom prst="rect">
            <a:avLst/>
          </a:prstGeom>
        </p:spPr>
      </p:pic>
      <p:sp>
        <p:nvSpPr>
          <p:cNvPr id="29" name="Text 22"/>
          <p:cNvSpPr txBox="1"/>
          <p:nvPr/>
        </p:nvSpPr>
        <p:spPr>
          <a:xfrm>
            <a:off x="7059168" y="3429000"/>
            <a:ext cx="4389120" cy="457200"/>
          </a:xfrm>
          <a:prstGeom prst="rect">
            <a:avLst/>
          </a:prstGeom>
          <a:noFill/>
          <a:ln/>
        </p:spPr>
        <p:txBody>
          <a:bodyPr wrap="square" lIns="0" tIns="0" rIns="0" bIns="0" rtlCol="0" anchor="ctr"/>
          <a:lstStyle/>
          <a:p>
            <a:pPr indent="0" marL="0">
              <a:buNone/>
            </a:pPr>
            <a:r>
              <a:rPr lang="en-US" sz="1500" b="1" dirty="0">
                <a:solidFill>
                  <a:srgbClr val="16243A"/>
                </a:solidFill>
              </a:rPr>
              <a:t>Getting records into a stack</a:t>
            </a:r>
            <a:endParaRPr lang="en-US" sz="1500" dirty="0"/>
          </a:p>
        </p:txBody>
      </p:sp>
      <p:sp>
        <p:nvSpPr>
          <p:cNvPr id="30" name="Text 23"/>
          <p:cNvSpPr txBox="1"/>
          <p:nvPr/>
        </p:nvSpPr>
        <p:spPr>
          <a:xfrm>
            <a:off x="7059168" y="3931920"/>
            <a:ext cx="4389120" cy="822960"/>
          </a:xfrm>
          <a:prstGeom prst="rect">
            <a:avLst/>
          </a:prstGeom>
          <a:noFill/>
          <a:ln/>
        </p:spPr>
        <p:txBody>
          <a:bodyPr wrap="square" lIns="0" tIns="0" rIns="0" bIns="0" rtlCol="0" anchor="t"/>
          <a:lstStyle/>
          <a:p>
            <a:pPr indent="0" marL="0">
              <a:buNone/>
            </a:pPr>
            <a:r>
              <a:rPr lang="en-US" sz="1300" dirty="0">
                <a:solidFill>
                  <a:srgbClr val="131925"/>
                </a:solidFill>
              </a:rPr>
              <a:t>New records can start in a stack today. Existing records need a planned move per zone, because record sets can't be imported into a stack.</a:t>
            </a:r>
            <a:endParaRPr lang="en-US" sz="1300" dirty="0"/>
          </a:p>
        </p:txBody>
      </p:sp>
      <p:sp>
        <p:nvSpPr>
          <p:cNvPr id="31" name="Text 24"/>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100" i="1" dirty="0">
                <a:solidFill>
                  <a:srgbClr val="586275"/>
                </a:solidFill>
              </a:rPr>
              <a:t>* Confirm in CloudFormation's resource type support table that drift detection covers Route 53 record sets.</a:t>
            </a:r>
            <a:endParaRPr lang="en-US" sz="11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A DNS change: side by side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Add app.example.com and repoint www.example.com</a:t>
            </a:r>
            <a:endParaRPr lang="en-US" sz="1400" dirty="0"/>
          </a:p>
        </p:txBody>
      </p:sp>
      <p:sp>
        <p:nvSpPr>
          <p:cNvPr id="5" name="Text 2"/>
          <p:cNvSpPr txBox="1"/>
          <p:nvPr/>
        </p:nvSpPr>
        <p:spPr>
          <a:xfrm>
            <a:off x="548640" y="1371600"/>
            <a:ext cx="1828800" cy="237744"/>
          </a:xfrm>
          <a:prstGeom prst="rect">
            <a:avLst/>
          </a:prstGeom>
          <a:noFill/>
          <a:ln/>
        </p:spPr>
        <p:txBody>
          <a:bodyPr wrap="square" lIns="0" tIns="0" rIns="0" bIns="0" rtlCol="0" anchor="ctr"/>
          <a:lstStyle/>
          <a:p>
            <a:pPr indent="0" marL="0">
              <a:buNone/>
            </a:pPr>
            <a:r>
              <a:rPr lang="en-US" sz="1150" dirty="0">
                <a:solidFill>
                  <a:srgbClr val="2E8946"/>
                </a:solidFill>
              </a:rPr>
              <a:t>●  </a:t>
            </a:r>
            <a:pPr indent="0" marL="0">
              <a:buNone/>
            </a:pPr>
            <a:r>
              <a:rPr lang="en-US" sz="1150" dirty="0">
                <a:solidFill>
                  <a:srgbClr val="586275"/>
                </a:solidFill>
              </a:rPr>
              <a:t>Handled well</a:t>
            </a:r>
            <a:endParaRPr lang="en-US" sz="1150" dirty="0"/>
          </a:p>
        </p:txBody>
      </p:sp>
      <p:sp>
        <p:nvSpPr>
          <p:cNvPr id="6" name="Text 3"/>
          <p:cNvSpPr txBox="1"/>
          <p:nvPr/>
        </p:nvSpPr>
        <p:spPr>
          <a:xfrm>
            <a:off x="2468880" y="1371600"/>
            <a:ext cx="1828800" cy="237744"/>
          </a:xfrm>
          <a:prstGeom prst="rect">
            <a:avLst/>
          </a:prstGeom>
          <a:noFill/>
          <a:ln/>
        </p:spPr>
        <p:txBody>
          <a:bodyPr wrap="square" lIns="0" tIns="0" rIns="0" bIns="0" rtlCol="0" anchor="ctr"/>
          <a:lstStyle/>
          <a:p>
            <a:pPr indent="0" marL="0">
              <a:buNone/>
            </a:pPr>
            <a:r>
              <a:rPr lang="en-US" sz="1150" dirty="0">
                <a:solidFill>
                  <a:srgbClr val="BF8418"/>
                </a:solidFill>
              </a:rPr>
              <a:t>●  </a:t>
            </a:r>
            <a:pPr indent="0" marL="0">
              <a:buNone/>
            </a:pPr>
            <a:r>
              <a:rPr lang="en-US" sz="1150" dirty="0">
                <a:solidFill>
                  <a:srgbClr val="586275"/>
                </a:solidFill>
              </a:rPr>
              <a:t>Partly handled</a:t>
            </a:r>
            <a:endParaRPr lang="en-US" sz="1150" dirty="0"/>
          </a:p>
        </p:txBody>
      </p:sp>
      <p:sp>
        <p:nvSpPr>
          <p:cNvPr id="7" name="Text 4"/>
          <p:cNvSpPr txBox="1"/>
          <p:nvPr/>
        </p:nvSpPr>
        <p:spPr>
          <a:xfrm>
            <a:off x="4389120" y="1371600"/>
            <a:ext cx="1828800" cy="237744"/>
          </a:xfrm>
          <a:prstGeom prst="rect">
            <a:avLst/>
          </a:prstGeom>
          <a:noFill/>
          <a:ln/>
        </p:spPr>
        <p:txBody>
          <a:bodyPr wrap="square" lIns="0" tIns="0" rIns="0" bIns="0" rtlCol="0" anchor="ctr"/>
          <a:lstStyle/>
          <a:p>
            <a:pPr indent="0" marL="0">
              <a:buNone/>
            </a:pPr>
            <a:r>
              <a:rPr lang="en-US" sz="1150" dirty="0">
                <a:solidFill>
                  <a:srgbClr val="C93A32"/>
                </a:solidFill>
              </a:rPr>
              <a:t>●  </a:t>
            </a:r>
            <a:pPr indent="0" marL="0">
              <a:buNone/>
            </a:pPr>
            <a:r>
              <a:rPr lang="en-US" sz="1150" dirty="0">
                <a:solidFill>
                  <a:srgbClr val="586275"/>
                </a:solidFill>
              </a:rPr>
              <a:t>Not handled</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468880"/>
                <a:gridCol w="2880360"/>
                <a:gridCol w="2834640"/>
                <a:gridCol w="2907792"/>
              </a:tblGrid>
              <a:tr h="0">
                <a:tc>
                  <a:txBody>
                    <a:bodyPr/>
                    <a:lstStyle/>
                    <a:p>
                      <a:pPr indent="0" marL="0">
                        <a:buNone/>
                      </a:pPr>
                      <a:r>
                        <a:rPr lang="en-US" sz="1100" b="1" dirty="0">
                          <a:solidFill>
                            <a:srgbClr val="586275"/>
                          </a:solidFill>
                        </a:rPr>
                        <a:t>Situation</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DNS export + apply</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Current CloudFormation workflow</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Proposed pipeline</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50" b="1" dirty="0">
                          <a:solidFill>
                            <a:srgbClr val="131925"/>
                          </a:solidFill>
                        </a:rPr>
                        <a:t>What the reviewer sees</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A preview, worked out again after approval</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Nothing before it goes live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A change set with before → after, run as approved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Records the change doesn't mention</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Pushed back to the file; with deletes, extra records removed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Left alone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Left alone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Name already used by another tool</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Overwritten by UPSERT</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Fails safely; the reason may not reach the job log</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Fails safely; the reason is emailed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ALIAS records</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Not supported; export skips them</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Supported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Supported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Approval record</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GitHub environment approval</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None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Approval email, and who executed it</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Steps for the engineer</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Two workflows and a pull request</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One run, no review</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One run and one approval</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Where the proposed pipeline helps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The same three changes, today and with the proposed pipeline</a:t>
            </a:r>
            <a:endParaRPr lang="en-US" sz="1400" dirty="0"/>
          </a:p>
        </p:txBody>
      </p:sp>
      <p:sp>
        <p:nvSpPr>
          <p:cNvPr id="5" name="Shape 2"/>
          <p:cNvSpPr/>
          <p:nvPr/>
        </p:nvSpPr>
        <p:spPr>
          <a:xfrm>
            <a:off x="548640" y="1481328"/>
            <a:ext cx="3575304" cy="4663440"/>
          </a:xfrm>
          <a:prstGeom prst="roundRect">
            <a:avLst>
              <a:gd name="adj" fmla="val 30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691640"/>
            <a:ext cx="512064" cy="512064"/>
          </a:xfrm>
          <a:prstGeom prst="ellipse">
            <a:avLst/>
          </a:prstGeom>
          <a:solidFill>
            <a:srgbClr val="16243A"/>
          </a:solidFill>
          <a:ln w="6350">
            <a:solidFill>
              <a:srgbClr val="16243A"/>
            </a:solidFill>
            <a:prstDash val="solid"/>
          </a:ln>
        </p:spPr>
      </p:sp>
      <p:pic>
        <p:nvPicPr>
          <p:cNvPr id="7" name="Image 0" descr="Icon">    </p:cNvPr>
          <p:cNvPicPr>
            <a:picLocks noChangeAspect="1"/>
          </p:cNvPicPr>
          <p:nvPr/>
        </p:nvPicPr>
        <p:blipFill>
          <a:blip r:embed="rId1"/>
          <a:stretch>
            <a:fillRect/>
          </a:stretch>
        </p:blipFill>
        <p:spPr>
          <a:xfrm>
            <a:off x="900135" y="1814535"/>
            <a:ext cx="266273" cy="266273"/>
          </a:xfrm>
          <a:prstGeom prst="rect">
            <a:avLst/>
          </a:prstGeom>
        </p:spPr>
      </p:pic>
      <p:sp>
        <p:nvSpPr>
          <p:cNvPr id="8" name="Text 4"/>
          <p:cNvSpPr txBox="1"/>
          <p:nvPr/>
        </p:nvSpPr>
        <p:spPr>
          <a:xfrm>
            <a:off x="1417320" y="1691640"/>
            <a:ext cx="2560320" cy="512064"/>
          </a:xfrm>
          <a:prstGeom prst="rect">
            <a:avLst/>
          </a:prstGeom>
          <a:noFill/>
          <a:ln/>
        </p:spPr>
        <p:txBody>
          <a:bodyPr wrap="square" lIns="0" tIns="0" rIns="0" bIns="0" rtlCol="0" anchor="ctr"/>
          <a:lstStyle/>
          <a:p>
            <a:pPr indent="0" marL="0">
              <a:buNone/>
            </a:pPr>
            <a:r>
              <a:rPr lang="en-US" sz="1600" b="1" dirty="0">
                <a:solidFill>
                  <a:srgbClr val="16243A"/>
                </a:solidFill>
              </a:rPr>
              <a:t>Deploy an EC2 instance</a:t>
            </a:r>
            <a:endParaRPr lang="en-US" sz="1600" dirty="0"/>
          </a:p>
        </p:txBody>
      </p:sp>
      <p:sp>
        <p:nvSpPr>
          <p:cNvPr id="9" name="Text 5"/>
          <p:cNvSpPr txBox="1"/>
          <p:nvPr/>
        </p:nvSpPr>
        <p:spPr>
          <a:xfrm>
            <a:off x="822960" y="2487168"/>
            <a:ext cx="3017520" cy="274320"/>
          </a:xfrm>
          <a:prstGeom prst="rect">
            <a:avLst/>
          </a:prstGeom>
          <a:noFill/>
          <a:ln/>
        </p:spPr>
        <p:txBody>
          <a:bodyPr wrap="square" lIns="0" tIns="0" rIns="0" bIns="0" rtlCol="0" anchor="t"/>
          <a:lstStyle/>
          <a:p>
            <a:pPr indent="0" marL="0">
              <a:buNone/>
            </a:pPr>
            <a:r>
              <a:rPr lang="en-US" sz="1250" b="1" dirty="0">
                <a:solidFill>
                  <a:srgbClr val="A1332C"/>
                </a:solidFill>
              </a:rPr>
              <a:t>Today</a:t>
            </a:r>
            <a:endParaRPr lang="en-US" sz="1250" dirty="0"/>
          </a:p>
        </p:txBody>
      </p:sp>
      <p:sp>
        <p:nvSpPr>
          <p:cNvPr id="10" name="Text 6"/>
          <p:cNvSpPr txBox="1"/>
          <p:nvPr/>
        </p:nvSpPr>
        <p:spPr>
          <a:xfrm>
            <a:off x="822960" y="2798064"/>
            <a:ext cx="3063240" cy="1417320"/>
          </a:xfrm>
          <a:prstGeom prst="rect">
            <a:avLst/>
          </a:prstGeom>
          <a:noFill/>
          <a:ln/>
        </p:spPr>
        <p:txBody>
          <a:bodyPr wrap="square" lIns="0" tIns="0" rIns="0" bIns="0" rtlCol="0" anchor="t"/>
          <a:lstStyle/>
          <a:p>
            <a:pPr indent="0" marL="0">
              <a:buNone/>
            </a:pPr>
            <a:r>
              <a:rPr lang="en-US" sz="1450" dirty="0">
                <a:solidFill>
                  <a:srgbClr val="131925"/>
                </a:solidFill>
              </a:rPr>
              <a:t>CloudFormation catches the typo, but SSH open to the world goes live unreviewed, and a failed first deploy needs clean-up by hand.</a:t>
            </a:r>
            <a:endParaRPr lang="en-US" sz="1450" dirty="0"/>
          </a:p>
        </p:txBody>
      </p:sp>
      <p:sp>
        <p:nvSpPr>
          <p:cNvPr id="11" name="Shape 7"/>
          <p:cNvSpPr/>
          <p:nvPr/>
        </p:nvSpPr>
        <p:spPr>
          <a:xfrm>
            <a:off x="822960" y="4315968"/>
            <a:ext cx="3026664" cy="0"/>
          </a:xfrm>
          <a:prstGeom prst="line">
            <a:avLst/>
          </a:prstGeom>
          <a:noFill/>
          <a:ln w="12700">
            <a:solidFill>
              <a:srgbClr val="DCE1E9"/>
            </a:solidFill>
            <a:prstDash val="solid"/>
          </a:ln>
        </p:spPr>
      </p:sp>
      <p:sp>
        <p:nvSpPr>
          <p:cNvPr id="12" name="Text 8"/>
          <p:cNvSpPr txBox="1"/>
          <p:nvPr/>
        </p:nvSpPr>
        <p:spPr>
          <a:xfrm>
            <a:off x="822960" y="4462272"/>
            <a:ext cx="3017520" cy="274320"/>
          </a:xfrm>
          <a:prstGeom prst="rect">
            <a:avLst/>
          </a:prstGeom>
          <a:noFill/>
          <a:ln/>
        </p:spPr>
        <p:txBody>
          <a:bodyPr wrap="square" lIns="0" tIns="0" rIns="0" bIns="0" rtlCol="0" anchor="t"/>
          <a:lstStyle/>
          <a:p>
            <a:pPr indent="0" marL="0">
              <a:buNone/>
            </a:pPr>
            <a:r>
              <a:rPr lang="en-US" sz="1250" b="1" dirty="0">
                <a:solidFill>
                  <a:srgbClr val="2E8946"/>
                </a:solidFill>
              </a:rPr>
              <a:t>With the proposed pipeline</a:t>
            </a:r>
            <a:endParaRPr lang="en-US" sz="1250" dirty="0"/>
          </a:p>
        </p:txBody>
      </p:sp>
      <p:sp>
        <p:nvSpPr>
          <p:cNvPr id="13" name="Text 9"/>
          <p:cNvSpPr txBox="1"/>
          <p:nvPr/>
        </p:nvSpPr>
        <p:spPr>
          <a:xfrm>
            <a:off x="822960" y="4773168"/>
            <a:ext cx="3063240" cy="1280160"/>
          </a:xfrm>
          <a:prstGeom prst="rect">
            <a:avLst/>
          </a:prstGeom>
          <a:noFill/>
          <a:ln/>
        </p:spPr>
        <p:txBody>
          <a:bodyPr wrap="square" lIns="0" tIns="0" rIns="0" bIns="0" rtlCol="0" anchor="t"/>
          <a:lstStyle/>
          <a:p>
            <a:pPr indent="0" marL="0">
              <a:buNone/>
            </a:pPr>
            <a:r>
              <a:rPr lang="en-US" sz="1450" dirty="0">
                <a:solidFill>
                  <a:srgbClr val="131925"/>
                </a:solidFill>
              </a:rPr>
              <a:t>The open SSH rule is flagged before anything exists, a person approves what gets created, and a failure comes with its reason and the fix.</a:t>
            </a:r>
            <a:endParaRPr lang="en-US" sz="1450" dirty="0"/>
          </a:p>
        </p:txBody>
      </p:sp>
      <p:sp>
        <p:nvSpPr>
          <p:cNvPr id="14" name="Shape 10"/>
          <p:cNvSpPr/>
          <p:nvPr/>
        </p:nvSpPr>
        <p:spPr>
          <a:xfrm>
            <a:off x="4306824" y="1481328"/>
            <a:ext cx="3575304" cy="4663440"/>
          </a:xfrm>
          <a:prstGeom prst="roundRect">
            <a:avLst>
              <a:gd name="adj" fmla="val 30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5" name="Shape 11"/>
          <p:cNvSpPr/>
          <p:nvPr/>
        </p:nvSpPr>
        <p:spPr>
          <a:xfrm>
            <a:off x="4535424" y="1691640"/>
            <a:ext cx="512064" cy="512064"/>
          </a:xfrm>
          <a:prstGeom prst="ellipse">
            <a:avLst/>
          </a:prstGeom>
          <a:solidFill>
            <a:srgbClr val="16243A"/>
          </a:solidFill>
          <a:ln w="6350">
            <a:solidFill>
              <a:srgbClr val="16243A"/>
            </a:solidFill>
            <a:prstDash val="solid"/>
          </a:ln>
        </p:spPr>
      </p:sp>
      <p:pic>
        <p:nvPicPr>
          <p:cNvPr id="16" name="Image 1" descr="Icon">    </p:cNvPr>
          <p:cNvPicPr>
            <a:picLocks noChangeAspect="1"/>
          </p:cNvPicPr>
          <p:nvPr/>
        </p:nvPicPr>
        <p:blipFill>
          <a:blip r:embed="rId2"/>
          <a:stretch>
            <a:fillRect/>
          </a:stretch>
        </p:blipFill>
        <p:spPr>
          <a:xfrm>
            <a:off x="4658319" y="1814535"/>
            <a:ext cx="266273" cy="266273"/>
          </a:xfrm>
          <a:prstGeom prst="rect">
            <a:avLst/>
          </a:prstGeom>
        </p:spPr>
      </p:pic>
      <p:sp>
        <p:nvSpPr>
          <p:cNvPr id="17" name="Text 12"/>
          <p:cNvSpPr txBox="1"/>
          <p:nvPr/>
        </p:nvSpPr>
        <p:spPr>
          <a:xfrm>
            <a:off x="5175504" y="1691640"/>
            <a:ext cx="2560320" cy="512064"/>
          </a:xfrm>
          <a:prstGeom prst="rect">
            <a:avLst/>
          </a:prstGeom>
          <a:noFill/>
          <a:ln/>
        </p:spPr>
        <p:txBody>
          <a:bodyPr wrap="square" lIns="0" tIns="0" rIns="0" bIns="0" rtlCol="0" anchor="ctr"/>
          <a:lstStyle/>
          <a:p>
            <a:pPr indent="0" marL="0">
              <a:buNone/>
            </a:pPr>
            <a:r>
              <a:rPr lang="en-US" sz="1600" b="1" dirty="0">
                <a:solidFill>
                  <a:srgbClr val="16243A"/>
                </a:solidFill>
              </a:rPr>
              <a:t>A drifted instance</a:t>
            </a:r>
            <a:endParaRPr lang="en-US" sz="1600" dirty="0"/>
          </a:p>
        </p:txBody>
      </p:sp>
      <p:sp>
        <p:nvSpPr>
          <p:cNvPr id="18" name="Text 13"/>
          <p:cNvSpPr txBox="1"/>
          <p:nvPr/>
        </p:nvSpPr>
        <p:spPr>
          <a:xfrm>
            <a:off x="4581144" y="2487168"/>
            <a:ext cx="3017520" cy="274320"/>
          </a:xfrm>
          <a:prstGeom prst="rect">
            <a:avLst/>
          </a:prstGeom>
          <a:noFill/>
          <a:ln/>
        </p:spPr>
        <p:txBody>
          <a:bodyPr wrap="square" lIns="0" tIns="0" rIns="0" bIns="0" rtlCol="0" anchor="t"/>
          <a:lstStyle/>
          <a:p>
            <a:pPr indent="0" marL="0">
              <a:buNone/>
            </a:pPr>
            <a:r>
              <a:rPr lang="en-US" sz="1250" b="1" dirty="0">
                <a:solidFill>
                  <a:srgbClr val="A1332C"/>
                </a:solidFill>
              </a:rPr>
              <a:t>Today</a:t>
            </a:r>
            <a:endParaRPr lang="en-US" sz="1250" dirty="0"/>
          </a:p>
        </p:txBody>
      </p:sp>
      <p:sp>
        <p:nvSpPr>
          <p:cNvPr id="19" name="Text 14"/>
          <p:cNvSpPr txBox="1"/>
          <p:nvPr/>
        </p:nvSpPr>
        <p:spPr>
          <a:xfrm>
            <a:off x="4581144" y="2798064"/>
            <a:ext cx="3063240" cy="1417320"/>
          </a:xfrm>
          <a:prstGeom prst="rect">
            <a:avLst/>
          </a:prstGeom>
          <a:noFill/>
          <a:ln/>
        </p:spPr>
        <p:txBody>
          <a:bodyPr wrap="square" lIns="0" tIns="0" rIns="0" bIns="0" rtlCol="0" anchor="t"/>
          <a:lstStyle/>
          <a:p>
            <a:pPr indent="0" marL="0">
              <a:buNone/>
            </a:pPr>
            <a:r>
              <a:rPr lang="en-US" sz="1450" dirty="0">
                <a:solidFill>
                  <a:srgbClr val="131925"/>
                </a:solidFill>
              </a:rPr>
              <a:t>Console changes stay hidden, and a later deployment overwrites them unseen.</a:t>
            </a:r>
            <a:endParaRPr lang="en-US" sz="1450" dirty="0"/>
          </a:p>
        </p:txBody>
      </p:sp>
      <p:sp>
        <p:nvSpPr>
          <p:cNvPr id="20" name="Shape 15"/>
          <p:cNvSpPr/>
          <p:nvPr/>
        </p:nvSpPr>
        <p:spPr>
          <a:xfrm>
            <a:off x="4581144" y="4315968"/>
            <a:ext cx="3026664" cy="0"/>
          </a:xfrm>
          <a:prstGeom prst="line">
            <a:avLst/>
          </a:prstGeom>
          <a:noFill/>
          <a:ln w="12700">
            <a:solidFill>
              <a:srgbClr val="DCE1E9"/>
            </a:solidFill>
            <a:prstDash val="solid"/>
          </a:ln>
        </p:spPr>
      </p:sp>
      <p:sp>
        <p:nvSpPr>
          <p:cNvPr id="21" name="Text 16"/>
          <p:cNvSpPr txBox="1"/>
          <p:nvPr/>
        </p:nvSpPr>
        <p:spPr>
          <a:xfrm>
            <a:off x="4581144" y="4462272"/>
            <a:ext cx="3017520" cy="274320"/>
          </a:xfrm>
          <a:prstGeom prst="rect">
            <a:avLst/>
          </a:prstGeom>
          <a:noFill/>
          <a:ln/>
        </p:spPr>
        <p:txBody>
          <a:bodyPr wrap="square" lIns="0" tIns="0" rIns="0" bIns="0" rtlCol="0" anchor="t"/>
          <a:lstStyle/>
          <a:p>
            <a:pPr indent="0" marL="0">
              <a:buNone/>
            </a:pPr>
            <a:r>
              <a:rPr lang="en-US" sz="1250" b="1" dirty="0">
                <a:solidFill>
                  <a:srgbClr val="2E8946"/>
                </a:solidFill>
              </a:rPr>
              <a:t>With the proposed pipeline</a:t>
            </a:r>
            <a:endParaRPr lang="en-US" sz="1250" dirty="0"/>
          </a:p>
        </p:txBody>
      </p:sp>
      <p:sp>
        <p:nvSpPr>
          <p:cNvPr id="22" name="Text 17"/>
          <p:cNvSpPr txBox="1"/>
          <p:nvPr/>
        </p:nvSpPr>
        <p:spPr>
          <a:xfrm>
            <a:off x="4581144" y="4773168"/>
            <a:ext cx="3063240" cy="1280160"/>
          </a:xfrm>
          <a:prstGeom prst="rect">
            <a:avLst/>
          </a:prstGeom>
          <a:noFill/>
          <a:ln/>
        </p:spPr>
        <p:txBody>
          <a:bodyPr wrap="square" lIns="0" tIns="0" rIns="0" bIns="0" rtlCol="0" anchor="t"/>
          <a:lstStyle/>
          <a:p>
            <a:pPr indent="0" marL="0">
              <a:buNone/>
            </a:pPr>
            <a:r>
              <a:rPr lang="en-US" sz="1450" dirty="0">
                <a:solidFill>
                  <a:srgbClr val="131925"/>
                </a:solidFill>
              </a:rPr>
              <a:t>Drift stops the run, the email shows what changed with suggested template code, and one approved change set keeps or reverts each change.</a:t>
            </a:r>
            <a:endParaRPr lang="en-US" sz="1450" dirty="0"/>
          </a:p>
        </p:txBody>
      </p:sp>
      <p:sp>
        <p:nvSpPr>
          <p:cNvPr id="23" name="Shape 18"/>
          <p:cNvSpPr/>
          <p:nvPr/>
        </p:nvSpPr>
        <p:spPr>
          <a:xfrm>
            <a:off x="8065008" y="1481328"/>
            <a:ext cx="3575304" cy="4663440"/>
          </a:xfrm>
          <a:prstGeom prst="roundRect">
            <a:avLst>
              <a:gd name="adj" fmla="val 30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24" name="Shape 19"/>
          <p:cNvSpPr/>
          <p:nvPr/>
        </p:nvSpPr>
        <p:spPr>
          <a:xfrm>
            <a:off x="8293608" y="1691640"/>
            <a:ext cx="512064" cy="512064"/>
          </a:xfrm>
          <a:prstGeom prst="ellipse">
            <a:avLst/>
          </a:prstGeom>
          <a:solidFill>
            <a:srgbClr val="16243A"/>
          </a:solidFill>
          <a:ln w="6350">
            <a:solidFill>
              <a:srgbClr val="16243A"/>
            </a:solidFill>
            <a:prstDash val="solid"/>
          </a:ln>
        </p:spPr>
      </p:sp>
      <p:pic>
        <p:nvPicPr>
          <p:cNvPr id="25" name="Image 2" descr="Icon">    </p:cNvPr>
          <p:cNvPicPr>
            <a:picLocks noChangeAspect="1"/>
          </p:cNvPicPr>
          <p:nvPr/>
        </p:nvPicPr>
        <p:blipFill>
          <a:blip r:embed="rId3"/>
          <a:stretch>
            <a:fillRect/>
          </a:stretch>
        </p:blipFill>
        <p:spPr>
          <a:xfrm>
            <a:off x="8416503" y="1814535"/>
            <a:ext cx="266273" cy="266273"/>
          </a:xfrm>
          <a:prstGeom prst="rect">
            <a:avLst/>
          </a:prstGeom>
        </p:spPr>
      </p:pic>
      <p:sp>
        <p:nvSpPr>
          <p:cNvPr id="26" name="Text 20"/>
          <p:cNvSpPr txBox="1"/>
          <p:nvPr/>
        </p:nvSpPr>
        <p:spPr>
          <a:xfrm>
            <a:off x="8933688" y="1691640"/>
            <a:ext cx="2560320" cy="512064"/>
          </a:xfrm>
          <a:prstGeom prst="rect">
            <a:avLst/>
          </a:prstGeom>
          <a:noFill/>
          <a:ln/>
        </p:spPr>
        <p:txBody>
          <a:bodyPr wrap="square" lIns="0" tIns="0" rIns="0" bIns="0" rtlCol="0" anchor="ctr"/>
          <a:lstStyle/>
          <a:p>
            <a:pPr indent="0" marL="0">
              <a:buNone/>
            </a:pPr>
            <a:r>
              <a:rPr lang="en-US" sz="1600" b="1" dirty="0">
                <a:solidFill>
                  <a:srgbClr val="16243A"/>
                </a:solidFill>
              </a:rPr>
              <a:t>A DNS record</a:t>
            </a:r>
            <a:endParaRPr lang="en-US" sz="1600" dirty="0"/>
          </a:p>
        </p:txBody>
      </p:sp>
      <p:sp>
        <p:nvSpPr>
          <p:cNvPr id="27" name="Text 21"/>
          <p:cNvSpPr txBox="1"/>
          <p:nvPr/>
        </p:nvSpPr>
        <p:spPr>
          <a:xfrm>
            <a:off x="8339328" y="2487168"/>
            <a:ext cx="3017520" cy="274320"/>
          </a:xfrm>
          <a:prstGeom prst="rect">
            <a:avLst/>
          </a:prstGeom>
          <a:noFill/>
          <a:ln/>
        </p:spPr>
        <p:txBody>
          <a:bodyPr wrap="square" lIns="0" tIns="0" rIns="0" bIns="0" rtlCol="0" anchor="t"/>
          <a:lstStyle/>
          <a:p>
            <a:pPr indent="0" marL="0">
              <a:buNone/>
            </a:pPr>
            <a:r>
              <a:rPr lang="en-US" sz="1250" b="1" dirty="0">
                <a:solidFill>
                  <a:srgbClr val="A1332C"/>
                </a:solidFill>
              </a:rPr>
              <a:t>Today</a:t>
            </a:r>
            <a:endParaRPr lang="en-US" sz="1250" dirty="0"/>
          </a:p>
        </p:txBody>
      </p:sp>
      <p:sp>
        <p:nvSpPr>
          <p:cNvPr id="28" name="Text 22"/>
          <p:cNvSpPr txBox="1"/>
          <p:nvPr/>
        </p:nvSpPr>
        <p:spPr>
          <a:xfrm>
            <a:off x="8339328" y="2798064"/>
            <a:ext cx="3063240" cy="1417320"/>
          </a:xfrm>
          <a:prstGeom prst="rect">
            <a:avLst/>
          </a:prstGeom>
          <a:noFill/>
          <a:ln/>
        </p:spPr>
        <p:txBody>
          <a:bodyPr wrap="square" lIns="0" tIns="0" rIns="0" bIns="0" rtlCol="0" anchor="t"/>
          <a:lstStyle/>
          <a:p>
            <a:pPr indent="0" marL="0">
              <a:buNone/>
            </a:pPr>
            <a:r>
              <a:rPr lang="en-US" sz="1450" dirty="0">
                <a:solidFill>
                  <a:srgbClr val="131925"/>
                </a:solidFill>
              </a:rPr>
              <a:t>Two workflows and a pull request; the change is worked out again after approval, and console changes can be undone.</a:t>
            </a:r>
            <a:endParaRPr lang="en-US" sz="1450" dirty="0"/>
          </a:p>
        </p:txBody>
      </p:sp>
      <p:sp>
        <p:nvSpPr>
          <p:cNvPr id="29" name="Shape 23"/>
          <p:cNvSpPr/>
          <p:nvPr/>
        </p:nvSpPr>
        <p:spPr>
          <a:xfrm>
            <a:off x="8339328" y="4315968"/>
            <a:ext cx="3026664" cy="0"/>
          </a:xfrm>
          <a:prstGeom prst="line">
            <a:avLst/>
          </a:prstGeom>
          <a:noFill/>
          <a:ln w="12700">
            <a:solidFill>
              <a:srgbClr val="DCE1E9"/>
            </a:solidFill>
            <a:prstDash val="solid"/>
          </a:ln>
        </p:spPr>
      </p:sp>
      <p:sp>
        <p:nvSpPr>
          <p:cNvPr id="30" name="Text 24"/>
          <p:cNvSpPr txBox="1"/>
          <p:nvPr/>
        </p:nvSpPr>
        <p:spPr>
          <a:xfrm>
            <a:off x="8339328" y="4462272"/>
            <a:ext cx="3017520" cy="274320"/>
          </a:xfrm>
          <a:prstGeom prst="rect">
            <a:avLst/>
          </a:prstGeom>
          <a:noFill/>
          <a:ln/>
        </p:spPr>
        <p:txBody>
          <a:bodyPr wrap="square" lIns="0" tIns="0" rIns="0" bIns="0" rtlCol="0" anchor="t"/>
          <a:lstStyle/>
          <a:p>
            <a:pPr indent="0" marL="0">
              <a:buNone/>
            </a:pPr>
            <a:r>
              <a:rPr lang="en-US" sz="1250" b="1" dirty="0">
                <a:solidFill>
                  <a:srgbClr val="2E8946"/>
                </a:solidFill>
              </a:rPr>
              <a:t>With the proposed pipeline</a:t>
            </a:r>
            <a:endParaRPr lang="en-US" sz="1250" dirty="0"/>
          </a:p>
        </p:txBody>
      </p:sp>
      <p:sp>
        <p:nvSpPr>
          <p:cNvPr id="31" name="Text 25"/>
          <p:cNvSpPr txBox="1"/>
          <p:nvPr/>
        </p:nvSpPr>
        <p:spPr>
          <a:xfrm>
            <a:off x="8339328" y="4773168"/>
            <a:ext cx="3063240" cy="1280160"/>
          </a:xfrm>
          <a:prstGeom prst="rect">
            <a:avLst/>
          </a:prstGeom>
          <a:noFill/>
          <a:ln/>
        </p:spPr>
        <p:txBody>
          <a:bodyPr wrap="square" lIns="0" tIns="0" rIns="0" bIns="0" rtlCol="0" anchor="t"/>
          <a:lstStyle/>
          <a:p>
            <a:pPr indent="0" marL="0">
              <a:buNone/>
            </a:pPr>
            <a:r>
              <a:rPr lang="en-US" sz="1450" dirty="0">
                <a:solidFill>
                  <a:srgbClr val="131925"/>
                </a:solidFill>
              </a:rPr>
              <a:t>One run and a change set that runs as reviewed; only the stack's own records change.</a:t>
            </a:r>
            <a:endParaRPr lang="en-US" sz="14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Next steps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Rehearse the scenarios on a sandbox account before switching production</a:t>
            </a:r>
            <a:endParaRPr lang="en-US" sz="1400" dirty="0"/>
          </a:p>
        </p:txBody>
      </p:sp>
      <p:sp>
        <p:nvSpPr>
          <p:cNvPr id="5" name="Shape 2"/>
          <p:cNvSpPr/>
          <p:nvPr/>
        </p:nvSpPr>
        <p:spPr>
          <a:xfrm>
            <a:off x="548640" y="1481328"/>
            <a:ext cx="5413248" cy="4663440"/>
          </a:xfrm>
          <a:prstGeom prst="roundRect">
            <a:avLst>
              <a:gd name="adj" fmla="val 2353"/>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804672" y="1682496"/>
            <a:ext cx="493776" cy="493776"/>
          </a:xfrm>
          <a:prstGeom prst="ellipse">
            <a:avLst/>
          </a:prstGeom>
          <a:solidFill>
            <a:srgbClr val="16243A"/>
          </a:solidFill>
          <a:ln w="6350">
            <a:solidFill>
              <a:srgbClr val="16243A"/>
            </a:solidFill>
            <a:prstDash val="solid"/>
          </a:ln>
        </p:spPr>
      </p:sp>
      <p:pic>
        <p:nvPicPr>
          <p:cNvPr id="7" name="Image 0" descr="Icon">    </p:cNvPr>
          <p:cNvPicPr>
            <a:picLocks noChangeAspect="1"/>
          </p:cNvPicPr>
          <p:nvPr/>
        </p:nvPicPr>
        <p:blipFill>
          <a:blip r:embed="rId1"/>
          <a:stretch>
            <a:fillRect/>
          </a:stretch>
        </p:blipFill>
        <p:spPr>
          <a:xfrm>
            <a:off x="923178" y="1801002"/>
            <a:ext cx="256764" cy="256764"/>
          </a:xfrm>
          <a:prstGeom prst="rect">
            <a:avLst/>
          </a:prstGeom>
        </p:spPr>
      </p:pic>
      <p:sp>
        <p:nvSpPr>
          <p:cNvPr id="8" name="Text 4"/>
          <p:cNvSpPr txBox="1"/>
          <p:nvPr/>
        </p:nvSpPr>
        <p:spPr>
          <a:xfrm>
            <a:off x="1444752" y="1682496"/>
            <a:ext cx="4206240" cy="493776"/>
          </a:xfrm>
          <a:prstGeom prst="rect">
            <a:avLst/>
          </a:prstGeom>
          <a:noFill/>
          <a:ln/>
        </p:spPr>
        <p:txBody>
          <a:bodyPr wrap="square" lIns="0" tIns="0" rIns="0" bIns="0" rtlCol="0" anchor="ctr"/>
          <a:lstStyle/>
          <a:p>
            <a:pPr indent="0" marL="0">
              <a:buNone/>
            </a:pPr>
            <a:r>
              <a:rPr lang="en-US" sz="2000" b="1" dirty="0">
                <a:solidFill>
                  <a:srgbClr val="16243A"/>
                </a:solidFill>
              </a:rPr>
              <a:t>CloudFormation</a:t>
            </a:r>
            <a:endParaRPr lang="en-US" sz="2000" dirty="0"/>
          </a:p>
        </p:txBody>
      </p:sp>
      <p:sp>
        <p:nvSpPr>
          <p:cNvPr id="9" name="Text 5"/>
          <p:cNvSpPr txBox="1"/>
          <p:nvPr/>
        </p:nvSpPr>
        <p:spPr>
          <a:xfrm>
            <a:off x="822960" y="251460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1</a:t>
            </a:r>
            <a:endParaRPr lang="en-US" sz="1500" dirty="0"/>
          </a:p>
        </p:txBody>
      </p:sp>
      <p:sp>
        <p:nvSpPr>
          <p:cNvPr id="10" name="Text 6"/>
          <p:cNvSpPr txBox="1"/>
          <p:nvPr/>
        </p:nvSpPr>
        <p:spPr>
          <a:xfrm>
            <a:off x="1444752" y="249631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Set up</a:t>
            </a:r>
            <a:endParaRPr lang="en-US" sz="1500" dirty="0"/>
          </a:p>
        </p:txBody>
      </p:sp>
      <p:sp>
        <p:nvSpPr>
          <p:cNvPr id="11" name="Text 7"/>
          <p:cNvSpPr txBox="1"/>
          <p:nvPr/>
        </p:nvSpPr>
        <p:spPr>
          <a:xfrm>
            <a:off x="1444752" y="2825496"/>
            <a:ext cx="4251960" cy="731520"/>
          </a:xfrm>
          <a:prstGeom prst="rect">
            <a:avLst/>
          </a:prstGeom>
          <a:noFill/>
          <a:ln/>
        </p:spPr>
        <p:txBody>
          <a:bodyPr wrap="square" lIns="0" tIns="0" rIns="0" bIns="0" rtlCol="0" anchor="t"/>
          <a:lstStyle/>
          <a:p>
            <a:pPr indent="0" marL="0">
              <a:buNone/>
            </a:pPr>
            <a:r>
              <a:rPr lang="en-US" sz="1350" dirty="0">
                <a:solidFill>
                  <a:srgbClr val="131925"/>
                </a:solidFill>
              </a:rPr>
              <a:t>Deploy the support stack; add the SES sender and the new secrets and variables.</a:t>
            </a:r>
            <a:endParaRPr lang="en-US" sz="1350" dirty="0"/>
          </a:p>
        </p:txBody>
      </p:sp>
      <p:sp>
        <p:nvSpPr>
          <p:cNvPr id="12" name="Text 8"/>
          <p:cNvSpPr txBox="1"/>
          <p:nvPr/>
        </p:nvSpPr>
        <p:spPr>
          <a:xfrm>
            <a:off x="822960" y="370332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2</a:t>
            </a:r>
            <a:endParaRPr lang="en-US" sz="1500" dirty="0"/>
          </a:p>
        </p:txBody>
      </p:sp>
      <p:sp>
        <p:nvSpPr>
          <p:cNvPr id="13" name="Text 9"/>
          <p:cNvSpPr txBox="1"/>
          <p:nvPr/>
        </p:nvSpPr>
        <p:spPr>
          <a:xfrm>
            <a:off x="1444752" y="368503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Rehearse</a:t>
            </a:r>
            <a:endParaRPr lang="en-US" sz="1500" dirty="0"/>
          </a:p>
        </p:txBody>
      </p:sp>
      <p:sp>
        <p:nvSpPr>
          <p:cNvPr id="14" name="Text 10"/>
          <p:cNvSpPr txBox="1"/>
          <p:nvPr/>
        </p:nvSpPr>
        <p:spPr>
          <a:xfrm>
            <a:off x="1444752" y="4014216"/>
            <a:ext cx="4251960" cy="731520"/>
          </a:xfrm>
          <a:prstGeom prst="rect">
            <a:avLst/>
          </a:prstGeom>
          <a:noFill/>
          <a:ln/>
        </p:spPr>
        <p:txBody>
          <a:bodyPr wrap="square" lIns="0" tIns="0" rIns="0" bIns="0" rtlCol="0" anchor="t"/>
          <a:lstStyle/>
          <a:p>
            <a:pPr indent="0" marL="0">
              <a:buNone/>
            </a:pPr>
            <a:r>
              <a:rPr lang="en-US" sz="1350" dirty="0">
                <a:solidFill>
                  <a:srgbClr val="131925"/>
                </a:solidFill>
              </a:rPr>
              <a:t>Run scenarios 1 and 2 against a sandbox EC2 stack, including a deliberate console change.</a:t>
            </a:r>
            <a:endParaRPr lang="en-US" sz="1350" dirty="0"/>
          </a:p>
        </p:txBody>
      </p:sp>
      <p:sp>
        <p:nvSpPr>
          <p:cNvPr id="15" name="Text 11"/>
          <p:cNvSpPr txBox="1"/>
          <p:nvPr/>
        </p:nvSpPr>
        <p:spPr>
          <a:xfrm>
            <a:off x="822960" y="489204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3</a:t>
            </a:r>
            <a:endParaRPr lang="en-US" sz="1500" dirty="0"/>
          </a:p>
        </p:txBody>
      </p:sp>
      <p:sp>
        <p:nvSpPr>
          <p:cNvPr id="16" name="Text 12"/>
          <p:cNvSpPr txBox="1"/>
          <p:nvPr/>
        </p:nvSpPr>
        <p:spPr>
          <a:xfrm>
            <a:off x="1444752" y="487375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Switch</a:t>
            </a:r>
            <a:endParaRPr lang="en-US" sz="1500" dirty="0"/>
          </a:p>
        </p:txBody>
      </p:sp>
      <p:sp>
        <p:nvSpPr>
          <p:cNvPr id="17" name="Text 13"/>
          <p:cNvSpPr txBox="1"/>
          <p:nvPr/>
        </p:nvSpPr>
        <p:spPr>
          <a:xfrm>
            <a:off x="1444752" y="5202936"/>
            <a:ext cx="4251960" cy="731520"/>
          </a:xfrm>
          <a:prstGeom prst="rect">
            <a:avLst/>
          </a:prstGeom>
          <a:noFill/>
          <a:ln/>
        </p:spPr>
        <p:txBody>
          <a:bodyPr wrap="square" lIns="0" tIns="0" rIns="0" bIns="0" rtlCol="0" anchor="t"/>
          <a:lstStyle/>
          <a:p>
            <a:pPr indent="0" marL="0">
              <a:buNone/>
            </a:pPr>
            <a:r>
              <a:rPr lang="en-US" sz="1350" dirty="0">
                <a:solidFill>
                  <a:srgbClr val="131925"/>
                </a:solidFill>
              </a:rPr>
              <a:t>Move production stacks across, then retire latest_cft_deployment.yml.</a:t>
            </a:r>
            <a:endParaRPr lang="en-US" sz="1350" dirty="0"/>
          </a:p>
        </p:txBody>
      </p:sp>
      <p:sp>
        <p:nvSpPr>
          <p:cNvPr id="18" name="Shape 14"/>
          <p:cNvSpPr/>
          <p:nvPr/>
        </p:nvSpPr>
        <p:spPr>
          <a:xfrm>
            <a:off x="6227064" y="1481328"/>
            <a:ext cx="5413248" cy="4663440"/>
          </a:xfrm>
          <a:prstGeom prst="roundRect">
            <a:avLst>
              <a:gd name="adj" fmla="val 2353"/>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9" name="Shape 15"/>
          <p:cNvSpPr/>
          <p:nvPr/>
        </p:nvSpPr>
        <p:spPr>
          <a:xfrm>
            <a:off x="6483096" y="1682496"/>
            <a:ext cx="493776" cy="493776"/>
          </a:xfrm>
          <a:prstGeom prst="ellipse">
            <a:avLst/>
          </a:prstGeom>
          <a:solidFill>
            <a:srgbClr val="16243A"/>
          </a:solidFill>
          <a:ln w="6350">
            <a:solidFill>
              <a:srgbClr val="16243A"/>
            </a:solidFill>
            <a:prstDash val="solid"/>
          </a:ln>
        </p:spPr>
      </p:sp>
      <p:pic>
        <p:nvPicPr>
          <p:cNvPr id="20" name="Image 1" descr="Icon">    </p:cNvPr>
          <p:cNvPicPr>
            <a:picLocks noChangeAspect="1"/>
          </p:cNvPicPr>
          <p:nvPr/>
        </p:nvPicPr>
        <p:blipFill>
          <a:blip r:embed="rId2"/>
          <a:stretch>
            <a:fillRect/>
          </a:stretch>
        </p:blipFill>
        <p:spPr>
          <a:xfrm>
            <a:off x="6601602" y="1801002"/>
            <a:ext cx="256764" cy="256764"/>
          </a:xfrm>
          <a:prstGeom prst="rect">
            <a:avLst/>
          </a:prstGeom>
        </p:spPr>
      </p:pic>
      <p:sp>
        <p:nvSpPr>
          <p:cNvPr id="21" name="Text 16"/>
          <p:cNvSpPr txBox="1"/>
          <p:nvPr/>
        </p:nvSpPr>
        <p:spPr>
          <a:xfrm>
            <a:off x="7123176" y="1682496"/>
            <a:ext cx="4206240" cy="493776"/>
          </a:xfrm>
          <a:prstGeom prst="rect">
            <a:avLst/>
          </a:prstGeom>
          <a:noFill/>
          <a:ln/>
        </p:spPr>
        <p:txBody>
          <a:bodyPr wrap="square" lIns="0" tIns="0" rIns="0" bIns="0" rtlCol="0" anchor="ctr"/>
          <a:lstStyle/>
          <a:p>
            <a:pPr indent="0" marL="0">
              <a:buNone/>
            </a:pPr>
            <a:r>
              <a:rPr lang="en-US" sz="2000" b="1" dirty="0">
                <a:solidFill>
                  <a:srgbClr val="16243A"/>
                </a:solidFill>
              </a:rPr>
              <a:t>DNS records</a:t>
            </a:r>
            <a:endParaRPr lang="en-US" sz="2000" dirty="0"/>
          </a:p>
        </p:txBody>
      </p:sp>
      <p:sp>
        <p:nvSpPr>
          <p:cNvPr id="22" name="Text 17"/>
          <p:cNvSpPr txBox="1"/>
          <p:nvPr/>
        </p:nvSpPr>
        <p:spPr>
          <a:xfrm>
            <a:off x="6501384" y="251460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1</a:t>
            </a:r>
            <a:endParaRPr lang="en-US" sz="1500" dirty="0"/>
          </a:p>
        </p:txBody>
      </p:sp>
      <p:sp>
        <p:nvSpPr>
          <p:cNvPr id="23" name="Text 18"/>
          <p:cNvSpPr txBox="1"/>
          <p:nvPr/>
        </p:nvSpPr>
        <p:spPr>
          <a:xfrm>
            <a:off x="7123176" y="249631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Fix now</a:t>
            </a:r>
            <a:endParaRPr lang="en-US" sz="1500" dirty="0"/>
          </a:p>
        </p:txBody>
      </p:sp>
      <p:sp>
        <p:nvSpPr>
          <p:cNvPr id="24" name="Text 19"/>
          <p:cNvSpPr txBox="1"/>
          <p:nvPr/>
        </p:nvSpPr>
        <p:spPr>
          <a:xfrm>
            <a:off x="7123176" y="2825496"/>
            <a:ext cx="4251960" cy="731520"/>
          </a:xfrm>
          <a:prstGeom prst="rect">
            <a:avLst/>
          </a:prstGeom>
          <a:noFill/>
          <a:ln/>
        </p:spPr>
        <p:txBody>
          <a:bodyPr wrap="square" lIns="0" tIns="0" rIns="0" bIns="0" rtlCol="0" anchor="t"/>
          <a:lstStyle/>
          <a:p>
            <a:pPr indent="0" marL="0">
              <a:buNone/>
            </a:pPr>
            <a:r>
              <a:rPr lang="en-US" sz="1350" dirty="0">
                <a:solidFill>
                  <a:srgbClr val="131925"/>
                </a:solidFill>
              </a:rPr>
              <a:t>Make the applied change the approved one, and add an ownership rule before deletes are used.</a:t>
            </a:r>
            <a:endParaRPr lang="en-US" sz="1350" dirty="0"/>
          </a:p>
        </p:txBody>
      </p:sp>
      <p:sp>
        <p:nvSpPr>
          <p:cNvPr id="25" name="Text 20"/>
          <p:cNvSpPr txBox="1"/>
          <p:nvPr/>
        </p:nvSpPr>
        <p:spPr>
          <a:xfrm>
            <a:off x="6501384" y="370332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2</a:t>
            </a:r>
            <a:endParaRPr lang="en-US" sz="1500" dirty="0"/>
          </a:p>
        </p:txBody>
      </p:sp>
      <p:sp>
        <p:nvSpPr>
          <p:cNvPr id="26" name="Text 21"/>
          <p:cNvSpPr txBox="1"/>
          <p:nvPr/>
        </p:nvSpPr>
        <p:spPr>
          <a:xfrm>
            <a:off x="7123176" y="368503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Start new records in stacks</a:t>
            </a:r>
            <a:endParaRPr lang="en-US" sz="1500" dirty="0"/>
          </a:p>
        </p:txBody>
      </p:sp>
      <p:sp>
        <p:nvSpPr>
          <p:cNvPr id="27" name="Text 22"/>
          <p:cNvSpPr txBox="1"/>
          <p:nvPr/>
        </p:nvSpPr>
        <p:spPr>
          <a:xfrm>
            <a:off x="7123176" y="4014216"/>
            <a:ext cx="4251960" cy="731520"/>
          </a:xfrm>
          <a:prstGeom prst="rect">
            <a:avLst/>
          </a:prstGeom>
          <a:noFill/>
          <a:ln/>
        </p:spPr>
        <p:txBody>
          <a:bodyPr wrap="square" lIns="0" tIns="0" rIns="0" bIns="0" rtlCol="0" anchor="t"/>
          <a:lstStyle/>
          <a:p>
            <a:pPr indent="0" marL="0">
              <a:buNone/>
            </a:pPr>
            <a:r>
              <a:rPr lang="en-US" sz="1350" dirty="0">
                <a:solidFill>
                  <a:srgbClr val="131925"/>
                </a:solidFill>
              </a:rPr>
              <a:t>Create new records through the proposed pipeline from now on.</a:t>
            </a:r>
            <a:endParaRPr lang="en-US" sz="1350" dirty="0"/>
          </a:p>
        </p:txBody>
      </p:sp>
      <p:sp>
        <p:nvSpPr>
          <p:cNvPr id="28" name="Text 23"/>
          <p:cNvSpPr txBox="1"/>
          <p:nvPr/>
        </p:nvSpPr>
        <p:spPr>
          <a:xfrm>
            <a:off x="6501384" y="489204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3</a:t>
            </a:r>
            <a:endParaRPr lang="en-US" sz="1500" dirty="0"/>
          </a:p>
        </p:txBody>
      </p:sp>
      <p:sp>
        <p:nvSpPr>
          <p:cNvPr id="29" name="Text 24"/>
          <p:cNvSpPr txBox="1"/>
          <p:nvPr/>
        </p:nvSpPr>
        <p:spPr>
          <a:xfrm>
            <a:off x="7123176" y="487375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Plan the move</a:t>
            </a:r>
            <a:endParaRPr lang="en-US" sz="1500" dirty="0"/>
          </a:p>
        </p:txBody>
      </p:sp>
      <p:sp>
        <p:nvSpPr>
          <p:cNvPr id="30" name="Text 25"/>
          <p:cNvSpPr txBox="1"/>
          <p:nvPr/>
        </p:nvSpPr>
        <p:spPr>
          <a:xfrm>
            <a:off x="7123176" y="5202936"/>
            <a:ext cx="4251960" cy="731520"/>
          </a:xfrm>
          <a:prstGeom prst="rect">
            <a:avLst/>
          </a:prstGeom>
          <a:noFill/>
          <a:ln/>
        </p:spPr>
        <p:txBody>
          <a:bodyPr wrap="square" lIns="0" tIns="0" rIns="0" bIns="0" rtlCol="0" anchor="t"/>
          <a:lstStyle/>
          <a:p>
            <a:pPr indent="0" marL="0">
              <a:buNone/>
            </a:pPr>
            <a:r>
              <a:rPr lang="en-US" sz="1350" dirty="0">
                <a:solidFill>
                  <a:srgbClr val="131925"/>
                </a:solidFill>
              </a:rPr>
              <a:t>Move existing zones one at a time; record sets can't be imported, so plan each cutover.</a:t>
            </a:r>
            <a:endParaRPr lang="en-US" sz="13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ipeline Review">
  <a:themeElements>
    <a:clrScheme name="Pipeline Review">
      <a:dk1>
        <a:srgbClr val="131925"/>
      </a:dk1>
      <a:lt1>
        <a:srgbClr val="FFFFFF"/>
      </a:lt1>
      <a:dk2>
        <a:srgbClr val="16243A"/>
      </a:dk2>
      <a:lt2>
        <a:srgbClr val="EEF1F6"/>
      </a:lt2>
      <a:accent1>
        <a:srgbClr val="2A5BD7"/>
      </a:accent1>
      <a:accent2>
        <a:srgbClr val="22866A"/>
      </a:accent2>
      <a:accent3>
        <a:srgbClr val="BF8418"/>
      </a:accent3>
      <a:accent4>
        <a:srgbClr val="4F5ED0"/>
      </a:accent4>
      <a:accent5>
        <a:srgbClr val="2E8946"/>
      </a:accent5>
      <a:accent6>
        <a:srgbClr val="C93A32"/>
      </a:accent6>
      <a:hlink>
        <a:srgbClr val="2A5BD7"/>
      </a:hlink>
      <a:folHlink>
        <a:srgbClr val="4650A9"/>
      </a:folHlink>
    </a:clrScheme>
    <a:fontScheme name="Pipeline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everyday changes, four pipelines</dc:title>
  <dc:subject>EC2 deployment, a drifted EC2 instance and a DNS record change through each pipeline</dc:subject>
  <dc:creator>Platform engineering</dc:creator>
  <cp:lastModifiedBy>Platform engineering</cp:lastModifiedBy>
  <cp:revision>1</cp:revision>
  <dcterms:created xsi:type="dcterms:W3CDTF">2026-10-11T15:21:51Z</dcterms:created>
  <dcterms:modified xsi:type="dcterms:W3CDTF">2026-10-11T15:21:51Z</dcterms:modified>
</cp:coreProperties>
</file>