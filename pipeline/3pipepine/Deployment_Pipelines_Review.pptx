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75c39a7-9f68-0df8-2bad-af7df07999af}">
          <p14:sldIdLst>
            <p14:sldId id="256"/>
            <p14:sldId id="257"/>
          </p14:sldIdLst>
        </p14:section>
        <p14:section name="New pipeline" id="{a6cf8a5d-3b5f-cdfd-d15f-0f34e1644ac5}">
          <p14:sldIdLst>
            <p14:sldId id="258"/>
            <p14:sldId id="259"/>
            <p14:sldId id="260"/>
          </p14:sldIdLst>
        </p14:section>
        <p14:section name="WS2 DNS pipelines" id="{4f99652a-fa87-18bc-01ab-007fb532a797}">
          <p14:sldIdLst>
            <p14:sldId id="261"/>
            <p14:sldId id="262"/>
          </p14:sldIdLst>
        </p14:section>
        <p14:section name="Comparison" id="{05a8ea22-50f7-83e2-9b26-d3848e83e385}">
          <p14:sldIdLst>
            <p14:sldId id="263"/>
            <p14:sldId id="264"/>
            <p14:sldId id="265"/>
          </p14:sldIdLst>
        </p14:section>
        <p14:section name="Old pipeline" id="{81e38d76-46a9-3f2a-a536-67ee5a4ddc1c}">
          <p14:sldIdLst>
            <p14:sldId id="266"/>
            <p14:sldId id="267"/>
          </p14:sldIdLst>
        </p14:section>
        <p14:section name="Recommendation" id="{5a7050c8-ffd0-ae53-ad2e-00ed07913430}">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how our three pipelines differ, why the new one is the safer default, and agree which one to use for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carry the whole deck. Drift check: before deploying, compare live AWS with the code, so manual console changes are caught. Change set: AWS’s itemised list of planned changes, which a person reviews before it is executed. The builder analogies help a non-technical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Prepare takes the role from a dropdown, finds the template and refuses to touch a stack that is busy or broken. The drift check runs on existing stacks; if anything was changed by hand, the run stops and shows expected versus actual values. The change set lists every add, change and removal, flags replacements and deletions, and links straight to it in the AWS console. Default (Deploy = no): a person reviews and clicks Execute in AWS. Deploy = yes: the pipeline executes that same change set and follows it to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new pipeline adds both safety checks and keeps a person in control, for any CloudFormation stack. Be upfront about its limits — AWS does not support drift checks for every resource type, and Deploy = yes is meant for changes that are already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real runs. 1) The run page: Prepare, Drift check and Change set passed; Deploy is grey because Deploy = no, so nothing went live until someone executed the change set. 2) A drift check that found a difference: the run stopped before creating a change set and listed what differs. 3) A change set ready for review: one resource to modify, with the link to review and execute it in the AWS console. 4) A run with Deploy = yes: the pipeline executed that same change set and reported CREATE_COMPLETE.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where it is due: WS2 is a well-built tool for bulk DNS record edits. Export copies the live records into files and opens a Pull Request; Apply previews the differences, waits for a gatekeeper’s approval outside sandbox, and then applies them. The red boxes show what it does not do compared with the new pipeline: no alarm for changes made by hand, a preview that isn’t locked in (apply works the changes out again), and it works outside CloudFormation.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strengths are real: bulk edits, Pull Request review, a preview with deletes off by default, and a gatekeeper approval before changes outside sandbox. The gaps compared with the new pipeline: DNS records only (the export itself says to use CloudFormation for alias records), no alarm for changes made by hand, a preview that isn’t locked in (apply works the changes out again after approval), and it works outside CloudFormation.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asterisk matters: AWS cannot drift-check every resource type, and FMS policies and individual DNS records are the ones that affect us. For DNS, the gains are the locked, reviewed change set, full coverage including alias records, and a proper history to roll back from (next slide). Both pipelines pause for a person before go-live: WS2 with a gatekeeper approval outside sandbox, the new pipeline by default (Deploy = no) — keep that default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WS2’s export calls itself a backup (“periodic backup”, “back up everything”), but it is a snapshot: it runs only when someone triggers it, lands on a side branch or a download kept for 30 days, and skips alias records. With the new pipeline, the record templates in Git are the real thing that gets deployed, so in a production DNS issue we can see exactly what changed, when and who approved it — and undo it by reverting the commit, checking the change set and executing it. The screenshot shows the Git history of one zone’s template, with the Pull Request behind each change. Be clear about one limit: Git only sees changes made through the pipeline; edits made by hand in the console never reach it, and AWS cannot drift-check individual records — one more reason to make the pipeline the only way DNS is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WS2 export — a JSON file written by pipeline/dns_records_export.py into config/accounts/&lt;account&gt;/networking/. It holds the zone’s ID and a list of record slots; the export run’s own summary (“Record Export Behavior”) says SOA, the zone’s own NS records and alias records are skipped, and the hosted zone itself is not defined in the file. Right: one of our CloudFormation templates — the AWS::Route53::HostedZone resource with its settings and tags, then each record as its own AWS::Route53::RecordSet, including an alias record pointing at CloudFront. The two screenshots are different zones; the structure is what matters. If asked about SOA and NS: Route 53 creates them with the zone, which is why they come with the zone resource rather than being listed as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pipeline is simple and works for every resource type, but it deploys straight away: no drift check, no preview and no pause for approval. For small templates it uses “cloudformation deploy”, which creates and executes a change set in one go, so nobody gets to review it. The screenshot is a run of the earlier version of our CloudFormation pipeline, which deployed the same way; old-pipeline-firewall.yml runs look the same — one deploy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keep the old pipeline for the firewall stacks: AWS’s own Resource type support table lists AWS::FMS::Policy as not supported for drift detection, and large JSON rule groups do not give dependable drift results. DNS records are a special case: AWS checks the hosted zone but not each record set, yet the change set still shows every record change, so DNS stays on the new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three decisions. If DNS is the sticking point, agree points 1 and 2 today and trial DNS on the new pipeline with one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675120" cy="155448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548640" y="3291840"/>
            <a:ext cx="6492240" cy="100584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
        <p:nvSpPr>
          <p:cNvPr id="4" name="Text 0"/>
          <p:cNvSpPr/>
          <p:nvPr>
            <p:ph idx="102" type="body" hasCustomPrompt="1"/>
          </p:nvPr>
        </p:nvSpPr>
        <p:spPr>
          <a:xfrm>
            <a:off x="548640" y="5257800"/>
            <a:ext cx="6492240" cy="41148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4" name="Text 0"/>
          <p:cNvSpPr/>
          <p:nvPr/>
        </p:nvSpPr>
        <p:spPr>
          <a:xfrm>
            <a:off x="548640" y="6473952"/>
            <a:ext cx="6400800" cy="274320"/>
          </a:xfrm>
          <a:prstGeom prst="rect">
            <a:avLst/>
          </a:prstGeom>
          <a:noFill/>
          <a:ln/>
        </p:spPr>
        <p:txBody>
          <a:bodyPr wrap="square" lIns="0" tIns="0" rIns="0" bIns="0" rtlCol="0" anchor="t"/>
          <a:lstStyle/>
          <a:p>
            <a:pPr indent="0" marL="0">
              <a:buNone/>
            </a:pPr>
            <a:r>
              <a:rPr lang="en-US" sz="1000" dirty="0">
                <a:solidFill>
                  <a:schemeClr val="tx2"/>
                </a:solidFill>
              </a:rPr>
              <a:t>Deployment pipelines review  ·  October 2026</a:t>
            </a:r>
            <a:endParaRPr lang="en-US" sz="10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
        <p:nvSpPr>
          <p:cNvPr id="4" name="Text 0"/>
          <p:cNvSpPr/>
          <p:nvPr/>
        </p:nvSpPr>
        <p:spPr>
          <a:xfrm>
            <a:off x="548640" y="6473952"/>
            <a:ext cx="6400800" cy="274320"/>
          </a:xfrm>
          <a:prstGeom prst="rect">
            <a:avLst/>
          </a:prstGeom>
          <a:noFill/>
          <a:ln/>
        </p:spPr>
        <p:txBody>
          <a:bodyPr wrap="square" lIns="0" tIns="0" rIns="0" bIns="0" rtlCol="0" anchor="t"/>
          <a:lstStyle/>
          <a:p>
            <a:pPr indent="0" marL="0">
              <a:buNone/>
            </a:pPr>
            <a:r>
              <a:rPr lang="en-US" sz="1000" dirty="0">
                <a:solidFill>
                  <a:schemeClr val="bg2"/>
                </a:solidFill>
              </a:rPr>
              <a:t>Deployment pipelines review  ·  October 2026</a:t>
            </a:r>
            <a:endParaRPr lang="en-US" sz="10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3.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3.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3.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3.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3.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slideLayout" Target="../slideLayouts/slideLayout3.xml"/><Relationship Id="rId1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675120" cy="1554480"/>
          </a:xfrm>
          <a:prstGeom prst="rect">
            <a:avLst/>
          </a:prstGeom>
          <a:noFill/>
          <a:ln/>
        </p:spPr>
        <p:txBody>
          <a:bodyPr wrap="square" lIns="0" tIns="0" rIns="0" bIns="0" rtlCol="0" anchor="b"/>
          <a:lstStyle/>
          <a:p>
            <a:pPr algn="l" indent="0" marL="0">
              <a:buNone/>
            </a:pPr>
            <a:r>
              <a:rPr lang="en-US" sz="4600" b="1" dirty="0">
                <a:solidFill>
                  <a:schemeClr val="bg1"/>
                </a:solidFill>
              </a:rPr>
              <a:t>Making AWS changes safely</a:t>
            </a:r>
            <a:endParaRPr lang="en-US" sz="4600" dirty="0"/>
          </a:p>
        </p:txBody>
      </p:sp>
      <p:sp>
        <p:nvSpPr>
          <p:cNvPr id="3" name="Text 0"/>
          <p:cNvSpPr/>
          <p:nvPr>
            <p:ph idx="101" type="body" hasCustomPrompt="1"/>
          </p:nvPr>
        </p:nvSpPr>
        <p:spPr>
          <a:xfrm>
            <a:off x="548640" y="3291840"/>
            <a:ext cx="6492240" cy="1005840"/>
          </a:xfrm>
          <a:prstGeom prst="rect">
            <a:avLst/>
          </a:prstGeom>
          <a:noFill/>
          <a:ln/>
        </p:spPr>
        <p:txBody>
          <a:bodyPr wrap="square" lIns="0" tIns="0" rIns="0" bIns="0" rtlCol="0" anchor="t"/>
          <a:lstStyle/>
          <a:p>
            <a:pPr indent="0" marL="0">
              <a:buNone/>
            </a:pPr>
            <a:r>
              <a:rPr lang="en-US" sz="2000" dirty="0">
                <a:solidFill>
                  <a:schemeClr val="accent6"/>
                </a:solidFill>
              </a:rPr>
              <a:t>Three deployment pipelines compared — what each one checks, and which one to use when</a:t>
            </a:r>
            <a:endParaRPr lang="en-US" sz="2000" dirty="0"/>
          </a:p>
        </p:txBody>
      </p:sp>
      <p:sp>
        <p:nvSpPr>
          <p:cNvPr id="4" name="Text 0"/>
          <p:cNvSpPr/>
          <p:nvPr>
            <p:ph idx="102" type="body" hasCustomPrompt="1"/>
          </p:nvPr>
        </p:nvSpPr>
        <p:spPr>
          <a:xfrm>
            <a:off x="548640" y="5257800"/>
            <a:ext cx="6492240" cy="411480"/>
          </a:xfrm>
          <a:prstGeom prst="rect">
            <a:avLst/>
          </a:prstGeom>
          <a:noFill/>
          <a:ln/>
        </p:spPr>
        <p:txBody>
          <a:bodyPr wrap="square" lIns="0" tIns="0" rIns="0" bIns="0" rtlCol="0" anchor="t"/>
          <a:lstStyle/>
          <a:p>
            <a:pPr indent="0" marL="0">
              <a:buNone/>
            </a:pPr>
            <a:r>
              <a:rPr lang="en-US" sz="1400" dirty="0">
                <a:solidFill>
                  <a:schemeClr val="bg2"/>
                </a:solidFill>
              </a:rPr>
              <a:t>Kunal Shrivastava  ·  Platform Engineering  ·  October 2026</a:t>
            </a:r>
            <a:endParaRPr lang="en-US" sz="1400" dirty="0"/>
          </a:p>
        </p:txBody>
      </p:sp>
      <p:sp>
        <p:nvSpPr>
          <p:cNvPr id="5" name="Text 3"/>
          <p:cNvSpPr txBox="1"/>
          <p:nvPr/>
        </p:nvSpPr>
        <p:spPr>
          <a:xfrm>
            <a:off x="7726680" y="1481328"/>
            <a:ext cx="3913632" cy="274320"/>
          </a:xfrm>
          <a:prstGeom prst="rect">
            <a:avLst/>
          </a:prstGeom>
          <a:noFill/>
          <a:ln/>
        </p:spPr>
        <p:txBody>
          <a:bodyPr wrap="square" lIns="0" tIns="0" rIns="0" bIns="0" rtlCol="0" anchor="t"/>
          <a:lstStyle/>
          <a:p>
            <a:pPr indent="0" marL="0">
              <a:buNone/>
            </a:pPr>
            <a:r>
              <a:rPr lang="en-US" sz="1100" b="1" spc="200" kern="0" dirty="0">
                <a:solidFill>
                  <a:schemeClr val="accent6"/>
                </a:solidFill>
              </a:rPr>
              <a:t>IN THIS DECK</a:t>
            </a:r>
            <a:endParaRPr lang="en-US" sz="1100" dirty="0"/>
          </a:p>
        </p:txBody>
      </p:sp>
      <p:sp>
        <p:nvSpPr>
          <p:cNvPr id="6" name="New pipeline"/>
          <p:cNvSpPr/>
          <p:nvPr/>
        </p:nvSpPr>
        <p:spPr>
          <a:xfrm>
            <a:off x="7726680" y="1874520"/>
            <a:ext cx="3913632" cy="914400"/>
          </a:xfrm>
          <a:prstGeom prst="roundRect">
            <a:avLst>
              <a:gd name="adj" fmla="val 14000"/>
            </a:avLst>
          </a:prstGeom>
          <a:solidFill>
            <a:schemeClr val="accent1"/>
          </a:solidFill>
          <a:ln/>
        </p:spPr>
      </p:sp>
      <p:sp>
        <p:nvSpPr>
          <p:cNvPr id="7" name="Shape 5"/>
          <p:cNvSpPr/>
          <p:nvPr/>
        </p:nvSpPr>
        <p:spPr>
          <a:xfrm>
            <a:off x="7936992" y="2057400"/>
            <a:ext cx="548640" cy="548640"/>
          </a:xfrm>
          <a:prstGeom prst="ellipse">
            <a:avLst/>
          </a:prstGeom>
          <a:solidFill>
            <a:schemeClr val="bg1">
              <a:alpha val="20000"/>
            </a:schemeClr>
          </a:solidFill>
          <a:ln/>
        </p:spPr>
      </p:sp>
      <p:pic>
        <p:nvPicPr>
          <p:cNvPr id="8" name="Image 0" descr="preencoded.png">    </p:cNvPr>
          <p:cNvPicPr>
            <a:picLocks noChangeAspect="1"/>
          </p:cNvPicPr>
          <p:nvPr/>
        </p:nvPicPr>
        <p:blipFill>
          <a:blip r:embed="rId1"/>
          <a:stretch>
            <a:fillRect/>
          </a:stretch>
        </p:blipFill>
        <p:spPr>
          <a:xfrm>
            <a:off x="8057693" y="2178101"/>
            <a:ext cx="307238" cy="307238"/>
          </a:xfrm>
          <a:prstGeom prst="rect">
            <a:avLst/>
          </a:prstGeom>
        </p:spPr>
      </p:pic>
      <p:sp>
        <p:nvSpPr>
          <p:cNvPr id="9" name="Text 6"/>
          <p:cNvSpPr txBox="1"/>
          <p:nvPr/>
        </p:nvSpPr>
        <p:spPr>
          <a:xfrm>
            <a:off x="8686800" y="2002536"/>
            <a:ext cx="2834640" cy="365760"/>
          </a:xfrm>
          <a:prstGeom prst="rect">
            <a:avLst/>
          </a:prstGeom>
          <a:noFill/>
          <a:ln/>
        </p:spPr>
        <p:txBody>
          <a:bodyPr wrap="square" lIns="0" tIns="0" rIns="0" bIns="0" rtlCol="0" anchor="ctr"/>
          <a:lstStyle/>
          <a:p>
            <a:pPr indent="0" marL="0">
              <a:buNone/>
            </a:pPr>
            <a:r>
              <a:rPr lang="en-US" sz="1800" b="1" dirty="0">
                <a:solidFill>
                  <a:schemeClr val="bg1"/>
                </a:solidFill>
              </a:rPr>
              <a:t>New pipeline</a:t>
            </a:r>
            <a:endParaRPr lang="en-US" sz="1800" dirty="0"/>
          </a:p>
        </p:txBody>
      </p:sp>
      <p:sp>
        <p:nvSpPr>
          <p:cNvPr id="10" name="Text 7"/>
          <p:cNvSpPr txBox="1"/>
          <p:nvPr/>
        </p:nvSpPr>
        <p:spPr>
          <a:xfrm>
            <a:off x="8686800" y="2350008"/>
            <a:ext cx="2834640" cy="310896"/>
          </a:xfrm>
          <a:prstGeom prst="rect">
            <a:avLst/>
          </a:prstGeom>
          <a:noFill/>
          <a:ln/>
        </p:spPr>
        <p:txBody>
          <a:bodyPr wrap="square" lIns="0" tIns="0" rIns="0" bIns="0" rtlCol="0" anchor="t"/>
          <a:lstStyle/>
          <a:p>
            <a:pPr indent="0" marL="0">
              <a:buNone/>
            </a:pPr>
            <a:r>
              <a:rPr lang="en-US" sz="1300" dirty="0">
                <a:solidFill>
                  <a:schemeClr val="bg1"/>
                </a:solidFill>
              </a:rPr>
              <a:t>Drift check + change set, any stack</a:t>
            </a:r>
            <a:endParaRPr lang="en-US" sz="1300" dirty="0"/>
          </a:p>
        </p:txBody>
      </p:sp>
      <p:sp>
        <p:nvSpPr>
          <p:cNvPr id="11" name="WS2 DNS pipelines"/>
          <p:cNvSpPr/>
          <p:nvPr/>
        </p:nvSpPr>
        <p:spPr>
          <a:xfrm>
            <a:off x="7726680" y="2990088"/>
            <a:ext cx="3913632" cy="914400"/>
          </a:xfrm>
          <a:prstGeom prst="roundRect">
            <a:avLst>
              <a:gd name="adj" fmla="val 14000"/>
            </a:avLst>
          </a:prstGeom>
          <a:solidFill>
            <a:schemeClr val="accent2"/>
          </a:solidFill>
          <a:ln/>
        </p:spPr>
      </p:sp>
      <p:sp>
        <p:nvSpPr>
          <p:cNvPr id="12" name="Shape 9"/>
          <p:cNvSpPr/>
          <p:nvPr/>
        </p:nvSpPr>
        <p:spPr>
          <a:xfrm>
            <a:off x="7936992" y="3172968"/>
            <a:ext cx="548640" cy="548640"/>
          </a:xfrm>
          <a:prstGeom prst="ellipse">
            <a:avLst/>
          </a:prstGeom>
          <a:solidFill>
            <a:schemeClr val="bg1">
              <a:alpha val="20000"/>
            </a:schemeClr>
          </a:solidFill>
          <a:ln/>
        </p:spPr>
      </p:sp>
      <p:pic>
        <p:nvPicPr>
          <p:cNvPr id="13" name="Image 1" descr="preencoded.png">    </p:cNvPr>
          <p:cNvPicPr>
            <a:picLocks noChangeAspect="1"/>
          </p:cNvPicPr>
          <p:nvPr/>
        </p:nvPicPr>
        <p:blipFill>
          <a:blip r:embed="rId2"/>
          <a:stretch>
            <a:fillRect/>
          </a:stretch>
        </p:blipFill>
        <p:spPr>
          <a:xfrm>
            <a:off x="8057693" y="3293669"/>
            <a:ext cx="307238" cy="307238"/>
          </a:xfrm>
          <a:prstGeom prst="rect">
            <a:avLst/>
          </a:prstGeom>
        </p:spPr>
      </p:pic>
      <p:sp>
        <p:nvSpPr>
          <p:cNvPr id="14" name="Text 10"/>
          <p:cNvSpPr txBox="1"/>
          <p:nvPr/>
        </p:nvSpPr>
        <p:spPr>
          <a:xfrm>
            <a:off x="8686800" y="3118104"/>
            <a:ext cx="2834640" cy="365760"/>
          </a:xfrm>
          <a:prstGeom prst="rect">
            <a:avLst/>
          </a:prstGeom>
          <a:noFill/>
          <a:ln/>
        </p:spPr>
        <p:txBody>
          <a:bodyPr wrap="square" lIns="0" tIns="0" rIns="0" bIns="0" rtlCol="0" anchor="ctr"/>
          <a:lstStyle/>
          <a:p>
            <a:pPr indent="0" marL="0">
              <a:buNone/>
            </a:pPr>
            <a:r>
              <a:rPr lang="en-US" sz="1800" b="1" dirty="0">
                <a:solidFill>
                  <a:schemeClr val="bg1"/>
                </a:solidFill>
              </a:rPr>
              <a:t>WS2 DNS pipelines</a:t>
            </a:r>
            <a:endParaRPr lang="en-US" sz="1800" dirty="0"/>
          </a:p>
        </p:txBody>
      </p:sp>
      <p:sp>
        <p:nvSpPr>
          <p:cNvPr id="15" name="Text 11"/>
          <p:cNvSpPr txBox="1"/>
          <p:nvPr/>
        </p:nvSpPr>
        <p:spPr>
          <a:xfrm>
            <a:off x="8686800" y="3465576"/>
            <a:ext cx="2834640" cy="310896"/>
          </a:xfrm>
          <a:prstGeom prst="rect">
            <a:avLst/>
          </a:prstGeom>
          <a:noFill/>
          <a:ln/>
        </p:spPr>
        <p:txBody>
          <a:bodyPr wrap="square" lIns="0" tIns="0" rIns="0" bIns="0" rtlCol="0" anchor="t"/>
          <a:lstStyle/>
          <a:p>
            <a:pPr indent="0" marL="0">
              <a:buNone/>
            </a:pPr>
            <a:r>
              <a:rPr lang="en-US" sz="1300" dirty="0">
                <a:solidFill>
                  <a:schemeClr val="bg1"/>
                </a:solidFill>
              </a:rPr>
              <a:t>Bulk changes to DNS records</a:t>
            </a:r>
            <a:endParaRPr lang="en-US" sz="1300" dirty="0"/>
          </a:p>
        </p:txBody>
      </p:sp>
      <p:sp>
        <p:nvSpPr>
          <p:cNvPr id="16" name="Old pipeline"/>
          <p:cNvSpPr/>
          <p:nvPr/>
        </p:nvSpPr>
        <p:spPr>
          <a:xfrm>
            <a:off x="7726680" y="4105656"/>
            <a:ext cx="3913632" cy="914400"/>
          </a:xfrm>
          <a:prstGeom prst="roundRect">
            <a:avLst>
              <a:gd name="adj" fmla="val 14000"/>
            </a:avLst>
          </a:prstGeom>
          <a:solidFill>
            <a:schemeClr val="accent5"/>
          </a:solidFill>
          <a:ln/>
        </p:spPr>
      </p:sp>
      <p:sp>
        <p:nvSpPr>
          <p:cNvPr id="17" name="Shape 13"/>
          <p:cNvSpPr/>
          <p:nvPr/>
        </p:nvSpPr>
        <p:spPr>
          <a:xfrm>
            <a:off x="7936992" y="4288536"/>
            <a:ext cx="548640" cy="548640"/>
          </a:xfrm>
          <a:prstGeom prst="ellipse">
            <a:avLst/>
          </a:prstGeom>
          <a:solidFill>
            <a:schemeClr val="bg1">
              <a:alpha val="20000"/>
            </a:schemeClr>
          </a:solidFill>
          <a:ln/>
        </p:spPr>
      </p:sp>
      <p:pic>
        <p:nvPicPr>
          <p:cNvPr id="18" name="Image 2" descr="preencoded.png">    </p:cNvPr>
          <p:cNvPicPr>
            <a:picLocks noChangeAspect="1"/>
          </p:cNvPicPr>
          <p:nvPr/>
        </p:nvPicPr>
        <p:blipFill>
          <a:blip r:embed="rId3"/>
          <a:stretch>
            <a:fillRect/>
          </a:stretch>
        </p:blipFill>
        <p:spPr>
          <a:xfrm>
            <a:off x="8057693" y="4409237"/>
            <a:ext cx="307238" cy="307238"/>
          </a:xfrm>
          <a:prstGeom prst="rect">
            <a:avLst/>
          </a:prstGeom>
        </p:spPr>
      </p:pic>
      <p:sp>
        <p:nvSpPr>
          <p:cNvPr id="19" name="Text 14"/>
          <p:cNvSpPr txBox="1"/>
          <p:nvPr/>
        </p:nvSpPr>
        <p:spPr>
          <a:xfrm>
            <a:off x="8686800" y="4233672"/>
            <a:ext cx="2834640" cy="365760"/>
          </a:xfrm>
          <a:prstGeom prst="rect">
            <a:avLst/>
          </a:prstGeom>
          <a:noFill/>
          <a:ln/>
        </p:spPr>
        <p:txBody>
          <a:bodyPr wrap="square" lIns="0" tIns="0" rIns="0" bIns="0" rtlCol="0" anchor="ctr"/>
          <a:lstStyle/>
          <a:p>
            <a:pPr indent="0" marL="0">
              <a:buNone/>
            </a:pPr>
            <a:r>
              <a:rPr lang="en-US" sz="1800" b="1" dirty="0">
                <a:solidFill>
                  <a:schemeClr val="bg1"/>
                </a:solidFill>
              </a:rPr>
              <a:t>Old pipeline</a:t>
            </a:r>
            <a:endParaRPr lang="en-US" sz="1800" dirty="0"/>
          </a:p>
        </p:txBody>
      </p:sp>
      <p:sp>
        <p:nvSpPr>
          <p:cNvPr id="20" name="Text 15"/>
          <p:cNvSpPr txBox="1"/>
          <p:nvPr/>
        </p:nvSpPr>
        <p:spPr>
          <a:xfrm>
            <a:off x="8686800" y="4581144"/>
            <a:ext cx="2834640" cy="310896"/>
          </a:xfrm>
          <a:prstGeom prst="rect">
            <a:avLst/>
          </a:prstGeom>
          <a:noFill/>
          <a:ln/>
        </p:spPr>
        <p:txBody>
          <a:bodyPr wrap="square" lIns="0" tIns="0" rIns="0" bIns="0" rtlCol="0" anchor="t"/>
          <a:lstStyle/>
          <a:p>
            <a:pPr indent="0" marL="0">
              <a:buNone/>
            </a:pPr>
            <a:r>
              <a:rPr lang="en-US" sz="1300" dirty="0">
                <a:solidFill>
                  <a:schemeClr val="bg1"/>
                </a:solidFill>
              </a:rPr>
              <a:t>Direct deployment, no checks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Two checks every change should pass</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What we mean by a drift check and a change set — in plain words</a:t>
            </a:r>
            <a:endParaRPr lang="en-US" sz="1500" dirty="0"/>
          </a:p>
        </p:txBody>
      </p:sp>
      <p:sp>
        <p:nvSpPr>
          <p:cNvPr id="4" name="Drift check card"/>
          <p:cNvSpPr/>
          <p:nvPr/>
        </p:nvSpPr>
        <p:spPr>
          <a:xfrm>
            <a:off x="548640" y="1691640"/>
            <a:ext cx="5440680" cy="3611880"/>
          </a:xfrm>
          <a:prstGeom prst="roundRect">
            <a:avLst>
              <a:gd name="adj" fmla="val 3797"/>
            </a:avLst>
          </a:prstGeom>
          <a:solidFill>
            <a:schemeClr val="accent1">
              <a:alpha val="7000"/>
            </a:schemeClr>
          </a:solidFill>
          <a:ln/>
        </p:spPr>
      </p:sp>
      <p:sp>
        <p:nvSpPr>
          <p:cNvPr id="5" name="Shape 3"/>
          <p:cNvSpPr/>
          <p:nvPr/>
        </p:nvSpPr>
        <p:spPr>
          <a:xfrm>
            <a:off x="914400" y="2011680"/>
            <a:ext cx="731520" cy="73152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75334" y="2172614"/>
            <a:ext cx="409651" cy="409651"/>
          </a:xfrm>
          <a:prstGeom prst="rect">
            <a:avLst/>
          </a:prstGeom>
        </p:spPr>
      </p:pic>
      <p:sp>
        <p:nvSpPr>
          <p:cNvPr id="7" name="Text 4"/>
          <p:cNvSpPr txBox="1"/>
          <p:nvPr/>
        </p:nvSpPr>
        <p:spPr>
          <a:xfrm>
            <a:off x="1874520" y="2029968"/>
            <a:ext cx="384048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CHECK 1</a:t>
            </a:r>
            <a:endParaRPr lang="en-US" sz="1100" dirty="0"/>
          </a:p>
        </p:txBody>
      </p:sp>
      <p:sp>
        <p:nvSpPr>
          <p:cNvPr id="8" name="Text 5"/>
          <p:cNvSpPr txBox="1"/>
          <p:nvPr/>
        </p:nvSpPr>
        <p:spPr>
          <a:xfrm>
            <a:off x="1874520" y="2267712"/>
            <a:ext cx="3840480" cy="475488"/>
          </a:xfrm>
          <a:prstGeom prst="rect">
            <a:avLst/>
          </a:prstGeom>
          <a:noFill/>
          <a:ln/>
        </p:spPr>
        <p:txBody>
          <a:bodyPr wrap="square" lIns="0" tIns="0" rIns="0" bIns="0" rtlCol="0" anchor="ctr"/>
          <a:lstStyle/>
          <a:p>
            <a:pPr indent="0" marL="0">
              <a:buNone/>
            </a:pPr>
            <a:r>
              <a:rPr lang="en-US" sz="2600" b="1" dirty="0">
                <a:solidFill>
                  <a:schemeClr val="tx1"/>
                </a:solidFill>
              </a:rPr>
              <a:t>Drift check</a:t>
            </a:r>
            <a:endParaRPr lang="en-US" sz="2600" dirty="0"/>
          </a:p>
        </p:txBody>
      </p:sp>
      <p:sp>
        <p:nvSpPr>
          <p:cNvPr id="9" name="Text 6"/>
          <p:cNvSpPr txBox="1"/>
          <p:nvPr/>
        </p:nvSpPr>
        <p:spPr>
          <a:xfrm>
            <a:off x="914400" y="2944368"/>
            <a:ext cx="4709160" cy="365760"/>
          </a:xfrm>
          <a:prstGeom prst="rect">
            <a:avLst/>
          </a:prstGeom>
          <a:noFill/>
          <a:ln/>
        </p:spPr>
        <p:txBody>
          <a:bodyPr wrap="square" lIns="0" tIns="0" rIns="0" bIns="0" rtlCol="0" anchor="t"/>
          <a:lstStyle/>
          <a:p>
            <a:pPr indent="0" marL="0">
              <a:buNone/>
            </a:pPr>
            <a:r>
              <a:rPr lang="en-US" sz="1700" i="1" dirty="0">
                <a:solidFill>
                  <a:schemeClr val="accent1"/>
                </a:solidFill>
              </a:rPr>
              <a:t>“Has anyone changed it by hand?”</a:t>
            </a:r>
            <a:endParaRPr lang="en-US" sz="1700" dirty="0"/>
          </a:p>
        </p:txBody>
      </p:sp>
      <p:sp>
        <p:nvSpPr>
          <p:cNvPr id="10" name="Text 7"/>
          <p:cNvSpPr txBox="1"/>
          <p:nvPr/>
        </p:nvSpPr>
        <p:spPr>
          <a:xfrm>
            <a:off x="914400" y="3401568"/>
            <a:ext cx="4709160" cy="1097280"/>
          </a:xfrm>
          <a:prstGeom prst="rect">
            <a:avLst/>
          </a:prstGeom>
          <a:noFill/>
          <a:ln/>
        </p:spPr>
        <p:txBody>
          <a:bodyPr wrap="square" lIns="0" tIns="0" rIns="0" bIns="0" rtlCol="0" anchor="t"/>
          <a:lstStyle/>
          <a:p>
            <a:pPr indent="0" marL="0">
              <a:buNone/>
            </a:pPr>
            <a:r>
              <a:rPr lang="en-US" sz="1500" dirty="0">
                <a:solidFill>
                  <a:schemeClr val="tx1"/>
                </a:solidFill>
              </a:rPr>
              <a:t>Before deploying, we compare what is live in AWS with what our code says it should be. If someone changed something by hand in the AWS console, we find out first — not after.</a:t>
            </a:r>
            <a:endParaRPr lang="en-US" sz="1500" dirty="0"/>
          </a:p>
        </p:txBody>
      </p:sp>
      <p:pic>
        <p:nvPicPr>
          <p:cNvPr id="11" name="Image 1" descr="preencoded.png">    </p:cNvPr>
          <p:cNvPicPr>
            <a:picLocks noChangeAspect="1"/>
          </p:cNvPicPr>
          <p:nvPr/>
        </p:nvPicPr>
        <p:blipFill>
          <a:blip r:embed="rId2"/>
          <a:stretch>
            <a:fillRect/>
          </a:stretch>
        </p:blipFill>
        <p:spPr>
          <a:xfrm>
            <a:off x="914400" y="4681728"/>
            <a:ext cx="256032" cy="256032"/>
          </a:xfrm>
          <a:prstGeom prst="rect">
            <a:avLst/>
          </a:prstGeom>
        </p:spPr>
      </p:pic>
      <p:sp>
        <p:nvSpPr>
          <p:cNvPr id="12" name="Text 8"/>
          <p:cNvSpPr txBox="1"/>
          <p:nvPr/>
        </p:nvSpPr>
        <p:spPr>
          <a:xfrm>
            <a:off x="1280160" y="4645152"/>
            <a:ext cx="4343400" cy="502920"/>
          </a:xfrm>
          <a:prstGeom prst="rect">
            <a:avLst/>
          </a:prstGeom>
          <a:noFill/>
          <a:ln/>
        </p:spPr>
        <p:txBody>
          <a:bodyPr wrap="square" lIns="0" tIns="0" rIns="0" bIns="0" rtlCol="0" anchor="t"/>
          <a:lstStyle/>
          <a:p>
            <a:pPr indent="0" marL="0">
              <a:buNone/>
            </a:pPr>
            <a:r>
              <a:rPr lang="en-US" sz="1400" i="1" dirty="0">
                <a:solidFill>
                  <a:schemeClr val="tx2"/>
                </a:solidFill>
              </a:rPr>
              <a:t>Like checking nobody has moved a wall before the builders start work.</a:t>
            </a:r>
            <a:endParaRPr lang="en-US" sz="1400" dirty="0"/>
          </a:p>
        </p:txBody>
      </p:sp>
      <p:sp>
        <p:nvSpPr>
          <p:cNvPr id="13" name="Change set card"/>
          <p:cNvSpPr/>
          <p:nvPr/>
        </p:nvSpPr>
        <p:spPr>
          <a:xfrm>
            <a:off x="6199632" y="1691640"/>
            <a:ext cx="5440680" cy="3611880"/>
          </a:xfrm>
          <a:prstGeom prst="roundRect">
            <a:avLst>
              <a:gd name="adj" fmla="val 3797"/>
            </a:avLst>
          </a:prstGeom>
          <a:solidFill>
            <a:schemeClr val="accent1">
              <a:alpha val="7000"/>
            </a:schemeClr>
          </a:solidFill>
          <a:ln/>
        </p:spPr>
      </p:sp>
      <p:sp>
        <p:nvSpPr>
          <p:cNvPr id="14" name="Shape 10"/>
          <p:cNvSpPr/>
          <p:nvPr/>
        </p:nvSpPr>
        <p:spPr>
          <a:xfrm>
            <a:off x="6565392" y="2011680"/>
            <a:ext cx="731520" cy="73152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726326" y="2172614"/>
            <a:ext cx="409651" cy="409651"/>
          </a:xfrm>
          <a:prstGeom prst="rect">
            <a:avLst/>
          </a:prstGeom>
        </p:spPr>
      </p:pic>
      <p:sp>
        <p:nvSpPr>
          <p:cNvPr id="16" name="Text 11"/>
          <p:cNvSpPr txBox="1"/>
          <p:nvPr/>
        </p:nvSpPr>
        <p:spPr>
          <a:xfrm>
            <a:off x="7525512" y="2029968"/>
            <a:ext cx="3840480"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CHECK 2</a:t>
            </a:r>
            <a:endParaRPr lang="en-US" sz="1100" dirty="0"/>
          </a:p>
        </p:txBody>
      </p:sp>
      <p:sp>
        <p:nvSpPr>
          <p:cNvPr id="17" name="Text 12"/>
          <p:cNvSpPr txBox="1"/>
          <p:nvPr/>
        </p:nvSpPr>
        <p:spPr>
          <a:xfrm>
            <a:off x="7525512" y="2267712"/>
            <a:ext cx="3840480" cy="475488"/>
          </a:xfrm>
          <a:prstGeom prst="rect">
            <a:avLst/>
          </a:prstGeom>
          <a:noFill/>
          <a:ln/>
        </p:spPr>
        <p:txBody>
          <a:bodyPr wrap="square" lIns="0" tIns="0" rIns="0" bIns="0" rtlCol="0" anchor="ctr"/>
          <a:lstStyle/>
          <a:p>
            <a:pPr indent="0" marL="0">
              <a:buNone/>
            </a:pPr>
            <a:r>
              <a:rPr lang="en-US" sz="2600" b="1" dirty="0">
                <a:solidFill>
                  <a:schemeClr val="tx1"/>
                </a:solidFill>
              </a:rPr>
              <a:t>Change set</a:t>
            </a:r>
            <a:endParaRPr lang="en-US" sz="2600" dirty="0"/>
          </a:p>
        </p:txBody>
      </p:sp>
      <p:sp>
        <p:nvSpPr>
          <p:cNvPr id="18" name="Text 13"/>
          <p:cNvSpPr txBox="1"/>
          <p:nvPr/>
        </p:nvSpPr>
        <p:spPr>
          <a:xfrm>
            <a:off x="6565392" y="2944368"/>
            <a:ext cx="4709160" cy="365760"/>
          </a:xfrm>
          <a:prstGeom prst="rect">
            <a:avLst/>
          </a:prstGeom>
          <a:noFill/>
          <a:ln/>
        </p:spPr>
        <p:txBody>
          <a:bodyPr wrap="square" lIns="0" tIns="0" rIns="0" bIns="0" rtlCol="0" anchor="t"/>
          <a:lstStyle/>
          <a:p>
            <a:pPr indent="0" marL="0">
              <a:buNone/>
            </a:pPr>
            <a:r>
              <a:rPr lang="en-US" sz="1700" i="1" dirty="0">
                <a:solidFill>
                  <a:schemeClr val="accent1"/>
                </a:solidFill>
              </a:rPr>
              <a:t>“What exactly will change?”</a:t>
            </a:r>
            <a:endParaRPr lang="en-US" sz="1700" dirty="0"/>
          </a:p>
        </p:txBody>
      </p:sp>
      <p:sp>
        <p:nvSpPr>
          <p:cNvPr id="19" name="Text 14"/>
          <p:cNvSpPr txBox="1"/>
          <p:nvPr/>
        </p:nvSpPr>
        <p:spPr>
          <a:xfrm>
            <a:off x="6565392" y="3401568"/>
            <a:ext cx="4709160" cy="1097280"/>
          </a:xfrm>
          <a:prstGeom prst="rect">
            <a:avLst/>
          </a:prstGeom>
          <a:noFill/>
          <a:ln/>
        </p:spPr>
        <p:txBody>
          <a:bodyPr wrap="square" lIns="0" tIns="0" rIns="0" bIns="0" rtlCol="0" anchor="t"/>
          <a:lstStyle/>
          <a:p>
            <a:pPr indent="0" marL="0">
              <a:buNone/>
            </a:pPr>
            <a:r>
              <a:rPr lang="en-US" sz="1500" dirty="0">
                <a:solidFill>
                  <a:schemeClr val="tx1"/>
                </a:solidFill>
              </a:rPr>
              <a:t>AWS prepares an itemised list of every change — what will be added, changed, removed or replaced. A person reviews it and clicks Execute, and exactly that list is what runs.</a:t>
            </a:r>
            <a:endParaRPr lang="en-US" sz="1500" dirty="0"/>
          </a:p>
        </p:txBody>
      </p:sp>
      <p:pic>
        <p:nvPicPr>
          <p:cNvPr id="20" name="Image 3" descr="preencoded.png">    </p:cNvPr>
          <p:cNvPicPr>
            <a:picLocks noChangeAspect="1"/>
          </p:cNvPicPr>
          <p:nvPr/>
        </p:nvPicPr>
        <p:blipFill>
          <a:blip r:embed="rId4"/>
          <a:stretch>
            <a:fillRect/>
          </a:stretch>
        </p:blipFill>
        <p:spPr>
          <a:xfrm>
            <a:off x="6565392" y="4681728"/>
            <a:ext cx="256032" cy="256032"/>
          </a:xfrm>
          <a:prstGeom prst="rect">
            <a:avLst/>
          </a:prstGeom>
        </p:spPr>
      </p:pic>
      <p:sp>
        <p:nvSpPr>
          <p:cNvPr id="21" name="Text 15"/>
          <p:cNvSpPr txBox="1"/>
          <p:nvPr/>
        </p:nvSpPr>
        <p:spPr>
          <a:xfrm>
            <a:off x="6931152" y="4645152"/>
            <a:ext cx="4343400" cy="502920"/>
          </a:xfrm>
          <a:prstGeom prst="rect">
            <a:avLst/>
          </a:prstGeom>
          <a:noFill/>
          <a:ln/>
        </p:spPr>
        <p:txBody>
          <a:bodyPr wrap="square" lIns="0" tIns="0" rIns="0" bIns="0" rtlCol="0" anchor="t"/>
          <a:lstStyle/>
          <a:p>
            <a:pPr indent="0" marL="0">
              <a:buNone/>
            </a:pPr>
            <a:r>
              <a:rPr lang="en-US" sz="1400" i="1" dirty="0">
                <a:solidFill>
                  <a:schemeClr val="tx2"/>
                </a:solidFill>
              </a:rPr>
              <a:t>Like approving a builder’s itemised quote before any work begins.</a:t>
            </a:r>
            <a:endParaRPr lang="en-US" sz="1400" dirty="0"/>
          </a:p>
        </p:txBody>
      </p:sp>
      <p:sp>
        <p:nvSpPr>
          <p:cNvPr id="22" name="Takeaway"/>
          <p:cNvSpPr/>
          <p:nvPr/>
        </p:nvSpPr>
        <p:spPr>
          <a:xfrm>
            <a:off x="548640" y="5532120"/>
            <a:ext cx="11091672" cy="640080"/>
          </a:xfrm>
          <a:prstGeom prst="roundRect">
            <a:avLst>
              <a:gd name="adj" fmla="val 17143"/>
            </a:avLst>
          </a:prstGeom>
          <a:solidFill>
            <a:schemeClr val="tx1"/>
          </a:solidFill>
          <a:ln/>
        </p:spPr>
      </p:sp>
      <p:pic>
        <p:nvPicPr>
          <p:cNvPr id="23" name="Image 4" descr="preencoded.png">    </p:cNvPr>
          <p:cNvPicPr>
            <a:picLocks noChangeAspect="1"/>
          </p:cNvPicPr>
          <p:nvPr/>
        </p:nvPicPr>
        <p:blipFill>
          <a:blip r:embed="rId5"/>
          <a:stretch>
            <a:fillRect/>
          </a:stretch>
        </p:blipFill>
        <p:spPr>
          <a:xfrm>
            <a:off x="804672" y="5687568"/>
            <a:ext cx="329184" cy="329184"/>
          </a:xfrm>
          <a:prstGeom prst="rect">
            <a:avLst/>
          </a:prstGeom>
        </p:spPr>
      </p:pic>
      <p:sp>
        <p:nvSpPr>
          <p:cNvPr id="24" name="Text 17"/>
          <p:cNvSpPr txBox="1"/>
          <p:nvPr/>
        </p:nvSpPr>
        <p:spPr>
          <a:xfrm>
            <a:off x="1298448" y="5532120"/>
            <a:ext cx="10058400" cy="640080"/>
          </a:xfrm>
          <a:prstGeom prst="rect">
            <a:avLst/>
          </a:prstGeom>
          <a:noFill/>
          <a:ln/>
        </p:spPr>
        <p:txBody>
          <a:bodyPr wrap="square" lIns="0" tIns="0" rIns="0" bIns="0" rtlCol="0" anchor="ctr"/>
          <a:lstStyle/>
          <a:p>
            <a:pPr indent="0" marL="0">
              <a:buNone/>
            </a:pPr>
            <a:r>
              <a:rPr lang="en-US" sz="1700" b="1" dirty="0">
                <a:solidFill>
                  <a:schemeClr val="bg1"/>
                </a:solidFill>
              </a:rPr>
              <a:t>The new pipeline builds both checks into every run.</a:t>
            </a:r>
            <a:endParaRPr lang="en-US" sz="17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New pipeline: check, preview, then decide</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latest_cft_deployment.yml — for any CloudFormation stack, in any account and region</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NEW PIPELINE</a:t>
            </a:r>
            <a:endParaRPr lang="en-US" sz="1100" dirty="0"/>
          </a:p>
        </p:txBody>
      </p:sp>
      <p:sp>
        <p:nvSpPr>
          <p:cNvPr id="5" name="Start"/>
          <p:cNvSpPr/>
          <p:nvPr/>
        </p:nvSpPr>
        <p:spPr>
          <a:xfrm>
            <a:off x="548640" y="2011680"/>
            <a:ext cx="1874520" cy="1280160"/>
          </a:xfrm>
          <a:prstGeom prst="roundRect">
            <a:avLst>
              <a:gd name="adj" fmla="val 7143"/>
            </a:avLst>
          </a:prstGeom>
          <a:solidFill>
            <a:schemeClr val="accent1">
              <a:alpha val="8000"/>
            </a:schemeClr>
          </a:solidFill>
          <a:ln w="15875">
            <a:solidFill>
              <a:schemeClr val="accent1"/>
            </a:solidFill>
            <a:prstDash val="solid"/>
          </a:ln>
        </p:spPr>
      </p:sp>
      <p:sp>
        <p:nvSpPr>
          <p:cNvPr id="6" name="Shape 4"/>
          <p:cNvSpPr/>
          <p:nvPr/>
        </p:nvSpPr>
        <p:spPr>
          <a:xfrm>
            <a:off x="676656" y="2139696"/>
            <a:ext cx="384048" cy="384048"/>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761147" y="2224187"/>
            <a:ext cx="215067" cy="215067"/>
          </a:xfrm>
          <a:prstGeom prst="rect">
            <a:avLst/>
          </a:prstGeom>
        </p:spPr>
      </p:pic>
      <p:sp>
        <p:nvSpPr>
          <p:cNvPr id="8" name="Text 5"/>
          <p:cNvSpPr txBox="1"/>
          <p:nvPr/>
        </p:nvSpPr>
        <p:spPr>
          <a:xfrm>
            <a:off x="1152144" y="213969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Start</a:t>
            </a:r>
            <a:endParaRPr lang="en-US" sz="1400" dirty="0"/>
          </a:p>
        </p:txBody>
      </p:sp>
      <p:sp>
        <p:nvSpPr>
          <p:cNvPr id="9" name="Text 6"/>
          <p:cNvSpPr txBox="1"/>
          <p:nvPr/>
        </p:nvSpPr>
        <p:spPr>
          <a:xfrm>
            <a:off x="676656" y="2615184"/>
            <a:ext cx="1618488" cy="603504"/>
          </a:xfrm>
          <a:prstGeom prst="rect">
            <a:avLst/>
          </a:prstGeom>
          <a:noFill/>
          <a:ln/>
        </p:spPr>
        <p:txBody>
          <a:bodyPr wrap="square" lIns="0" tIns="0" rIns="0" bIns="0" rtlCol="0" anchor="t"/>
          <a:lstStyle/>
          <a:p>
            <a:pPr indent="0" marL="0">
              <a:buNone/>
            </a:pPr>
            <a:r>
              <a:rPr lang="en-US" sz="1200" dirty="0">
                <a:solidFill>
                  <a:schemeClr val="tx2"/>
                </a:solidFill>
              </a:rPr>
              <a:t>Pick the stack, account and region from dropdowns</a:t>
            </a:r>
            <a:endParaRPr lang="en-US" sz="1200" dirty="0"/>
          </a:p>
        </p:txBody>
      </p:sp>
      <p:sp>
        <p:nvSpPr>
          <p:cNvPr id="10" name="Shape 7"/>
          <p:cNvSpPr/>
          <p:nvPr/>
        </p:nvSpPr>
        <p:spPr>
          <a:xfrm>
            <a:off x="2459736" y="2651760"/>
            <a:ext cx="246888" cy="914"/>
          </a:xfrm>
          <a:prstGeom prst="line">
            <a:avLst/>
          </a:prstGeom>
          <a:noFill/>
          <a:ln w="22225">
            <a:solidFill>
              <a:schemeClr val="tx2"/>
            </a:solidFill>
            <a:prstDash val="solid"/>
            <a:tailEnd type="triangle"/>
          </a:ln>
        </p:spPr>
      </p:sp>
      <p:sp>
        <p:nvSpPr>
          <p:cNvPr id="11" name="Prepare"/>
          <p:cNvSpPr/>
          <p:nvPr/>
        </p:nvSpPr>
        <p:spPr>
          <a:xfrm>
            <a:off x="2743200" y="2011680"/>
            <a:ext cx="1874520" cy="1280160"/>
          </a:xfrm>
          <a:prstGeom prst="roundRect">
            <a:avLst>
              <a:gd name="adj" fmla="val 7143"/>
            </a:avLst>
          </a:prstGeom>
          <a:solidFill>
            <a:schemeClr val="accent1">
              <a:alpha val="8000"/>
            </a:schemeClr>
          </a:solidFill>
          <a:ln w="15875">
            <a:solidFill>
              <a:schemeClr val="accent1"/>
            </a:solidFill>
            <a:prstDash val="solid"/>
          </a:ln>
        </p:spPr>
      </p:sp>
      <p:sp>
        <p:nvSpPr>
          <p:cNvPr id="12" name="Shape 9"/>
          <p:cNvSpPr/>
          <p:nvPr/>
        </p:nvSpPr>
        <p:spPr>
          <a:xfrm>
            <a:off x="2871216" y="2139696"/>
            <a:ext cx="384048" cy="384048"/>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2955707" y="2224187"/>
            <a:ext cx="215067" cy="215067"/>
          </a:xfrm>
          <a:prstGeom prst="rect">
            <a:avLst/>
          </a:prstGeom>
        </p:spPr>
      </p:pic>
      <p:sp>
        <p:nvSpPr>
          <p:cNvPr id="14" name="Text 10"/>
          <p:cNvSpPr txBox="1"/>
          <p:nvPr/>
        </p:nvSpPr>
        <p:spPr>
          <a:xfrm>
            <a:off x="3346704" y="213969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Prepare</a:t>
            </a:r>
            <a:endParaRPr lang="en-US" sz="1400" dirty="0"/>
          </a:p>
        </p:txBody>
      </p:sp>
      <p:sp>
        <p:nvSpPr>
          <p:cNvPr id="15" name="Text 11"/>
          <p:cNvSpPr txBox="1"/>
          <p:nvPr/>
        </p:nvSpPr>
        <p:spPr>
          <a:xfrm>
            <a:off x="2871216" y="2615184"/>
            <a:ext cx="1618488" cy="603504"/>
          </a:xfrm>
          <a:prstGeom prst="rect">
            <a:avLst/>
          </a:prstGeom>
          <a:noFill/>
          <a:ln/>
        </p:spPr>
        <p:txBody>
          <a:bodyPr wrap="square" lIns="0" tIns="0" rIns="0" bIns="0" rtlCol="0" anchor="t"/>
          <a:lstStyle/>
          <a:p>
            <a:pPr indent="0" marL="0">
              <a:buNone/>
            </a:pPr>
            <a:r>
              <a:rPr lang="en-US" sz="1200" dirty="0">
                <a:solidFill>
                  <a:schemeClr val="tx2"/>
                </a:solidFill>
              </a:rPr>
              <a:t>Finds the template; checks the stack is healthy</a:t>
            </a:r>
            <a:endParaRPr lang="en-US" sz="1200" dirty="0"/>
          </a:p>
        </p:txBody>
      </p:sp>
      <p:sp>
        <p:nvSpPr>
          <p:cNvPr id="16" name="Shape 12"/>
          <p:cNvSpPr/>
          <p:nvPr/>
        </p:nvSpPr>
        <p:spPr>
          <a:xfrm>
            <a:off x="4654296" y="2651760"/>
            <a:ext cx="246888" cy="914"/>
          </a:xfrm>
          <a:prstGeom prst="line">
            <a:avLst/>
          </a:prstGeom>
          <a:noFill/>
          <a:ln w="22225">
            <a:solidFill>
              <a:schemeClr val="tx2"/>
            </a:solidFill>
            <a:prstDash val="solid"/>
            <a:tailEnd type="triangle"/>
          </a:ln>
        </p:spPr>
      </p:sp>
      <p:sp>
        <p:nvSpPr>
          <p:cNvPr id="17" name="Drift check"/>
          <p:cNvSpPr/>
          <p:nvPr/>
        </p:nvSpPr>
        <p:spPr>
          <a:xfrm>
            <a:off x="4937760" y="2011680"/>
            <a:ext cx="1874520" cy="1280160"/>
          </a:xfrm>
          <a:prstGeom prst="roundRect">
            <a:avLst>
              <a:gd name="adj" fmla="val 7143"/>
            </a:avLst>
          </a:prstGeom>
          <a:solidFill>
            <a:schemeClr val="accent1">
              <a:alpha val="8000"/>
            </a:schemeClr>
          </a:solidFill>
          <a:ln w="15875">
            <a:solidFill>
              <a:schemeClr val="accent1"/>
            </a:solidFill>
            <a:prstDash val="solid"/>
          </a:ln>
        </p:spPr>
      </p:sp>
      <p:sp>
        <p:nvSpPr>
          <p:cNvPr id="18" name="Shape 14"/>
          <p:cNvSpPr/>
          <p:nvPr/>
        </p:nvSpPr>
        <p:spPr>
          <a:xfrm>
            <a:off x="5065776" y="2139696"/>
            <a:ext cx="384048" cy="384048"/>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5150267" y="2224187"/>
            <a:ext cx="215067" cy="215067"/>
          </a:xfrm>
          <a:prstGeom prst="rect">
            <a:avLst/>
          </a:prstGeom>
        </p:spPr>
      </p:pic>
      <p:sp>
        <p:nvSpPr>
          <p:cNvPr id="20" name="Text 15"/>
          <p:cNvSpPr txBox="1"/>
          <p:nvPr/>
        </p:nvSpPr>
        <p:spPr>
          <a:xfrm>
            <a:off x="5541264" y="213969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Drift check</a:t>
            </a:r>
            <a:endParaRPr lang="en-US" sz="1400" dirty="0"/>
          </a:p>
        </p:txBody>
      </p:sp>
      <p:sp>
        <p:nvSpPr>
          <p:cNvPr id="21" name="Text 16"/>
          <p:cNvSpPr txBox="1"/>
          <p:nvPr/>
        </p:nvSpPr>
        <p:spPr>
          <a:xfrm>
            <a:off x="5065776" y="2615184"/>
            <a:ext cx="1618488" cy="603504"/>
          </a:xfrm>
          <a:prstGeom prst="rect">
            <a:avLst/>
          </a:prstGeom>
          <a:noFill/>
          <a:ln/>
        </p:spPr>
        <p:txBody>
          <a:bodyPr wrap="square" lIns="0" tIns="0" rIns="0" bIns="0" rtlCol="0" anchor="t"/>
          <a:lstStyle/>
          <a:p>
            <a:pPr indent="0" marL="0">
              <a:buNone/>
            </a:pPr>
            <a:r>
              <a:rPr lang="en-US" sz="1200" dirty="0">
                <a:solidFill>
                  <a:schemeClr val="tx2"/>
                </a:solidFill>
              </a:rPr>
              <a:t>Has anything been changed by hand since the last deploy?</a:t>
            </a:r>
            <a:endParaRPr lang="en-US" sz="1200" dirty="0"/>
          </a:p>
        </p:txBody>
      </p:sp>
      <p:sp>
        <p:nvSpPr>
          <p:cNvPr id="22" name="Shape 17"/>
          <p:cNvSpPr/>
          <p:nvPr/>
        </p:nvSpPr>
        <p:spPr>
          <a:xfrm>
            <a:off x="6848856" y="2651760"/>
            <a:ext cx="246888" cy="914"/>
          </a:xfrm>
          <a:prstGeom prst="line">
            <a:avLst/>
          </a:prstGeom>
          <a:noFill/>
          <a:ln w="22225">
            <a:solidFill>
              <a:schemeClr val="tx2"/>
            </a:solidFill>
            <a:prstDash val="solid"/>
            <a:tailEnd type="triangle"/>
          </a:ln>
        </p:spPr>
      </p:sp>
      <p:sp>
        <p:nvSpPr>
          <p:cNvPr id="23" name="Change set"/>
          <p:cNvSpPr/>
          <p:nvPr/>
        </p:nvSpPr>
        <p:spPr>
          <a:xfrm>
            <a:off x="7132320" y="2011680"/>
            <a:ext cx="1874520" cy="1280160"/>
          </a:xfrm>
          <a:prstGeom prst="roundRect">
            <a:avLst>
              <a:gd name="adj" fmla="val 7143"/>
            </a:avLst>
          </a:prstGeom>
          <a:solidFill>
            <a:schemeClr val="accent1">
              <a:alpha val="8000"/>
            </a:schemeClr>
          </a:solidFill>
          <a:ln w="15875">
            <a:solidFill>
              <a:schemeClr val="accent1"/>
            </a:solidFill>
            <a:prstDash val="solid"/>
          </a:ln>
        </p:spPr>
      </p:sp>
      <p:sp>
        <p:nvSpPr>
          <p:cNvPr id="24" name="Shape 19"/>
          <p:cNvSpPr/>
          <p:nvPr/>
        </p:nvSpPr>
        <p:spPr>
          <a:xfrm>
            <a:off x="7260336" y="2139696"/>
            <a:ext cx="384048" cy="384048"/>
          </a:xfrm>
          <a:prstGeom prst="ellipse">
            <a:avLst/>
          </a:prstGeom>
          <a:solidFill>
            <a:schemeClr val="accent1"/>
          </a:solidFill>
          <a:ln/>
        </p:spPr>
      </p:sp>
      <p:pic>
        <p:nvPicPr>
          <p:cNvPr id="25" name="Image 3" descr="preencoded.png">    </p:cNvPr>
          <p:cNvPicPr>
            <a:picLocks noChangeAspect="1"/>
          </p:cNvPicPr>
          <p:nvPr/>
        </p:nvPicPr>
        <p:blipFill>
          <a:blip r:embed="rId4"/>
          <a:stretch>
            <a:fillRect/>
          </a:stretch>
        </p:blipFill>
        <p:spPr>
          <a:xfrm>
            <a:off x="7344827" y="2224187"/>
            <a:ext cx="215067" cy="215067"/>
          </a:xfrm>
          <a:prstGeom prst="rect">
            <a:avLst/>
          </a:prstGeom>
        </p:spPr>
      </p:pic>
      <p:sp>
        <p:nvSpPr>
          <p:cNvPr id="26" name="Text 20"/>
          <p:cNvSpPr txBox="1"/>
          <p:nvPr/>
        </p:nvSpPr>
        <p:spPr>
          <a:xfrm>
            <a:off x="7735824" y="213969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Change set</a:t>
            </a:r>
            <a:endParaRPr lang="en-US" sz="1400" dirty="0"/>
          </a:p>
        </p:txBody>
      </p:sp>
      <p:sp>
        <p:nvSpPr>
          <p:cNvPr id="27" name="Text 21"/>
          <p:cNvSpPr txBox="1"/>
          <p:nvPr/>
        </p:nvSpPr>
        <p:spPr>
          <a:xfrm>
            <a:off x="7260336" y="2615184"/>
            <a:ext cx="1618488" cy="603504"/>
          </a:xfrm>
          <a:prstGeom prst="rect">
            <a:avLst/>
          </a:prstGeom>
          <a:noFill/>
          <a:ln/>
        </p:spPr>
        <p:txBody>
          <a:bodyPr wrap="square" lIns="0" tIns="0" rIns="0" bIns="0" rtlCol="0" anchor="t"/>
          <a:lstStyle/>
          <a:p>
            <a:pPr indent="0" marL="0">
              <a:buNone/>
            </a:pPr>
            <a:r>
              <a:rPr lang="en-US" sz="1200" dirty="0">
                <a:solidFill>
                  <a:schemeClr val="tx2"/>
                </a:solidFill>
              </a:rPr>
              <a:t>Itemised list of every change, plus a link to it in AWS</a:t>
            </a:r>
            <a:endParaRPr lang="en-US" sz="1200" dirty="0"/>
          </a:p>
        </p:txBody>
      </p:sp>
      <p:sp>
        <p:nvSpPr>
          <p:cNvPr id="28" name="Deploy = no"/>
          <p:cNvSpPr/>
          <p:nvPr/>
        </p:nvSpPr>
        <p:spPr>
          <a:xfrm>
            <a:off x="9464040" y="1691640"/>
            <a:ext cx="2176272" cy="1143000"/>
          </a:xfrm>
          <a:prstGeom prst="roundRect">
            <a:avLst>
              <a:gd name="adj" fmla="val 8000"/>
            </a:avLst>
          </a:prstGeom>
          <a:solidFill>
            <a:schemeClr val="accent1">
              <a:alpha val="20000"/>
            </a:schemeClr>
          </a:solidFill>
          <a:ln w="15875">
            <a:solidFill>
              <a:schemeClr val="accent1"/>
            </a:solidFill>
            <a:prstDash val="solid"/>
          </a:ln>
        </p:spPr>
      </p:sp>
      <p:sp>
        <p:nvSpPr>
          <p:cNvPr id="29" name="Shape 23"/>
          <p:cNvSpPr/>
          <p:nvPr/>
        </p:nvSpPr>
        <p:spPr>
          <a:xfrm>
            <a:off x="9592056" y="1819656"/>
            <a:ext cx="384048" cy="384048"/>
          </a:xfrm>
          <a:prstGeom prst="ellipse">
            <a:avLst/>
          </a:prstGeom>
          <a:solidFill>
            <a:schemeClr val="accent1"/>
          </a:solidFill>
          <a:ln/>
        </p:spPr>
      </p:sp>
      <p:pic>
        <p:nvPicPr>
          <p:cNvPr id="30" name="Image 4" descr="preencoded.png">    </p:cNvPr>
          <p:cNvPicPr>
            <a:picLocks noChangeAspect="1"/>
          </p:cNvPicPr>
          <p:nvPr/>
        </p:nvPicPr>
        <p:blipFill>
          <a:blip r:embed="rId5"/>
          <a:stretch>
            <a:fillRect/>
          </a:stretch>
        </p:blipFill>
        <p:spPr>
          <a:xfrm>
            <a:off x="9676547" y="1904147"/>
            <a:ext cx="215067" cy="215067"/>
          </a:xfrm>
          <a:prstGeom prst="rect">
            <a:avLst/>
          </a:prstGeom>
        </p:spPr>
      </p:pic>
      <p:sp>
        <p:nvSpPr>
          <p:cNvPr id="31" name="Text 24"/>
          <p:cNvSpPr txBox="1"/>
          <p:nvPr/>
        </p:nvSpPr>
        <p:spPr>
          <a:xfrm>
            <a:off x="10067544" y="1819656"/>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Deploy = no</a:t>
            </a:r>
            <a:endParaRPr lang="en-US" sz="1400" dirty="0"/>
          </a:p>
        </p:txBody>
      </p:sp>
      <p:sp>
        <p:nvSpPr>
          <p:cNvPr id="32" name="Text 25"/>
          <p:cNvSpPr txBox="1"/>
          <p:nvPr/>
        </p:nvSpPr>
        <p:spPr>
          <a:xfrm>
            <a:off x="9592056" y="2295144"/>
            <a:ext cx="1920240" cy="466344"/>
          </a:xfrm>
          <a:prstGeom prst="rect">
            <a:avLst/>
          </a:prstGeom>
          <a:noFill/>
          <a:ln/>
        </p:spPr>
        <p:txBody>
          <a:bodyPr wrap="square" lIns="0" tIns="0" rIns="0" bIns="0" rtlCol="0" anchor="t"/>
          <a:lstStyle/>
          <a:p>
            <a:pPr indent="0" marL="0">
              <a:buNone/>
            </a:pPr>
            <a:r>
              <a:rPr lang="en-US" sz="1200" dirty="0">
                <a:solidFill>
                  <a:schemeClr val="tx2"/>
                </a:solidFill>
              </a:rPr>
              <a:t>Default. A person reviews it in AWS and clicks Execute.</a:t>
            </a:r>
            <a:endParaRPr lang="en-US" sz="1200" dirty="0"/>
          </a:p>
        </p:txBody>
      </p:sp>
      <p:sp>
        <p:nvSpPr>
          <p:cNvPr id="33" name="Deploy = yes"/>
          <p:cNvSpPr/>
          <p:nvPr/>
        </p:nvSpPr>
        <p:spPr>
          <a:xfrm>
            <a:off x="9464040" y="3063240"/>
            <a:ext cx="2176272" cy="1143000"/>
          </a:xfrm>
          <a:prstGeom prst="roundRect">
            <a:avLst>
              <a:gd name="adj" fmla="val 8000"/>
            </a:avLst>
          </a:prstGeom>
          <a:solidFill>
            <a:schemeClr val="bg1"/>
          </a:solidFill>
          <a:ln w="15875">
            <a:solidFill>
              <a:schemeClr val="accent1"/>
            </a:solidFill>
            <a:prstDash val="dash"/>
          </a:ln>
        </p:spPr>
      </p:sp>
      <p:sp>
        <p:nvSpPr>
          <p:cNvPr id="34" name="Shape 27"/>
          <p:cNvSpPr/>
          <p:nvPr/>
        </p:nvSpPr>
        <p:spPr>
          <a:xfrm>
            <a:off x="9592056" y="3191256"/>
            <a:ext cx="384048" cy="384048"/>
          </a:xfrm>
          <a:prstGeom prst="ellipse">
            <a:avLst/>
          </a:prstGeom>
          <a:solidFill>
            <a:schemeClr val="accent1"/>
          </a:solidFill>
          <a:ln/>
        </p:spPr>
      </p:sp>
      <p:pic>
        <p:nvPicPr>
          <p:cNvPr id="35" name="Image 5" descr="preencoded.png">    </p:cNvPr>
          <p:cNvPicPr>
            <a:picLocks noChangeAspect="1"/>
          </p:cNvPicPr>
          <p:nvPr/>
        </p:nvPicPr>
        <p:blipFill>
          <a:blip r:embed="rId6"/>
          <a:stretch>
            <a:fillRect/>
          </a:stretch>
        </p:blipFill>
        <p:spPr>
          <a:xfrm>
            <a:off x="9676547" y="3275747"/>
            <a:ext cx="215067" cy="215067"/>
          </a:xfrm>
          <a:prstGeom prst="rect">
            <a:avLst/>
          </a:prstGeom>
        </p:spPr>
      </p:pic>
      <p:sp>
        <p:nvSpPr>
          <p:cNvPr id="36" name="Text 28"/>
          <p:cNvSpPr txBox="1"/>
          <p:nvPr/>
        </p:nvSpPr>
        <p:spPr>
          <a:xfrm>
            <a:off x="10067544" y="3191256"/>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Deploy = yes</a:t>
            </a:r>
            <a:endParaRPr lang="en-US" sz="1400" dirty="0"/>
          </a:p>
        </p:txBody>
      </p:sp>
      <p:sp>
        <p:nvSpPr>
          <p:cNvPr id="37" name="Text 29"/>
          <p:cNvSpPr txBox="1"/>
          <p:nvPr/>
        </p:nvSpPr>
        <p:spPr>
          <a:xfrm>
            <a:off x="9592056" y="3666744"/>
            <a:ext cx="1920240" cy="466344"/>
          </a:xfrm>
          <a:prstGeom prst="rect">
            <a:avLst/>
          </a:prstGeom>
          <a:noFill/>
          <a:ln/>
        </p:spPr>
        <p:txBody>
          <a:bodyPr wrap="square" lIns="0" tIns="0" rIns="0" bIns="0" rtlCol="0" anchor="t"/>
          <a:lstStyle/>
          <a:p>
            <a:pPr indent="0" marL="0">
              <a:buNone/>
            </a:pPr>
            <a:r>
              <a:rPr lang="en-US" sz="1200" dirty="0">
                <a:solidFill>
                  <a:schemeClr val="tx2"/>
                </a:solidFill>
              </a:rPr>
              <a:t>The pipeline runs that same change set and reports back.</a:t>
            </a:r>
            <a:endParaRPr lang="en-US" sz="1200" dirty="0"/>
          </a:p>
        </p:txBody>
      </p:sp>
      <p:sp>
        <p:nvSpPr>
          <p:cNvPr id="38" name="Shape 30"/>
          <p:cNvSpPr/>
          <p:nvPr/>
        </p:nvSpPr>
        <p:spPr>
          <a:xfrm flipV="1">
            <a:off x="9043416" y="2267712"/>
            <a:ext cx="384048" cy="384048"/>
          </a:xfrm>
          <a:prstGeom prst="line">
            <a:avLst/>
          </a:prstGeom>
          <a:noFill/>
          <a:ln w="22225">
            <a:solidFill>
              <a:schemeClr val="tx2"/>
            </a:solidFill>
            <a:prstDash val="solid"/>
            <a:tailEnd type="triangle"/>
          </a:ln>
        </p:spPr>
      </p:sp>
      <p:sp>
        <p:nvSpPr>
          <p:cNvPr id="39" name="Shape 31"/>
          <p:cNvSpPr/>
          <p:nvPr/>
        </p:nvSpPr>
        <p:spPr>
          <a:xfrm>
            <a:off x="9043416" y="2651760"/>
            <a:ext cx="384048" cy="978408"/>
          </a:xfrm>
          <a:prstGeom prst="line">
            <a:avLst/>
          </a:prstGeom>
          <a:noFill/>
          <a:ln w="22225">
            <a:solidFill>
              <a:schemeClr val="tx2"/>
            </a:solidFill>
            <a:prstDash val="solid"/>
            <a:tailEnd type="triangle"/>
          </a:ln>
        </p:spPr>
      </p:sp>
      <p:sp>
        <p:nvSpPr>
          <p:cNvPr id="40" name="Stop on drift"/>
          <p:cNvSpPr/>
          <p:nvPr/>
        </p:nvSpPr>
        <p:spPr>
          <a:xfrm>
            <a:off x="4937760" y="4434840"/>
            <a:ext cx="1874520" cy="1097280"/>
          </a:xfrm>
          <a:prstGeom prst="roundRect">
            <a:avLst>
              <a:gd name="adj" fmla="val 8333"/>
            </a:avLst>
          </a:prstGeom>
          <a:solidFill>
            <a:schemeClr val="accent3">
              <a:alpha val="8000"/>
            </a:schemeClr>
          </a:solidFill>
          <a:ln w="15875">
            <a:solidFill>
              <a:schemeClr val="accent3"/>
            </a:solidFill>
            <a:prstDash val="solid"/>
          </a:ln>
        </p:spPr>
      </p:sp>
      <p:sp>
        <p:nvSpPr>
          <p:cNvPr id="41" name="Shape 33"/>
          <p:cNvSpPr/>
          <p:nvPr/>
        </p:nvSpPr>
        <p:spPr>
          <a:xfrm>
            <a:off x="5065776" y="4562856"/>
            <a:ext cx="384048" cy="384048"/>
          </a:xfrm>
          <a:prstGeom prst="ellipse">
            <a:avLst/>
          </a:prstGeom>
          <a:solidFill>
            <a:schemeClr val="accent3"/>
          </a:solidFill>
          <a:ln/>
        </p:spPr>
      </p:sp>
      <p:pic>
        <p:nvPicPr>
          <p:cNvPr id="42" name="Image 6" descr="preencoded.png">    </p:cNvPr>
          <p:cNvPicPr>
            <a:picLocks noChangeAspect="1"/>
          </p:cNvPicPr>
          <p:nvPr/>
        </p:nvPicPr>
        <p:blipFill>
          <a:blip r:embed="rId7"/>
          <a:stretch>
            <a:fillRect/>
          </a:stretch>
        </p:blipFill>
        <p:spPr>
          <a:xfrm>
            <a:off x="5150267" y="4647347"/>
            <a:ext cx="215067" cy="215067"/>
          </a:xfrm>
          <a:prstGeom prst="rect">
            <a:avLst/>
          </a:prstGeom>
        </p:spPr>
      </p:pic>
      <p:sp>
        <p:nvSpPr>
          <p:cNvPr id="43" name="Text 34"/>
          <p:cNvSpPr txBox="1"/>
          <p:nvPr/>
        </p:nvSpPr>
        <p:spPr>
          <a:xfrm>
            <a:off x="5541264" y="456285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Stop</a:t>
            </a:r>
            <a:endParaRPr lang="en-US" sz="1400" dirty="0"/>
          </a:p>
        </p:txBody>
      </p:sp>
      <p:sp>
        <p:nvSpPr>
          <p:cNvPr id="44" name="Text 35"/>
          <p:cNvSpPr txBox="1"/>
          <p:nvPr/>
        </p:nvSpPr>
        <p:spPr>
          <a:xfrm>
            <a:off x="5065776" y="5038344"/>
            <a:ext cx="1618488" cy="420624"/>
          </a:xfrm>
          <a:prstGeom prst="rect">
            <a:avLst/>
          </a:prstGeom>
          <a:noFill/>
          <a:ln/>
        </p:spPr>
        <p:txBody>
          <a:bodyPr wrap="square" lIns="0" tIns="0" rIns="0" bIns="0" rtlCol="0" anchor="t"/>
          <a:lstStyle/>
          <a:p>
            <a:pPr indent="0" marL="0">
              <a:buNone/>
            </a:pPr>
            <a:r>
              <a:rPr lang="en-US" sz="1200" dirty="0">
                <a:solidFill>
                  <a:schemeClr val="tx2"/>
                </a:solidFill>
              </a:rPr>
              <a:t>Shows what changed — expected vs actual</a:t>
            </a:r>
            <a:endParaRPr lang="en-US" sz="1200" dirty="0"/>
          </a:p>
        </p:txBody>
      </p:sp>
      <p:sp>
        <p:nvSpPr>
          <p:cNvPr id="45" name="No changes"/>
          <p:cNvSpPr/>
          <p:nvPr/>
        </p:nvSpPr>
        <p:spPr>
          <a:xfrm>
            <a:off x="7132320" y="4434840"/>
            <a:ext cx="1874520" cy="1097280"/>
          </a:xfrm>
          <a:prstGeom prst="roundRect">
            <a:avLst>
              <a:gd name="adj" fmla="val 8333"/>
            </a:avLst>
          </a:prstGeom>
          <a:solidFill>
            <a:schemeClr val="accent5">
              <a:alpha val="8000"/>
            </a:schemeClr>
          </a:solidFill>
          <a:ln w="15875">
            <a:solidFill>
              <a:schemeClr val="accent5"/>
            </a:solidFill>
            <a:prstDash val="solid"/>
          </a:ln>
        </p:spPr>
      </p:sp>
      <p:sp>
        <p:nvSpPr>
          <p:cNvPr id="46" name="Shape 37"/>
          <p:cNvSpPr/>
          <p:nvPr/>
        </p:nvSpPr>
        <p:spPr>
          <a:xfrm>
            <a:off x="7260336" y="4562856"/>
            <a:ext cx="384048" cy="384048"/>
          </a:xfrm>
          <a:prstGeom prst="ellipse">
            <a:avLst/>
          </a:prstGeom>
          <a:solidFill>
            <a:schemeClr val="accent5"/>
          </a:solidFill>
          <a:ln/>
        </p:spPr>
      </p:sp>
      <p:pic>
        <p:nvPicPr>
          <p:cNvPr id="47" name="Image 7" descr="preencoded.png">    </p:cNvPr>
          <p:cNvPicPr>
            <a:picLocks noChangeAspect="1"/>
          </p:cNvPicPr>
          <p:nvPr/>
        </p:nvPicPr>
        <p:blipFill>
          <a:blip r:embed="rId8"/>
          <a:stretch>
            <a:fillRect/>
          </a:stretch>
        </p:blipFill>
        <p:spPr>
          <a:xfrm>
            <a:off x="7344827" y="4647347"/>
            <a:ext cx="215067" cy="215067"/>
          </a:xfrm>
          <a:prstGeom prst="rect">
            <a:avLst/>
          </a:prstGeom>
        </p:spPr>
      </p:pic>
      <p:sp>
        <p:nvSpPr>
          <p:cNvPr id="48" name="Text 38"/>
          <p:cNvSpPr txBox="1"/>
          <p:nvPr/>
        </p:nvSpPr>
        <p:spPr>
          <a:xfrm>
            <a:off x="7735824" y="456285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No changes</a:t>
            </a:r>
            <a:endParaRPr lang="en-US" sz="1400" dirty="0"/>
          </a:p>
        </p:txBody>
      </p:sp>
      <p:sp>
        <p:nvSpPr>
          <p:cNvPr id="49" name="Text 39"/>
          <p:cNvSpPr txBox="1"/>
          <p:nvPr/>
        </p:nvSpPr>
        <p:spPr>
          <a:xfrm>
            <a:off x="7260336" y="5038344"/>
            <a:ext cx="1618488" cy="420624"/>
          </a:xfrm>
          <a:prstGeom prst="rect">
            <a:avLst/>
          </a:prstGeom>
          <a:noFill/>
          <a:ln/>
        </p:spPr>
        <p:txBody>
          <a:bodyPr wrap="square" lIns="0" tIns="0" rIns="0" bIns="0" rtlCol="0" anchor="t"/>
          <a:lstStyle/>
          <a:p>
            <a:pPr indent="0" marL="0">
              <a:buNone/>
            </a:pPr>
            <a:r>
              <a:rPr lang="en-US" sz="1200" dirty="0">
                <a:solidFill>
                  <a:schemeClr val="tx2"/>
                </a:solidFill>
              </a:rPr>
              <a:t>Ends cleanly — nothing is deployed.</a:t>
            </a:r>
            <a:endParaRPr lang="en-US" sz="1200" dirty="0"/>
          </a:p>
        </p:txBody>
      </p:sp>
      <p:sp>
        <p:nvSpPr>
          <p:cNvPr id="50" name="Shape 40"/>
          <p:cNvSpPr/>
          <p:nvPr/>
        </p:nvSpPr>
        <p:spPr>
          <a:xfrm>
            <a:off x="5875020" y="3328416"/>
            <a:ext cx="914" cy="1069848"/>
          </a:xfrm>
          <a:prstGeom prst="line">
            <a:avLst/>
          </a:prstGeom>
          <a:noFill/>
          <a:ln w="22225">
            <a:solidFill>
              <a:schemeClr val="accent3"/>
            </a:solidFill>
            <a:prstDash val="solid"/>
            <a:tailEnd type="triangle"/>
          </a:ln>
        </p:spPr>
      </p:sp>
      <p:sp>
        <p:nvSpPr>
          <p:cNvPr id="51" name="Shape 41"/>
          <p:cNvSpPr/>
          <p:nvPr/>
        </p:nvSpPr>
        <p:spPr>
          <a:xfrm>
            <a:off x="8069580" y="3328416"/>
            <a:ext cx="914" cy="1069848"/>
          </a:xfrm>
          <a:prstGeom prst="line">
            <a:avLst/>
          </a:prstGeom>
          <a:noFill/>
          <a:ln w="22225">
            <a:solidFill>
              <a:schemeClr val="tx2"/>
            </a:solidFill>
            <a:prstDash val="solid"/>
            <a:tailEnd type="triangle"/>
          </a:ln>
        </p:spPr>
      </p:sp>
      <p:sp>
        <p:nvSpPr>
          <p:cNvPr id="52" name="Text 42"/>
          <p:cNvSpPr txBox="1"/>
          <p:nvPr/>
        </p:nvSpPr>
        <p:spPr>
          <a:xfrm>
            <a:off x="5966460" y="3703320"/>
            <a:ext cx="1463040" cy="274320"/>
          </a:xfrm>
          <a:prstGeom prst="rect">
            <a:avLst/>
          </a:prstGeom>
          <a:noFill/>
          <a:ln/>
        </p:spPr>
        <p:txBody>
          <a:bodyPr wrap="square" lIns="0" tIns="0" rIns="0" bIns="0" rtlCol="0" anchor="t"/>
          <a:lstStyle/>
          <a:p>
            <a:pPr indent="0" marL="0">
              <a:buNone/>
            </a:pPr>
            <a:r>
              <a:rPr lang="en-US" sz="1100" i="1" dirty="0">
                <a:solidFill>
                  <a:schemeClr val="accent3"/>
                </a:solidFill>
              </a:rPr>
              <a:t>manual change found</a:t>
            </a:r>
            <a:endParaRPr lang="en-US" sz="1100" dirty="0"/>
          </a:p>
        </p:txBody>
      </p:sp>
      <p:sp>
        <p:nvSpPr>
          <p:cNvPr id="53" name="Text 43"/>
          <p:cNvSpPr txBox="1"/>
          <p:nvPr/>
        </p:nvSpPr>
        <p:spPr>
          <a:xfrm>
            <a:off x="8161020" y="3703320"/>
            <a:ext cx="1234440" cy="274320"/>
          </a:xfrm>
          <a:prstGeom prst="rect">
            <a:avLst/>
          </a:prstGeom>
          <a:noFill/>
          <a:ln/>
        </p:spPr>
        <p:txBody>
          <a:bodyPr wrap="square" lIns="0" tIns="0" rIns="0" bIns="0" rtlCol="0" anchor="t"/>
          <a:lstStyle/>
          <a:p>
            <a:pPr indent="0" marL="0">
              <a:buNone/>
            </a:pPr>
            <a:r>
              <a:rPr lang="en-US" sz="1100" i="1" dirty="0">
                <a:solidFill>
                  <a:schemeClr val="tx2"/>
                </a:solidFill>
              </a:rPr>
              <a:t>nothing to deploy</a:t>
            </a:r>
            <a:endParaRPr lang="en-US" sz="1100" dirty="0"/>
          </a:p>
        </p:txBody>
      </p:sp>
      <p:sp>
        <p:nvSpPr>
          <p:cNvPr id="54" name="New stack note"/>
          <p:cNvSpPr/>
          <p:nvPr/>
        </p:nvSpPr>
        <p:spPr>
          <a:xfrm>
            <a:off x="548640" y="4434840"/>
            <a:ext cx="4069080" cy="1097280"/>
          </a:xfrm>
          <a:prstGeom prst="roundRect">
            <a:avLst>
              <a:gd name="adj" fmla="val 8333"/>
            </a:avLst>
          </a:prstGeom>
          <a:solidFill>
            <a:schemeClr val="bg2"/>
          </a:solidFill>
          <a:ln/>
        </p:spPr>
      </p:sp>
      <p:sp>
        <p:nvSpPr>
          <p:cNvPr id="55" name="Shape 45"/>
          <p:cNvSpPr/>
          <p:nvPr/>
        </p:nvSpPr>
        <p:spPr>
          <a:xfrm>
            <a:off x="713232" y="4599432"/>
            <a:ext cx="384048" cy="384048"/>
          </a:xfrm>
          <a:prstGeom prst="ellipse">
            <a:avLst/>
          </a:prstGeom>
          <a:solidFill>
            <a:schemeClr val="accent5"/>
          </a:solidFill>
          <a:ln/>
        </p:spPr>
      </p:sp>
      <p:pic>
        <p:nvPicPr>
          <p:cNvPr id="56" name="Image 8" descr="preencoded.png">    </p:cNvPr>
          <p:cNvPicPr>
            <a:picLocks noChangeAspect="1"/>
          </p:cNvPicPr>
          <p:nvPr/>
        </p:nvPicPr>
        <p:blipFill>
          <a:blip r:embed="rId9"/>
          <a:stretch>
            <a:fillRect/>
          </a:stretch>
        </p:blipFill>
        <p:spPr>
          <a:xfrm>
            <a:off x="797723" y="4683923"/>
            <a:ext cx="215067" cy="215067"/>
          </a:xfrm>
          <a:prstGeom prst="rect">
            <a:avLst/>
          </a:prstGeom>
        </p:spPr>
      </p:pic>
      <p:sp>
        <p:nvSpPr>
          <p:cNvPr id="57" name="Text 46"/>
          <p:cNvSpPr txBox="1"/>
          <p:nvPr/>
        </p:nvSpPr>
        <p:spPr>
          <a:xfrm>
            <a:off x="1243584" y="4581144"/>
            <a:ext cx="3246120" cy="868680"/>
          </a:xfrm>
          <a:prstGeom prst="rect">
            <a:avLst/>
          </a:prstGeom>
          <a:noFill/>
          <a:ln/>
        </p:spPr>
        <p:txBody>
          <a:bodyPr wrap="square" lIns="0" tIns="0" rIns="0" bIns="0" rtlCol="0" anchor="t"/>
          <a:lstStyle/>
          <a:p>
            <a:pPr indent="0" marL="0">
              <a:buNone/>
            </a:pPr>
            <a:r>
              <a:rPr lang="en-US" sz="1300" b="1" dirty="0">
                <a:solidFill>
                  <a:schemeClr val="tx1"/>
                </a:solidFill>
              </a:rPr>
              <a:t>Brand-new stack?</a:t>
            </a:r>
            <a:endParaRPr lang="en-US" sz="1300" dirty="0"/>
          </a:p>
          <a:p>
            <a:pPr indent="0" marL="0">
              <a:buNone/>
            </a:pPr>
            <a:r>
              <a:rPr lang="en-US" sz="1300" dirty="0">
                <a:solidFill>
                  <a:schemeClr val="tx2"/>
                </a:solidFill>
              </a:rPr>
              <a:t>The drift check is skipped — there is nothing to compare yet. It goes straight to the change set.</a:t>
            </a:r>
            <a:endParaRPr lang="en-US" sz="1300" dirty="0"/>
          </a:p>
        </p:txBody>
      </p:sp>
      <p:sp>
        <p:nvSpPr>
          <p:cNvPr id="58" name="Safety chip"/>
          <p:cNvSpPr/>
          <p:nvPr/>
        </p:nvSpPr>
        <p:spPr>
          <a:xfrm>
            <a:off x="548640" y="5760720"/>
            <a:ext cx="2633472" cy="420624"/>
          </a:xfrm>
          <a:prstGeom prst="roundRect">
            <a:avLst>
              <a:gd name="adj" fmla="val 50000"/>
            </a:avLst>
          </a:prstGeom>
          <a:solidFill>
            <a:schemeClr val="accent1">
              <a:alpha val="10000"/>
            </a:schemeClr>
          </a:solidFill>
          <a:ln/>
        </p:spPr>
      </p:sp>
      <p:pic>
        <p:nvPicPr>
          <p:cNvPr id="59" name="Image 9" descr="preencoded.png">    </p:cNvPr>
          <p:cNvPicPr>
            <a:picLocks noChangeAspect="1"/>
          </p:cNvPicPr>
          <p:nvPr/>
        </p:nvPicPr>
        <p:blipFill>
          <a:blip r:embed="rId10"/>
          <a:stretch>
            <a:fillRect/>
          </a:stretch>
        </p:blipFill>
        <p:spPr>
          <a:xfrm>
            <a:off x="694944" y="5870448"/>
            <a:ext cx="201168" cy="201168"/>
          </a:xfrm>
          <a:prstGeom prst="rect">
            <a:avLst/>
          </a:prstGeom>
        </p:spPr>
      </p:pic>
      <p:sp>
        <p:nvSpPr>
          <p:cNvPr id="60" name="Text 48"/>
          <p:cNvSpPr txBox="1"/>
          <p:nvPr/>
        </p:nvSpPr>
        <p:spPr>
          <a:xfrm>
            <a:off x="960120" y="5760720"/>
            <a:ext cx="2176272" cy="420624"/>
          </a:xfrm>
          <a:prstGeom prst="rect">
            <a:avLst/>
          </a:prstGeom>
          <a:noFill/>
          <a:ln/>
        </p:spPr>
        <p:txBody>
          <a:bodyPr wrap="square" lIns="0" tIns="0" rIns="0" bIns="0" rtlCol="0" anchor="ctr"/>
          <a:lstStyle/>
          <a:p>
            <a:pPr indent="0" marL="0">
              <a:buNone/>
            </a:pPr>
            <a:r>
              <a:rPr lang="en-US" sz="1200" dirty="0">
                <a:solidFill>
                  <a:schemeClr val="tx1"/>
                </a:solidFill>
              </a:rPr>
              <a:t>One run per stack at a time</a:t>
            </a:r>
            <a:endParaRPr lang="en-US" sz="1200" dirty="0"/>
          </a:p>
        </p:txBody>
      </p:sp>
      <p:sp>
        <p:nvSpPr>
          <p:cNvPr id="61" name="Safety chip"/>
          <p:cNvSpPr/>
          <p:nvPr/>
        </p:nvSpPr>
        <p:spPr>
          <a:xfrm>
            <a:off x="3367735" y="5760720"/>
            <a:ext cx="2633472" cy="420624"/>
          </a:xfrm>
          <a:prstGeom prst="roundRect">
            <a:avLst>
              <a:gd name="adj" fmla="val 50000"/>
            </a:avLst>
          </a:prstGeom>
          <a:solidFill>
            <a:schemeClr val="accent1">
              <a:alpha val="10000"/>
            </a:schemeClr>
          </a:solidFill>
          <a:ln/>
        </p:spPr>
      </p:sp>
      <p:pic>
        <p:nvPicPr>
          <p:cNvPr id="62" name="Image 10" descr="preencoded.png">    </p:cNvPr>
          <p:cNvPicPr>
            <a:picLocks noChangeAspect="1"/>
          </p:cNvPicPr>
          <p:nvPr/>
        </p:nvPicPr>
        <p:blipFill>
          <a:blip r:embed="rId11"/>
          <a:stretch>
            <a:fillRect/>
          </a:stretch>
        </p:blipFill>
        <p:spPr>
          <a:xfrm>
            <a:off x="3514039" y="5870448"/>
            <a:ext cx="201168" cy="201168"/>
          </a:xfrm>
          <a:prstGeom prst="rect">
            <a:avLst/>
          </a:prstGeom>
        </p:spPr>
      </p:pic>
      <p:sp>
        <p:nvSpPr>
          <p:cNvPr id="63" name="Text 50"/>
          <p:cNvSpPr txBox="1"/>
          <p:nvPr/>
        </p:nvSpPr>
        <p:spPr>
          <a:xfrm>
            <a:off x="3779215" y="5760720"/>
            <a:ext cx="2176272" cy="420624"/>
          </a:xfrm>
          <a:prstGeom prst="rect">
            <a:avLst/>
          </a:prstGeom>
          <a:noFill/>
          <a:ln/>
        </p:spPr>
        <p:txBody>
          <a:bodyPr wrap="square" lIns="0" tIns="0" rIns="0" bIns="0" rtlCol="0" anchor="ctr"/>
          <a:lstStyle/>
          <a:p>
            <a:pPr indent="0" marL="0">
              <a:buNone/>
            </a:pPr>
            <a:r>
              <a:rPr lang="en-US" sz="1200" dirty="0">
                <a:solidFill>
                  <a:schemeClr val="tx1"/>
                </a:solidFill>
              </a:rPr>
              <a:t>Blocks busy or broken stacks</a:t>
            </a:r>
            <a:endParaRPr lang="en-US" sz="1200" dirty="0"/>
          </a:p>
        </p:txBody>
      </p:sp>
      <p:sp>
        <p:nvSpPr>
          <p:cNvPr id="64" name="Safety chip"/>
          <p:cNvSpPr/>
          <p:nvPr/>
        </p:nvSpPr>
        <p:spPr>
          <a:xfrm>
            <a:off x="6186830" y="5760720"/>
            <a:ext cx="2633472" cy="420624"/>
          </a:xfrm>
          <a:prstGeom prst="roundRect">
            <a:avLst>
              <a:gd name="adj" fmla="val 50000"/>
            </a:avLst>
          </a:prstGeom>
          <a:solidFill>
            <a:schemeClr val="accent1">
              <a:alpha val="10000"/>
            </a:schemeClr>
          </a:solidFill>
          <a:ln/>
        </p:spPr>
      </p:sp>
      <p:pic>
        <p:nvPicPr>
          <p:cNvPr id="65" name="Image 11" descr="preencoded.png">    </p:cNvPr>
          <p:cNvPicPr>
            <a:picLocks noChangeAspect="1"/>
          </p:cNvPicPr>
          <p:nvPr/>
        </p:nvPicPr>
        <p:blipFill>
          <a:blip r:embed="rId12"/>
          <a:stretch>
            <a:fillRect/>
          </a:stretch>
        </p:blipFill>
        <p:spPr>
          <a:xfrm>
            <a:off x="6333134" y="5870448"/>
            <a:ext cx="201168" cy="201168"/>
          </a:xfrm>
          <a:prstGeom prst="rect">
            <a:avLst/>
          </a:prstGeom>
        </p:spPr>
      </p:pic>
      <p:sp>
        <p:nvSpPr>
          <p:cNvPr id="66" name="Text 52"/>
          <p:cNvSpPr txBox="1"/>
          <p:nvPr/>
        </p:nvSpPr>
        <p:spPr>
          <a:xfrm>
            <a:off x="6598310" y="5760720"/>
            <a:ext cx="2176272" cy="420624"/>
          </a:xfrm>
          <a:prstGeom prst="rect">
            <a:avLst/>
          </a:prstGeom>
          <a:noFill/>
          <a:ln/>
        </p:spPr>
        <p:txBody>
          <a:bodyPr wrap="square" lIns="0" tIns="0" rIns="0" bIns="0" rtlCol="0" anchor="ctr"/>
          <a:lstStyle/>
          <a:p>
            <a:pPr indent="0" marL="0">
              <a:buNone/>
            </a:pPr>
            <a:r>
              <a:rPr lang="en-US" sz="1200" dirty="0">
                <a:solidFill>
                  <a:schemeClr val="tx1"/>
                </a:solidFill>
              </a:rPr>
              <a:t>Flags deletions &amp; replacements</a:t>
            </a:r>
            <a:endParaRPr lang="en-US" sz="1200" dirty="0"/>
          </a:p>
        </p:txBody>
      </p:sp>
      <p:sp>
        <p:nvSpPr>
          <p:cNvPr id="67" name="Safety chip"/>
          <p:cNvSpPr/>
          <p:nvPr/>
        </p:nvSpPr>
        <p:spPr>
          <a:xfrm>
            <a:off x="9005926" y="5760720"/>
            <a:ext cx="2633472" cy="420624"/>
          </a:xfrm>
          <a:prstGeom prst="roundRect">
            <a:avLst>
              <a:gd name="adj" fmla="val 50000"/>
            </a:avLst>
          </a:prstGeom>
          <a:solidFill>
            <a:schemeClr val="accent1">
              <a:alpha val="10000"/>
            </a:schemeClr>
          </a:solidFill>
          <a:ln/>
        </p:spPr>
      </p:sp>
      <p:pic>
        <p:nvPicPr>
          <p:cNvPr id="68" name="Image 12" descr="preencoded.png">    </p:cNvPr>
          <p:cNvPicPr>
            <a:picLocks noChangeAspect="1"/>
          </p:cNvPicPr>
          <p:nvPr/>
        </p:nvPicPr>
        <p:blipFill>
          <a:blip r:embed="rId13"/>
          <a:stretch>
            <a:fillRect/>
          </a:stretch>
        </p:blipFill>
        <p:spPr>
          <a:xfrm>
            <a:off x="9152230" y="5870448"/>
            <a:ext cx="201168" cy="201168"/>
          </a:xfrm>
          <a:prstGeom prst="rect">
            <a:avLst/>
          </a:prstGeom>
        </p:spPr>
      </p:pic>
      <p:sp>
        <p:nvSpPr>
          <p:cNvPr id="69" name="Text 54"/>
          <p:cNvSpPr txBox="1"/>
          <p:nvPr/>
        </p:nvSpPr>
        <p:spPr>
          <a:xfrm>
            <a:off x="9417406" y="5760720"/>
            <a:ext cx="2176272" cy="420624"/>
          </a:xfrm>
          <a:prstGeom prst="rect">
            <a:avLst/>
          </a:prstGeom>
          <a:noFill/>
          <a:ln/>
        </p:spPr>
        <p:txBody>
          <a:bodyPr wrap="square" lIns="0" tIns="0" rIns="0" bIns="0" rtlCol="0" anchor="ctr"/>
          <a:lstStyle/>
          <a:p>
            <a:pPr indent="0" marL="0">
              <a:buNone/>
            </a:pPr>
            <a:r>
              <a:rPr lang="en-US" sz="1200" dirty="0">
                <a:solidFill>
                  <a:schemeClr val="tx1"/>
                </a:solidFill>
              </a:rPr>
              <a:t>Warns if code isn’t merged yet</a:t>
            </a:r>
            <a:endParaRPr lang="en-US" sz="12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What the new pipeline gives us</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Good for: every routine change to AWS that we manage in code</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NEW PIPELINE</a:t>
            </a:r>
            <a:endParaRPr lang="en-US" sz="1100" dirty="0"/>
          </a:p>
        </p:txBody>
      </p:sp>
      <p:sp>
        <p:nvSpPr>
          <p:cNvPr id="5" name="Catches manual changes"/>
          <p:cNvSpPr/>
          <p:nvPr/>
        </p:nvSpPr>
        <p:spPr>
          <a:xfrm>
            <a:off x="548640" y="1691640"/>
            <a:ext cx="3611880" cy="1325880"/>
          </a:xfrm>
          <a:prstGeom prst="roundRect">
            <a:avLst>
              <a:gd name="adj" fmla="val 6897"/>
            </a:avLst>
          </a:prstGeom>
          <a:solidFill>
            <a:schemeClr val="accent1">
              <a:alpha val="6000"/>
            </a:schemeClr>
          </a:solidFill>
          <a:ln/>
        </p:spPr>
      </p:sp>
      <p:sp>
        <p:nvSpPr>
          <p:cNvPr id="6" name="Shape 4"/>
          <p:cNvSpPr/>
          <p:nvPr/>
        </p:nvSpPr>
        <p:spPr>
          <a:xfrm>
            <a:off x="713232" y="1874520"/>
            <a:ext cx="502920" cy="50292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23874" y="1985162"/>
            <a:ext cx="281635" cy="281635"/>
          </a:xfrm>
          <a:prstGeom prst="rect">
            <a:avLst/>
          </a:prstGeom>
        </p:spPr>
      </p:pic>
      <p:sp>
        <p:nvSpPr>
          <p:cNvPr id="8" name="Text 5"/>
          <p:cNvSpPr txBox="1"/>
          <p:nvPr/>
        </p:nvSpPr>
        <p:spPr>
          <a:xfrm>
            <a:off x="1371600" y="183794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Catches manual changes</a:t>
            </a:r>
            <a:endParaRPr lang="en-US" sz="1600" dirty="0"/>
          </a:p>
        </p:txBody>
      </p:sp>
      <p:sp>
        <p:nvSpPr>
          <p:cNvPr id="9" name="Text 6"/>
          <p:cNvSpPr txBox="1"/>
          <p:nvPr/>
        </p:nvSpPr>
        <p:spPr>
          <a:xfrm>
            <a:off x="1371600" y="2185416"/>
            <a:ext cx="2651760" cy="786384"/>
          </a:xfrm>
          <a:prstGeom prst="rect">
            <a:avLst/>
          </a:prstGeom>
          <a:noFill/>
          <a:ln/>
        </p:spPr>
        <p:txBody>
          <a:bodyPr wrap="square" lIns="0" tIns="0" rIns="0" bIns="0" rtlCol="0" anchor="t"/>
          <a:lstStyle/>
          <a:p>
            <a:pPr indent="0" marL="0">
              <a:buNone/>
            </a:pPr>
            <a:r>
              <a:rPr lang="en-US" sz="1400" dirty="0">
                <a:solidFill>
                  <a:schemeClr val="tx2"/>
                </a:solidFill>
              </a:rPr>
              <a:t>The run stops and shows exactly what was changed by hand — expected vs actual.</a:t>
            </a:r>
            <a:endParaRPr lang="en-US" sz="1400" dirty="0"/>
          </a:p>
        </p:txBody>
      </p:sp>
      <p:sp>
        <p:nvSpPr>
          <p:cNvPr id="10" name="Itemised preview"/>
          <p:cNvSpPr/>
          <p:nvPr/>
        </p:nvSpPr>
        <p:spPr>
          <a:xfrm>
            <a:off x="4389120" y="1691640"/>
            <a:ext cx="3611880" cy="1325880"/>
          </a:xfrm>
          <a:prstGeom prst="roundRect">
            <a:avLst>
              <a:gd name="adj" fmla="val 6897"/>
            </a:avLst>
          </a:prstGeom>
          <a:solidFill>
            <a:schemeClr val="accent1">
              <a:alpha val="6000"/>
            </a:schemeClr>
          </a:solidFill>
          <a:ln/>
        </p:spPr>
      </p:sp>
      <p:sp>
        <p:nvSpPr>
          <p:cNvPr id="11" name="Shape 8"/>
          <p:cNvSpPr/>
          <p:nvPr/>
        </p:nvSpPr>
        <p:spPr>
          <a:xfrm>
            <a:off x="4553712" y="1874520"/>
            <a:ext cx="502920" cy="50292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664354" y="1985162"/>
            <a:ext cx="281635" cy="281635"/>
          </a:xfrm>
          <a:prstGeom prst="rect">
            <a:avLst/>
          </a:prstGeom>
        </p:spPr>
      </p:pic>
      <p:sp>
        <p:nvSpPr>
          <p:cNvPr id="13" name="Text 9"/>
          <p:cNvSpPr txBox="1"/>
          <p:nvPr/>
        </p:nvSpPr>
        <p:spPr>
          <a:xfrm>
            <a:off x="5212080" y="183794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Itemised preview</a:t>
            </a:r>
            <a:endParaRPr lang="en-US" sz="1600" dirty="0"/>
          </a:p>
        </p:txBody>
      </p:sp>
      <p:sp>
        <p:nvSpPr>
          <p:cNvPr id="14" name="Text 10"/>
          <p:cNvSpPr txBox="1"/>
          <p:nvPr/>
        </p:nvSpPr>
        <p:spPr>
          <a:xfrm>
            <a:off x="5212080" y="2185416"/>
            <a:ext cx="2651760" cy="786384"/>
          </a:xfrm>
          <a:prstGeom prst="rect">
            <a:avLst/>
          </a:prstGeom>
          <a:noFill/>
          <a:ln/>
        </p:spPr>
        <p:txBody>
          <a:bodyPr wrap="square" lIns="0" tIns="0" rIns="0" bIns="0" rtlCol="0" anchor="t"/>
          <a:lstStyle/>
          <a:p>
            <a:pPr indent="0" marL="0">
              <a:buNone/>
            </a:pPr>
            <a:r>
              <a:rPr lang="en-US" sz="1400" dirty="0">
                <a:solidFill>
                  <a:schemeClr val="tx2"/>
                </a:solidFill>
              </a:rPr>
              <a:t>Every add, change and removal, with a warning if anything will be deleted or replaced.</a:t>
            </a:r>
            <a:endParaRPr lang="en-US" sz="1400" dirty="0"/>
          </a:p>
        </p:txBody>
      </p:sp>
      <p:sp>
        <p:nvSpPr>
          <p:cNvPr id="15" name="A person stays in control"/>
          <p:cNvSpPr/>
          <p:nvPr/>
        </p:nvSpPr>
        <p:spPr>
          <a:xfrm>
            <a:off x="548640" y="3200400"/>
            <a:ext cx="3611880" cy="1325880"/>
          </a:xfrm>
          <a:prstGeom prst="roundRect">
            <a:avLst>
              <a:gd name="adj" fmla="val 6897"/>
            </a:avLst>
          </a:prstGeom>
          <a:solidFill>
            <a:schemeClr val="accent1">
              <a:alpha val="6000"/>
            </a:schemeClr>
          </a:solidFill>
          <a:ln/>
        </p:spPr>
      </p:sp>
      <p:sp>
        <p:nvSpPr>
          <p:cNvPr id="16" name="Shape 12"/>
          <p:cNvSpPr/>
          <p:nvPr/>
        </p:nvSpPr>
        <p:spPr>
          <a:xfrm>
            <a:off x="713232" y="3383280"/>
            <a:ext cx="502920" cy="50292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23874" y="3493922"/>
            <a:ext cx="281635" cy="281635"/>
          </a:xfrm>
          <a:prstGeom prst="rect">
            <a:avLst/>
          </a:prstGeom>
        </p:spPr>
      </p:pic>
      <p:sp>
        <p:nvSpPr>
          <p:cNvPr id="18" name="Text 13"/>
          <p:cNvSpPr txBox="1"/>
          <p:nvPr/>
        </p:nvSpPr>
        <p:spPr>
          <a:xfrm>
            <a:off x="1371600" y="334670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A person stays in control</a:t>
            </a:r>
            <a:endParaRPr lang="en-US" sz="1600" dirty="0"/>
          </a:p>
        </p:txBody>
      </p:sp>
      <p:sp>
        <p:nvSpPr>
          <p:cNvPr id="19" name="Text 14"/>
          <p:cNvSpPr txBox="1"/>
          <p:nvPr/>
        </p:nvSpPr>
        <p:spPr>
          <a:xfrm>
            <a:off x="1371600" y="3694176"/>
            <a:ext cx="2651760" cy="786384"/>
          </a:xfrm>
          <a:prstGeom prst="rect">
            <a:avLst/>
          </a:prstGeom>
          <a:noFill/>
          <a:ln/>
        </p:spPr>
        <p:txBody>
          <a:bodyPr wrap="square" lIns="0" tIns="0" rIns="0" bIns="0" rtlCol="0" anchor="t"/>
          <a:lstStyle/>
          <a:p>
            <a:pPr indent="0" marL="0">
              <a:buNone/>
            </a:pPr>
            <a:r>
              <a:rPr lang="en-US" sz="1400" dirty="0">
                <a:solidFill>
                  <a:schemeClr val="tx2"/>
                </a:solidFill>
              </a:rPr>
              <a:t>By default nothing goes live until someone clicks Execute in AWS.</a:t>
            </a:r>
            <a:endParaRPr lang="en-US" sz="1400" dirty="0"/>
          </a:p>
        </p:txBody>
      </p:sp>
      <p:sp>
        <p:nvSpPr>
          <p:cNvPr id="20" name="Approved means exactly that"/>
          <p:cNvSpPr/>
          <p:nvPr/>
        </p:nvSpPr>
        <p:spPr>
          <a:xfrm>
            <a:off x="4389120" y="3200400"/>
            <a:ext cx="3611880" cy="1325880"/>
          </a:xfrm>
          <a:prstGeom prst="roundRect">
            <a:avLst>
              <a:gd name="adj" fmla="val 6897"/>
            </a:avLst>
          </a:prstGeom>
          <a:solidFill>
            <a:schemeClr val="accent1">
              <a:alpha val="6000"/>
            </a:schemeClr>
          </a:solidFill>
          <a:ln/>
        </p:spPr>
      </p:sp>
      <p:sp>
        <p:nvSpPr>
          <p:cNvPr id="21" name="Shape 16"/>
          <p:cNvSpPr/>
          <p:nvPr/>
        </p:nvSpPr>
        <p:spPr>
          <a:xfrm>
            <a:off x="4553712" y="3383280"/>
            <a:ext cx="502920" cy="50292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4664354" y="3493922"/>
            <a:ext cx="281635" cy="281635"/>
          </a:xfrm>
          <a:prstGeom prst="rect">
            <a:avLst/>
          </a:prstGeom>
        </p:spPr>
      </p:pic>
      <p:sp>
        <p:nvSpPr>
          <p:cNvPr id="23" name="Text 17"/>
          <p:cNvSpPr txBox="1"/>
          <p:nvPr/>
        </p:nvSpPr>
        <p:spPr>
          <a:xfrm>
            <a:off x="5212080" y="334670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Approved means exactly that</a:t>
            </a:r>
            <a:endParaRPr lang="en-US" sz="1600" dirty="0"/>
          </a:p>
        </p:txBody>
      </p:sp>
      <p:sp>
        <p:nvSpPr>
          <p:cNvPr id="24" name="Text 18"/>
          <p:cNvSpPr txBox="1"/>
          <p:nvPr/>
        </p:nvSpPr>
        <p:spPr>
          <a:xfrm>
            <a:off x="5212080" y="3694176"/>
            <a:ext cx="2651760" cy="786384"/>
          </a:xfrm>
          <a:prstGeom prst="rect">
            <a:avLst/>
          </a:prstGeom>
          <a:noFill/>
          <a:ln/>
        </p:spPr>
        <p:txBody>
          <a:bodyPr wrap="square" lIns="0" tIns="0" rIns="0" bIns="0" rtlCol="0" anchor="t"/>
          <a:lstStyle/>
          <a:p>
            <a:pPr indent="0" marL="0">
              <a:buNone/>
            </a:pPr>
            <a:r>
              <a:rPr lang="en-US" sz="1400" dirty="0">
                <a:solidFill>
                  <a:schemeClr val="tx2"/>
                </a:solidFill>
              </a:rPr>
              <a:t>The change set that was reviewed is the one that runs; AWS refuses an out-of-date one.</a:t>
            </a:r>
            <a:endParaRPr lang="en-US" sz="1400" dirty="0"/>
          </a:p>
        </p:txBody>
      </p:sp>
      <p:sp>
        <p:nvSpPr>
          <p:cNvPr id="25" name="One way for everything"/>
          <p:cNvSpPr/>
          <p:nvPr/>
        </p:nvSpPr>
        <p:spPr>
          <a:xfrm>
            <a:off x="548640" y="4709160"/>
            <a:ext cx="3611880" cy="1325880"/>
          </a:xfrm>
          <a:prstGeom prst="roundRect">
            <a:avLst>
              <a:gd name="adj" fmla="val 6897"/>
            </a:avLst>
          </a:prstGeom>
          <a:solidFill>
            <a:schemeClr val="accent1">
              <a:alpha val="6000"/>
            </a:schemeClr>
          </a:solidFill>
          <a:ln/>
        </p:spPr>
      </p:sp>
      <p:sp>
        <p:nvSpPr>
          <p:cNvPr id="26" name="Shape 20"/>
          <p:cNvSpPr/>
          <p:nvPr/>
        </p:nvSpPr>
        <p:spPr>
          <a:xfrm>
            <a:off x="713232" y="4892040"/>
            <a:ext cx="502920" cy="50292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823874" y="5002682"/>
            <a:ext cx="281635" cy="281635"/>
          </a:xfrm>
          <a:prstGeom prst="rect">
            <a:avLst/>
          </a:prstGeom>
        </p:spPr>
      </p:pic>
      <p:sp>
        <p:nvSpPr>
          <p:cNvPr id="28" name="Text 21"/>
          <p:cNvSpPr txBox="1"/>
          <p:nvPr/>
        </p:nvSpPr>
        <p:spPr>
          <a:xfrm>
            <a:off x="1371600" y="485546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One way for everything</a:t>
            </a:r>
            <a:endParaRPr lang="en-US" sz="1600" dirty="0"/>
          </a:p>
        </p:txBody>
      </p:sp>
      <p:sp>
        <p:nvSpPr>
          <p:cNvPr id="29" name="Text 22"/>
          <p:cNvSpPr txBox="1"/>
          <p:nvPr/>
        </p:nvSpPr>
        <p:spPr>
          <a:xfrm>
            <a:off x="1371600" y="5202936"/>
            <a:ext cx="2651760" cy="786384"/>
          </a:xfrm>
          <a:prstGeom prst="rect">
            <a:avLst/>
          </a:prstGeom>
          <a:noFill/>
          <a:ln/>
        </p:spPr>
        <p:txBody>
          <a:bodyPr wrap="square" lIns="0" tIns="0" rIns="0" bIns="0" rtlCol="0" anchor="t"/>
          <a:lstStyle/>
          <a:p>
            <a:pPr indent="0" marL="0">
              <a:buNone/>
            </a:pPr>
            <a:r>
              <a:rPr lang="en-US" sz="1400" dirty="0">
                <a:solidFill>
                  <a:schemeClr val="tx2"/>
                </a:solidFill>
              </a:rPr>
              <a:t>Any resource we manage in CloudFormation — network, security, access, DNS.</a:t>
            </a:r>
            <a:endParaRPr lang="en-US" sz="1400" dirty="0"/>
          </a:p>
        </p:txBody>
      </p:sp>
      <p:sp>
        <p:nvSpPr>
          <p:cNvPr id="30" name="A clear record of every run"/>
          <p:cNvSpPr/>
          <p:nvPr/>
        </p:nvSpPr>
        <p:spPr>
          <a:xfrm>
            <a:off x="4389120" y="4709160"/>
            <a:ext cx="3611880" cy="1325880"/>
          </a:xfrm>
          <a:prstGeom prst="roundRect">
            <a:avLst>
              <a:gd name="adj" fmla="val 6897"/>
            </a:avLst>
          </a:prstGeom>
          <a:solidFill>
            <a:schemeClr val="accent1">
              <a:alpha val="6000"/>
            </a:schemeClr>
          </a:solidFill>
          <a:ln/>
        </p:spPr>
      </p:sp>
      <p:sp>
        <p:nvSpPr>
          <p:cNvPr id="31" name="Shape 24"/>
          <p:cNvSpPr/>
          <p:nvPr/>
        </p:nvSpPr>
        <p:spPr>
          <a:xfrm>
            <a:off x="4553712" y="4892040"/>
            <a:ext cx="502920" cy="50292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4664354" y="5002682"/>
            <a:ext cx="281635" cy="281635"/>
          </a:xfrm>
          <a:prstGeom prst="rect">
            <a:avLst/>
          </a:prstGeom>
        </p:spPr>
      </p:pic>
      <p:sp>
        <p:nvSpPr>
          <p:cNvPr id="33" name="Text 25"/>
          <p:cNvSpPr txBox="1"/>
          <p:nvPr/>
        </p:nvSpPr>
        <p:spPr>
          <a:xfrm>
            <a:off x="5212080" y="485546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A clear record of every run</a:t>
            </a:r>
            <a:endParaRPr lang="en-US" sz="1600" dirty="0"/>
          </a:p>
        </p:txBody>
      </p:sp>
      <p:sp>
        <p:nvSpPr>
          <p:cNvPr id="34" name="Text 26"/>
          <p:cNvSpPr txBox="1"/>
          <p:nvPr/>
        </p:nvSpPr>
        <p:spPr>
          <a:xfrm>
            <a:off x="5212080" y="5202936"/>
            <a:ext cx="2651760" cy="786384"/>
          </a:xfrm>
          <a:prstGeom prst="rect">
            <a:avLst/>
          </a:prstGeom>
          <a:noFill/>
          <a:ln/>
        </p:spPr>
        <p:txBody>
          <a:bodyPr wrap="square" lIns="0" tIns="0" rIns="0" bIns="0" rtlCol="0" anchor="t"/>
          <a:lstStyle/>
          <a:p>
            <a:pPr indent="0" marL="0">
              <a:buNone/>
            </a:pPr>
            <a:r>
              <a:rPr lang="en-US" sz="1400" dirty="0">
                <a:solidFill>
                  <a:schemeClr val="tx2"/>
                </a:solidFill>
              </a:rPr>
              <a:t>Who ran it, what changed, where, and how it ended.</a:t>
            </a:r>
            <a:endParaRPr lang="en-US" sz="1400" dirty="0"/>
          </a:p>
        </p:txBody>
      </p:sp>
      <p:sp>
        <p:nvSpPr>
          <p:cNvPr id="35" name="Limits card"/>
          <p:cNvSpPr/>
          <p:nvPr/>
        </p:nvSpPr>
        <p:spPr>
          <a:xfrm>
            <a:off x="8366760" y="1691640"/>
            <a:ext cx="3273552" cy="4343400"/>
          </a:xfrm>
          <a:prstGeom prst="roundRect">
            <a:avLst>
              <a:gd name="adj" fmla="val 3352"/>
            </a:avLst>
          </a:prstGeom>
          <a:solidFill>
            <a:schemeClr val="accent4">
              <a:alpha val="12000"/>
            </a:schemeClr>
          </a:solidFill>
          <a:ln/>
        </p:spPr>
      </p:sp>
      <p:sp>
        <p:nvSpPr>
          <p:cNvPr id="36" name="Shape 28"/>
          <p:cNvSpPr/>
          <p:nvPr/>
        </p:nvSpPr>
        <p:spPr>
          <a:xfrm>
            <a:off x="8577072" y="1901952"/>
            <a:ext cx="457200" cy="457200"/>
          </a:xfrm>
          <a:prstGeom prst="ellipse">
            <a:avLst/>
          </a:prstGeom>
          <a:solidFill>
            <a:schemeClr val="accent4"/>
          </a:solidFill>
          <a:ln/>
        </p:spPr>
      </p:sp>
      <p:pic>
        <p:nvPicPr>
          <p:cNvPr id="37" name="Image 6" descr="preencoded.png">    </p:cNvPr>
          <p:cNvPicPr>
            <a:picLocks noChangeAspect="1"/>
          </p:cNvPicPr>
          <p:nvPr/>
        </p:nvPicPr>
        <p:blipFill>
          <a:blip r:embed="rId7"/>
          <a:stretch>
            <a:fillRect/>
          </a:stretch>
        </p:blipFill>
        <p:spPr>
          <a:xfrm>
            <a:off x="8677656" y="2002536"/>
            <a:ext cx="256032" cy="256032"/>
          </a:xfrm>
          <a:prstGeom prst="rect">
            <a:avLst/>
          </a:prstGeom>
        </p:spPr>
      </p:pic>
      <p:sp>
        <p:nvSpPr>
          <p:cNvPr id="38" name="Text 29"/>
          <p:cNvSpPr txBox="1"/>
          <p:nvPr/>
        </p:nvSpPr>
        <p:spPr>
          <a:xfrm>
            <a:off x="9162288" y="1901952"/>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What it doesn’t do</a:t>
            </a:r>
            <a:endParaRPr lang="en-US" sz="1800" dirty="0"/>
          </a:p>
        </p:txBody>
      </p:sp>
      <p:pic>
        <p:nvPicPr>
          <p:cNvPr id="39" name="Image 7" descr="preencoded.png">    </p:cNvPr>
          <p:cNvPicPr>
            <a:picLocks noChangeAspect="1"/>
          </p:cNvPicPr>
          <p:nvPr/>
        </p:nvPicPr>
        <p:blipFill>
          <a:blip r:embed="rId8"/>
          <a:stretch>
            <a:fillRect/>
          </a:stretch>
        </p:blipFill>
        <p:spPr>
          <a:xfrm>
            <a:off x="8595360" y="2613914"/>
            <a:ext cx="219456" cy="219456"/>
          </a:xfrm>
          <a:prstGeom prst="rect">
            <a:avLst/>
          </a:prstGeom>
        </p:spPr>
      </p:pic>
      <p:sp>
        <p:nvSpPr>
          <p:cNvPr id="40" name="Text 30"/>
          <p:cNvSpPr txBox="1"/>
          <p:nvPr/>
        </p:nvSpPr>
        <p:spPr>
          <a:xfrm>
            <a:off x="8942832" y="2606040"/>
            <a:ext cx="2532888" cy="922528"/>
          </a:xfrm>
          <a:prstGeom prst="rect">
            <a:avLst/>
          </a:prstGeom>
          <a:noFill/>
          <a:ln/>
        </p:spPr>
        <p:txBody>
          <a:bodyPr wrap="square" lIns="0" tIns="0" rIns="0" bIns="0" rtlCol="0" anchor="t"/>
          <a:lstStyle/>
          <a:p>
            <a:pPr indent="0" marL="0">
              <a:buNone/>
            </a:pPr>
            <a:r>
              <a:rPr lang="en-US" sz="1400" dirty="0">
                <a:solidFill>
                  <a:schemeClr val="tx1"/>
                </a:solidFill>
              </a:rPr>
              <a:t>Drift check works only where AWS supports it — FMS policies, for example, can’t be checked (slide 12).</a:t>
            </a:r>
            <a:endParaRPr lang="en-US" sz="1400" dirty="0"/>
          </a:p>
        </p:txBody>
      </p:sp>
      <p:pic>
        <p:nvPicPr>
          <p:cNvPr id="41" name="Image 8" descr="preencoded.png">    </p:cNvPr>
          <p:cNvPicPr>
            <a:picLocks noChangeAspect="1"/>
          </p:cNvPicPr>
          <p:nvPr/>
        </p:nvPicPr>
        <p:blipFill>
          <a:blip r:embed="rId9"/>
          <a:stretch>
            <a:fillRect/>
          </a:stretch>
        </p:blipFill>
        <p:spPr>
          <a:xfrm>
            <a:off x="8595360" y="3719322"/>
            <a:ext cx="219456" cy="219456"/>
          </a:xfrm>
          <a:prstGeom prst="rect">
            <a:avLst/>
          </a:prstGeom>
        </p:spPr>
      </p:pic>
      <p:sp>
        <p:nvSpPr>
          <p:cNvPr id="42" name="Text 31"/>
          <p:cNvSpPr txBox="1"/>
          <p:nvPr/>
        </p:nvSpPr>
        <p:spPr>
          <a:xfrm>
            <a:off x="8942832" y="3711448"/>
            <a:ext cx="2532888" cy="705612"/>
          </a:xfrm>
          <a:prstGeom prst="rect">
            <a:avLst/>
          </a:prstGeom>
          <a:noFill/>
          <a:ln/>
        </p:spPr>
        <p:txBody>
          <a:bodyPr wrap="square" lIns="0" tIns="0" rIns="0" bIns="0" rtlCol="0" anchor="t"/>
          <a:lstStyle/>
          <a:p>
            <a:pPr indent="0" marL="0">
              <a:buNone/>
            </a:pPr>
            <a:r>
              <a:rPr lang="en-US" sz="1400" dirty="0">
                <a:solidFill>
                  <a:schemeClr val="tx1"/>
                </a:solidFill>
              </a:rPr>
              <a:t>Deploy = yes removes the human pause — keep the default for production.</a:t>
            </a:r>
            <a:endParaRPr lang="en-US" sz="1400" dirty="0"/>
          </a:p>
        </p:txBody>
      </p:sp>
      <p:pic>
        <p:nvPicPr>
          <p:cNvPr id="43" name="Image 9" descr="preencoded.png">    </p:cNvPr>
          <p:cNvPicPr>
            <a:picLocks noChangeAspect="1"/>
          </p:cNvPicPr>
          <p:nvPr/>
        </p:nvPicPr>
        <p:blipFill>
          <a:blip r:embed="rId10"/>
          <a:stretch>
            <a:fillRect/>
          </a:stretch>
        </p:blipFill>
        <p:spPr>
          <a:xfrm>
            <a:off x="8595360" y="4607814"/>
            <a:ext cx="219456" cy="219456"/>
          </a:xfrm>
          <a:prstGeom prst="rect">
            <a:avLst/>
          </a:prstGeom>
        </p:spPr>
      </p:pic>
      <p:sp>
        <p:nvSpPr>
          <p:cNvPr id="44" name="Text 32"/>
          <p:cNvSpPr txBox="1"/>
          <p:nvPr/>
        </p:nvSpPr>
        <p:spPr>
          <a:xfrm>
            <a:off x="8942832" y="4599940"/>
            <a:ext cx="2532888" cy="922528"/>
          </a:xfrm>
          <a:prstGeom prst="rect">
            <a:avLst/>
          </a:prstGeom>
          <a:noFill/>
          <a:ln/>
        </p:spPr>
        <p:txBody>
          <a:bodyPr wrap="square" lIns="0" tIns="0" rIns="0" bIns="0" rtlCol="0" anchor="t"/>
          <a:lstStyle/>
          <a:p>
            <a:pPr indent="0" marL="0">
              <a:buNone/>
            </a:pPr>
            <a:r>
              <a:rPr lang="en-US" sz="1400" dirty="0">
                <a:solidFill>
                  <a:schemeClr val="tx1"/>
                </a:solidFill>
              </a:rPr>
              <a:t>Doesn’t force a code review on its own — it can run from a branch (it warns when it deploys one).</a:t>
            </a:r>
            <a:endParaRPr lang="en-US" sz="14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The new pipeline in action</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Screenshots from real runs</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NEW PIPELINE</a:t>
            </a:r>
            <a:endParaRPr lang="en-US" sz="1100" dirty="0"/>
          </a:p>
        </p:txBody>
      </p:sp>
      <p:sp>
        <p:nvSpPr>
          <p:cNvPr id="5" name="Screenshot panel"/>
          <p:cNvSpPr/>
          <p:nvPr/>
        </p:nvSpPr>
        <p:spPr>
          <a:xfrm>
            <a:off x="548640" y="1645920"/>
            <a:ext cx="5440680" cy="1691640"/>
          </a:xfrm>
          <a:prstGeom prst="roundRect">
            <a:avLst>
              <a:gd name="adj" fmla="val 4324"/>
            </a:avLst>
          </a:prstGeom>
          <a:solidFill>
            <a:schemeClr val="bg2"/>
          </a:solidFill>
          <a:ln/>
        </p:spPr>
      </p:sp>
      <p:sp>
        <p:nvSpPr>
          <p:cNvPr id="6" name="Screenshot border"/>
          <p:cNvSpPr/>
          <p:nvPr/>
        </p:nvSpPr>
        <p:spPr>
          <a:xfrm>
            <a:off x="640080" y="1814811"/>
            <a:ext cx="5257800" cy="1353857"/>
          </a:xfrm>
          <a:prstGeom prst="rect">
            <a:avLst/>
          </a:prstGeom>
          <a:solidFill>
            <a:schemeClr val="bg1"/>
          </a:solidFill>
          <a:ln w="9525">
            <a:solidFill>
              <a:srgbClr val="C9D1DB"/>
            </a:solidFill>
            <a:prstDash val="solid"/>
          </a:ln>
        </p:spPr>
      </p:sp>
      <p:pic>
        <p:nvPicPr>
          <p:cNvPr id="7" name="Image 0" descr="1 · The run page">    </p:cNvPr>
          <p:cNvPicPr>
            <a:picLocks noChangeAspect="1"/>
          </p:cNvPicPr>
          <p:nvPr/>
        </p:nvPicPr>
        <p:blipFill>
          <a:blip r:embed="rId1"/>
          <a:stretch>
            <a:fillRect/>
          </a:stretch>
        </p:blipFill>
        <p:spPr>
          <a:xfrm>
            <a:off x="658368" y="1833099"/>
            <a:ext cx="5221224" cy="1317281"/>
          </a:xfrm>
          <a:prstGeom prst="rect">
            <a:avLst/>
          </a:prstGeom>
        </p:spPr>
      </p:pic>
      <p:sp>
        <p:nvSpPr>
          <p:cNvPr id="8" name="Text 5"/>
          <p:cNvSpPr txBox="1"/>
          <p:nvPr/>
        </p:nvSpPr>
        <p:spPr>
          <a:xfrm>
            <a:off x="548640" y="3410712"/>
            <a:ext cx="5440680" cy="502920"/>
          </a:xfrm>
          <a:prstGeom prst="rect">
            <a:avLst/>
          </a:prstGeom>
          <a:noFill/>
          <a:ln/>
        </p:spPr>
        <p:txBody>
          <a:bodyPr wrap="square" lIns="0" tIns="0" rIns="0" bIns="0" rtlCol="0" anchor="t"/>
          <a:lstStyle/>
          <a:p>
            <a:pPr indent="0" marL="0">
              <a:buNone/>
            </a:pPr>
            <a:r>
              <a:rPr lang="en-US" sz="1300" b="1" dirty="0">
                <a:solidFill>
                  <a:schemeClr val="tx1"/>
                </a:solidFill>
              </a:rPr>
              <a:t>1 · The run page</a:t>
            </a:r>
            <a:pPr indent="0" marL="0">
              <a:buNone/>
            </a:pPr>
            <a:r>
              <a:rPr lang="en-US" sz="1200" dirty="0">
                <a:solidFill>
                  <a:schemeClr val="tx2"/>
                </a:solidFill>
              </a:rPr>
              <a:t>  Prepare → Drift check → Change set; Deploy (grey) waits until someone decides</a:t>
            </a:r>
            <a:endParaRPr lang="en-US" sz="1400" dirty="0"/>
          </a:p>
        </p:txBody>
      </p:sp>
      <p:sp>
        <p:nvSpPr>
          <p:cNvPr id="9" name="Screenshot panel"/>
          <p:cNvSpPr/>
          <p:nvPr/>
        </p:nvSpPr>
        <p:spPr>
          <a:xfrm>
            <a:off x="6199632" y="1645920"/>
            <a:ext cx="5440680" cy="1691640"/>
          </a:xfrm>
          <a:prstGeom prst="roundRect">
            <a:avLst>
              <a:gd name="adj" fmla="val 4324"/>
            </a:avLst>
          </a:prstGeom>
          <a:solidFill>
            <a:schemeClr val="bg2"/>
          </a:solidFill>
          <a:ln/>
        </p:spPr>
      </p:sp>
      <p:sp>
        <p:nvSpPr>
          <p:cNvPr id="10" name="Screenshot border"/>
          <p:cNvSpPr/>
          <p:nvPr/>
        </p:nvSpPr>
        <p:spPr>
          <a:xfrm>
            <a:off x="6924416" y="1737360"/>
            <a:ext cx="3991113" cy="1508760"/>
          </a:xfrm>
          <a:prstGeom prst="rect">
            <a:avLst/>
          </a:prstGeom>
          <a:solidFill>
            <a:schemeClr val="bg1"/>
          </a:solidFill>
          <a:ln w="9525">
            <a:solidFill>
              <a:srgbClr val="C9D1DB"/>
            </a:solidFill>
            <a:prstDash val="solid"/>
          </a:ln>
        </p:spPr>
      </p:sp>
      <p:pic>
        <p:nvPicPr>
          <p:cNvPr id="11" name="Image 1" descr="2 · Drift found">    </p:cNvPr>
          <p:cNvPicPr>
            <a:picLocks noChangeAspect="1"/>
          </p:cNvPicPr>
          <p:nvPr/>
        </p:nvPicPr>
        <p:blipFill>
          <a:blip r:embed="rId2"/>
          <a:stretch>
            <a:fillRect/>
          </a:stretch>
        </p:blipFill>
        <p:spPr>
          <a:xfrm>
            <a:off x="6942704" y="1755648"/>
            <a:ext cx="3954537" cy="1472184"/>
          </a:xfrm>
          <a:prstGeom prst="rect">
            <a:avLst/>
          </a:prstGeom>
        </p:spPr>
      </p:pic>
      <p:sp>
        <p:nvSpPr>
          <p:cNvPr id="12" name="Text 8"/>
          <p:cNvSpPr txBox="1"/>
          <p:nvPr/>
        </p:nvSpPr>
        <p:spPr>
          <a:xfrm>
            <a:off x="6199632" y="3410712"/>
            <a:ext cx="5440680" cy="502920"/>
          </a:xfrm>
          <a:prstGeom prst="rect">
            <a:avLst/>
          </a:prstGeom>
          <a:noFill/>
          <a:ln/>
        </p:spPr>
        <p:txBody>
          <a:bodyPr wrap="square" lIns="0" tIns="0" rIns="0" bIns="0" rtlCol="0" anchor="t"/>
          <a:lstStyle/>
          <a:p>
            <a:pPr indent="0" marL="0">
              <a:buNone/>
            </a:pPr>
            <a:r>
              <a:rPr lang="en-US" sz="1300" b="1" dirty="0">
                <a:solidFill>
                  <a:schemeClr val="tx1"/>
                </a:solidFill>
              </a:rPr>
              <a:t>2 · Drift found</a:t>
            </a:r>
            <a:pPr indent="0" marL="0">
              <a:buNone/>
            </a:pPr>
            <a:r>
              <a:rPr lang="en-US" sz="1200" dirty="0">
                <a:solidFill>
                  <a:schemeClr val="tx2"/>
                </a:solidFill>
              </a:rPr>
              <a:t>  the run stops before the change set and shows what differs</a:t>
            </a:r>
            <a:endParaRPr lang="en-US" sz="1400" dirty="0"/>
          </a:p>
        </p:txBody>
      </p:sp>
      <p:sp>
        <p:nvSpPr>
          <p:cNvPr id="13" name="Screenshot panel"/>
          <p:cNvSpPr/>
          <p:nvPr/>
        </p:nvSpPr>
        <p:spPr>
          <a:xfrm>
            <a:off x="548640" y="4041648"/>
            <a:ext cx="5440680" cy="1691640"/>
          </a:xfrm>
          <a:prstGeom prst="roundRect">
            <a:avLst>
              <a:gd name="adj" fmla="val 4324"/>
            </a:avLst>
          </a:prstGeom>
          <a:solidFill>
            <a:schemeClr val="bg2"/>
          </a:solidFill>
          <a:ln/>
        </p:spPr>
      </p:sp>
      <p:sp>
        <p:nvSpPr>
          <p:cNvPr id="14" name="Screenshot border"/>
          <p:cNvSpPr/>
          <p:nvPr/>
        </p:nvSpPr>
        <p:spPr>
          <a:xfrm>
            <a:off x="640080" y="4144195"/>
            <a:ext cx="5257800" cy="1486546"/>
          </a:xfrm>
          <a:prstGeom prst="rect">
            <a:avLst/>
          </a:prstGeom>
          <a:solidFill>
            <a:schemeClr val="bg1"/>
          </a:solidFill>
          <a:ln w="9525">
            <a:solidFill>
              <a:srgbClr val="C9D1DB"/>
            </a:solidFill>
            <a:prstDash val="solid"/>
          </a:ln>
        </p:spPr>
      </p:sp>
      <p:pic>
        <p:nvPicPr>
          <p:cNvPr id="15" name="Image 2" descr="3 · The change set">    </p:cNvPr>
          <p:cNvPicPr>
            <a:picLocks noChangeAspect="1"/>
          </p:cNvPicPr>
          <p:nvPr/>
        </p:nvPicPr>
        <p:blipFill>
          <a:blip r:embed="rId3"/>
          <a:stretch>
            <a:fillRect/>
          </a:stretch>
        </p:blipFill>
        <p:spPr>
          <a:xfrm>
            <a:off x="658368" y="4162483"/>
            <a:ext cx="5221224" cy="1449970"/>
          </a:xfrm>
          <a:prstGeom prst="rect">
            <a:avLst/>
          </a:prstGeom>
        </p:spPr>
      </p:pic>
      <p:sp>
        <p:nvSpPr>
          <p:cNvPr id="16" name="Text 11"/>
          <p:cNvSpPr txBox="1"/>
          <p:nvPr/>
        </p:nvSpPr>
        <p:spPr>
          <a:xfrm>
            <a:off x="548640" y="5806440"/>
            <a:ext cx="5440680" cy="502920"/>
          </a:xfrm>
          <a:prstGeom prst="rect">
            <a:avLst/>
          </a:prstGeom>
          <a:noFill/>
          <a:ln/>
        </p:spPr>
        <p:txBody>
          <a:bodyPr wrap="square" lIns="0" tIns="0" rIns="0" bIns="0" rtlCol="0" anchor="t"/>
          <a:lstStyle/>
          <a:p>
            <a:pPr indent="0" marL="0">
              <a:buNone/>
            </a:pPr>
            <a:r>
              <a:rPr lang="en-US" sz="1300" b="1" dirty="0">
                <a:solidFill>
                  <a:schemeClr val="tx1"/>
                </a:solidFill>
              </a:rPr>
              <a:t>3 · The change set</a:t>
            </a:r>
            <a:pPr indent="0" marL="0">
              <a:buNone/>
            </a:pPr>
            <a:r>
              <a:rPr lang="en-US" sz="1200" dirty="0">
                <a:solidFill>
                  <a:schemeClr val="tx2"/>
                </a:solidFill>
              </a:rPr>
              <a:t>  “ready for review”: every add, modify and remove, with a link to AWS</a:t>
            </a:r>
            <a:endParaRPr lang="en-US" sz="1400" dirty="0"/>
          </a:p>
        </p:txBody>
      </p:sp>
      <p:sp>
        <p:nvSpPr>
          <p:cNvPr id="17" name="Screenshot panel"/>
          <p:cNvSpPr/>
          <p:nvPr/>
        </p:nvSpPr>
        <p:spPr>
          <a:xfrm>
            <a:off x="6199632" y="4041648"/>
            <a:ext cx="5440680" cy="1691640"/>
          </a:xfrm>
          <a:prstGeom prst="roundRect">
            <a:avLst>
              <a:gd name="adj" fmla="val 4324"/>
            </a:avLst>
          </a:prstGeom>
          <a:solidFill>
            <a:schemeClr val="bg2"/>
          </a:solidFill>
          <a:ln/>
        </p:spPr>
      </p:sp>
      <p:sp>
        <p:nvSpPr>
          <p:cNvPr id="18" name="Screenshot border"/>
          <p:cNvSpPr/>
          <p:nvPr/>
        </p:nvSpPr>
        <p:spPr>
          <a:xfrm>
            <a:off x="6291072" y="4216527"/>
            <a:ext cx="5257800" cy="1341882"/>
          </a:xfrm>
          <a:prstGeom prst="rect">
            <a:avLst/>
          </a:prstGeom>
          <a:solidFill>
            <a:schemeClr val="bg1"/>
          </a:solidFill>
          <a:ln w="9525">
            <a:solidFill>
              <a:srgbClr val="C9D1DB"/>
            </a:solidFill>
            <a:prstDash val="solid"/>
          </a:ln>
        </p:spPr>
      </p:sp>
      <p:pic>
        <p:nvPicPr>
          <p:cNvPr id="19" name="Image 3" descr="4 · Deployed">    </p:cNvPr>
          <p:cNvPicPr>
            <a:picLocks noChangeAspect="1"/>
          </p:cNvPicPr>
          <p:nvPr/>
        </p:nvPicPr>
        <p:blipFill>
          <a:blip r:embed="rId4"/>
          <a:stretch>
            <a:fillRect/>
          </a:stretch>
        </p:blipFill>
        <p:spPr>
          <a:xfrm>
            <a:off x="6309360" y="4234815"/>
            <a:ext cx="5221224" cy="1305306"/>
          </a:xfrm>
          <a:prstGeom prst="rect">
            <a:avLst/>
          </a:prstGeom>
        </p:spPr>
      </p:pic>
      <p:sp>
        <p:nvSpPr>
          <p:cNvPr id="20" name="Text 14"/>
          <p:cNvSpPr txBox="1"/>
          <p:nvPr/>
        </p:nvSpPr>
        <p:spPr>
          <a:xfrm>
            <a:off x="6199632" y="5806440"/>
            <a:ext cx="5440680" cy="502920"/>
          </a:xfrm>
          <a:prstGeom prst="rect">
            <a:avLst/>
          </a:prstGeom>
          <a:noFill/>
          <a:ln/>
        </p:spPr>
        <p:txBody>
          <a:bodyPr wrap="square" lIns="0" tIns="0" rIns="0" bIns="0" rtlCol="0" anchor="t"/>
          <a:lstStyle/>
          <a:p>
            <a:pPr indent="0" marL="0">
              <a:buNone/>
            </a:pPr>
            <a:r>
              <a:rPr lang="en-US" sz="1300" b="1" dirty="0">
                <a:solidFill>
                  <a:schemeClr val="tx1"/>
                </a:solidFill>
              </a:rPr>
              <a:t>4 · Deployed</a:t>
            </a:r>
            <a:pPr indent="0" marL="0">
              <a:buNone/>
            </a:pPr>
            <a:r>
              <a:rPr lang="en-US" sz="1200" dirty="0">
                <a:solidFill>
                  <a:schemeClr val="tx2"/>
                </a:solidFill>
              </a:rPr>
              <a:t>  with Deploy = yes, the same change set runs and the result is reported</a:t>
            </a:r>
            <a:endParaRPr lang="en-US" sz="14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WS2 DNS pipelines: export, edit, apply</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ws2-dns-records-export.yml + ws2-dns-records-apply.yml — bulk changes to DNS records only</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50" kern="0" dirty="0">
                <a:solidFill>
                  <a:schemeClr val="bg1"/>
                </a:solidFill>
              </a:rPr>
              <a:t>WS2 DNS</a:t>
            </a:r>
            <a:endParaRPr lang="en-US" sz="1100" dirty="0"/>
          </a:p>
        </p:txBody>
      </p:sp>
      <p:sp>
        <p:nvSpPr>
          <p:cNvPr id="5" name="PART 1"/>
          <p:cNvSpPr/>
          <p:nvPr/>
        </p:nvSpPr>
        <p:spPr>
          <a:xfrm>
            <a:off x="548640" y="1691640"/>
            <a:ext cx="1463040" cy="1097280"/>
          </a:xfrm>
          <a:prstGeom prst="roundRect">
            <a:avLst>
              <a:gd name="adj" fmla="val 8333"/>
            </a:avLst>
          </a:prstGeom>
          <a:solidFill>
            <a:schemeClr val="accent2"/>
          </a:solidFill>
          <a:ln/>
        </p:spPr>
      </p:sp>
      <p:sp>
        <p:nvSpPr>
          <p:cNvPr id="6" name="Text 4"/>
          <p:cNvSpPr txBox="1"/>
          <p:nvPr/>
        </p:nvSpPr>
        <p:spPr>
          <a:xfrm>
            <a:off x="658368" y="1783080"/>
            <a:ext cx="1280160" cy="932688"/>
          </a:xfrm>
          <a:prstGeom prst="rect">
            <a:avLst/>
          </a:prstGeom>
          <a:noFill/>
          <a:ln/>
        </p:spPr>
        <p:txBody>
          <a:bodyPr wrap="square" lIns="0" tIns="0" rIns="0" bIns="0" rtlCol="0" anchor="ctr"/>
          <a:lstStyle/>
          <a:p>
            <a:pPr indent="0" marL="0">
              <a:buNone/>
            </a:pPr>
            <a:r>
              <a:rPr lang="en-US" sz="1100" b="1" spc="150" kern="0" dirty="0">
                <a:solidFill>
                  <a:schemeClr val="bg1"/>
                </a:solidFill>
              </a:rPr>
              <a:t>PART 1</a:t>
            </a:r>
            <a:endParaRPr lang="en-US" sz="1400" dirty="0"/>
          </a:p>
          <a:p>
            <a:pPr indent="0" marL="0">
              <a:buNone/>
            </a:pPr>
            <a:r>
              <a:rPr lang="en-US" sz="1800" b="1" dirty="0">
                <a:solidFill>
                  <a:schemeClr val="bg1"/>
                </a:solidFill>
              </a:rPr>
              <a:t>Export</a:t>
            </a:r>
            <a:endParaRPr lang="en-US" sz="1400" dirty="0"/>
          </a:p>
          <a:p>
            <a:pPr indent="0" marL="0">
              <a:buNone/>
            </a:pPr>
            <a:r>
              <a:rPr lang="en-US" sz="1100" dirty="0">
                <a:solidFill>
                  <a:schemeClr val="bg1"/>
                </a:solidFill>
              </a:rPr>
              <a:t>live DNS → Git</a:t>
            </a:r>
            <a:endParaRPr lang="en-US" sz="1400" dirty="0"/>
          </a:p>
        </p:txBody>
      </p:sp>
      <p:sp>
        <p:nvSpPr>
          <p:cNvPr id="7" name="PART 2"/>
          <p:cNvSpPr/>
          <p:nvPr/>
        </p:nvSpPr>
        <p:spPr>
          <a:xfrm>
            <a:off x="548640" y="3648456"/>
            <a:ext cx="1463040" cy="1097280"/>
          </a:xfrm>
          <a:prstGeom prst="roundRect">
            <a:avLst>
              <a:gd name="adj" fmla="val 8333"/>
            </a:avLst>
          </a:prstGeom>
          <a:solidFill>
            <a:schemeClr val="accent2"/>
          </a:solidFill>
          <a:ln/>
        </p:spPr>
      </p:sp>
      <p:sp>
        <p:nvSpPr>
          <p:cNvPr id="8" name="Text 6"/>
          <p:cNvSpPr txBox="1"/>
          <p:nvPr/>
        </p:nvSpPr>
        <p:spPr>
          <a:xfrm>
            <a:off x="658368" y="3739896"/>
            <a:ext cx="1280160" cy="932688"/>
          </a:xfrm>
          <a:prstGeom prst="rect">
            <a:avLst/>
          </a:prstGeom>
          <a:noFill/>
          <a:ln/>
        </p:spPr>
        <p:txBody>
          <a:bodyPr wrap="square" lIns="0" tIns="0" rIns="0" bIns="0" rtlCol="0" anchor="ctr"/>
          <a:lstStyle/>
          <a:p>
            <a:pPr indent="0" marL="0">
              <a:buNone/>
            </a:pPr>
            <a:r>
              <a:rPr lang="en-US" sz="1100" b="1" spc="150" kern="0" dirty="0">
                <a:solidFill>
                  <a:schemeClr val="bg1"/>
                </a:solidFill>
              </a:rPr>
              <a:t>PART 2</a:t>
            </a:r>
            <a:endParaRPr lang="en-US" sz="1400" dirty="0"/>
          </a:p>
          <a:p>
            <a:pPr indent="0" marL="0">
              <a:buNone/>
            </a:pPr>
            <a:r>
              <a:rPr lang="en-US" sz="1800" b="1" dirty="0">
                <a:solidFill>
                  <a:schemeClr val="bg1"/>
                </a:solidFill>
              </a:rPr>
              <a:t>Apply</a:t>
            </a:r>
            <a:endParaRPr lang="en-US" sz="1400" dirty="0"/>
          </a:p>
          <a:p>
            <a:pPr indent="0" marL="0">
              <a:buNone/>
            </a:pPr>
            <a:r>
              <a:rPr lang="en-US" sz="1100" dirty="0">
                <a:solidFill>
                  <a:schemeClr val="bg1"/>
                </a:solidFill>
              </a:rPr>
              <a:t>Git → live DNS</a:t>
            </a:r>
            <a:endParaRPr lang="en-US" sz="1400" dirty="0"/>
          </a:p>
        </p:txBody>
      </p:sp>
      <p:sp>
        <p:nvSpPr>
          <p:cNvPr id="9" name="Export: Start"/>
          <p:cNvSpPr/>
          <p:nvPr/>
        </p:nvSpPr>
        <p:spPr>
          <a:xfrm>
            <a:off x="2240280" y="1691640"/>
            <a:ext cx="2075688" cy="1097280"/>
          </a:xfrm>
          <a:prstGeom prst="roundRect">
            <a:avLst>
              <a:gd name="adj" fmla="val 8333"/>
            </a:avLst>
          </a:prstGeom>
          <a:solidFill>
            <a:schemeClr val="accent2">
              <a:alpha val="8000"/>
            </a:schemeClr>
          </a:solidFill>
          <a:ln w="15875">
            <a:solidFill>
              <a:schemeClr val="accent2"/>
            </a:solidFill>
            <a:prstDash val="solid"/>
          </a:ln>
        </p:spPr>
      </p:sp>
      <p:sp>
        <p:nvSpPr>
          <p:cNvPr id="10" name="Shape 8"/>
          <p:cNvSpPr/>
          <p:nvPr/>
        </p:nvSpPr>
        <p:spPr>
          <a:xfrm>
            <a:off x="2368296" y="1819656"/>
            <a:ext cx="384048" cy="384048"/>
          </a:xfrm>
          <a:prstGeom prst="ellipse">
            <a:avLst/>
          </a:prstGeom>
          <a:solidFill>
            <a:schemeClr val="accent2"/>
          </a:solidFill>
          <a:ln/>
        </p:spPr>
      </p:sp>
      <p:pic>
        <p:nvPicPr>
          <p:cNvPr id="11" name="Image 0" descr="preencoded.png">    </p:cNvPr>
          <p:cNvPicPr>
            <a:picLocks noChangeAspect="1"/>
          </p:cNvPicPr>
          <p:nvPr/>
        </p:nvPicPr>
        <p:blipFill>
          <a:blip r:embed="rId1"/>
          <a:stretch>
            <a:fillRect/>
          </a:stretch>
        </p:blipFill>
        <p:spPr>
          <a:xfrm>
            <a:off x="2452787" y="1904147"/>
            <a:ext cx="215067" cy="215067"/>
          </a:xfrm>
          <a:prstGeom prst="rect">
            <a:avLst/>
          </a:prstGeom>
        </p:spPr>
      </p:pic>
      <p:sp>
        <p:nvSpPr>
          <p:cNvPr id="12" name="Text 9"/>
          <p:cNvSpPr txBox="1"/>
          <p:nvPr/>
        </p:nvSpPr>
        <p:spPr>
          <a:xfrm>
            <a:off x="2843784" y="1819656"/>
            <a:ext cx="1362456" cy="384048"/>
          </a:xfrm>
          <a:prstGeom prst="rect">
            <a:avLst/>
          </a:prstGeom>
          <a:noFill/>
          <a:ln/>
        </p:spPr>
        <p:txBody>
          <a:bodyPr wrap="square" lIns="0" tIns="0" rIns="0" bIns="0" rtlCol="0" anchor="ctr"/>
          <a:lstStyle/>
          <a:p>
            <a:pPr indent="0" marL="0">
              <a:buNone/>
            </a:pPr>
            <a:r>
              <a:rPr lang="en-US" sz="1400" b="1" dirty="0">
                <a:solidFill>
                  <a:schemeClr val="tx1"/>
                </a:solidFill>
              </a:rPr>
              <a:t>Start</a:t>
            </a:r>
            <a:endParaRPr lang="en-US" sz="1400" dirty="0"/>
          </a:p>
        </p:txBody>
      </p:sp>
      <p:sp>
        <p:nvSpPr>
          <p:cNvPr id="13" name="Text 10"/>
          <p:cNvSpPr txBox="1"/>
          <p:nvPr/>
        </p:nvSpPr>
        <p:spPr>
          <a:xfrm>
            <a:off x="2368296" y="2295144"/>
            <a:ext cx="1819656" cy="420624"/>
          </a:xfrm>
          <a:prstGeom prst="rect">
            <a:avLst/>
          </a:prstGeom>
          <a:noFill/>
          <a:ln/>
        </p:spPr>
        <p:txBody>
          <a:bodyPr wrap="square" lIns="0" tIns="0" rIns="0" bIns="0" rtlCol="0" anchor="t"/>
          <a:lstStyle/>
          <a:p>
            <a:pPr indent="0" marL="0">
              <a:buNone/>
            </a:pPr>
            <a:r>
              <a:rPr lang="en-US" sz="1200" dirty="0">
                <a:solidFill>
                  <a:schemeClr val="tx2"/>
                </a:solidFill>
              </a:rPr>
              <a:t>Pick the account and one zone — or all zones</a:t>
            </a:r>
            <a:endParaRPr lang="en-US" sz="1200" dirty="0"/>
          </a:p>
        </p:txBody>
      </p:sp>
      <p:sp>
        <p:nvSpPr>
          <p:cNvPr id="14" name="Apply: Start"/>
          <p:cNvSpPr/>
          <p:nvPr/>
        </p:nvSpPr>
        <p:spPr>
          <a:xfrm>
            <a:off x="2240280" y="3648456"/>
            <a:ext cx="2075688" cy="1097280"/>
          </a:xfrm>
          <a:prstGeom prst="roundRect">
            <a:avLst>
              <a:gd name="adj" fmla="val 8333"/>
            </a:avLst>
          </a:prstGeom>
          <a:solidFill>
            <a:schemeClr val="accent2">
              <a:alpha val="8000"/>
            </a:schemeClr>
          </a:solidFill>
          <a:ln w="15875">
            <a:solidFill>
              <a:schemeClr val="accent2"/>
            </a:solidFill>
            <a:prstDash val="solid"/>
          </a:ln>
        </p:spPr>
      </p:sp>
      <p:sp>
        <p:nvSpPr>
          <p:cNvPr id="15" name="Shape 12"/>
          <p:cNvSpPr/>
          <p:nvPr/>
        </p:nvSpPr>
        <p:spPr>
          <a:xfrm>
            <a:off x="2368296" y="3776472"/>
            <a:ext cx="384048" cy="384048"/>
          </a:xfrm>
          <a:prstGeom prst="ellipse">
            <a:avLst/>
          </a:prstGeom>
          <a:solidFill>
            <a:schemeClr val="accent2"/>
          </a:solidFill>
          <a:ln/>
        </p:spPr>
      </p:sp>
      <p:pic>
        <p:nvPicPr>
          <p:cNvPr id="16" name="Image 1" descr="preencoded.png">    </p:cNvPr>
          <p:cNvPicPr>
            <a:picLocks noChangeAspect="1"/>
          </p:cNvPicPr>
          <p:nvPr/>
        </p:nvPicPr>
        <p:blipFill>
          <a:blip r:embed="rId2"/>
          <a:stretch>
            <a:fillRect/>
          </a:stretch>
        </p:blipFill>
        <p:spPr>
          <a:xfrm>
            <a:off x="2452787" y="3860963"/>
            <a:ext cx="215067" cy="215067"/>
          </a:xfrm>
          <a:prstGeom prst="rect">
            <a:avLst/>
          </a:prstGeom>
        </p:spPr>
      </p:pic>
      <p:sp>
        <p:nvSpPr>
          <p:cNvPr id="17" name="Text 13"/>
          <p:cNvSpPr txBox="1"/>
          <p:nvPr/>
        </p:nvSpPr>
        <p:spPr>
          <a:xfrm>
            <a:off x="2843784" y="3776472"/>
            <a:ext cx="1362456" cy="384048"/>
          </a:xfrm>
          <a:prstGeom prst="rect">
            <a:avLst/>
          </a:prstGeom>
          <a:noFill/>
          <a:ln/>
        </p:spPr>
        <p:txBody>
          <a:bodyPr wrap="square" lIns="0" tIns="0" rIns="0" bIns="0" rtlCol="0" anchor="ctr"/>
          <a:lstStyle/>
          <a:p>
            <a:pPr indent="0" marL="0">
              <a:buNone/>
            </a:pPr>
            <a:r>
              <a:rPr lang="en-US" sz="1400" b="1" dirty="0">
                <a:solidFill>
                  <a:schemeClr val="tx1"/>
                </a:solidFill>
              </a:rPr>
              <a:t>Start</a:t>
            </a:r>
            <a:endParaRPr lang="en-US" sz="1400" dirty="0"/>
          </a:p>
        </p:txBody>
      </p:sp>
      <p:sp>
        <p:nvSpPr>
          <p:cNvPr id="18" name="Text 14"/>
          <p:cNvSpPr txBox="1"/>
          <p:nvPr/>
        </p:nvSpPr>
        <p:spPr>
          <a:xfrm>
            <a:off x="2368296" y="4251960"/>
            <a:ext cx="1819656" cy="420624"/>
          </a:xfrm>
          <a:prstGeom prst="rect">
            <a:avLst/>
          </a:prstGeom>
          <a:noFill/>
          <a:ln/>
        </p:spPr>
        <p:txBody>
          <a:bodyPr wrap="square" lIns="0" tIns="0" rIns="0" bIns="0" rtlCol="0" anchor="t"/>
          <a:lstStyle/>
          <a:p>
            <a:pPr indent="0" marL="0">
              <a:buNone/>
            </a:pPr>
            <a:r>
              <a:rPr lang="en-US" sz="1200" dirty="0">
                <a:solidFill>
                  <a:schemeClr val="tx2"/>
                </a:solidFill>
              </a:rPr>
              <a:t>Pick the zone; without ‘execute’ it only previews</a:t>
            </a:r>
            <a:endParaRPr lang="en-US" sz="1200" dirty="0"/>
          </a:p>
        </p:txBody>
      </p:sp>
      <p:sp>
        <p:nvSpPr>
          <p:cNvPr id="19" name="Shape 15"/>
          <p:cNvSpPr/>
          <p:nvPr/>
        </p:nvSpPr>
        <p:spPr>
          <a:xfrm>
            <a:off x="4352544" y="2240280"/>
            <a:ext cx="292608" cy="914"/>
          </a:xfrm>
          <a:prstGeom prst="line">
            <a:avLst/>
          </a:prstGeom>
          <a:noFill/>
          <a:ln w="22225">
            <a:solidFill>
              <a:schemeClr val="tx2"/>
            </a:solidFill>
            <a:prstDash val="solid"/>
            <a:tailEnd type="triangle"/>
          </a:ln>
        </p:spPr>
      </p:sp>
      <p:sp>
        <p:nvSpPr>
          <p:cNvPr id="20" name="Shape 16"/>
          <p:cNvSpPr/>
          <p:nvPr/>
        </p:nvSpPr>
        <p:spPr>
          <a:xfrm>
            <a:off x="4352544" y="4197096"/>
            <a:ext cx="292608" cy="914"/>
          </a:xfrm>
          <a:prstGeom prst="line">
            <a:avLst/>
          </a:prstGeom>
          <a:noFill/>
          <a:ln w="22225">
            <a:solidFill>
              <a:schemeClr val="tx2"/>
            </a:solidFill>
            <a:prstDash val="solid"/>
            <a:tailEnd type="triangle"/>
          </a:ln>
        </p:spPr>
      </p:sp>
      <p:sp>
        <p:nvSpPr>
          <p:cNvPr id="21" name="Export: Approval"/>
          <p:cNvSpPr/>
          <p:nvPr/>
        </p:nvSpPr>
        <p:spPr>
          <a:xfrm>
            <a:off x="4681728" y="1691640"/>
            <a:ext cx="2075688" cy="1097280"/>
          </a:xfrm>
          <a:prstGeom prst="roundRect">
            <a:avLst>
              <a:gd name="adj" fmla="val 8333"/>
            </a:avLst>
          </a:prstGeom>
          <a:solidFill>
            <a:schemeClr val="bg1"/>
          </a:solidFill>
          <a:ln w="15875">
            <a:solidFill>
              <a:schemeClr val="accent2"/>
            </a:solidFill>
            <a:prstDash val="dash"/>
          </a:ln>
        </p:spPr>
      </p:sp>
      <p:sp>
        <p:nvSpPr>
          <p:cNvPr id="22" name="Shape 18"/>
          <p:cNvSpPr/>
          <p:nvPr/>
        </p:nvSpPr>
        <p:spPr>
          <a:xfrm>
            <a:off x="4809744" y="1819656"/>
            <a:ext cx="384048" cy="384048"/>
          </a:xfrm>
          <a:prstGeom prst="ellipse">
            <a:avLst/>
          </a:prstGeom>
          <a:solidFill>
            <a:schemeClr val="accent2"/>
          </a:solidFill>
          <a:ln/>
        </p:spPr>
      </p:sp>
      <p:pic>
        <p:nvPicPr>
          <p:cNvPr id="23" name="Image 2" descr="preencoded.png">    </p:cNvPr>
          <p:cNvPicPr>
            <a:picLocks noChangeAspect="1"/>
          </p:cNvPicPr>
          <p:nvPr/>
        </p:nvPicPr>
        <p:blipFill>
          <a:blip r:embed="rId3"/>
          <a:stretch>
            <a:fillRect/>
          </a:stretch>
        </p:blipFill>
        <p:spPr>
          <a:xfrm>
            <a:off x="4894235" y="1904147"/>
            <a:ext cx="215067" cy="215067"/>
          </a:xfrm>
          <a:prstGeom prst="rect">
            <a:avLst/>
          </a:prstGeom>
        </p:spPr>
      </p:pic>
      <p:sp>
        <p:nvSpPr>
          <p:cNvPr id="24" name="Text 19"/>
          <p:cNvSpPr txBox="1"/>
          <p:nvPr/>
        </p:nvSpPr>
        <p:spPr>
          <a:xfrm>
            <a:off x="5285232" y="1819656"/>
            <a:ext cx="1362456" cy="384048"/>
          </a:xfrm>
          <a:prstGeom prst="rect">
            <a:avLst/>
          </a:prstGeom>
          <a:noFill/>
          <a:ln/>
        </p:spPr>
        <p:txBody>
          <a:bodyPr wrap="square" lIns="0" tIns="0" rIns="0" bIns="0" rtlCol="0" anchor="ctr"/>
          <a:lstStyle/>
          <a:p>
            <a:pPr indent="0" marL="0">
              <a:buNone/>
            </a:pPr>
            <a:r>
              <a:rPr lang="en-US" sz="1400" b="1" dirty="0">
                <a:solidFill>
                  <a:schemeClr val="tx1"/>
                </a:solidFill>
              </a:rPr>
              <a:t>Approval</a:t>
            </a:r>
            <a:endParaRPr lang="en-US" sz="1400" dirty="0"/>
          </a:p>
        </p:txBody>
      </p:sp>
      <p:sp>
        <p:nvSpPr>
          <p:cNvPr id="25" name="Text 20"/>
          <p:cNvSpPr txBox="1"/>
          <p:nvPr/>
        </p:nvSpPr>
        <p:spPr>
          <a:xfrm>
            <a:off x="4809744" y="2295144"/>
            <a:ext cx="1819656" cy="420624"/>
          </a:xfrm>
          <a:prstGeom prst="rect">
            <a:avLst/>
          </a:prstGeom>
          <a:noFill/>
          <a:ln/>
        </p:spPr>
        <p:txBody>
          <a:bodyPr wrap="square" lIns="0" tIns="0" rIns="0" bIns="0" rtlCol="0" anchor="t"/>
          <a:lstStyle/>
          <a:p>
            <a:pPr indent="0" marL="0">
              <a:buNone/>
            </a:pPr>
            <a:r>
              <a:rPr lang="en-US" sz="1200" dirty="0">
                <a:solidFill>
                  <a:schemeClr val="tx2"/>
                </a:solidFill>
              </a:rPr>
              <a:t>Only when exporting every zone outside sandbox</a:t>
            </a:r>
            <a:endParaRPr lang="en-US" sz="1200" dirty="0"/>
          </a:p>
        </p:txBody>
      </p:sp>
      <p:sp>
        <p:nvSpPr>
          <p:cNvPr id="26" name="Apply: Preview"/>
          <p:cNvSpPr/>
          <p:nvPr/>
        </p:nvSpPr>
        <p:spPr>
          <a:xfrm>
            <a:off x="4681728" y="3648456"/>
            <a:ext cx="2075688" cy="1097280"/>
          </a:xfrm>
          <a:prstGeom prst="roundRect">
            <a:avLst>
              <a:gd name="adj" fmla="val 8333"/>
            </a:avLst>
          </a:prstGeom>
          <a:solidFill>
            <a:schemeClr val="accent2">
              <a:alpha val="8000"/>
            </a:schemeClr>
          </a:solidFill>
          <a:ln w="15875">
            <a:solidFill>
              <a:schemeClr val="accent2"/>
            </a:solidFill>
            <a:prstDash val="solid"/>
          </a:ln>
        </p:spPr>
      </p:sp>
      <p:sp>
        <p:nvSpPr>
          <p:cNvPr id="27" name="Shape 22"/>
          <p:cNvSpPr/>
          <p:nvPr/>
        </p:nvSpPr>
        <p:spPr>
          <a:xfrm>
            <a:off x="4809744" y="3776472"/>
            <a:ext cx="384048" cy="384048"/>
          </a:xfrm>
          <a:prstGeom prst="ellipse">
            <a:avLst/>
          </a:prstGeom>
          <a:solidFill>
            <a:schemeClr val="accent2"/>
          </a:solidFill>
          <a:ln/>
        </p:spPr>
      </p:sp>
      <p:pic>
        <p:nvPicPr>
          <p:cNvPr id="28" name="Image 3" descr="preencoded.png">    </p:cNvPr>
          <p:cNvPicPr>
            <a:picLocks noChangeAspect="1"/>
          </p:cNvPicPr>
          <p:nvPr/>
        </p:nvPicPr>
        <p:blipFill>
          <a:blip r:embed="rId4"/>
          <a:stretch>
            <a:fillRect/>
          </a:stretch>
        </p:blipFill>
        <p:spPr>
          <a:xfrm>
            <a:off x="4894235" y="3860963"/>
            <a:ext cx="215067" cy="215067"/>
          </a:xfrm>
          <a:prstGeom prst="rect">
            <a:avLst/>
          </a:prstGeom>
        </p:spPr>
      </p:pic>
      <p:sp>
        <p:nvSpPr>
          <p:cNvPr id="29" name="Text 23"/>
          <p:cNvSpPr txBox="1"/>
          <p:nvPr/>
        </p:nvSpPr>
        <p:spPr>
          <a:xfrm>
            <a:off x="5285232" y="3776472"/>
            <a:ext cx="1362456" cy="384048"/>
          </a:xfrm>
          <a:prstGeom prst="rect">
            <a:avLst/>
          </a:prstGeom>
          <a:noFill/>
          <a:ln/>
        </p:spPr>
        <p:txBody>
          <a:bodyPr wrap="square" lIns="0" tIns="0" rIns="0" bIns="0" rtlCol="0" anchor="ctr"/>
          <a:lstStyle/>
          <a:p>
            <a:pPr indent="0" marL="0">
              <a:buNone/>
            </a:pPr>
            <a:r>
              <a:rPr lang="en-US" sz="1400" b="1" dirty="0">
                <a:solidFill>
                  <a:schemeClr val="tx1"/>
                </a:solidFill>
              </a:rPr>
              <a:t>Preview</a:t>
            </a:r>
            <a:endParaRPr lang="en-US" sz="1400" dirty="0"/>
          </a:p>
        </p:txBody>
      </p:sp>
      <p:sp>
        <p:nvSpPr>
          <p:cNvPr id="30" name="Text 24"/>
          <p:cNvSpPr txBox="1"/>
          <p:nvPr/>
        </p:nvSpPr>
        <p:spPr>
          <a:xfrm>
            <a:off x="4809744" y="4251960"/>
            <a:ext cx="1819656" cy="420624"/>
          </a:xfrm>
          <a:prstGeom prst="rect">
            <a:avLst/>
          </a:prstGeom>
          <a:noFill/>
          <a:ln/>
        </p:spPr>
        <p:txBody>
          <a:bodyPr wrap="square" lIns="0" tIns="0" rIns="0" bIns="0" rtlCol="0" anchor="t"/>
          <a:lstStyle/>
          <a:p>
            <a:pPr indent="0" marL="0">
              <a:buNone/>
            </a:pPr>
            <a:r>
              <a:rPr lang="en-US" sz="1200" dirty="0">
                <a:solidFill>
                  <a:schemeClr val="tx2"/>
                </a:solidFill>
              </a:rPr>
              <a:t>Compares files with live DNS: adds, edits, deletes</a:t>
            </a:r>
            <a:endParaRPr lang="en-US" sz="1200" dirty="0"/>
          </a:p>
        </p:txBody>
      </p:sp>
      <p:sp>
        <p:nvSpPr>
          <p:cNvPr id="31" name="Shape 25"/>
          <p:cNvSpPr/>
          <p:nvPr/>
        </p:nvSpPr>
        <p:spPr>
          <a:xfrm>
            <a:off x="6793992" y="2240280"/>
            <a:ext cx="292608" cy="914"/>
          </a:xfrm>
          <a:prstGeom prst="line">
            <a:avLst/>
          </a:prstGeom>
          <a:noFill/>
          <a:ln w="22225">
            <a:solidFill>
              <a:schemeClr val="tx2"/>
            </a:solidFill>
            <a:prstDash val="solid"/>
            <a:tailEnd type="triangle"/>
          </a:ln>
        </p:spPr>
      </p:sp>
      <p:sp>
        <p:nvSpPr>
          <p:cNvPr id="32" name="Shape 26"/>
          <p:cNvSpPr/>
          <p:nvPr/>
        </p:nvSpPr>
        <p:spPr>
          <a:xfrm>
            <a:off x="6793992" y="4197096"/>
            <a:ext cx="292608" cy="914"/>
          </a:xfrm>
          <a:prstGeom prst="line">
            <a:avLst/>
          </a:prstGeom>
          <a:noFill/>
          <a:ln w="22225">
            <a:solidFill>
              <a:schemeClr val="tx2"/>
            </a:solidFill>
            <a:prstDash val="solid"/>
            <a:tailEnd type="triangle"/>
          </a:ln>
        </p:spPr>
      </p:sp>
      <p:sp>
        <p:nvSpPr>
          <p:cNvPr id="33" name="Export: Export"/>
          <p:cNvSpPr/>
          <p:nvPr/>
        </p:nvSpPr>
        <p:spPr>
          <a:xfrm>
            <a:off x="7123176" y="1691640"/>
            <a:ext cx="2075688" cy="1097280"/>
          </a:xfrm>
          <a:prstGeom prst="roundRect">
            <a:avLst>
              <a:gd name="adj" fmla="val 8333"/>
            </a:avLst>
          </a:prstGeom>
          <a:solidFill>
            <a:schemeClr val="accent2">
              <a:alpha val="8000"/>
            </a:schemeClr>
          </a:solidFill>
          <a:ln w="15875">
            <a:solidFill>
              <a:schemeClr val="accent2"/>
            </a:solidFill>
            <a:prstDash val="solid"/>
          </a:ln>
        </p:spPr>
      </p:sp>
      <p:sp>
        <p:nvSpPr>
          <p:cNvPr id="34" name="Shape 28"/>
          <p:cNvSpPr/>
          <p:nvPr/>
        </p:nvSpPr>
        <p:spPr>
          <a:xfrm>
            <a:off x="7251192" y="1819656"/>
            <a:ext cx="384048" cy="384048"/>
          </a:xfrm>
          <a:prstGeom prst="ellipse">
            <a:avLst/>
          </a:prstGeom>
          <a:solidFill>
            <a:schemeClr val="accent2"/>
          </a:solidFill>
          <a:ln/>
        </p:spPr>
      </p:sp>
      <p:pic>
        <p:nvPicPr>
          <p:cNvPr id="35" name="Image 4" descr="preencoded.png">    </p:cNvPr>
          <p:cNvPicPr>
            <a:picLocks noChangeAspect="1"/>
          </p:cNvPicPr>
          <p:nvPr/>
        </p:nvPicPr>
        <p:blipFill>
          <a:blip r:embed="rId5"/>
          <a:stretch>
            <a:fillRect/>
          </a:stretch>
        </p:blipFill>
        <p:spPr>
          <a:xfrm>
            <a:off x="7335683" y="1904147"/>
            <a:ext cx="215067" cy="215067"/>
          </a:xfrm>
          <a:prstGeom prst="rect">
            <a:avLst/>
          </a:prstGeom>
        </p:spPr>
      </p:pic>
      <p:sp>
        <p:nvSpPr>
          <p:cNvPr id="36" name="Text 29"/>
          <p:cNvSpPr txBox="1"/>
          <p:nvPr/>
        </p:nvSpPr>
        <p:spPr>
          <a:xfrm>
            <a:off x="7726680" y="1819656"/>
            <a:ext cx="1362456" cy="384048"/>
          </a:xfrm>
          <a:prstGeom prst="rect">
            <a:avLst/>
          </a:prstGeom>
          <a:noFill/>
          <a:ln/>
        </p:spPr>
        <p:txBody>
          <a:bodyPr wrap="square" lIns="0" tIns="0" rIns="0" bIns="0" rtlCol="0" anchor="ctr"/>
          <a:lstStyle/>
          <a:p>
            <a:pPr indent="0" marL="0">
              <a:buNone/>
            </a:pPr>
            <a:r>
              <a:rPr lang="en-US" sz="1400" b="1" dirty="0">
                <a:solidFill>
                  <a:schemeClr val="tx1"/>
                </a:solidFill>
              </a:rPr>
              <a:t>Export</a:t>
            </a:r>
            <a:endParaRPr lang="en-US" sz="1400" dirty="0"/>
          </a:p>
        </p:txBody>
      </p:sp>
      <p:sp>
        <p:nvSpPr>
          <p:cNvPr id="37" name="Text 30"/>
          <p:cNvSpPr txBox="1"/>
          <p:nvPr/>
        </p:nvSpPr>
        <p:spPr>
          <a:xfrm>
            <a:off x="7251192" y="2295144"/>
            <a:ext cx="1819656" cy="420624"/>
          </a:xfrm>
          <a:prstGeom prst="rect">
            <a:avLst/>
          </a:prstGeom>
          <a:noFill/>
          <a:ln/>
        </p:spPr>
        <p:txBody>
          <a:bodyPr wrap="square" lIns="0" tIns="0" rIns="0" bIns="0" rtlCol="0" anchor="t"/>
          <a:lstStyle/>
          <a:p>
            <a:pPr indent="0" marL="0">
              <a:buNone/>
            </a:pPr>
            <a:r>
              <a:rPr lang="en-US" sz="1200" dirty="0">
                <a:solidFill>
                  <a:schemeClr val="tx2"/>
                </a:solidFill>
              </a:rPr>
              <a:t>Live records copied into one file per zone</a:t>
            </a:r>
            <a:endParaRPr lang="en-US" sz="1200" dirty="0"/>
          </a:p>
        </p:txBody>
      </p:sp>
      <p:sp>
        <p:nvSpPr>
          <p:cNvPr id="38" name="Apply: Approval"/>
          <p:cNvSpPr/>
          <p:nvPr/>
        </p:nvSpPr>
        <p:spPr>
          <a:xfrm>
            <a:off x="7123176" y="3648456"/>
            <a:ext cx="2075688" cy="1097280"/>
          </a:xfrm>
          <a:prstGeom prst="roundRect">
            <a:avLst>
              <a:gd name="adj" fmla="val 8333"/>
            </a:avLst>
          </a:prstGeom>
          <a:solidFill>
            <a:schemeClr val="bg1"/>
          </a:solidFill>
          <a:ln w="15875">
            <a:solidFill>
              <a:schemeClr val="accent2"/>
            </a:solidFill>
            <a:prstDash val="dash"/>
          </a:ln>
        </p:spPr>
      </p:sp>
      <p:sp>
        <p:nvSpPr>
          <p:cNvPr id="39" name="Shape 32"/>
          <p:cNvSpPr/>
          <p:nvPr/>
        </p:nvSpPr>
        <p:spPr>
          <a:xfrm>
            <a:off x="7251192" y="3776472"/>
            <a:ext cx="384048" cy="384048"/>
          </a:xfrm>
          <a:prstGeom prst="ellipse">
            <a:avLst/>
          </a:prstGeom>
          <a:solidFill>
            <a:schemeClr val="accent2"/>
          </a:solidFill>
          <a:ln/>
        </p:spPr>
      </p:sp>
      <p:pic>
        <p:nvPicPr>
          <p:cNvPr id="40" name="Image 5" descr="preencoded.png">    </p:cNvPr>
          <p:cNvPicPr>
            <a:picLocks noChangeAspect="1"/>
          </p:cNvPicPr>
          <p:nvPr/>
        </p:nvPicPr>
        <p:blipFill>
          <a:blip r:embed="rId6"/>
          <a:stretch>
            <a:fillRect/>
          </a:stretch>
        </p:blipFill>
        <p:spPr>
          <a:xfrm>
            <a:off x="7335683" y="3860963"/>
            <a:ext cx="215067" cy="215067"/>
          </a:xfrm>
          <a:prstGeom prst="rect">
            <a:avLst/>
          </a:prstGeom>
        </p:spPr>
      </p:pic>
      <p:sp>
        <p:nvSpPr>
          <p:cNvPr id="41" name="Text 33"/>
          <p:cNvSpPr txBox="1"/>
          <p:nvPr/>
        </p:nvSpPr>
        <p:spPr>
          <a:xfrm>
            <a:off x="7726680" y="3776472"/>
            <a:ext cx="1362456" cy="384048"/>
          </a:xfrm>
          <a:prstGeom prst="rect">
            <a:avLst/>
          </a:prstGeom>
          <a:noFill/>
          <a:ln/>
        </p:spPr>
        <p:txBody>
          <a:bodyPr wrap="square" lIns="0" tIns="0" rIns="0" bIns="0" rtlCol="0" anchor="ctr"/>
          <a:lstStyle/>
          <a:p>
            <a:pPr indent="0" marL="0">
              <a:buNone/>
            </a:pPr>
            <a:r>
              <a:rPr lang="en-US" sz="1400" b="1" dirty="0">
                <a:solidFill>
                  <a:schemeClr val="tx1"/>
                </a:solidFill>
              </a:rPr>
              <a:t>Approval</a:t>
            </a:r>
            <a:endParaRPr lang="en-US" sz="1400" dirty="0"/>
          </a:p>
        </p:txBody>
      </p:sp>
      <p:sp>
        <p:nvSpPr>
          <p:cNvPr id="42" name="Text 34"/>
          <p:cNvSpPr txBox="1"/>
          <p:nvPr/>
        </p:nvSpPr>
        <p:spPr>
          <a:xfrm>
            <a:off x="7251192" y="4251960"/>
            <a:ext cx="1819656" cy="420624"/>
          </a:xfrm>
          <a:prstGeom prst="rect">
            <a:avLst/>
          </a:prstGeom>
          <a:noFill/>
          <a:ln/>
        </p:spPr>
        <p:txBody>
          <a:bodyPr wrap="square" lIns="0" tIns="0" rIns="0" bIns="0" rtlCol="0" anchor="t"/>
          <a:lstStyle/>
          <a:p>
            <a:pPr indent="0" marL="0">
              <a:buNone/>
            </a:pPr>
            <a:r>
              <a:rPr lang="en-US" sz="1200" dirty="0">
                <a:solidFill>
                  <a:schemeClr val="tx2"/>
                </a:solidFill>
              </a:rPr>
              <a:t>Outside sandbox, a gatekeeper approves first</a:t>
            </a:r>
            <a:endParaRPr lang="en-US" sz="1200" dirty="0"/>
          </a:p>
        </p:txBody>
      </p:sp>
      <p:sp>
        <p:nvSpPr>
          <p:cNvPr id="43" name="Shape 35"/>
          <p:cNvSpPr/>
          <p:nvPr/>
        </p:nvSpPr>
        <p:spPr>
          <a:xfrm>
            <a:off x="9235440" y="2240280"/>
            <a:ext cx="292608" cy="914"/>
          </a:xfrm>
          <a:prstGeom prst="line">
            <a:avLst/>
          </a:prstGeom>
          <a:noFill/>
          <a:ln w="22225">
            <a:solidFill>
              <a:schemeClr val="tx2"/>
            </a:solidFill>
            <a:prstDash val="solid"/>
            <a:tailEnd type="triangle"/>
          </a:ln>
        </p:spPr>
      </p:sp>
      <p:sp>
        <p:nvSpPr>
          <p:cNvPr id="44" name="Shape 36"/>
          <p:cNvSpPr/>
          <p:nvPr/>
        </p:nvSpPr>
        <p:spPr>
          <a:xfrm>
            <a:off x="9235440" y="4197096"/>
            <a:ext cx="292608" cy="914"/>
          </a:xfrm>
          <a:prstGeom prst="line">
            <a:avLst/>
          </a:prstGeom>
          <a:noFill/>
          <a:ln w="22225">
            <a:solidFill>
              <a:schemeClr val="tx2"/>
            </a:solidFill>
            <a:prstDash val="solid"/>
            <a:tailEnd type="triangle"/>
          </a:ln>
        </p:spPr>
      </p:sp>
      <p:sp>
        <p:nvSpPr>
          <p:cNvPr id="45" name="Export: Pull Request"/>
          <p:cNvSpPr/>
          <p:nvPr/>
        </p:nvSpPr>
        <p:spPr>
          <a:xfrm>
            <a:off x="9564624" y="1691640"/>
            <a:ext cx="2075688" cy="1097280"/>
          </a:xfrm>
          <a:prstGeom prst="roundRect">
            <a:avLst>
              <a:gd name="adj" fmla="val 8333"/>
            </a:avLst>
          </a:prstGeom>
          <a:solidFill>
            <a:schemeClr val="accent2">
              <a:alpha val="8000"/>
            </a:schemeClr>
          </a:solidFill>
          <a:ln w="15875">
            <a:solidFill>
              <a:schemeClr val="accent2"/>
            </a:solidFill>
            <a:prstDash val="solid"/>
          </a:ln>
        </p:spPr>
      </p:sp>
      <p:sp>
        <p:nvSpPr>
          <p:cNvPr id="46" name="Shape 38"/>
          <p:cNvSpPr/>
          <p:nvPr/>
        </p:nvSpPr>
        <p:spPr>
          <a:xfrm>
            <a:off x="9692640" y="1819656"/>
            <a:ext cx="384048" cy="384048"/>
          </a:xfrm>
          <a:prstGeom prst="ellipse">
            <a:avLst/>
          </a:prstGeom>
          <a:solidFill>
            <a:schemeClr val="accent2"/>
          </a:solidFill>
          <a:ln/>
        </p:spPr>
      </p:sp>
      <p:pic>
        <p:nvPicPr>
          <p:cNvPr id="47" name="Image 6" descr="preencoded.png">    </p:cNvPr>
          <p:cNvPicPr>
            <a:picLocks noChangeAspect="1"/>
          </p:cNvPicPr>
          <p:nvPr/>
        </p:nvPicPr>
        <p:blipFill>
          <a:blip r:embed="rId7"/>
          <a:stretch>
            <a:fillRect/>
          </a:stretch>
        </p:blipFill>
        <p:spPr>
          <a:xfrm>
            <a:off x="9777131" y="1904147"/>
            <a:ext cx="215067" cy="215067"/>
          </a:xfrm>
          <a:prstGeom prst="rect">
            <a:avLst/>
          </a:prstGeom>
        </p:spPr>
      </p:pic>
      <p:sp>
        <p:nvSpPr>
          <p:cNvPr id="48" name="Text 39"/>
          <p:cNvSpPr txBox="1"/>
          <p:nvPr/>
        </p:nvSpPr>
        <p:spPr>
          <a:xfrm>
            <a:off x="10168128" y="1819656"/>
            <a:ext cx="1362456" cy="384048"/>
          </a:xfrm>
          <a:prstGeom prst="rect">
            <a:avLst/>
          </a:prstGeom>
          <a:noFill/>
          <a:ln/>
        </p:spPr>
        <p:txBody>
          <a:bodyPr wrap="square" lIns="0" tIns="0" rIns="0" bIns="0" rtlCol="0" anchor="ctr"/>
          <a:lstStyle/>
          <a:p>
            <a:pPr indent="0" marL="0">
              <a:buNone/>
            </a:pPr>
            <a:r>
              <a:rPr lang="en-US" sz="1400" b="1" dirty="0">
                <a:solidFill>
                  <a:schemeClr val="tx1"/>
                </a:solidFill>
              </a:rPr>
              <a:t>Pull Request</a:t>
            </a:r>
            <a:endParaRPr lang="en-US" sz="1400" dirty="0"/>
          </a:p>
        </p:txBody>
      </p:sp>
      <p:sp>
        <p:nvSpPr>
          <p:cNvPr id="49" name="Text 40"/>
          <p:cNvSpPr txBox="1"/>
          <p:nvPr/>
        </p:nvSpPr>
        <p:spPr>
          <a:xfrm>
            <a:off x="9692640" y="2295144"/>
            <a:ext cx="1819656" cy="420624"/>
          </a:xfrm>
          <a:prstGeom prst="rect">
            <a:avLst/>
          </a:prstGeom>
          <a:noFill/>
          <a:ln/>
        </p:spPr>
        <p:txBody>
          <a:bodyPr wrap="square" lIns="0" tIns="0" rIns="0" bIns="0" rtlCol="0" anchor="t"/>
          <a:lstStyle/>
          <a:p>
            <a:pPr indent="0" marL="0">
              <a:buNone/>
            </a:pPr>
            <a:r>
              <a:rPr lang="en-US" sz="1200" dirty="0">
                <a:solidFill>
                  <a:schemeClr val="tx2"/>
                </a:solidFill>
              </a:rPr>
              <a:t>New branch and Pull Request created for you</a:t>
            </a:r>
            <a:endParaRPr lang="en-US" sz="1200" dirty="0"/>
          </a:p>
        </p:txBody>
      </p:sp>
      <p:sp>
        <p:nvSpPr>
          <p:cNvPr id="50" name="Apply: Apply"/>
          <p:cNvSpPr/>
          <p:nvPr/>
        </p:nvSpPr>
        <p:spPr>
          <a:xfrm>
            <a:off x="9564624" y="3648456"/>
            <a:ext cx="2075688" cy="1097280"/>
          </a:xfrm>
          <a:prstGeom prst="roundRect">
            <a:avLst>
              <a:gd name="adj" fmla="val 8333"/>
            </a:avLst>
          </a:prstGeom>
          <a:solidFill>
            <a:schemeClr val="accent2">
              <a:alpha val="8000"/>
            </a:schemeClr>
          </a:solidFill>
          <a:ln w="15875">
            <a:solidFill>
              <a:schemeClr val="accent2"/>
            </a:solidFill>
            <a:prstDash val="solid"/>
          </a:ln>
        </p:spPr>
      </p:sp>
      <p:sp>
        <p:nvSpPr>
          <p:cNvPr id="51" name="Shape 42"/>
          <p:cNvSpPr/>
          <p:nvPr/>
        </p:nvSpPr>
        <p:spPr>
          <a:xfrm>
            <a:off x="9692640" y="3776472"/>
            <a:ext cx="384048" cy="384048"/>
          </a:xfrm>
          <a:prstGeom prst="ellipse">
            <a:avLst/>
          </a:prstGeom>
          <a:solidFill>
            <a:schemeClr val="accent2"/>
          </a:solidFill>
          <a:ln/>
        </p:spPr>
      </p:sp>
      <p:pic>
        <p:nvPicPr>
          <p:cNvPr id="52" name="Image 7" descr="preencoded.png">    </p:cNvPr>
          <p:cNvPicPr>
            <a:picLocks noChangeAspect="1"/>
          </p:cNvPicPr>
          <p:nvPr/>
        </p:nvPicPr>
        <p:blipFill>
          <a:blip r:embed="rId8"/>
          <a:stretch>
            <a:fillRect/>
          </a:stretch>
        </p:blipFill>
        <p:spPr>
          <a:xfrm>
            <a:off x="9777131" y="3860963"/>
            <a:ext cx="215067" cy="215067"/>
          </a:xfrm>
          <a:prstGeom prst="rect">
            <a:avLst/>
          </a:prstGeom>
        </p:spPr>
      </p:pic>
      <p:sp>
        <p:nvSpPr>
          <p:cNvPr id="53" name="Text 43"/>
          <p:cNvSpPr txBox="1"/>
          <p:nvPr/>
        </p:nvSpPr>
        <p:spPr>
          <a:xfrm>
            <a:off x="10168128" y="3776472"/>
            <a:ext cx="1362456" cy="384048"/>
          </a:xfrm>
          <a:prstGeom prst="rect">
            <a:avLst/>
          </a:prstGeom>
          <a:noFill/>
          <a:ln/>
        </p:spPr>
        <p:txBody>
          <a:bodyPr wrap="square" lIns="0" tIns="0" rIns="0" bIns="0" rtlCol="0" anchor="ctr"/>
          <a:lstStyle/>
          <a:p>
            <a:pPr indent="0" marL="0">
              <a:buNone/>
            </a:pPr>
            <a:r>
              <a:rPr lang="en-US" sz="1400" b="1" dirty="0">
                <a:solidFill>
                  <a:schemeClr val="tx1"/>
                </a:solidFill>
              </a:rPr>
              <a:t>Apply</a:t>
            </a:r>
            <a:endParaRPr lang="en-US" sz="1400" dirty="0"/>
          </a:p>
        </p:txBody>
      </p:sp>
      <p:sp>
        <p:nvSpPr>
          <p:cNvPr id="54" name="Text 44"/>
          <p:cNvSpPr txBox="1"/>
          <p:nvPr/>
        </p:nvSpPr>
        <p:spPr>
          <a:xfrm>
            <a:off x="9692640" y="4251960"/>
            <a:ext cx="1819656" cy="420624"/>
          </a:xfrm>
          <a:prstGeom prst="rect">
            <a:avLst/>
          </a:prstGeom>
          <a:noFill/>
          <a:ln/>
        </p:spPr>
        <p:txBody>
          <a:bodyPr wrap="square" lIns="0" tIns="0" rIns="0" bIns="0" rtlCol="0" anchor="t"/>
          <a:lstStyle/>
          <a:p>
            <a:pPr indent="0" marL="0">
              <a:buNone/>
            </a:pPr>
            <a:r>
              <a:rPr lang="en-US" sz="1200" dirty="0">
                <a:solidFill>
                  <a:schemeClr val="tx2"/>
                </a:solidFill>
              </a:rPr>
              <a:t>Script writes the changes straight into Route 53</a:t>
            </a:r>
            <a:endParaRPr lang="en-US" sz="1200" dirty="0"/>
          </a:p>
        </p:txBody>
      </p:sp>
      <p:sp>
        <p:nvSpPr>
          <p:cNvPr id="55" name="Edit and merge"/>
          <p:cNvSpPr/>
          <p:nvPr/>
        </p:nvSpPr>
        <p:spPr>
          <a:xfrm>
            <a:off x="2240280" y="2999232"/>
            <a:ext cx="9400032" cy="438912"/>
          </a:xfrm>
          <a:prstGeom prst="roundRect">
            <a:avLst>
              <a:gd name="adj" fmla="val 50000"/>
            </a:avLst>
          </a:prstGeom>
          <a:solidFill>
            <a:schemeClr val="accent2">
              <a:alpha val="12000"/>
            </a:schemeClr>
          </a:solidFill>
          <a:ln/>
        </p:spPr>
      </p:sp>
      <p:pic>
        <p:nvPicPr>
          <p:cNvPr id="56" name="Image 8" descr="preencoded.png">    </p:cNvPr>
          <p:cNvPicPr>
            <a:picLocks noChangeAspect="1"/>
          </p:cNvPicPr>
          <p:nvPr/>
        </p:nvPicPr>
        <p:blipFill>
          <a:blip r:embed="rId9"/>
          <a:stretch>
            <a:fillRect/>
          </a:stretch>
        </p:blipFill>
        <p:spPr>
          <a:xfrm>
            <a:off x="2423160" y="3099816"/>
            <a:ext cx="237744" cy="237744"/>
          </a:xfrm>
          <a:prstGeom prst="rect">
            <a:avLst/>
          </a:prstGeom>
        </p:spPr>
      </p:pic>
      <p:sp>
        <p:nvSpPr>
          <p:cNvPr id="57" name="Text 46"/>
          <p:cNvSpPr txBox="1"/>
          <p:nvPr/>
        </p:nvSpPr>
        <p:spPr>
          <a:xfrm>
            <a:off x="2788920" y="2999232"/>
            <a:ext cx="8686800" cy="438912"/>
          </a:xfrm>
          <a:prstGeom prst="rect">
            <a:avLst/>
          </a:prstGeom>
          <a:noFill/>
          <a:ln/>
        </p:spPr>
        <p:txBody>
          <a:bodyPr wrap="square" lIns="0" tIns="0" rIns="0" bIns="0" rtlCol="0" anchor="ctr"/>
          <a:lstStyle/>
          <a:p>
            <a:pPr indent="0" marL="0">
              <a:buNone/>
            </a:pPr>
            <a:r>
              <a:rPr lang="en-US" sz="1300" dirty="0">
                <a:solidFill>
                  <a:schemeClr val="tx1"/>
                </a:solidFill>
              </a:rPr>
              <a:t>In between:  edit the record files in that branch  →  reviewer approves the Pull Request  →  merge</a:t>
            </a:r>
            <a:endParaRPr lang="en-US" sz="1300" dirty="0"/>
          </a:p>
        </p:txBody>
      </p:sp>
      <p:sp>
        <p:nvSpPr>
          <p:cNvPr id="58" name="Shape 47"/>
          <p:cNvSpPr/>
          <p:nvPr/>
        </p:nvSpPr>
        <p:spPr>
          <a:xfrm>
            <a:off x="10602468" y="2807208"/>
            <a:ext cx="914" cy="173736"/>
          </a:xfrm>
          <a:prstGeom prst="line">
            <a:avLst/>
          </a:prstGeom>
          <a:noFill/>
          <a:ln w="22225">
            <a:solidFill>
              <a:schemeClr val="tx2"/>
            </a:solidFill>
            <a:prstDash val="solid"/>
            <a:tailEnd type="triangle"/>
          </a:ln>
        </p:spPr>
      </p:sp>
      <p:sp>
        <p:nvSpPr>
          <p:cNvPr id="59" name="Shape 48"/>
          <p:cNvSpPr/>
          <p:nvPr/>
        </p:nvSpPr>
        <p:spPr>
          <a:xfrm>
            <a:off x="3278124" y="3456432"/>
            <a:ext cx="914" cy="173736"/>
          </a:xfrm>
          <a:prstGeom prst="line">
            <a:avLst/>
          </a:prstGeom>
          <a:noFill/>
          <a:ln w="22225">
            <a:solidFill>
              <a:schemeClr val="tx2"/>
            </a:solidFill>
            <a:prstDash val="solid"/>
            <a:tailEnd type="triangle"/>
          </a:ln>
        </p:spPr>
      </p:sp>
      <p:sp>
        <p:nvSpPr>
          <p:cNvPr id="60" name="Shape 49"/>
          <p:cNvSpPr/>
          <p:nvPr/>
        </p:nvSpPr>
        <p:spPr>
          <a:xfrm>
            <a:off x="5719572" y="4764024"/>
            <a:ext cx="914" cy="201168"/>
          </a:xfrm>
          <a:prstGeom prst="line">
            <a:avLst/>
          </a:prstGeom>
          <a:noFill/>
          <a:ln w="15875">
            <a:solidFill>
              <a:schemeClr val="accent3"/>
            </a:solidFill>
            <a:prstDash val="dash"/>
          </a:ln>
        </p:spPr>
      </p:sp>
      <p:sp>
        <p:nvSpPr>
          <p:cNvPr id="61" name="Gap: No manual-change alarm"/>
          <p:cNvSpPr/>
          <p:nvPr/>
        </p:nvSpPr>
        <p:spPr>
          <a:xfrm>
            <a:off x="4681728" y="4983480"/>
            <a:ext cx="2075688" cy="1280160"/>
          </a:xfrm>
          <a:prstGeom prst="roundRect">
            <a:avLst>
              <a:gd name="adj" fmla="val 7143"/>
            </a:avLst>
          </a:prstGeom>
          <a:solidFill>
            <a:schemeClr val="accent3">
              <a:alpha val="8000"/>
            </a:schemeClr>
          </a:solidFill>
          <a:ln w="15875">
            <a:solidFill>
              <a:schemeClr val="accent3"/>
            </a:solidFill>
            <a:prstDash val="dash"/>
          </a:ln>
        </p:spPr>
      </p:sp>
      <p:sp>
        <p:nvSpPr>
          <p:cNvPr id="62" name="Shape 51"/>
          <p:cNvSpPr/>
          <p:nvPr/>
        </p:nvSpPr>
        <p:spPr>
          <a:xfrm>
            <a:off x="4809744" y="5111496"/>
            <a:ext cx="384048" cy="384048"/>
          </a:xfrm>
          <a:prstGeom prst="ellipse">
            <a:avLst/>
          </a:prstGeom>
          <a:solidFill>
            <a:schemeClr val="accent3"/>
          </a:solidFill>
          <a:ln/>
        </p:spPr>
      </p:sp>
      <p:pic>
        <p:nvPicPr>
          <p:cNvPr id="63" name="Image 9" descr="preencoded.png">    </p:cNvPr>
          <p:cNvPicPr>
            <a:picLocks noChangeAspect="1"/>
          </p:cNvPicPr>
          <p:nvPr/>
        </p:nvPicPr>
        <p:blipFill>
          <a:blip r:embed="rId10"/>
          <a:stretch>
            <a:fillRect/>
          </a:stretch>
        </p:blipFill>
        <p:spPr>
          <a:xfrm>
            <a:off x="4894235" y="5195987"/>
            <a:ext cx="215067" cy="215067"/>
          </a:xfrm>
          <a:prstGeom prst="rect">
            <a:avLst/>
          </a:prstGeom>
        </p:spPr>
      </p:pic>
      <p:sp>
        <p:nvSpPr>
          <p:cNvPr id="64" name="Text 52"/>
          <p:cNvSpPr txBox="1"/>
          <p:nvPr/>
        </p:nvSpPr>
        <p:spPr>
          <a:xfrm>
            <a:off x="5285232" y="5111496"/>
            <a:ext cx="1362456" cy="384048"/>
          </a:xfrm>
          <a:prstGeom prst="rect">
            <a:avLst/>
          </a:prstGeom>
          <a:noFill/>
          <a:ln/>
        </p:spPr>
        <p:txBody>
          <a:bodyPr wrap="square" lIns="0" tIns="0" rIns="0" bIns="0" rtlCol="0" anchor="ctr"/>
          <a:lstStyle/>
          <a:p>
            <a:pPr indent="0" marL="0">
              <a:buNone/>
            </a:pPr>
            <a:r>
              <a:rPr lang="en-US" sz="1300" b="1" dirty="0">
                <a:solidFill>
                  <a:schemeClr val="tx1"/>
                </a:solidFill>
              </a:rPr>
              <a:t>No manual-change alarm</a:t>
            </a:r>
            <a:endParaRPr lang="en-US" sz="1300" dirty="0"/>
          </a:p>
        </p:txBody>
      </p:sp>
      <p:sp>
        <p:nvSpPr>
          <p:cNvPr id="65" name="Text 53"/>
          <p:cNvSpPr txBox="1"/>
          <p:nvPr/>
        </p:nvSpPr>
        <p:spPr>
          <a:xfrm>
            <a:off x="4809744" y="5586984"/>
            <a:ext cx="1819656" cy="603504"/>
          </a:xfrm>
          <a:prstGeom prst="rect">
            <a:avLst/>
          </a:prstGeom>
          <a:noFill/>
          <a:ln/>
        </p:spPr>
        <p:txBody>
          <a:bodyPr wrap="square" lIns="0" tIns="0" rIns="0" bIns="0" rtlCol="0" anchor="t"/>
          <a:lstStyle/>
          <a:p>
            <a:pPr indent="0" marL="0">
              <a:buNone/>
            </a:pPr>
            <a:r>
              <a:rPr lang="en-US" sz="1200" dirty="0">
                <a:solidFill>
                  <a:schemeClr val="tx2"/>
                </a:solidFill>
              </a:rPr>
              <a:t>A hand edit looks like any other change — and is overwritten</a:t>
            </a:r>
            <a:endParaRPr lang="en-US" sz="1200" dirty="0"/>
          </a:p>
        </p:txBody>
      </p:sp>
      <p:sp>
        <p:nvSpPr>
          <p:cNvPr id="66" name="Shape 54"/>
          <p:cNvSpPr/>
          <p:nvPr/>
        </p:nvSpPr>
        <p:spPr>
          <a:xfrm>
            <a:off x="8161020" y="4764024"/>
            <a:ext cx="914" cy="201168"/>
          </a:xfrm>
          <a:prstGeom prst="line">
            <a:avLst/>
          </a:prstGeom>
          <a:noFill/>
          <a:ln w="15875">
            <a:solidFill>
              <a:schemeClr val="accent3"/>
            </a:solidFill>
            <a:prstDash val="dash"/>
          </a:ln>
        </p:spPr>
      </p:sp>
      <p:sp>
        <p:nvSpPr>
          <p:cNvPr id="67" name="Gap: Preview isn’t locked"/>
          <p:cNvSpPr/>
          <p:nvPr/>
        </p:nvSpPr>
        <p:spPr>
          <a:xfrm>
            <a:off x="7123176" y="4983480"/>
            <a:ext cx="2075688" cy="1280160"/>
          </a:xfrm>
          <a:prstGeom prst="roundRect">
            <a:avLst>
              <a:gd name="adj" fmla="val 7143"/>
            </a:avLst>
          </a:prstGeom>
          <a:solidFill>
            <a:schemeClr val="accent3">
              <a:alpha val="8000"/>
            </a:schemeClr>
          </a:solidFill>
          <a:ln w="15875">
            <a:solidFill>
              <a:schemeClr val="accent3"/>
            </a:solidFill>
            <a:prstDash val="dash"/>
          </a:ln>
        </p:spPr>
      </p:sp>
      <p:sp>
        <p:nvSpPr>
          <p:cNvPr id="68" name="Shape 56"/>
          <p:cNvSpPr/>
          <p:nvPr/>
        </p:nvSpPr>
        <p:spPr>
          <a:xfrm>
            <a:off x="7251192" y="5111496"/>
            <a:ext cx="384048" cy="384048"/>
          </a:xfrm>
          <a:prstGeom prst="ellipse">
            <a:avLst/>
          </a:prstGeom>
          <a:solidFill>
            <a:schemeClr val="accent3"/>
          </a:solidFill>
          <a:ln/>
        </p:spPr>
      </p:sp>
      <p:pic>
        <p:nvPicPr>
          <p:cNvPr id="69" name="Image 10" descr="preencoded.png">    </p:cNvPr>
          <p:cNvPicPr>
            <a:picLocks noChangeAspect="1"/>
          </p:cNvPicPr>
          <p:nvPr/>
        </p:nvPicPr>
        <p:blipFill>
          <a:blip r:embed="rId11"/>
          <a:stretch>
            <a:fillRect/>
          </a:stretch>
        </p:blipFill>
        <p:spPr>
          <a:xfrm>
            <a:off x="7335683" y="5195987"/>
            <a:ext cx="215067" cy="215067"/>
          </a:xfrm>
          <a:prstGeom prst="rect">
            <a:avLst/>
          </a:prstGeom>
        </p:spPr>
      </p:pic>
      <p:sp>
        <p:nvSpPr>
          <p:cNvPr id="70" name="Text 57"/>
          <p:cNvSpPr txBox="1"/>
          <p:nvPr/>
        </p:nvSpPr>
        <p:spPr>
          <a:xfrm>
            <a:off x="7726680" y="5111496"/>
            <a:ext cx="1362456" cy="384048"/>
          </a:xfrm>
          <a:prstGeom prst="rect">
            <a:avLst/>
          </a:prstGeom>
          <a:noFill/>
          <a:ln/>
        </p:spPr>
        <p:txBody>
          <a:bodyPr wrap="square" lIns="0" tIns="0" rIns="0" bIns="0" rtlCol="0" anchor="ctr"/>
          <a:lstStyle/>
          <a:p>
            <a:pPr indent="0" marL="0">
              <a:buNone/>
            </a:pPr>
            <a:r>
              <a:rPr lang="en-US" sz="1300" b="1" dirty="0">
                <a:solidFill>
                  <a:schemeClr val="tx1"/>
                </a:solidFill>
              </a:rPr>
              <a:t>Preview isn’t locked</a:t>
            </a:r>
            <a:endParaRPr lang="en-US" sz="1300" dirty="0"/>
          </a:p>
        </p:txBody>
      </p:sp>
      <p:sp>
        <p:nvSpPr>
          <p:cNvPr id="71" name="Text 58"/>
          <p:cNvSpPr txBox="1"/>
          <p:nvPr/>
        </p:nvSpPr>
        <p:spPr>
          <a:xfrm>
            <a:off x="7251192" y="5586984"/>
            <a:ext cx="1819656" cy="603504"/>
          </a:xfrm>
          <a:prstGeom prst="rect">
            <a:avLst/>
          </a:prstGeom>
          <a:noFill/>
          <a:ln/>
        </p:spPr>
        <p:txBody>
          <a:bodyPr wrap="square" lIns="0" tIns="0" rIns="0" bIns="0" rtlCol="0" anchor="t"/>
          <a:lstStyle/>
          <a:p>
            <a:pPr indent="0" marL="0">
              <a:buNone/>
            </a:pPr>
            <a:r>
              <a:rPr lang="en-US" sz="1200" dirty="0">
                <a:solidFill>
                  <a:schemeClr val="tx2"/>
                </a:solidFill>
              </a:rPr>
              <a:t>Apply works the changes out again — what runs isn’t pinned to the preview</a:t>
            </a:r>
            <a:endParaRPr lang="en-US" sz="1200" dirty="0"/>
          </a:p>
        </p:txBody>
      </p:sp>
      <p:sp>
        <p:nvSpPr>
          <p:cNvPr id="72" name="Shape 59"/>
          <p:cNvSpPr/>
          <p:nvPr/>
        </p:nvSpPr>
        <p:spPr>
          <a:xfrm>
            <a:off x="10602468" y="4764024"/>
            <a:ext cx="914" cy="201168"/>
          </a:xfrm>
          <a:prstGeom prst="line">
            <a:avLst/>
          </a:prstGeom>
          <a:noFill/>
          <a:ln w="15875">
            <a:solidFill>
              <a:schemeClr val="accent3"/>
            </a:solidFill>
            <a:prstDash val="dash"/>
          </a:ln>
        </p:spPr>
      </p:sp>
      <p:sp>
        <p:nvSpPr>
          <p:cNvPr id="73" name="Gap: Outside CloudFormation"/>
          <p:cNvSpPr/>
          <p:nvPr/>
        </p:nvSpPr>
        <p:spPr>
          <a:xfrm>
            <a:off x="9564624" y="4983480"/>
            <a:ext cx="2075688" cy="1280160"/>
          </a:xfrm>
          <a:prstGeom prst="roundRect">
            <a:avLst>
              <a:gd name="adj" fmla="val 7143"/>
            </a:avLst>
          </a:prstGeom>
          <a:solidFill>
            <a:schemeClr val="accent3">
              <a:alpha val="8000"/>
            </a:schemeClr>
          </a:solidFill>
          <a:ln w="15875">
            <a:solidFill>
              <a:schemeClr val="accent3"/>
            </a:solidFill>
            <a:prstDash val="dash"/>
          </a:ln>
        </p:spPr>
      </p:sp>
      <p:sp>
        <p:nvSpPr>
          <p:cNvPr id="74" name="Shape 61"/>
          <p:cNvSpPr/>
          <p:nvPr/>
        </p:nvSpPr>
        <p:spPr>
          <a:xfrm>
            <a:off x="9692640" y="5111496"/>
            <a:ext cx="384048" cy="384048"/>
          </a:xfrm>
          <a:prstGeom prst="ellipse">
            <a:avLst/>
          </a:prstGeom>
          <a:solidFill>
            <a:schemeClr val="accent3"/>
          </a:solidFill>
          <a:ln/>
        </p:spPr>
      </p:sp>
      <p:pic>
        <p:nvPicPr>
          <p:cNvPr id="75" name="Image 11" descr="preencoded.png">    </p:cNvPr>
          <p:cNvPicPr>
            <a:picLocks noChangeAspect="1"/>
          </p:cNvPicPr>
          <p:nvPr/>
        </p:nvPicPr>
        <p:blipFill>
          <a:blip r:embed="rId12"/>
          <a:stretch>
            <a:fillRect/>
          </a:stretch>
        </p:blipFill>
        <p:spPr>
          <a:xfrm>
            <a:off x="9777131" y="5195987"/>
            <a:ext cx="215067" cy="215067"/>
          </a:xfrm>
          <a:prstGeom prst="rect">
            <a:avLst/>
          </a:prstGeom>
        </p:spPr>
      </p:pic>
      <p:sp>
        <p:nvSpPr>
          <p:cNvPr id="76" name="Text 62"/>
          <p:cNvSpPr txBox="1"/>
          <p:nvPr/>
        </p:nvSpPr>
        <p:spPr>
          <a:xfrm>
            <a:off x="10168128" y="5111496"/>
            <a:ext cx="1362456" cy="384048"/>
          </a:xfrm>
          <a:prstGeom prst="rect">
            <a:avLst/>
          </a:prstGeom>
          <a:noFill/>
          <a:ln/>
        </p:spPr>
        <p:txBody>
          <a:bodyPr wrap="square" lIns="0" tIns="0" rIns="0" bIns="0" rtlCol="0" anchor="ctr"/>
          <a:lstStyle/>
          <a:p>
            <a:pPr indent="0" marL="0">
              <a:buNone/>
            </a:pPr>
            <a:r>
              <a:rPr lang="en-US" sz="1300" b="1" dirty="0">
                <a:solidFill>
                  <a:schemeClr val="tx1"/>
                </a:solidFill>
              </a:rPr>
              <a:t>Outside CloudFormation</a:t>
            </a:r>
            <a:endParaRPr lang="en-US" sz="1300" dirty="0"/>
          </a:p>
        </p:txBody>
      </p:sp>
      <p:sp>
        <p:nvSpPr>
          <p:cNvPr id="77" name="Text 63"/>
          <p:cNvSpPr txBox="1"/>
          <p:nvPr/>
        </p:nvSpPr>
        <p:spPr>
          <a:xfrm>
            <a:off x="9692640" y="5586984"/>
            <a:ext cx="1819656" cy="603504"/>
          </a:xfrm>
          <a:prstGeom prst="rect">
            <a:avLst/>
          </a:prstGeom>
          <a:noFill/>
          <a:ln/>
        </p:spPr>
        <p:txBody>
          <a:bodyPr wrap="square" lIns="0" tIns="0" rIns="0" bIns="0" rtlCol="0" anchor="t"/>
          <a:lstStyle/>
          <a:p>
            <a:pPr indent="0" marL="0">
              <a:buNone/>
            </a:pPr>
            <a:r>
              <a:rPr lang="en-US" sz="1200" dirty="0">
                <a:solidFill>
                  <a:schemeClr val="tx2"/>
                </a:solidFill>
              </a:rPr>
              <a:t>No change set, no stack history, separate record files</a:t>
            </a:r>
            <a:endParaRPr lang="en-US" sz="1200" dirty="0"/>
          </a:p>
        </p:txBody>
      </p:sp>
      <p:sp>
        <p:nvSpPr>
          <p:cNvPr id="78" name="Text 64"/>
          <p:cNvSpPr txBox="1"/>
          <p:nvPr/>
        </p:nvSpPr>
        <p:spPr>
          <a:xfrm>
            <a:off x="548640" y="5029200"/>
            <a:ext cx="3931920" cy="914400"/>
          </a:xfrm>
          <a:prstGeom prst="rect">
            <a:avLst/>
          </a:prstGeom>
          <a:noFill/>
          <a:ln/>
        </p:spPr>
        <p:txBody>
          <a:bodyPr wrap="square" lIns="0" tIns="0" rIns="0" bIns="0" rtlCol="0" anchor="t"/>
          <a:lstStyle/>
          <a:p>
            <a:pPr indent="0" marL="0">
              <a:buNone/>
            </a:pPr>
            <a:r>
              <a:rPr lang="en-US" sz="1200" b="1" dirty="0">
                <a:solidFill>
                  <a:schemeClr val="tx1"/>
                </a:solidFill>
              </a:rPr>
              <a:t>How to read this</a:t>
            </a:r>
            <a:endParaRPr lang="en-US" sz="1200" dirty="0"/>
          </a:p>
          <a:p>
            <a:pPr indent="0" marL="0">
              <a:buNone/>
            </a:pPr>
            <a:r>
              <a:rPr lang="en-US" sz="1200" dirty="0">
                <a:solidFill>
                  <a:schemeClr val="tx2"/>
                </a:solidFill>
              </a:rPr>
              <a:t>Red marks gaps compared with the new pipeline. A dashed purple step happens only in some runs.</a:t>
            </a:r>
            <a:endParaRPr lang="en-US" sz="12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WS2 DNS pipelines: strengths and gaps</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Built for bulk DNS record changes — and good at that job</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50" kern="0" dirty="0">
                <a:solidFill>
                  <a:schemeClr val="bg1"/>
                </a:solidFill>
              </a:rPr>
              <a:t>WS2 DNS</a:t>
            </a:r>
            <a:endParaRPr lang="en-US" sz="1100" dirty="0"/>
          </a:p>
        </p:txBody>
      </p:sp>
      <p:sp>
        <p:nvSpPr>
          <p:cNvPr id="5" name="Good at"/>
          <p:cNvSpPr/>
          <p:nvPr/>
        </p:nvSpPr>
        <p:spPr>
          <a:xfrm>
            <a:off x="548640" y="1691640"/>
            <a:ext cx="5440680" cy="3611880"/>
          </a:xfrm>
          <a:prstGeom prst="roundRect">
            <a:avLst>
              <a:gd name="adj" fmla="val 3038"/>
            </a:avLst>
          </a:prstGeom>
          <a:solidFill>
            <a:schemeClr val="accent2">
              <a:alpha val="9000"/>
            </a:schemeClr>
          </a:solidFill>
          <a:ln/>
        </p:spPr>
      </p:sp>
      <p:sp>
        <p:nvSpPr>
          <p:cNvPr id="6" name="Shape 4"/>
          <p:cNvSpPr/>
          <p:nvPr/>
        </p:nvSpPr>
        <p:spPr>
          <a:xfrm>
            <a:off x="777240" y="1901952"/>
            <a:ext cx="457200" cy="457200"/>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877824" y="2002536"/>
            <a:ext cx="256032" cy="256032"/>
          </a:xfrm>
          <a:prstGeom prst="rect">
            <a:avLst/>
          </a:prstGeom>
        </p:spPr>
      </p:pic>
      <p:sp>
        <p:nvSpPr>
          <p:cNvPr id="8" name="Text 5"/>
          <p:cNvSpPr txBox="1"/>
          <p:nvPr/>
        </p:nvSpPr>
        <p:spPr>
          <a:xfrm>
            <a:off x="1371600" y="1901952"/>
            <a:ext cx="4389120" cy="457200"/>
          </a:xfrm>
          <a:prstGeom prst="rect">
            <a:avLst/>
          </a:prstGeom>
          <a:noFill/>
          <a:ln/>
        </p:spPr>
        <p:txBody>
          <a:bodyPr wrap="square" lIns="0" tIns="0" rIns="0" bIns="0" rtlCol="0" anchor="ctr"/>
          <a:lstStyle/>
          <a:p>
            <a:pPr indent="0" marL="0">
              <a:buNone/>
            </a:pPr>
            <a:r>
              <a:rPr lang="en-US" sz="2000" b="1" dirty="0">
                <a:solidFill>
                  <a:schemeClr val="tx1"/>
                </a:solidFill>
              </a:rPr>
              <a:t>Good at</a:t>
            </a:r>
            <a:endParaRPr lang="en-US" sz="2000" dirty="0"/>
          </a:p>
        </p:txBody>
      </p:sp>
      <p:pic>
        <p:nvPicPr>
          <p:cNvPr id="9" name="Image 1" descr="preencoded.png">    </p:cNvPr>
          <p:cNvPicPr>
            <a:picLocks noChangeAspect="1"/>
          </p:cNvPicPr>
          <p:nvPr/>
        </p:nvPicPr>
        <p:blipFill>
          <a:blip r:embed="rId2"/>
          <a:stretch>
            <a:fillRect/>
          </a:stretch>
        </p:blipFill>
        <p:spPr>
          <a:xfrm>
            <a:off x="822960" y="2621661"/>
            <a:ext cx="219456" cy="219456"/>
          </a:xfrm>
          <a:prstGeom prst="rect">
            <a:avLst/>
          </a:prstGeom>
        </p:spPr>
      </p:pic>
      <p:sp>
        <p:nvSpPr>
          <p:cNvPr id="10" name="Text 6"/>
          <p:cNvSpPr txBox="1"/>
          <p:nvPr/>
        </p:nvSpPr>
        <p:spPr>
          <a:xfrm>
            <a:off x="1170432" y="2606040"/>
            <a:ext cx="4590288" cy="519684"/>
          </a:xfrm>
          <a:prstGeom prst="rect">
            <a:avLst/>
          </a:prstGeom>
          <a:noFill/>
          <a:ln/>
        </p:spPr>
        <p:txBody>
          <a:bodyPr wrap="square" lIns="0" tIns="0" rIns="0" bIns="0" rtlCol="0" anchor="t"/>
          <a:lstStyle/>
          <a:p>
            <a:pPr indent="0" marL="0">
              <a:buNone/>
            </a:pPr>
            <a:r>
              <a:rPr lang="en-US" sz="1500" dirty="0">
                <a:solidFill>
                  <a:schemeClr val="tx1"/>
                </a:solidFill>
              </a:rPr>
              <a:t>Bulk edits — a zone’s records exported to a file and changed in one go</a:t>
            </a:r>
            <a:endParaRPr lang="en-US" sz="1500" dirty="0"/>
          </a:p>
        </p:txBody>
      </p:sp>
      <p:pic>
        <p:nvPicPr>
          <p:cNvPr id="11" name="Image 2" descr="preencoded.png">    </p:cNvPr>
          <p:cNvPicPr>
            <a:picLocks noChangeAspect="1"/>
          </p:cNvPicPr>
          <p:nvPr/>
        </p:nvPicPr>
        <p:blipFill>
          <a:blip r:embed="rId3"/>
          <a:stretch>
            <a:fillRect/>
          </a:stretch>
        </p:blipFill>
        <p:spPr>
          <a:xfrm>
            <a:off x="822960" y="3269361"/>
            <a:ext cx="219456" cy="219456"/>
          </a:xfrm>
          <a:prstGeom prst="rect">
            <a:avLst/>
          </a:prstGeom>
        </p:spPr>
      </p:pic>
      <p:sp>
        <p:nvSpPr>
          <p:cNvPr id="12" name="Text 7"/>
          <p:cNvSpPr txBox="1"/>
          <p:nvPr/>
        </p:nvSpPr>
        <p:spPr>
          <a:xfrm>
            <a:off x="1170432" y="3253740"/>
            <a:ext cx="4590288" cy="519684"/>
          </a:xfrm>
          <a:prstGeom prst="rect">
            <a:avLst/>
          </a:prstGeom>
          <a:noFill/>
          <a:ln/>
        </p:spPr>
        <p:txBody>
          <a:bodyPr wrap="square" lIns="0" tIns="0" rIns="0" bIns="0" rtlCol="0" anchor="t"/>
          <a:lstStyle/>
          <a:p>
            <a:pPr indent="0" marL="0">
              <a:buNone/>
            </a:pPr>
            <a:r>
              <a:rPr lang="en-US" sz="1500" dirty="0">
                <a:solidFill>
                  <a:schemeClr val="tx1"/>
                </a:solidFill>
              </a:rPr>
              <a:t>Edits are reviewed as a Pull Request — the export opens one for you</a:t>
            </a:r>
            <a:endParaRPr lang="en-US" sz="1500" dirty="0"/>
          </a:p>
        </p:txBody>
      </p:sp>
      <p:pic>
        <p:nvPicPr>
          <p:cNvPr id="13" name="Image 3" descr="preencoded.png">    </p:cNvPr>
          <p:cNvPicPr>
            <a:picLocks noChangeAspect="1"/>
          </p:cNvPicPr>
          <p:nvPr/>
        </p:nvPicPr>
        <p:blipFill>
          <a:blip r:embed="rId4"/>
          <a:stretch>
            <a:fillRect/>
          </a:stretch>
        </p:blipFill>
        <p:spPr>
          <a:xfrm>
            <a:off x="822960" y="3917061"/>
            <a:ext cx="219456" cy="219456"/>
          </a:xfrm>
          <a:prstGeom prst="rect">
            <a:avLst/>
          </a:prstGeom>
        </p:spPr>
      </p:pic>
      <p:sp>
        <p:nvSpPr>
          <p:cNvPr id="14" name="Text 8"/>
          <p:cNvSpPr txBox="1"/>
          <p:nvPr/>
        </p:nvSpPr>
        <p:spPr>
          <a:xfrm>
            <a:off x="1170432" y="3901440"/>
            <a:ext cx="4590288" cy="519684"/>
          </a:xfrm>
          <a:prstGeom prst="rect">
            <a:avLst/>
          </a:prstGeom>
          <a:noFill/>
          <a:ln/>
        </p:spPr>
        <p:txBody>
          <a:bodyPr wrap="square" lIns="0" tIns="0" rIns="0" bIns="0" rtlCol="0" anchor="t"/>
          <a:lstStyle/>
          <a:p>
            <a:pPr indent="0" marL="0">
              <a:buNone/>
            </a:pPr>
            <a:r>
              <a:rPr lang="en-US" sz="1500" dirty="0">
                <a:solidFill>
                  <a:schemeClr val="tx1"/>
                </a:solidFill>
              </a:rPr>
              <a:t>Preview first; deleting records is off unless someone ticks the box</a:t>
            </a:r>
            <a:endParaRPr lang="en-US" sz="1500" dirty="0"/>
          </a:p>
        </p:txBody>
      </p:sp>
      <p:pic>
        <p:nvPicPr>
          <p:cNvPr id="15" name="Image 4" descr="preencoded.png">    </p:cNvPr>
          <p:cNvPicPr>
            <a:picLocks noChangeAspect="1"/>
          </p:cNvPicPr>
          <p:nvPr/>
        </p:nvPicPr>
        <p:blipFill>
          <a:blip r:embed="rId5"/>
          <a:stretch>
            <a:fillRect/>
          </a:stretch>
        </p:blipFill>
        <p:spPr>
          <a:xfrm>
            <a:off x="822960" y="4564761"/>
            <a:ext cx="219456" cy="219456"/>
          </a:xfrm>
          <a:prstGeom prst="rect">
            <a:avLst/>
          </a:prstGeom>
        </p:spPr>
      </p:pic>
      <p:sp>
        <p:nvSpPr>
          <p:cNvPr id="16" name="Text 9"/>
          <p:cNvSpPr txBox="1"/>
          <p:nvPr/>
        </p:nvSpPr>
        <p:spPr>
          <a:xfrm>
            <a:off x="1170432" y="4549140"/>
            <a:ext cx="4590288" cy="287274"/>
          </a:xfrm>
          <a:prstGeom prst="rect">
            <a:avLst/>
          </a:prstGeom>
          <a:noFill/>
          <a:ln/>
        </p:spPr>
        <p:txBody>
          <a:bodyPr wrap="square" lIns="0" tIns="0" rIns="0" bIns="0" rtlCol="0" anchor="t"/>
          <a:lstStyle/>
          <a:p>
            <a:pPr indent="0" marL="0">
              <a:buNone/>
            </a:pPr>
            <a:r>
              <a:rPr lang="en-US" sz="1500" dirty="0">
                <a:solidFill>
                  <a:schemeClr val="tx1"/>
                </a:solidFill>
              </a:rPr>
              <a:t>A gatekeeper approves changes outside sandbox</a:t>
            </a:r>
            <a:endParaRPr lang="en-US" sz="1500" dirty="0"/>
          </a:p>
        </p:txBody>
      </p:sp>
      <p:sp>
        <p:nvSpPr>
          <p:cNvPr id="17" name="What it doesn’t do"/>
          <p:cNvSpPr/>
          <p:nvPr/>
        </p:nvSpPr>
        <p:spPr>
          <a:xfrm>
            <a:off x="6199632" y="1691640"/>
            <a:ext cx="5440680" cy="3611880"/>
          </a:xfrm>
          <a:prstGeom prst="roundRect">
            <a:avLst>
              <a:gd name="adj" fmla="val 3038"/>
            </a:avLst>
          </a:prstGeom>
          <a:solidFill>
            <a:schemeClr val="accent3">
              <a:alpha val="8000"/>
            </a:schemeClr>
          </a:solidFill>
          <a:ln/>
        </p:spPr>
      </p:sp>
      <p:sp>
        <p:nvSpPr>
          <p:cNvPr id="18" name="Shape 11"/>
          <p:cNvSpPr/>
          <p:nvPr/>
        </p:nvSpPr>
        <p:spPr>
          <a:xfrm>
            <a:off x="6428232" y="1901952"/>
            <a:ext cx="457200" cy="457200"/>
          </a:xfrm>
          <a:prstGeom prst="ellipse">
            <a:avLst/>
          </a:prstGeom>
          <a:solidFill>
            <a:schemeClr val="accent3"/>
          </a:solidFill>
          <a:ln/>
        </p:spPr>
      </p:sp>
      <p:pic>
        <p:nvPicPr>
          <p:cNvPr id="19" name="Image 5" descr="preencoded.png">    </p:cNvPr>
          <p:cNvPicPr>
            <a:picLocks noChangeAspect="1"/>
          </p:cNvPicPr>
          <p:nvPr/>
        </p:nvPicPr>
        <p:blipFill>
          <a:blip r:embed="rId6"/>
          <a:stretch>
            <a:fillRect/>
          </a:stretch>
        </p:blipFill>
        <p:spPr>
          <a:xfrm>
            <a:off x="6528816" y="2002536"/>
            <a:ext cx="256032" cy="256032"/>
          </a:xfrm>
          <a:prstGeom prst="rect">
            <a:avLst/>
          </a:prstGeom>
        </p:spPr>
      </p:pic>
      <p:sp>
        <p:nvSpPr>
          <p:cNvPr id="20" name="Text 12"/>
          <p:cNvSpPr txBox="1"/>
          <p:nvPr/>
        </p:nvSpPr>
        <p:spPr>
          <a:xfrm>
            <a:off x="7022592" y="1901952"/>
            <a:ext cx="4389120" cy="457200"/>
          </a:xfrm>
          <a:prstGeom prst="rect">
            <a:avLst/>
          </a:prstGeom>
          <a:noFill/>
          <a:ln/>
        </p:spPr>
        <p:txBody>
          <a:bodyPr wrap="square" lIns="0" tIns="0" rIns="0" bIns="0" rtlCol="0" anchor="ctr"/>
          <a:lstStyle/>
          <a:p>
            <a:pPr indent="0" marL="0">
              <a:buNone/>
            </a:pPr>
            <a:r>
              <a:rPr lang="en-US" sz="2000" b="1" dirty="0">
                <a:solidFill>
                  <a:schemeClr val="tx1"/>
                </a:solidFill>
              </a:rPr>
              <a:t>What it doesn’t do</a:t>
            </a:r>
            <a:endParaRPr lang="en-US" sz="2000" dirty="0"/>
          </a:p>
        </p:txBody>
      </p:sp>
      <p:pic>
        <p:nvPicPr>
          <p:cNvPr id="21" name="Image 6" descr="preencoded.png">    </p:cNvPr>
          <p:cNvPicPr>
            <a:picLocks noChangeAspect="1"/>
          </p:cNvPicPr>
          <p:nvPr/>
        </p:nvPicPr>
        <p:blipFill>
          <a:blip r:embed="rId7"/>
          <a:stretch>
            <a:fillRect/>
          </a:stretch>
        </p:blipFill>
        <p:spPr>
          <a:xfrm>
            <a:off x="6473952" y="2621661"/>
            <a:ext cx="219456" cy="219456"/>
          </a:xfrm>
          <a:prstGeom prst="rect">
            <a:avLst/>
          </a:prstGeom>
        </p:spPr>
      </p:pic>
      <p:sp>
        <p:nvSpPr>
          <p:cNvPr id="22" name="Text 13"/>
          <p:cNvSpPr txBox="1"/>
          <p:nvPr/>
        </p:nvSpPr>
        <p:spPr>
          <a:xfrm>
            <a:off x="6821424" y="2606040"/>
            <a:ext cx="4590288" cy="519684"/>
          </a:xfrm>
          <a:prstGeom prst="rect">
            <a:avLst/>
          </a:prstGeom>
          <a:noFill/>
          <a:ln/>
        </p:spPr>
        <p:txBody>
          <a:bodyPr wrap="square" lIns="0" tIns="0" rIns="0" bIns="0" rtlCol="0" anchor="t"/>
          <a:lstStyle/>
          <a:p>
            <a:pPr indent="0" marL="0">
              <a:buNone/>
            </a:pPr>
            <a:r>
              <a:rPr lang="en-US" sz="1500" dirty="0">
                <a:solidFill>
                  <a:schemeClr val="tx1"/>
                </a:solidFill>
              </a:rPr>
              <a:t>DNS records only — not alias records (CloudFront, load balancers), new zones or other AWS resources</a:t>
            </a:r>
            <a:endParaRPr lang="en-US" sz="1500" dirty="0"/>
          </a:p>
        </p:txBody>
      </p:sp>
      <p:pic>
        <p:nvPicPr>
          <p:cNvPr id="23" name="Image 7" descr="preencoded.png">    </p:cNvPr>
          <p:cNvPicPr>
            <a:picLocks noChangeAspect="1"/>
          </p:cNvPicPr>
          <p:nvPr/>
        </p:nvPicPr>
        <p:blipFill>
          <a:blip r:embed="rId8"/>
          <a:stretch>
            <a:fillRect/>
          </a:stretch>
        </p:blipFill>
        <p:spPr>
          <a:xfrm>
            <a:off x="6473952" y="3269361"/>
            <a:ext cx="219456" cy="219456"/>
          </a:xfrm>
          <a:prstGeom prst="rect">
            <a:avLst/>
          </a:prstGeom>
        </p:spPr>
      </p:pic>
      <p:sp>
        <p:nvSpPr>
          <p:cNvPr id="24" name="Text 14"/>
          <p:cNvSpPr txBox="1"/>
          <p:nvPr/>
        </p:nvSpPr>
        <p:spPr>
          <a:xfrm>
            <a:off x="6821424" y="3253740"/>
            <a:ext cx="4590288" cy="519684"/>
          </a:xfrm>
          <a:prstGeom prst="rect">
            <a:avLst/>
          </a:prstGeom>
          <a:noFill/>
          <a:ln/>
        </p:spPr>
        <p:txBody>
          <a:bodyPr wrap="square" lIns="0" tIns="0" rIns="0" bIns="0" rtlCol="0" anchor="t"/>
          <a:lstStyle/>
          <a:p>
            <a:pPr indent="0" marL="0">
              <a:buNone/>
            </a:pPr>
            <a:r>
              <a:rPr lang="en-US" sz="1500" dirty="0">
                <a:solidFill>
                  <a:schemeClr val="tx1"/>
                </a:solidFill>
              </a:rPr>
              <a:t>No manual-change alarm — a hand edit is quietly overwritten next time</a:t>
            </a:r>
            <a:endParaRPr lang="en-US" sz="1500" dirty="0"/>
          </a:p>
        </p:txBody>
      </p:sp>
      <p:pic>
        <p:nvPicPr>
          <p:cNvPr id="25" name="Image 8" descr="preencoded.png">    </p:cNvPr>
          <p:cNvPicPr>
            <a:picLocks noChangeAspect="1"/>
          </p:cNvPicPr>
          <p:nvPr/>
        </p:nvPicPr>
        <p:blipFill>
          <a:blip r:embed="rId9"/>
          <a:stretch>
            <a:fillRect/>
          </a:stretch>
        </p:blipFill>
        <p:spPr>
          <a:xfrm>
            <a:off x="6473952" y="3917061"/>
            <a:ext cx="219456" cy="219456"/>
          </a:xfrm>
          <a:prstGeom prst="rect">
            <a:avLst/>
          </a:prstGeom>
        </p:spPr>
      </p:pic>
      <p:sp>
        <p:nvSpPr>
          <p:cNvPr id="26" name="Text 15"/>
          <p:cNvSpPr txBox="1"/>
          <p:nvPr/>
        </p:nvSpPr>
        <p:spPr>
          <a:xfrm>
            <a:off x="6821424" y="3901440"/>
            <a:ext cx="4590288" cy="519684"/>
          </a:xfrm>
          <a:prstGeom prst="rect">
            <a:avLst/>
          </a:prstGeom>
          <a:noFill/>
          <a:ln/>
        </p:spPr>
        <p:txBody>
          <a:bodyPr wrap="square" lIns="0" tIns="0" rIns="0" bIns="0" rtlCol="0" anchor="t"/>
          <a:lstStyle/>
          <a:p>
            <a:pPr indent="0" marL="0">
              <a:buNone/>
            </a:pPr>
            <a:r>
              <a:rPr lang="en-US" sz="1500" dirty="0">
                <a:solidFill>
                  <a:schemeClr val="tx1"/>
                </a:solidFill>
              </a:rPr>
              <a:t>Preview isn’t locked — the changes are worked out again at apply time</a:t>
            </a:r>
            <a:endParaRPr lang="en-US" sz="1500" dirty="0"/>
          </a:p>
        </p:txBody>
      </p:sp>
      <p:pic>
        <p:nvPicPr>
          <p:cNvPr id="27" name="Image 9" descr="preencoded.png">    </p:cNvPr>
          <p:cNvPicPr>
            <a:picLocks noChangeAspect="1"/>
          </p:cNvPicPr>
          <p:nvPr/>
        </p:nvPicPr>
        <p:blipFill>
          <a:blip r:embed="rId10"/>
          <a:stretch>
            <a:fillRect/>
          </a:stretch>
        </p:blipFill>
        <p:spPr>
          <a:xfrm>
            <a:off x="6473952" y="4564761"/>
            <a:ext cx="219456" cy="219456"/>
          </a:xfrm>
          <a:prstGeom prst="rect">
            <a:avLst/>
          </a:prstGeom>
        </p:spPr>
      </p:pic>
      <p:sp>
        <p:nvSpPr>
          <p:cNvPr id="28" name="Text 16"/>
          <p:cNvSpPr txBox="1"/>
          <p:nvPr/>
        </p:nvSpPr>
        <p:spPr>
          <a:xfrm>
            <a:off x="6821424" y="4549140"/>
            <a:ext cx="4590288" cy="519684"/>
          </a:xfrm>
          <a:prstGeom prst="rect">
            <a:avLst/>
          </a:prstGeom>
          <a:noFill/>
          <a:ln/>
        </p:spPr>
        <p:txBody>
          <a:bodyPr wrap="square" lIns="0" tIns="0" rIns="0" bIns="0" rtlCol="0" anchor="t"/>
          <a:lstStyle/>
          <a:p>
            <a:pPr indent="0" marL="0">
              <a:buNone/>
            </a:pPr>
            <a:r>
              <a:rPr lang="en-US" sz="1500" dirty="0">
                <a:solidFill>
                  <a:schemeClr val="tx1"/>
                </a:solidFill>
              </a:rPr>
              <a:t>Works outside CloudFormation — no change set or stack history</a:t>
            </a:r>
            <a:endParaRPr lang="en-US" sz="1500" dirty="0"/>
          </a:p>
        </p:txBody>
      </p:sp>
      <p:sp>
        <p:nvSpPr>
          <p:cNvPr id="29" name="Takeaway"/>
          <p:cNvSpPr/>
          <p:nvPr/>
        </p:nvSpPr>
        <p:spPr>
          <a:xfrm>
            <a:off x="548640" y="5532120"/>
            <a:ext cx="11091672" cy="640080"/>
          </a:xfrm>
          <a:prstGeom prst="roundRect">
            <a:avLst>
              <a:gd name="adj" fmla="val 17143"/>
            </a:avLst>
          </a:prstGeom>
          <a:solidFill>
            <a:schemeClr val="tx1"/>
          </a:solidFill>
          <a:ln/>
        </p:spPr>
      </p:sp>
      <p:pic>
        <p:nvPicPr>
          <p:cNvPr id="30" name="Image 10" descr="preencoded.png">    </p:cNvPr>
          <p:cNvPicPr>
            <a:picLocks noChangeAspect="1"/>
          </p:cNvPicPr>
          <p:nvPr/>
        </p:nvPicPr>
        <p:blipFill>
          <a:blip r:embed="rId11"/>
          <a:stretch>
            <a:fillRect/>
          </a:stretch>
        </p:blipFill>
        <p:spPr>
          <a:xfrm>
            <a:off x="804672" y="5687568"/>
            <a:ext cx="329184" cy="329184"/>
          </a:xfrm>
          <a:prstGeom prst="rect">
            <a:avLst/>
          </a:prstGeom>
        </p:spPr>
      </p:pic>
      <p:sp>
        <p:nvSpPr>
          <p:cNvPr id="31" name="Text 18"/>
          <p:cNvSpPr txBox="1"/>
          <p:nvPr/>
        </p:nvSpPr>
        <p:spPr>
          <a:xfrm>
            <a:off x="1298448" y="5532120"/>
            <a:ext cx="10058400" cy="640080"/>
          </a:xfrm>
          <a:prstGeom prst="rect">
            <a:avLst/>
          </a:prstGeom>
          <a:noFill/>
          <a:ln/>
        </p:spPr>
        <p:txBody>
          <a:bodyPr wrap="square" lIns="0" tIns="0" rIns="0" bIns="0" rtlCol="0" anchor="ctr"/>
          <a:lstStyle/>
          <a:p>
            <a:pPr indent="0" marL="0">
              <a:buNone/>
            </a:pPr>
            <a:r>
              <a:rPr lang="en-US" sz="1700" b="1" dirty="0">
                <a:solidFill>
                  <a:schemeClr val="bg1"/>
                </a:solidFill>
              </a:rPr>
              <a:t>Strong for bulk edits — but no manual-change alarm, no locked change set, and no alias records.</a:t>
            </a:r>
            <a:endParaRPr lang="en-US" sz="17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Side by side: new pipeline vs WS2 DNS</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How they compare on the checks that matter</a:t>
            </a:r>
            <a:endParaRPr lang="en-US" sz="1500" dirty="0"/>
          </a:p>
        </p:txBody>
      </p:sp>
      <p:graphicFrame>
        <p:nvGraphicFramePr>
          <p:cNvPr id="9" name="Comparison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971800"/>
                <a:gridCol w="4059936"/>
                <a:gridCol w="4059936"/>
              </a:tblGrid>
              <a:tr h="420624">
                <a:tc>
                  <a:txBody>
                    <a:bodyPr/>
                    <a:lstStyle/>
                    <a:p>
                      <a:pPr indent="0" marL="0">
                        <a:buNone/>
                      </a:pPr>
                      <a:r>
                        <a:rPr lang="en-US" sz="1200" b="1" dirty="0">
                          <a:solidFill>
                            <a:schemeClr val="accent1"/>
                          </a:solidFill>
                          <a:latin typeface="Segoe UI Symbol" pitchFamily="34" charset="0"/>
                          <a:ea typeface="Segoe UI Symbol" pitchFamily="34" charset="-122"/>
                          <a:cs typeface="Segoe UI Symbol" pitchFamily="34" charset="-120"/>
                        </a:rPr>
                        <a:t>✓</a:t>
                      </a:r>
                      <a:pPr indent="0" marL="0">
                        <a:buNone/>
                      </a:pPr>
                      <a:r>
                        <a:rPr lang="en-US" sz="1200" dirty="0">
                          <a:solidFill>
                            <a:schemeClr val="tx2"/>
                          </a:solidFill>
                        </a:rPr>
                        <a:t> yes    </a:t>
                      </a:r>
                      <a:pPr indent="0" marL="0">
                        <a:buNone/>
                      </a:pPr>
                      <a:r>
                        <a:rPr lang="en-US" sz="1200" b="1" dirty="0">
                          <a:solidFill>
                            <a:schemeClr val="accent4"/>
                          </a:solidFill>
                          <a:latin typeface="Segoe UI Symbol" pitchFamily="34" charset="0"/>
                          <a:ea typeface="Segoe UI Symbol" pitchFamily="34" charset="-122"/>
                          <a:cs typeface="Segoe UI Symbol" pitchFamily="34" charset="-120"/>
                        </a:rPr>
                        <a:t>◐</a:t>
                      </a:r>
                      <a:pPr indent="0" marL="0">
                        <a:buNone/>
                      </a:pPr>
                      <a:r>
                        <a:rPr lang="en-US" sz="1200" dirty="0">
                          <a:solidFill>
                            <a:schemeClr val="tx2"/>
                          </a:solidFill>
                        </a:rPr>
                        <a:t> partly    </a:t>
                      </a:r>
                      <a:pPr indent="0" marL="0">
                        <a:buNone/>
                      </a:pPr>
                      <a:r>
                        <a:rPr lang="en-US" sz="1200" b="1" dirty="0">
                          <a:solidFill>
                            <a:schemeClr val="accent3"/>
                          </a:solidFill>
                          <a:latin typeface="Segoe UI Symbol" pitchFamily="34" charset="0"/>
                          <a:ea typeface="Segoe UI Symbol" pitchFamily="34" charset="-122"/>
                          <a:cs typeface="Segoe UI Symbol" pitchFamily="34" charset="-120"/>
                        </a:rPr>
                        <a:t>✗</a:t>
                      </a:r>
                      <a:pPr indent="0" marL="0">
                        <a:buNone/>
                      </a:pPr>
                      <a:r>
                        <a:rPr lang="en-US" sz="1200" dirty="0">
                          <a:solidFill>
                            <a:schemeClr val="tx2"/>
                          </a:solidFill>
                        </a:rPr>
                        <a:t> no</a:t>
                      </a:r>
                      <a:endParaRPr lang="en-US" sz="1200" dirty="0"/>
                    </a:p>
                  </a:txBody>
                  <a:tcPr marL="128016" marR="128016" marT="54864" marB="54864" anchor="b">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600" b="1" dirty="0">
                          <a:solidFill>
                            <a:schemeClr val="bg1"/>
                          </a:solidFill>
                        </a:rPr>
                        <a:t>New pipeline</a:t>
                      </a:r>
                      <a:endParaRPr lang="en-US" sz="16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WS2 DNS pipelines</a:t>
                      </a:r>
                      <a:endParaRPr lang="en-US" sz="16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accent2"/>
                    </a:solidFill>
                  </a:tcPr>
                </a:tc>
              </a:tr>
              <a:tr h="493776">
                <a:tc>
                  <a:txBody>
                    <a:bodyPr/>
                    <a:lstStyle/>
                    <a:p>
                      <a:pPr indent="0" marL="0">
                        <a:buNone/>
                      </a:pPr>
                      <a:r>
                        <a:rPr lang="en-US" sz="1400" b="1" dirty="0">
                          <a:solidFill>
                            <a:schemeClr val="tx1"/>
                          </a:solidFill>
                        </a:rPr>
                        <a:t>Spots changes made by hand</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Stops the run and shows what changed*</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No alarm — a hand edit is simply overwritten</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493776">
                <a:tc>
                  <a:txBody>
                    <a:bodyPr/>
                    <a:lstStyle/>
                    <a:p>
                      <a:pPr indent="0" marL="0">
                        <a:buNone/>
                      </a:pPr>
                      <a:r>
                        <a:rPr lang="en-US" sz="1400" b="1" dirty="0">
                          <a:solidFill>
                            <a:schemeClr val="tx1"/>
                          </a:solidFill>
                        </a:rPr>
                        <a:t>Itemised preview before go-live</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Change set: every add, change, removal</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Preview list in the run log</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493776">
                <a:tc>
                  <a:txBody>
                    <a:bodyPr/>
                    <a:lstStyle/>
                    <a:p>
                      <a:pPr indent="0" marL="0">
                        <a:buNone/>
                      </a:pPr>
                      <a:r>
                        <a:rPr lang="en-US" sz="1400" b="1" dirty="0">
                          <a:solidFill>
                            <a:schemeClr val="tx1"/>
                          </a:solidFill>
                        </a:rPr>
                        <a:t>Pause for approval before go-live</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By default, waits for someone to click Execute</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Gatekeeper approval outside sandbox</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493776">
                <a:tc>
                  <a:txBody>
                    <a:bodyPr/>
                    <a:lstStyle/>
                    <a:p>
                      <a:pPr indent="0" marL="0">
                        <a:buNone/>
                      </a:pPr>
                      <a:r>
                        <a:rPr lang="en-US" sz="1400" b="1" dirty="0">
                          <a:solidFill>
                            <a:schemeClr val="tx1"/>
                          </a:solidFill>
                        </a:rPr>
                        <a:t>Runs exactly what was approved</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Same change set; out-of-date ones refused</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Changes are re-worked at apply time</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493776">
                <a:tc>
                  <a:txBody>
                    <a:bodyPr/>
                    <a:lstStyle/>
                    <a:p>
                      <a:pPr indent="0" marL="0">
                        <a:buNone/>
                      </a:pPr>
                      <a:r>
                        <a:rPr lang="en-US" sz="1400" b="1" dirty="0">
                          <a:solidFill>
                            <a:schemeClr val="tx1"/>
                          </a:solidFill>
                        </a:rPr>
                        <a:t>Backup and rollback</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Every record in Git; revert a commit to undo</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Manual snapshot; alias records left out</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493776">
                <a:tc>
                  <a:txBody>
                    <a:bodyPr/>
                    <a:lstStyle/>
                    <a:p>
                      <a:pPr indent="0" marL="0">
                        <a:buNone/>
                      </a:pPr>
                      <a:r>
                        <a:rPr lang="en-US" sz="1400" b="1" dirty="0">
                          <a:solidFill>
                            <a:schemeClr val="tx1"/>
                          </a:solidFill>
                        </a:rPr>
                        <a:t>What it covers</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Any stack — DNS zones and alias records too</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DNS records only</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493776">
                <a:tc>
                  <a:txBody>
                    <a:bodyPr/>
                    <a:lstStyle/>
                    <a:p>
                      <a:pPr indent="0" marL="0">
                        <a:buNone/>
                      </a:pPr>
                      <a:r>
                        <a:rPr lang="en-US" sz="1400" b="1" dirty="0">
                          <a:solidFill>
                            <a:schemeClr val="tx1"/>
                          </a:solidFill>
                        </a:rPr>
                        <a:t>One source of truth</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CloudFormation templates in Git</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Separate files, changed outside CloudFormation</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493776">
                <a:tc>
                  <a:txBody>
                    <a:bodyPr/>
                    <a:lstStyle/>
                    <a:p>
                      <a:pPr indent="0" marL="0">
                        <a:buNone/>
                      </a:pPr>
                      <a:r>
                        <a:rPr lang="en-US" sz="1400" b="1" dirty="0">
                          <a:solidFill>
                            <a:schemeClr val="tx1"/>
                          </a:solidFill>
                        </a:rPr>
                        <a:t>Bulk edits, reviewed in Git</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Edit the template; review a Pull Request</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latin typeface="Segoe UI Symbol" pitchFamily="34" charset="0"/>
                          <a:ea typeface="Segoe UI Symbol" pitchFamily="34" charset="-122"/>
                          <a:cs typeface="Segoe UI Symbol" pitchFamily="34" charset="-120"/>
                        </a:rPr>
                        <a:t>✓  </a:t>
                      </a:r>
                      <a:pPr indent="0" marL="0">
                        <a:buNone/>
                      </a:pPr>
                      <a:r>
                        <a:rPr lang="en-US" sz="1400" dirty="0">
                          <a:solidFill>
                            <a:schemeClr val="tx1"/>
                          </a:solidFill>
                        </a:rPr>
                        <a:t>Export to files; review a Pull Request</a:t>
                      </a:r>
                      <a:endParaRPr lang="en-US" sz="1400" dirty="0"/>
                    </a:p>
                  </a:txBody>
                  <a:tcPr marL="128016" marR="128016" marT="54864" marB="54864"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6053328"/>
            <a:ext cx="11091672" cy="274320"/>
          </a:xfrm>
          <a:prstGeom prst="rect">
            <a:avLst/>
          </a:prstGeom>
          <a:noFill/>
          <a:ln/>
        </p:spPr>
        <p:txBody>
          <a:bodyPr wrap="square" lIns="0" tIns="0" rIns="0" bIns="0" rtlCol="0" anchor="t"/>
          <a:lstStyle/>
          <a:p>
            <a:pPr indent="0" marL="0">
              <a:buNone/>
            </a:pPr>
            <a:r>
              <a:rPr lang="en-US" sz="1100" dirty="0">
                <a:solidFill>
                  <a:schemeClr val="tx2"/>
                </a:solidFill>
              </a:rPr>
              <a:t>* Where AWS supports drift checks — not for FMS policies or individual DNS records (see slide 12).</a:t>
            </a:r>
            <a:endParaRPr lang="en-US" sz="11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When DNS breaks: find it, undo it</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WS2’s export is a snapshot — the new pipeline keeps the real record templates in Git</a:t>
            </a:r>
            <a:endParaRPr lang="en-US" sz="1500" dirty="0"/>
          </a:p>
        </p:txBody>
      </p:sp>
      <p:sp>
        <p:nvSpPr>
          <p:cNvPr id="4" name="WS2 DNS EXPORT"/>
          <p:cNvSpPr/>
          <p:nvPr/>
        </p:nvSpPr>
        <p:spPr>
          <a:xfrm>
            <a:off x="548640" y="1645920"/>
            <a:ext cx="5440680" cy="2331720"/>
          </a:xfrm>
          <a:prstGeom prst="roundRect">
            <a:avLst>
              <a:gd name="adj" fmla="val 4706"/>
            </a:avLst>
          </a:prstGeom>
          <a:solidFill>
            <a:schemeClr val="accent2">
              <a:alpha val="9000"/>
            </a:schemeClr>
          </a:solidFill>
          <a:ln/>
        </p:spPr>
      </p:sp>
      <p:sp>
        <p:nvSpPr>
          <p:cNvPr id="5" name="Shape 3"/>
          <p:cNvSpPr/>
          <p:nvPr/>
        </p:nvSpPr>
        <p:spPr>
          <a:xfrm>
            <a:off x="749808" y="1810512"/>
            <a:ext cx="457200" cy="45720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850392" y="1911096"/>
            <a:ext cx="256032" cy="256032"/>
          </a:xfrm>
          <a:prstGeom prst="rect">
            <a:avLst/>
          </a:prstGeom>
        </p:spPr>
      </p:pic>
      <p:sp>
        <p:nvSpPr>
          <p:cNvPr id="7" name="Text 4"/>
          <p:cNvSpPr txBox="1"/>
          <p:nvPr/>
        </p:nvSpPr>
        <p:spPr>
          <a:xfrm>
            <a:off x="1353312" y="1783080"/>
            <a:ext cx="4389120" cy="219456"/>
          </a:xfrm>
          <a:prstGeom prst="rect">
            <a:avLst/>
          </a:prstGeom>
          <a:noFill/>
          <a:ln/>
        </p:spPr>
        <p:txBody>
          <a:bodyPr wrap="square" lIns="0" tIns="0" rIns="0" bIns="0" rtlCol="0" anchor="t"/>
          <a:lstStyle/>
          <a:p>
            <a:pPr indent="0" marL="0">
              <a:buNone/>
            </a:pPr>
            <a:r>
              <a:rPr lang="en-US" sz="1100" b="1" spc="150" kern="0" dirty="0">
                <a:solidFill>
                  <a:schemeClr val="accent2"/>
                </a:solidFill>
              </a:rPr>
              <a:t>WS2 DNS EXPORT</a:t>
            </a:r>
            <a:endParaRPr lang="en-US" sz="1100" dirty="0"/>
          </a:p>
        </p:txBody>
      </p:sp>
      <p:sp>
        <p:nvSpPr>
          <p:cNvPr id="8" name="Text 5"/>
          <p:cNvSpPr txBox="1"/>
          <p:nvPr/>
        </p:nvSpPr>
        <p:spPr>
          <a:xfrm>
            <a:off x="1353312" y="1984248"/>
            <a:ext cx="4389120" cy="329184"/>
          </a:xfrm>
          <a:prstGeom prst="rect">
            <a:avLst/>
          </a:prstGeom>
          <a:noFill/>
          <a:ln/>
        </p:spPr>
        <p:txBody>
          <a:bodyPr wrap="square" lIns="0" tIns="0" rIns="0" bIns="0" rtlCol="0" anchor="ctr"/>
          <a:lstStyle/>
          <a:p>
            <a:pPr indent="0" marL="0">
              <a:buNone/>
            </a:pPr>
            <a:r>
              <a:rPr lang="en-US" sz="1900" b="1" dirty="0">
                <a:solidFill>
                  <a:schemeClr val="tx1"/>
                </a:solidFill>
              </a:rPr>
              <a:t>A partial snapshot</a:t>
            </a:r>
            <a:endParaRPr lang="en-US" sz="1900" dirty="0"/>
          </a:p>
        </p:txBody>
      </p:sp>
      <p:pic>
        <p:nvPicPr>
          <p:cNvPr id="9" name="Image 1" descr="preencoded.png">    </p:cNvPr>
          <p:cNvPicPr>
            <a:picLocks noChangeAspect="1"/>
          </p:cNvPicPr>
          <p:nvPr/>
        </p:nvPicPr>
        <p:blipFill>
          <a:blip r:embed="rId2"/>
          <a:stretch>
            <a:fillRect/>
          </a:stretch>
        </p:blipFill>
        <p:spPr>
          <a:xfrm>
            <a:off x="777240" y="2495042"/>
            <a:ext cx="219456" cy="219456"/>
          </a:xfrm>
          <a:prstGeom prst="rect">
            <a:avLst/>
          </a:prstGeom>
        </p:spPr>
      </p:pic>
      <p:sp>
        <p:nvSpPr>
          <p:cNvPr id="10" name="Text 6"/>
          <p:cNvSpPr txBox="1"/>
          <p:nvPr/>
        </p:nvSpPr>
        <p:spPr>
          <a:xfrm>
            <a:off x="1124712" y="2487168"/>
            <a:ext cx="4681728" cy="271780"/>
          </a:xfrm>
          <a:prstGeom prst="rect">
            <a:avLst/>
          </a:prstGeom>
          <a:noFill/>
          <a:ln/>
        </p:spPr>
        <p:txBody>
          <a:bodyPr wrap="square" lIns="0" tIns="0" rIns="0" bIns="0" rtlCol="0" anchor="t"/>
          <a:lstStyle/>
          <a:p>
            <a:pPr indent="0" marL="0">
              <a:buNone/>
            </a:pPr>
            <a:r>
              <a:rPr lang="en-US" sz="1400" dirty="0">
                <a:solidFill>
                  <a:schemeClr val="tx1"/>
                </a:solidFill>
              </a:rPr>
              <a:t>Only when someone runs it by hand</a:t>
            </a:r>
            <a:endParaRPr lang="en-US" sz="1400" dirty="0"/>
          </a:p>
        </p:txBody>
      </p:sp>
      <p:pic>
        <p:nvPicPr>
          <p:cNvPr id="11" name="Image 2" descr="preencoded.png">    </p:cNvPr>
          <p:cNvPicPr>
            <a:picLocks noChangeAspect="1"/>
          </p:cNvPicPr>
          <p:nvPr/>
        </p:nvPicPr>
        <p:blipFill>
          <a:blip r:embed="rId3"/>
          <a:stretch>
            <a:fillRect/>
          </a:stretch>
        </p:blipFill>
        <p:spPr>
          <a:xfrm>
            <a:off x="777240" y="2830830"/>
            <a:ext cx="219456" cy="219456"/>
          </a:xfrm>
          <a:prstGeom prst="rect">
            <a:avLst/>
          </a:prstGeom>
        </p:spPr>
      </p:pic>
      <p:sp>
        <p:nvSpPr>
          <p:cNvPr id="12" name="Text 7"/>
          <p:cNvSpPr txBox="1"/>
          <p:nvPr/>
        </p:nvSpPr>
        <p:spPr>
          <a:xfrm>
            <a:off x="1124712" y="2822956"/>
            <a:ext cx="4681728" cy="271780"/>
          </a:xfrm>
          <a:prstGeom prst="rect">
            <a:avLst/>
          </a:prstGeom>
          <a:noFill/>
          <a:ln/>
        </p:spPr>
        <p:txBody>
          <a:bodyPr wrap="square" lIns="0" tIns="0" rIns="0" bIns="0" rtlCol="0" anchor="t"/>
          <a:lstStyle/>
          <a:p>
            <a:pPr indent="0" marL="0">
              <a:buNone/>
            </a:pPr>
            <a:r>
              <a:rPr lang="en-US" sz="1400" dirty="0">
                <a:solidFill>
                  <a:schemeClr val="tx1"/>
                </a:solidFill>
              </a:rPr>
              <a:t>Saved to a side branch, or a download kept for 30 days</a:t>
            </a:r>
            <a:endParaRPr lang="en-US" sz="1400" dirty="0"/>
          </a:p>
        </p:txBody>
      </p:sp>
      <p:pic>
        <p:nvPicPr>
          <p:cNvPr id="13" name="Image 3" descr="preencoded.png">    </p:cNvPr>
          <p:cNvPicPr>
            <a:picLocks noChangeAspect="1"/>
          </p:cNvPicPr>
          <p:nvPr/>
        </p:nvPicPr>
        <p:blipFill>
          <a:blip r:embed="rId4"/>
          <a:stretch>
            <a:fillRect/>
          </a:stretch>
        </p:blipFill>
        <p:spPr>
          <a:xfrm>
            <a:off x="777240" y="3166618"/>
            <a:ext cx="219456" cy="219456"/>
          </a:xfrm>
          <a:prstGeom prst="rect">
            <a:avLst/>
          </a:prstGeom>
        </p:spPr>
      </p:pic>
      <p:sp>
        <p:nvSpPr>
          <p:cNvPr id="14" name="Text 8"/>
          <p:cNvSpPr txBox="1"/>
          <p:nvPr/>
        </p:nvSpPr>
        <p:spPr>
          <a:xfrm>
            <a:off x="1124712" y="3158744"/>
            <a:ext cx="4681728" cy="271780"/>
          </a:xfrm>
          <a:prstGeom prst="rect">
            <a:avLst/>
          </a:prstGeom>
          <a:noFill/>
          <a:ln/>
        </p:spPr>
        <p:txBody>
          <a:bodyPr wrap="square" lIns="0" tIns="0" rIns="0" bIns="0" rtlCol="0" anchor="t"/>
          <a:lstStyle/>
          <a:p>
            <a:pPr indent="0" marL="0">
              <a:buNone/>
            </a:pPr>
            <a:r>
              <a:rPr lang="en-US" sz="1400" dirty="0">
                <a:solidFill>
                  <a:schemeClr val="tx1"/>
                </a:solidFill>
              </a:rPr>
              <a:t>Leaves out alias records (CloudFront, load balancers)</a:t>
            </a:r>
            <a:endParaRPr lang="en-US" sz="1400" dirty="0"/>
          </a:p>
        </p:txBody>
      </p:sp>
      <p:pic>
        <p:nvPicPr>
          <p:cNvPr id="15" name="Image 4" descr="preencoded.png">    </p:cNvPr>
          <p:cNvPicPr>
            <a:picLocks noChangeAspect="1"/>
          </p:cNvPicPr>
          <p:nvPr/>
        </p:nvPicPr>
        <p:blipFill>
          <a:blip r:embed="rId5"/>
          <a:stretch>
            <a:fillRect/>
          </a:stretch>
        </p:blipFill>
        <p:spPr>
          <a:xfrm>
            <a:off x="777240" y="3502406"/>
            <a:ext cx="219456" cy="219456"/>
          </a:xfrm>
          <a:prstGeom prst="rect">
            <a:avLst/>
          </a:prstGeom>
        </p:spPr>
      </p:pic>
      <p:sp>
        <p:nvSpPr>
          <p:cNvPr id="16" name="Text 9"/>
          <p:cNvSpPr txBox="1"/>
          <p:nvPr/>
        </p:nvSpPr>
        <p:spPr>
          <a:xfrm>
            <a:off x="1124712" y="3494532"/>
            <a:ext cx="4681728" cy="271780"/>
          </a:xfrm>
          <a:prstGeom prst="rect">
            <a:avLst/>
          </a:prstGeom>
          <a:noFill/>
          <a:ln/>
        </p:spPr>
        <p:txBody>
          <a:bodyPr wrap="square" lIns="0" tIns="0" rIns="0" bIns="0" rtlCol="0" anchor="t"/>
          <a:lstStyle/>
          <a:p>
            <a:pPr indent="0" marL="0">
              <a:buNone/>
            </a:pPr>
            <a:r>
              <a:rPr lang="en-US" sz="1400" dirty="0">
                <a:solidFill>
                  <a:schemeClr val="tx1"/>
                </a:solidFill>
              </a:rPr>
              <a:t>Undo = re-apply old files; removals need ‘deletes’ ticked</a:t>
            </a:r>
            <a:endParaRPr lang="en-US" sz="1400" dirty="0"/>
          </a:p>
        </p:txBody>
      </p:sp>
      <p:sp>
        <p:nvSpPr>
          <p:cNvPr id="17" name="NEW PIPELINE"/>
          <p:cNvSpPr/>
          <p:nvPr/>
        </p:nvSpPr>
        <p:spPr>
          <a:xfrm>
            <a:off x="6199632" y="1645920"/>
            <a:ext cx="5440680" cy="2331720"/>
          </a:xfrm>
          <a:prstGeom prst="roundRect">
            <a:avLst>
              <a:gd name="adj" fmla="val 4706"/>
            </a:avLst>
          </a:prstGeom>
          <a:solidFill>
            <a:schemeClr val="accent1">
              <a:alpha val="8000"/>
            </a:schemeClr>
          </a:solidFill>
          <a:ln/>
        </p:spPr>
      </p:sp>
      <p:sp>
        <p:nvSpPr>
          <p:cNvPr id="18" name="Shape 11"/>
          <p:cNvSpPr/>
          <p:nvPr/>
        </p:nvSpPr>
        <p:spPr>
          <a:xfrm>
            <a:off x="6400800" y="1810512"/>
            <a:ext cx="457200" cy="457200"/>
          </a:xfrm>
          <a:prstGeom prst="ellipse">
            <a:avLst/>
          </a:prstGeom>
          <a:solidFill>
            <a:schemeClr val="accent1"/>
          </a:solidFill>
          <a:ln/>
        </p:spPr>
      </p:sp>
      <p:pic>
        <p:nvPicPr>
          <p:cNvPr id="19" name="Image 5" descr="preencoded.png">    </p:cNvPr>
          <p:cNvPicPr>
            <a:picLocks noChangeAspect="1"/>
          </p:cNvPicPr>
          <p:nvPr/>
        </p:nvPicPr>
        <p:blipFill>
          <a:blip r:embed="rId6"/>
          <a:stretch>
            <a:fillRect/>
          </a:stretch>
        </p:blipFill>
        <p:spPr>
          <a:xfrm>
            <a:off x="6501384" y="1911096"/>
            <a:ext cx="256032" cy="256032"/>
          </a:xfrm>
          <a:prstGeom prst="rect">
            <a:avLst/>
          </a:prstGeom>
        </p:spPr>
      </p:pic>
      <p:sp>
        <p:nvSpPr>
          <p:cNvPr id="20" name="Text 12"/>
          <p:cNvSpPr txBox="1"/>
          <p:nvPr/>
        </p:nvSpPr>
        <p:spPr>
          <a:xfrm>
            <a:off x="7004304" y="1783080"/>
            <a:ext cx="4389120" cy="219456"/>
          </a:xfrm>
          <a:prstGeom prst="rect">
            <a:avLst/>
          </a:prstGeom>
          <a:noFill/>
          <a:ln/>
        </p:spPr>
        <p:txBody>
          <a:bodyPr wrap="square" lIns="0" tIns="0" rIns="0" bIns="0" rtlCol="0" anchor="t"/>
          <a:lstStyle/>
          <a:p>
            <a:pPr indent="0" marL="0">
              <a:buNone/>
            </a:pPr>
            <a:r>
              <a:rPr lang="en-US" sz="1100" b="1" spc="150" kern="0" dirty="0">
                <a:solidFill>
                  <a:schemeClr val="accent1"/>
                </a:solidFill>
              </a:rPr>
              <a:t>NEW PIPELINE</a:t>
            </a:r>
            <a:endParaRPr lang="en-US" sz="1100" dirty="0"/>
          </a:p>
        </p:txBody>
      </p:sp>
      <p:sp>
        <p:nvSpPr>
          <p:cNvPr id="21" name="Text 13"/>
          <p:cNvSpPr txBox="1"/>
          <p:nvPr/>
        </p:nvSpPr>
        <p:spPr>
          <a:xfrm>
            <a:off x="7004304" y="1984248"/>
            <a:ext cx="4389120" cy="329184"/>
          </a:xfrm>
          <a:prstGeom prst="rect">
            <a:avLst/>
          </a:prstGeom>
          <a:noFill/>
          <a:ln/>
        </p:spPr>
        <p:txBody>
          <a:bodyPr wrap="square" lIns="0" tIns="0" rIns="0" bIns="0" rtlCol="0" anchor="ctr"/>
          <a:lstStyle/>
          <a:p>
            <a:pPr indent="0" marL="0">
              <a:buNone/>
            </a:pPr>
            <a:r>
              <a:rPr lang="en-US" sz="1900" b="1" dirty="0">
                <a:solidFill>
                  <a:schemeClr val="tx1"/>
                </a:solidFill>
              </a:rPr>
              <a:t>The real templates</a:t>
            </a:r>
            <a:endParaRPr lang="en-US" sz="1900" dirty="0"/>
          </a:p>
        </p:txBody>
      </p:sp>
      <p:pic>
        <p:nvPicPr>
          <p:cNvPr id="22" name="Image 6" descr="preencoded.png">    </p:cNvPr>
          <p:cNvPicPr>
            <a:picLocks noChangeAspect="1"/>
          </p:cNvPicPr>
          <p:nvPr/>
        </p:nvPicPr>
        <p:blipFill>
          <a:blip r:embed="rId7"/>
          <a:stretch>
            <a:fillRect/>
          </a:stretch>
        </p:blipFill>
        <p:spPr>
          <a:xfrm>
            <a:off x="6428232" y="2495042"/>
            <a:ext cx="219456" cy="219456"/>
          </a:xfrm>
          <a:prstGeom prst="rect">
            <a:avLst/>
          </a:prstGeom>
        </p:spPr>
      </p:pic>
      <p:sp>
        <p:nvSpPr>
          <p:cNvPr id="23" name="Text 14"/>
          <p:cNvSpPr txBox="1"/>
          <p:nvPr/>
        </p:nvSpPr>
        <p:spPr>
          <a:xfrm>
            <a:off x="6775704" y="2487168"/>
            <a:ext cx="4681728" cy="271780"/>
          </a:xfrm>
          <a:prstGeom prst="rect">
            <a:avLst/>
          </a:prstGeom>
          <a:noFill/>
          <a:ln/>
        </p:spPr>
        <p:txBody>
          <a:bodyPr wrap="square" lIns="0" tIns="0" rIns="0" bIns="0" rtlCol="0" anchor="t"/>
          <a:lstStyle/>
          <a:p>
            <a:pPr indent="0" marL="0">
              <a:buNone/>
            </a:pPr>
            <a:r>
              <a:rPr lang="en-US" sz="1400" dirty="0">
                <a:solidFill>
                  <a:schemeClr val="tx1"/>
                </a:solidFill>
              </a:rPr>
              <a:t>Every record is a template in Git — alias records too</a:t>
            </a:r>
            <a:endParaRPr lang="en-US" sz="1400" dirty="0"/>
          </a:p>
        </p:txBody>
      </p:sp>
      <p:pic>
        <p:nvPicPr>
          <p:cNvPr id="24" name="Image 7" descr="preencoded.png">    </p:cNvPr>
          <p:cNvPicPr>
            <a:picLocks noChangeAspect="1"/>
          </p:cNvPicPr>
          <p:nvPr/>
        </p:nvPicPr>
        <p:blipFill>
          <a:blip r:embed="rId8"/>
          <a:stretch>
            <a:fillRect/>
          </a:stretch>
        </p:blipFill>
        <p:spPr>
          <a:xfrm>
            <a:off x="6428232" y="2830830"/>
            <a:ext cx="219456" cy="219456"/>
          </a:xfrm>
          <a:prstGeom prst="rect">
            <a:avLst/>
          </a:prstGeom>
        </p:spPr>
      </p:pic>
      <p:sp>
        <p:nvSpPr>
          <p:cNvPr id="25" name="Text 15"/>
          <p:cNvSpPr txBox="1"/>
          <p:nvPr/>
        </p:nvSpPr>
        <p:spPr>
          <a:xfrm>
            <a:off x="6775704" y="2822956"/>
            <a:ext cx="4681728" cy="271780"/>
          </a:xfrm>
          <a:prstGeom prst="rect">
            <a:avLst/>
          </a:prstGeom>
          <a:noFill/>
          <a:ln/>
        </p:spPr>
        <p:txBody>
          <a:bodyPr wrap="square" lIns="0" tIns="0" rIns="0" bIns="0" rtlCol="0" anchor="t"/>
          <a:lstStyle/>
          <a:p>
            <a:pPr indent="0" marL="0">
              <a:buNone/>
            </a:pPr>
            <a:r>
              <a:rPr lang="en-US" sz="1400" dirty="0">
                <a:solidFill>
                  <a:schemeClr val="tx1"/>
                </a:solidFill>
              </a:rPr>
              <a:t>Git shows what changed, when, and who approved it</a:t>
            </a:r>
            <a:endParaRPr lang="en-US" sz="1400" dirty="0"/>
          </a:p>
        </p:txBody>
      </p:sp>
      <p:pic>
        <p:nvPicPr>
          <p:cNvPr id="26" name="Image 8" descr="preencoded.png">    </p:cNvPr>
          <p:cNvPicPr>
            <a:picLocks noChangeAspect="1"/>
          </p:cNvPicPr>
          <p:nvPr/>
        </p:nvPicPr>
        <p:blipFill>
          <a:blip r:embed="rId9"/>
          <a:stretch>
            <a:fillRect/>
          </a:stretch>
        </p:blipFill>
        <p:spPr>
          <a:xfrm>
            <a:off x="6428232" y="3166618"/>
            <a:ext cx="219456" cy="219456"/>
          </a:xfrm>
          <a:prstGeom prst="rect">
            <a:avLst/>
          </a:prstGeom>
        </p:spPr>
      </p:pic>
      <p:sp>
        <p:nvSpPr>
          <p:cNvPr id="27" name="Text 16"/>
          <p:cNvSpPr txBox="1"/>
          <p:nvPr/>
        </p:nvSpPr>
        <p:spPr>
          <a:xfrm>
            <a:off x="6775704" y="3158744"/>
            <a:ext cx="4681728" cy="271780"/>
          </a:xfrm>
          <a:prstGeom prst="rect">
            <a:avLst/>
          </a:prstGeom>
          <a:noFill/>
          <a:ln/>
        </p:spPr>
        <p:txBody>
          <a:bodyPr wrap="square" lIns="0" tIns="0" rIns="0" bIns="0" rtlCol="0" anchor="t"/>
          <a:lstStyle/>
          <a:p>
            <a:pPr indent="0" marL="0">
              <a:buNone/>
            </a:pPr>
            <a:r>
              <a:rPr lang="en-US" sz="1400" dirty="0">
                <a:solidFill>
                  <a:schemeClr val="tx1"/>
                </a:solidFill>
              </a:rPr>
              <a:t>Undo = revert the commit → check the change set → Execute</a:t>
            </a:r>
            <a:endParaRPr lang="en-US" sz="1400" dirty="0"/>
          </a:p>
        </p:txBody>
      </p:sp>
      <p:pic>
        <p:nvPicPr>
          <p:cNvPr id="28" name="Image 9" descr="preencoded.png">    </p:cNvPr>
          <p:cNvPicPr>
            <a:picLocks noChangeAspect="1"/>
          </p:cNvPicPr>
          <p:nvPr/>
        </p:nvPicPr>
        <p:blipFill>
          <a:blip r:embed="rId10"/>
          <a:stretch>
            <a:fillRect/>
          </a:stretch>
        </p:blipFill>
        <p:spPr>
          <a:xfrm>
            <a:off x="6428232" y="3502406"/>
            <a:ext cx="219456" cy="219456"/>
          </a:xfrm>
          <a:prstGeom prst="rect">
            <a:avLst/>
          </a:prstGeom>
        </p:spPr>
      </p:pic>
      <p:sp>
        <p:nvSpPr>
          <p:cNvPr id="29" name="Text 17"/>
          <p:cNvSpPr txBox="1"/>
          <p:nvPr/>
        </p:nvSpPr>
        <p:spPr>
          <a:xfrm>
            <a:off x="6775704" y="3494532"/>
            <a:ext cx="4681728" cy="271780"/>
          </a:xfrm>
          <a:prstGeom prst="rect">
            <a:avLst/>
          </a:prstGeom>
          <a:noFill/>
          <a:ln/>
        </p:spPr>
        <p:txBody>
          <a:bodyPr wrap="square" lIns="0" tIns="0" rIns="0" bIns="0" rtlCol="0" anchor="t"/>
          <a:lstStyle/>
          <a:p>
            <a:pPr indent="0" marL="0">
              <a:buNone/>
            </a:pPr>
            <a:r>
              <a:rPr lang="en-US" sz="1400" dirty="0">
                <a:solidFill>
                  <a:schemeClr val="tx1"/>
                </a:solidFill>
              </a:rPr>
              <a:t>A failed deployment rolls itself back</a:t>
            </a:r>
            <a:endParaRPr lang="en-US" sz="1400" dirty="0"/>
          </a:p>
        </p:txBody>
      </p:sp>
      <p:sp>
        <p:nvSpPr>
          <p:cNvPr id="30" name="Screenshot panel"/>
          <p:cNvSpPr/>
          <p:nvPr/>
        </p:nvSpPr>
        <p:spPr>
          <a:xfrm>
            <a:off x="548640" y="4160520"/>
            <a:ext cx="6949440" cy="1783080"/>
          </a:xfrm>
          <a:prstGeom prst="roundRect">
            <a:avLst>
              <a:gd name="adj" fmla="val 4103"/>
            </a:avLst>
          </a:prstGeom>
          <a:solidFill>
            <a:schemeClr val="bg2"/>
          </a:solidFill>
          <a:ln/>
        </p:spPr>
      </p:sp>
      <p:sp>
        <p:nvSpPr>
          <p:cNvPr id="31" name="Screenshot border"/>
          <p:cNvSpPr/>
          <p:nvPr/>
        </p:nvSpPr>
        <p:spPr>
          <a:xfrm>
            <a:off x="1310316" y="4251960"/>
            <a:ext cx="5426089" cy="1600200"/>
          </a:xfrm>
          <a:prstGeom prst="rect">
            <a:avLst/>
          </a:prstGeom>
          <a:solidFill>
            <a:schemeClr val="bg1"/>
          </a:solidFill>
          <a:ln w="9525">
            <a:solidFill>
              <a:srgbClr val="C9D1DB"/>
            </a:solidFill>
            <a:prstDash val="solid"/>
          </a:ln>
        </p:spPr>
      </p:sp>
      <p:pic>
        <p:nvPicPr>
          <p:cNvPr id="32" name="Image 10" descr="Git history of a DNS template">    </p:cNvPr>
          <p:cNvPicPr>
            <a:picLocks noChangeAspect="1"/>
          </p:cNvPicPr>
          <p:nvPr/>
        </p:nvPicPr>
        <p:blipFill>
          <a:blip r:embed="rId11"/>
          <a:stretch>
            <a:fillRect/>
          </a:stretch>
        </p:blipFill>
        <p:spPr>
          <a:xfrm>
            <a:off x="1328604" y="4270248"/>
            <a:ext cx="5389513" cy="1563624"/>
          </a:xfrm>
          <a:prstGeom prst="rect">
            <a:avLst/>
          </a:prstGeom>
        </p:spPr>
      </p:pic>
      <p:sp>
        <p:nvSpPr>
          <p:cNvPr id="33" name="Text 20"/>
          <p:cNvSpPr txBox="1"/>
          <p:nvPr/>
        </p:nvSpPr>
        <p:spPr>
          <a:xfrm>
            <a:off x="548640" y="6016752"/>
            <a:ext cx="6949440" cy="320040"/>
          </a:xfrm>
          <a:prstGeom prst="rect">
            <a:avLst/>
          </a:prstGeom>
          <a:noFill/>
          <a:ln/>
        </p:spPr>
        <p:txBody>
          <a:bodyPr wrap="square" lIns="0" tIns="0" rIns="0" bIns="0" rtlCol="0" anchor="t"/>
          <a:lstStyle/>
          <a:p>
            <a:pPr indent="0" marL="0">
              <a:buNone/>
            </a:pPr>
            <a:r>
              <a:rPr lang="en-US" sz="1300" b="1" dirty="0">
                <a:solidFill>
                  <a:schemeClr val="tx1"/>
                </a:solidFill>
              </a:rPr>
              <a:t>Git history of a DNS template</a:t>
            </a:r>
            <a:pPr indent="0" marL="0">
              <a:buNone/>
            </a:pPr>
            <a:r>
              <a:rPr lang="en-US" sz="1200" dirty="0">
                <a:solidFill>
                  <a:schemeClr val="tx2"/>
                </a:solidFill>
              </a:rPr>
              <a:t>  every change with who, when and its Pull Request</a:t>
            </a:r>
            <a:endParaRPr lang="en-US" sz="1400" dirty="0"/>
          </a:p>
        </p:txBody>
      </p:sp>
      <p:sp>
        <p:nvSpPr>
          <p:cNvPr id="34" name="Takeaway"/>
          <p:cNvSpPr/>
          <p:nvPr/>
        </p:nvSpPr>
        <p:spPr>
          <a:xfrm>
            <a:off x="7726680" y="4160520"/>
            <a:ext cx="3913632" cy="1097280"/>
          </a:xfrm>
          <a:prstGeom prst="roundRect">
            <a:avLst>
              <a:gd name="adj" fmla="val 10000"/>
            </a:avLst>
          </a:prstGeom>
          <a:solidFill>
            <a:schemeClr val="tx1"/>
          </a:solidFill>
          <a:ln/>
        </p:spPr>
      </p:sp>
      <p:pic>
        <p:nvPicPr>
          <p:cNvPr id="35" name="Image 11" descr="preencoded.png">    </p:cNvPr>
          <p:cNvPicPr>
            <a:picLocks noChangeAspect="1"/>
          </p:cNvPicPr>
          <p:nvPr/>
        </p:nvPicPr>
        <p:blipFill>
          <a:blip r:embed="rId12"/>
          <a:stretch>
            <a:fillRect/>
          </a:stretch>
        </p:blipFill>
        <p:spPr>
          <a:xfrm>
            <a:off x="7936992" y="4553712"/>
            <a:ext cx="310896" cy="310896"/>
          </a:xfrm>
          <a:prstGeom prst="rect">
            <a:avLst/>
          </a:prstGeom>
        </p:spPr>
      </p:pic>
      <p:sp>
        <p:nvSpPr>
          <p:cNvPr id="36" name="Text 22"/>
          <p:cNvSpPr txBox="1"/>
          <p:nvPr/>
        </p:nvSpPr>
        <p:spPr>
          <a:xfrm>
            <a:off x="8394192" y="4160520"/>
            <a:ext cx="3108960" cy="1097280"/>
          </a:xfrm>
          <a:prstGeom prst="rect">
            <a:avLst/>
          </a:prstGeom>
          <a:noFill/>
          <a:ln/>
        </p:spPr>
        <p:txBody>
          <a:bodyPr wrap="square" lIns="0" tIns="0" rIns="0" bIns="0" rtlCol="0" anchor="ctr"/>
          <a:lstStyle/>
          <a:p>
            <a:pPr indent="0" marL="0">
              <a:buNone/>
            </a:pPr>
            <a:r>
              <a:rPr lang="en-US" sz="1600" b="1" dirty="0">
                <a:solidFill>
                  <a:schemeClr val="bg1"/>
                </a:solidFill>
              </a:rPr>
              <a:t>In a DNS incident: see what changed, and undo it in one reviewed step.</a:t>
            </a:r>
            <a:endParaRPr lang="en-US" sz="1600" dirty="0"/>
          </a:p>
        </p:txBody>
      </p:sp>
      <p:sp>
        <p:nvSpPr>
          <p:cNvPr id="37" name="Text 23"/>
          <p:cNvSpPr txBox="1"/>
          <p:nvPr/>
        </p:nvSpPr>
        <p:spPr>
          <a:xfrm>
            <a:off x="7726680" y="5413248"/>
            <a:ext cx="3913632" cy="868680"/>
          </a:xfrm>
          <a:prstGeom prst="rect">
            <a:avLst/>
          </a:prstGeom>
          <a:noFill/>
          <a:ln/>
        </p:spPr>
        <p:txBody>
          <a:bodyPr wrap="square" lIns="0" tIns="0" rIns="0" bIns="0" rtlCol="0" anchor="t"/>
          <a:lstStyle/>
          <a:p>
            <a:pPr indent="0" marL="0">
              <a:buNone/>
            </a:pPr>
            <a:r>
              <a:rPr lang="en-US" sz="1150" dirty="0">
                <a:solidFill>
                  <a:schemeClr val="tx2"/>
                </a:solidFill>
              </a:rPr>
              <a:t>Git only knows about changes made through the pipeline — hand edits in the AWS console never reach it, so DNS changes should go through the pipeline only.</a:t>
            </a:r>
            <a:endParaRPr lang="en-US" sz="115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What each backup actually holds</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WS2 exports a JSON list of records; the new pipeline’s YAML template holds the whole zone</a:t>
            </a:r>
            <a:endParaRPr lang="en-US" sz="1500" dirty="0"/>
          </a:p>
        </p:txBody>
      </p:sp>
      <p:sp>
        <p:nvSpPr>
          <p:cNvPr id="4" name="WS2 export backup"/>
          <p:cNvSpPr/>
          <p:nvPr/>
        </p:nvSpPr>
        <p:spPr>
          <a:xfrm>
            <a:off x="548640" y="1645920"/>
            <a:ext cx="5440680" cy="4645152"/>
          </a:xfrm>
          <a:prstGeom prst="roundRect">
            <a:avLst>
              <a:gd name="adj" fmla="val 2362"/>
            </a:avLst>
          </a:prstGeom>
          <a:solidFill>
            <a:schemeClr val="accent2">
              <a:alpha val="9000"/>
            </a:schemeClr>
          </a:solidFill>
          <a:ln/>
        </p:spPr>
      </p:sp>
      <p:sp>
        <p:nvSpPr>
          <p:cNvPr id="5" name="Shape 3"/>
          <p:cNvSpPr/>
          <p:nvPr/>
        </p:nvSpPr>
        <p:spPr>
          <a:xfrm>
            <a:off x="731520" y="1792224"/>
            <a:ext cx="402336" cy="402336"/>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820034" y="1880738"/>
            <a:ext cx="225308" cy="225308"/>
          </a:xfrm>
          <a:prstGeom prst="rect">
            <a:avLst/>
          </a:prstGeom>
        </p:spPr>
      </p:pic>
      <p:sp>
        <p:nvSpPr>
          <p:cNvPr id="7" name="Text 4"/>
          <p:cNvSpPr txBox="1"/>
          <p:nvPr/>
        </p:nvSpPr>
        <p:spPr>
          <a:xfrm>
            <a:off x="1280160" y="1764792"/>
            <a:ext cx="4572000" cy="457200"/>
          </a:xfrm>
          <a:prstGeom prst="rect">
            <a:avLst/>
          </a:prstGeom>
          <a:noFill/>
          <a:ln/>
        </p:spPr>
        <p:txBody>
          <a:bodyPr wrap="square" lIns="0" tIns="0" rIns="0" bIns="0" rtlCol="0" anchor="ctr"/>
          <a:lstStyle/>
          <a:p>
            <a:pPr indent="0" marL="0">
              <a:buNone/>
            </a:pPr>
            <a:r>
              <a:rPr lang="en-US" sz="1800" b="1" dirty="0">
                <a:solidFill>
                  <a:schemeClr val="tx1"/>
                </a:solidFill>
              </a:rPr>
              <a:t>WS2 export</a:t>
            </a:r>
            <a:pPr indent="0" marL="0">
              <a:buNone/>
            </a:pPr>
            <a:r>
              <a:rPr lang="en-US" sz="1500" dirty="0">
                <a:solidFill>
                  <a:schemeClr val="tx2"/>
                </a:solidFill>
              </a:rPr>
              <a:t>   JSON written by a Python script</a:t>
            </a:r>
            <a:endParaRPr lang="en-US" sz="1400" dirty="0"/>
          </a:p>
        </p:txBody>
      </p:sp>
      <p:sp>
        <p:nvSpPr>
          <p:cNvPr id="8" name="Screenshot panel"/>
          <p:cNvSpPr/>
          <p:nvPr/>
        </p:nvSpPr>
        <p:spPr>
          <a:xfrm>
            <a:off x="731520" y="2331720"/>
            <a:ext cx="5074920" cy="3017520"/>
          </a:xfrm>
          <a:prstGeom prst="roundRect">
            <a:avLst>
              <a:gd name="adj" fmla="val 1818"/>
            </a:avLst>
          </a:prstGeom>
          <a:solidFill>
            <a:schemeClr val="bg1"/>
          </a:solidFill>
          <a:ln/>
        </p:spPr>
      </p:sp>
      <p:sp>
        <p:nvSpPr>
          <p:cNvPr id="9" name="Screenshot border"/>
          <p:cNvSpPr/>
          <p:nvPr/>
        </p:nvSpPr>
        <p:spPr>
          <a:xfrm>
            <a:off x="804672" y="2621971"/>
            <a:ext cx="4928616" cy="2437018"/>
          </a:xfrm>
          <a:prstGeom prst="rect">
            <a:avLst/>
          </a:prstGeom>
          <a:solidFill>
            <a:schemeClr val="bg1"/>
          </a:solidFill>
          <a:ln w="9525">
            <a:solidFill>
              <a:srgbClr val="C9D1DB"/>
            </a:solidFill>
            <a:prstDash val="solid"/>
          </a:ln>
        </p:spPr>
      </p:sp>
      <p:pic>
        <p:nvPicPr>
          <p:cNvPr id="10" name="Image 1" descr="WS2 export file">    </p:cNvPr>
          <p:cNvPicPr>
            <a:picLocks noChangeAspect="1"/>
          </p:cNvPicPr>
          <p:nvPr/>
        </p:nvPicPr>
        <p:blipFill>
          <a:blip r:embed="rId2"/>
          <a:stretch>
            <a:fillRect/>
          </a:stretch>
        </p:blipFill>
        <p:spPr>
          <a:xfrm>
            <a:off x="822960" y="2640259"/>
            <a:ext cx="4892040" cy="2400442"/>
          </a:xfrm>
          <a:prstGeom prst="rect">
            <a:avLst/>
          </a:prstGeom>
        </p:spPr>
      </p:pic>
      <p:pic>
        <p:nvPicPr>
          <p:cNvPr id="11" name="Image 2" descr="preencoded.png">    </p:cNvPr>
          <p:cNvPicPr>
            <a:picLocks noChangeAspect="1"/>
          </p:cNvPicPr>
          <p:nvPr/>
        </p:nvPicPr>
        <p:blipFill>
          <a:blip r:embed="rId3"/>
          <a:stretch>
            <a:fillRect/>
          </a:stretch>
        </p:blipFill>
        <p:spPr>
          <a:xfrm>
            <a:off x="777240" y="5509260"/>
            <a:ext cx="201168" cy="201168"/>
          </a:xfrm>
          <a:prstGeom prst="rect">
            <a:avLst/>
          </a:prstGeom>
        </p:spPr>
      </p:pic>
      <p:sp>
        <p:nvSpPr>
          <p:cNvPr id="12" name="Text 7"/>
          <p:cNvSpPr txBox="1"/>
          <p:nvPr/>
        </p:nvSpPr>
        <p:spPr>
          <a:xfrm>
            <a:off x="1069848" y="5504688"/>
            <a:ext cx="2240280" cy="274320"/>
          </a:xfrm>
          <a:prstGeom prst="rect">
            <a:avLst/>
          </a:prstGeom>
          <a:noFill/>
          <a:ln/>
        </p:spPr>
        <p:txBody>
          <a:bodyPr wrap="square" lIns="0" tIns="0" rIns="0" bIns="0" rtlCol="0" anchor="t"/>
          <a:lstStyle/>
          <a:p>
            <a:pPr indent="0" marL="0">
              <a:buNone/>
            </a:pPr>
            <a:r>
              <a:rPr lang="en-US" sz="1300" dirty="0">
                <a:solidFill>
                  <a:schemeClr val="tx1"/>
                </a:solidFill>
              </a:rPr>
              <a:t>Ordinary DNS records</a:t>
            </a:r>
            <a:endParaRPr lang="en-US" sz="1300" dirty="0"/>
          </a:p>
        </p:txBody>
      </p:sp>
      <p:pic>
        <p:nvPicPr>
          <p:cNvPr id="13" name="Image 3" descr="preencoded.png">    </p:cNvPr>
          <p:cNvPicPr>
            <a:picLocks noChangeAspect="1"/>
          </p:cNvPicPr>
          <p:nvPr/>
        </p:nvPicPr>
        <p:blipFill>
          <a:blip r:embed="rId4"/>
          <a:stretch>
            <a:fillRect/>
          </a:stretch>
        </p:blipFill>
        <p:spPr>
          <a:xfrm>
            <a:off x="3337560" y="5509260"/>
            <a:ext cx="201168" cy="201168"/>
          </a:xfrm>
          <a:prstGeom prst="rect">
            <a:avLst/>
          </a:prstGeom>
        </p:spPr>
      </p:pic>
      <p:sp>
        <p:nvSpPr>
          <p:cNvPr id="14" name="Text 8"/>
          <p:cNvSpPr txBox="1"/>
          <p:nvPr/>
        </p:nvSpPr>
        <p:spPr>
          <a:xfrm>
            <a:off x="3630168" y="5504688"/>
            <a:ext cx="2240280" cy="274320"/>
          </a:xfrm>
          <a:prstGeom prst="rect">
            <a:avLst/>
          </a:prstGeom>
          <a:noFill/>
          <a:ln/>
        </p:spPr>
        <p:txBody>
          <a:bodyPr wrap="square" lIns="0" tIns="0" rIns="0" bIns="0" rtlCol="0" anchor="t"/>
          <a:lstStyle/>
          <a:p>
            <a:pPr indent="0" marL="0">
              <a:buNone/>
            </a:pPr>
            <a:r>
              <a:rPr lang="en-US" sz="1300" dirty="0">
                <a:solidFill>
                  <a:schemeClr val="tx1"/>
                </a:solidFill>
              </a:rPr>
              <a:t>No hosted zone</a:t>
            </a:r>
            <a:endParaRPr lang="en-US" sz="1300" dirty="0"/>
          </a:p>
        </p:txBody>
      </p:sp>
      <p:pic>
        <p:nvPicPr>
          <p:cNvPr id="15" name="Image 4" descr="preencoded.png">    </p:cNvPr>
          <p:cNvPicPr>
            <a:picLocks noChangeAspect="1"/>
          </p:cNvPicPr>
          <p:nvPr/>
        </p:nvPicPr>
        <p:blipFill>
          <a:blip r:embed="rId5"/>
          <a:stretch>
            <a:fillRect/>
          </a:stretch>
        </p:blipFill>
        <p:spPr>
          <a:xfrm>
            <a:off x="777240" y="5856732"/>
            <a:ext cx="201168" cy="201168"/>
          </a:xfrm>
          <a:prstGeom prst="rect">
            <a:avLst/>
          </a:prstGeom>
        </p:spPr>
      </p:pic>
      <p:sp>
        <p:nvSpPr>
          <p:cNvPr id="16" name="Text 9"/>
          <p:cNvSpPr txBox="1"/>
          <p:nvPr/>
        </p:nvSpPr>
        <p:spPr>
          <a:xfrm>
            <a:off x="1069848" y="5852160"/>
            <a:ext cx="2240280" cy="274320"/>
          </a:xfrm>
          <a:prstGeom prst="rect">
            <a:avLst/>
          </a:prstGeom>
          <a:noFill/>
          <a:ln/>
        </p:spPr>
        <p:txBody>
          <a:bodyPr wrap="square" lIns="0" tIns="0" rIns="0" bIns="0" rtlCol="0" anchor="t"/>
          <a:lstStyle/>
          <a:p>
            <a:pPr indent="0" marL="0">
              <a:buNone/>
            </a:pPr>
            <a:r>
              <a:rPr lang="en-US" sz="1300" dirty="0">
                <a:solidFill>
                  <a:schemeClr val="tx1"/>
                </a:solidFill>
              </a:rPr>
              <a:t>No SOA or zone NS records</a:t>
            </a:r>
            <a:endParaRPr lang="en-US" sz="1300" dirty="0"/>
          </a:p>
        </p:txBody>
      </p:sp>
      <p:pic>
        <p:nvPicPr>
          <p:cNvPr id="17" name="Image 5" descr="preencoded.png">    </p:cNvPr>
          <p:cNvPicPr>
            <a:picLocks noChangeAspect="1"/>
          </p:cNvPicPr>
          <p:nvPr/>
        </p:nvPicPr>
        <p:blipFill>
          <a:blip r:embed="rId6"/>
          <a:stretch>
            <a:fillRect/>
          </a:stretch>
        </p:blipFill>
        <p:spPr>
          <a:xfrm>
            <a:off x="3337560" y="5856732"/>
            <a:ext cx="201168" cy="201168"/>
          </a:xfrm>
          <a:prstGeom prst="rect">
            <a:avLst/>
          </a:prstGeom>
        </p:spPr>
      </p:pic>
      <p:sp>
        <p:nvSpPr>
          <p:cNvPr id="18" name="Text 10"/>
          <p:cNvSpPr txBox="1"/>
          <p:nvPr/>
        </p:nvSpPr>
        <p:spPr>
          <a:xfrm>
            <a:off x="3630168" y="5852160"/>
            <a:ext cx="2240280" cy="274320"/>
          </a:xfrm>
          <a:prstGeom prst="rect">
            <a:avLst/>
          </a:prstGeom>
          <a:noFill/>
          <a:ln/>
        </p:spPr>
        <p:txBody>
          <a:bodyPr wrap="square" lIns="0" tIns="0" rIns="0" bIns="0" rtlCol="0" anchor="t"/>
          <a:lstStyle/>
          <a:p>
            <a:pPr indent="0" marL="0">
              <a:buNone/>
            </a:pPr>
            <a:r>
              <a:rPr lang="en-US" sz="1300" dirty="0">
                <a:solidFill>
                  <a:schemeClr val="tx1"/>
                </a:solidFill>
              </a:rPr>
              <a:t>No alias records</a:t>
            </a:r>
            <a:endParaRPr lang="en-US" sz="1300" dirty="0"/>
          </a:p>
        </p:txBody>
      </p:sp>
      <p:sp>
        <p:nvSpPr>
          <p:cNvPr id="19" name="New pipeline backup"/>
          <p:cNvSpPr/>
          <p:nvPr/>
        </p:nvSpPr>
        <p:spPr>
          <a:xfrm>
            <a:off x="6199632" y="1645920"/>
            <a:ext cx="5440680" cy="4645152"/>
          </a:xfrm>
          <a:prstGeom prst="roundRect">
            <a:avLst>
              <a:gd name="adj" fmla="val 2362"/>
            </a:avLst>
          </a:prstGeom>
          <a:solidFill>
            <a:schemeClr val="accent1">
              <a:alpha val="8000"/>
            </a:schemeClr>
          </a:solidFill>
          <a:ln/>
        </p:spPr>
      </p:sp>
      <p:sp>
        <p:nvSpPr>
          <p:cNvPr id="20" name="Shape 12"/>
          <p:cNvSpPr/>
          <p:nvPr/>
        </p:nvSpPr>
        <p:spPr>
          <a:xfrm>
            <a:off x="6382512" y="1792224"/>
            <a:ext cx="402336" cy="402336"/>
          </a:xfrm>
          <a:prstGeom prst="ellipse">
            <a:avLst/>
          </a:prstGeom>
          <a:solidFill>
            <a:schemeClr val="accent1"/>
          </a:solidFill>
          <a:ln/>
        </p:spPr>
      </p:sp>
      <p:pic>
        <p:nvPicPr>
          <p:cNvPr id="21" name="Image 6" descr="preencoded.png">    </p:cNvPr>
          <p:cNvPicPr>
            <a:picLocks noChangeAspect="1"/>
          </p:cNvPicPr>
          <p:nvPr/>
        </p:nvPicPr>
        <p:blipFill>
          <a:blip r:embed="rId7"/>
          <a:stretch>
            <a:fillRect/>
          </a:stretch>
        </p:blipFill>
        <p:spPr>
          <a:xfrm>
            <a:off x="6471026" y="1880738"/>
            <a:ext cx="225308" cy="225308"/>
          </a:xfrm>
          <a:prstGeom prst="rect">
            <a:avLst/>
          </a:prstGeom>
        </p:spPr>
      </p:pic>
      <p:sp>
        <p:nvSpPr>
          <p:cNvPr id="22" name="Text 13"/>
          <p:cNvSpPr txBox="1"/>
          <p:nvPr/>
        </p:nvSpPr>
        <p:spPr>
          <a:xfrm>
            <a:off x="6931152" y="1764792"/>
            <a:ext cx="4572000" cy="457200"/>
          </a:xfrm>
          <a:prstGeom prst="rect">
            <a:avLst/>
          </a:prstGeom>
          <a:noFill/>
          <a:ln/>
        </p:spPr>
        <p:txBody>
          <a:bodyPr wrap="square" lIns="0" tIns="0" rIns="0" bIns="0" rtlCol="0" anchor="ctr"/>
          <a:lstStyle/>
          <a:p>
            <a:pPr indent="0" marL="0">
              <a:buNone/>
            </a:pPr>
            <a:r>
              <a:rPr lang="en-US" sz="1800" b="1" dirty="0">
                <a:solidFill>
                  <a:schemeClr val="tx1"/>
                </a:solidFill>
              </a:rPr>
              <a:t>New pipeline</a:t>
            </a:r>
            <a:pPr indent="0" marL="0">
              <a:buNone/>
            </a:pPr>
            <a:r>
              <a:rPr lang="en-US" sz="1500" dirty="0">
                <a:solidFill>
                  <a:schemeClr val="tx2"/>
                </a:solidFill>
              </a:rPr>
              <a:t>   CloudFormation YAML template in Git</a:t>
            </a:r>
            <a:endParaRPr lang="en-US" sz="1400" dirty="0"/>
          </a:p>
        </p:txBody>
      </p:sp>
      <p:sp>
        <p:nvSpPr>
          <p:cNvPr id="23" name="Screenshot panel"/>
          <p:cNvSpPr/>
          <p:nvPr/>
        </p:nvSpPr>
        <p:spPr>
          <a:xfrm>
            <a:off x="6382512" y="2331720"/>
            <a:ext cx="5074920" cy="3017520"/>
          </a:xfrm>
          <a:prstGeom prst="roundRect">
            <a:avLst>
              <a:gd name="adj" fmla="val 1818"/>
            </a:avLst>
          </a:prstGeom>
          <a:solidFill>
            <a:schemeClr val="bg1"/>
          </a:solidFill>
          <a:ln/>
        </p:spPr>
      </p:sp>
      <p:sp>
        <p:nvSpPr>
          <p:cNvPr id="24" name="Screenshot border"/>
          <p:cNvSpPr/>
          <p:nvPr/>
        </p:nvSpPr>
        <p:spPr>
          <a:xfrm>
            <a:off x="6645088" y="2404872"/>
            <a:ext cx="4549768" cy="2871216"/>
          </a:xfrm>
          <a:prstGeom prst="rect">
            <a:avLst/>
          </a:prstGeom>
          <a:solidFill>
            <a:schemeClr val="bg1"/>
          </a:solidFill>
          <a:ln w="9525">
            <a:solidFill>
              <a:srgbClr val="C9D1DB"/>
            </a:solidFill>
            <a:prstDash val="solid"/>
          </a:ln>
        </p:spPr>
      </p:sp>
      <p:pic>
        <p:nvPicPr>
          <p:cNvPr id="25" name="Image 7" descr="New pipeline file">    </p:cNvPr>
          <p:cNvPicPr>
            <a:picLocks noChangeAspect="1"/>
          </p:cNvPicPr>
          <p:nvPr/>
        </p:nvPicPr>
        <p:blipFill>
          <a:blip r:embed="rId8"/>
          <a:stretch>
            <a:fillRect/>
          </a:stretch>
        </p:blipFill>
        <p:spPr>
          <a:xfrm>
            <a:off x="6663376" y="2423160"/>
            <a:ext cx="4513192" cy="2834640"/>
          </a:xfrm>
          <a:prstGeom prst="rect">
            <a:avLst/>
          </a:prstGeom>
        </p:spPr>
      </p:pic>
      <p:pic>
        <p:nvPicPr>
          <p:cNvPr id="26" name="Image 8" descr="preencoded.png">    </p:cNvPr>
          <p:cNvPicPr>
            <a:picLocks noChangeAspect="1"/>
          </p:cNvPicPr>
          <p:nvPr/>
        </p:nvPicPr>
        <p:blipFill>
          <a:blip r:embed="rId9"/>
          <a:stretch>
            <a:fillRect/>
          </a:stretch>
        </p:blipFill>
        <p:spPr>
          <a:xfrm>
            <a:off x="6428232" y="5509260"/>
            <a:ext cx="201168" cy="201168"/>
          </a:xfrm>
          <a:prstGeom prst="rect">
            <a:avLst/>
          </a:prstGeom>
        </p:spPr>
      </p:pic>
      <p:sp>
        <p:nvSpPr>
          <p:cNvPr id="27" name="Text 16"/>
          <p:cNvSpPr txBox="1"/>
          <p:nvPr/>
        </p:nvSpPr>
        <p:spPr>
          <a:xfrm>
            <a:off x="6720840" y="5504688"/>
            <a:ext cx="2240280" cy="274320"/>
          </a:xfrm>
          <a:prstGeom prst="rect">
            <a:avLst/>
          </a:prstGeom>
          <a:noFill/>
          <a:ln/>
        </p:spPr>
        <p:txBody>
          <a:bodyPr wrap="square" lIns="0" tIns="0" rIns="0" bIns="0" rtlCol="0" anchor="t"/>
          <a:lstStyle/>
          <a:p>
            <a:pPr indent="0" marL="0">
              <a:buNone/>
            </a:pPr>
            <a:r>
              <a:rPr lang="en-US" sz="1300" dirty="0">
                <a:solidFill>
                  <a:schemeClr val="tx1"/>
                </a:solidFill>
              </a:rPr>
              <a:t>The hosted zone itself</a:t>
            </a:r>
            <a:endParaRPr lang="en-US" sz="1300" dirty="0"/>
          </a:p>
        </p:txBody>
      </p:sp>
      <p:pic>
        <p:nvPicPr>
          <p:cNvPr id="28" name="Image 9" descr="preencoded.png">    </p:cNvPr>
          <p:cNvPicPr>
            <a:picLocks noChangeAspect="1"/>
          </p:cNvPicPr>
          <p:nvPr/>
        </p:nvPicPr>
        <p:blipFill>
          <a:blip r:embed="rId10"/>
          <a:stretch>
            <a:fillRect/>
          </a:stretch>
        </p:blipFill>
        <p:spPr>
          <a:xfrm>
            <a:off x="8988552" y="5509260"/>
            <a:ext cx="201168" cy="201168"/>
          </a:xfrm>
          <a:prstGeom prst="rect">
            <a:avLst/>
          </a:prstGeom>
        </p:spPr>
      </p:pic>
      <p:sp>
        <p:nvSpPr>
          <p:cNvPr id="29" name="Text 17"/>
          <p:cNvSpPr txBox="1"/>
          <p:nvPr/>
        </p:nvSpPr>
        <p:spPr>
          <a:xfrm>
            <a:off x="9281160" y="5504688"/>
            <a:ext cx="2240280" cy="274320"/>
          </a:xfrm>
          <a:prstGeom prst="rect">
            <a:avLst/>
          </a:prstGeom>
          <a:noFill/>
          <a:ln/>
        </p:spPr>
        <p:txBody>
          <a:bodyPr wrap="square" lIns="0" tIns="0" rIns="0" bIns="0" rtlCol="0" anchor="t"/>
          <a:lstStyle/>
          <a:p>
            <a:pPr indent="0" marL="0">
              <a:buNone/>
            </a:pPr>
            <a:r>
              <a:rPr lang="en-US" sz="1300" dirty="0">
                <a:solidFill>
                  <a:schemeClr val="tx1"/>
                </a:solidFill>
              </a:rPr>
              <a:t>Every record set</a:t>
            </a:r>
            <a:endParaRPr lang="en-US" sz="1300" dirty="0"/>
          </a:p>
        </p:txBody>
      </p:sp>
      <p:pic>
        <p:nvPicPr>
          <p:cNvPr id="30" name="Image 10" descr="preencoded.png">    </p:cNvPr>
          <p:cNvPicPr>
            <a:picLocks noChangeAspect="1"/>
          </p:cNvPicPr>
          <p:nvPr/>
        </p:nvPicPr>
        <p:blipFill>
          <a:blip r:embed="rId11"/>
          <a:stretch>
            <a:fillRect/>
          </a:stretch>
        </p:blipFill>
        <p:spPr>
          <a:xfrm>
            <a:off x="6428232" y="5856732"/>
            <a:ext cx="201168" cy="201168"/>
          </a:xfrm>
          <a:prstGeom prst="rect">
            <a:avLst/>
          </a:prstGeom>
        </p:spPr>
      </p:pic>
      <p:sp>
        <p:nvSpPr>
          <p:cNvPr id="31" name="Text 18"/>
          <p:cNvSpPr txBox="1"/>
          <p:nvPr/>
        </p:nvSpPr>
        <p:spPr>
          <a:xfrm>
            <a:off x="6720840" y="5852160"/>
            <a:ext cx="2240280" cy="274320"/>
          </a:xfrm>
          <a:prstGeom prst="rect">
            <a:avLst/>
          </a:prstGeom>
          <a:noFill/>
          <a:ln/>
        </p:spPr>
        <p:txBody>
          <a:bodyPr wrap="square" lIns="0" tIns="0" rIns="0" bIns="0" rtlCol="0" anchor="t"/>
          <a:lstStyle/>
          <a:p>
            <a:pPr indent="0" marL="0">
              <a:buNone/>
            </a:pPr>
            <a:r>
              <a:rPr lang="en-US" sz="1300" dirty="0">
                <a:solidFill>
                  <a:schemeClr val="tx1"/>
                </a:solidFill>
              </a:rPr>
              <a:t>Alias records too</a:t>
            </a:r>
            <a:endParaRPr lang="en-US" sz="1300" dirty="0"/>
          </a:p>
        </p:txBody>
      </p:sp>
      <p:pic>
        <p:nvPicPr>
          <p:cNvPr id="32" name="Image 11" descr="preencoded.png">    </p:cNvPr>
          <p:cNvPicPr>
            <a:picLocks noChangeAspect="1"/>
          </p:cNvPicPr>
          <p:nvPr/>
        </p:nvPicPr>
        <p:blipFill>
          <a:blip r:embed="rId12"/>
          <a:stretch>
            <a:fillRect/>
          </a:stretch>
        </p:blipFill>
        <p:spPr>
          <a:xfrm>
            <a:off x="8988552" y="5856732"/>
            <a:ext cx="201168" cy="201168"/>
          </a:xfrm>
          <a:prstGeom prst="rect">
            <a:avLst/>
          </a:prstGeom>
        </p:spPr>
      </p:pic>
      <p:sp>
        <p:nvSpPr>
          <p:cNvPr id="33" name="Text 19"/>
          <p:cNvSpPr txBox="1"/>
          <p:nvPr/>
        </p:nvSpPr>
        <p:spPr>
          <a:xfrm>
            <a:off x="9281160" y="5852160"/>
            <a:ext cx="2240280" cy="274320"/>
          </a:xfrm>
          <a:prstGeom prst="rect">
            <a:avLst/>
          </a:prstGeom>
          <a:noFill/>
          <a:ln/>
        </p:spPr>
        <p:txBody>
          <a:bodyPr wrap="square" lIns="0" tIns="0" rIns="0" bIns="0" rtlCol="0" anchor="t"/>
          <a:lstStyle/>
          <a:p>
            <a:pPr indent="0" marL="0">
              <a:buNone/>
            </a:pPr>
            <a:r>
              <a:rPr lang="en-US" sz="1300" dirty="0">
                <a:solidFill>
                  <a:schemeClr val="tx1"/>
                </a:solidFill>
              </a:rPr>
              <a:t>SOA and NS come with the zone</a:t>
            </a:r>
            <a:endParaRPr lang="en-US" sz="13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Old pipeline: deploys straight away</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old-pipeline-firewall.yml — one job from code to AWS</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spc="150" kern="0" dirty="0">
                <a:solidFill>
                  <a:schemeClr val="bg1"/>
                </a:solidFill>
              </a:rPr>
              <a:t>OLD PIPELINE</a:t>
            </a:r>
            <a:endParaRPr lang="en-US" sz="1100" dirty="0"/>
          </a:p>
        </p:txBody>
      </p:sp>
      <p:sp>
        <p:nvSpPr>
          <p:cNvPr id="5" name="Start"/>
          <p:cNvSpPr/>
          <p:nvPr/>
        </p:nvSpPr>
        <p:spPr>
          <a:xfrm>
            <a:off x="548640" y="1691640"/>
            <a:ext cx="1965960" cy="1097280"/>
          </a:xfrm>
          <a:prstGeom prst="roundRect">
            <a:avLst>
              <a:gd name="adj" fmla="val 8333"/>
            </a:avLst>
          </a:prstGeom>
          <a:solidFill>
            <a:schemeClr val="accent5">
              <a:alpha val="8000"/>
            </a:schemeClr>
          </a:solidFill>
          <a:ln w="15875">
            <a:solidFill>
              <a:schemeClr val="accent5"/>
            </a:solidFill>
            <a:prstDash val="solid"/>
          </a:ln>
        </p:spPr>
      </p:sp>
      <p:sp>
        <p:nvSpPr>
          <p:cNvPr id="6" name="Shape 4"/>
          <p:cNvSpPr/>
          <p:nvPr/>
        </p:nvSpPr>
        <p:spPr>
          <a:xfrm>
            <a:off x="676656" y="1819656"/>
            <a:ext cx="384048" cy="384048"/>
          </a:xfrm>
          <a:prstGeom prst="ellipse">
            <a:avLst/>
          </a:prstGeom>
          <a:solidFill>
            <a:schemeClr val="accent5"/>
          </a:solidFill>
          <a:ln/>
        </p:spPr>
      </p:sp>
      <p:pic>
        <p:nvPicPr>
          <p:cNvPr id="7" name="Image 0" descr="preencoded.png">    </p:cNvPr>
          <p:cNvPicPr>
            <a:picLocks noChangeAspect="1"/>
          </p:cNvPicPr>
          <p:nvPr/>
        </p:nvPicPr>
        <p:blipFill>
          <a:blip r:embed="rId1"/>
          <a:stretch>
            <a:fillRect/>
          </a:stretch>
        </p:blipFill>
        <p:spPr>
          <a:xfrm>
            <a:off x="761147" y="1904147"/>
            <a:ext cx="215067" cy="215067"/>
          </a:xfrm>
          <a:prstGeom prst="rect">
            <a:avLst/>
          </a:prstGeom>
        </p:spPr>
      </p:pic>
      <p:sp>
        <p:nvSpPr>
          <p:cNvPr id="8" name="Text 5"/>
          <p:cNvSpPr txBox="1"/>
          <p:nvPr/>
        </p:nvSpPr>
        <p:spPr>
          <a:xfrm>
            <a:off x="1152144" y="1819656"/>
            <a:ext cx="1252728" cy="384048"/>
          </a:xfrm>
          <a:prstGeom prst="rect">
            <a:avLst/>
          </a:prstGeom>
          <a:noFill/>
          <a:ln/>
        </p:spPr>
        <p:txBody>
          <a:bodyPr wrap="square" lIns="0" tIns="0" rIns="0" bIns="0" rtlCol="0" anchor="ctr"/>
          <a:lstStyle/>
          <a:p>
            <a:pPr indent="0" marL="0">
              <a:buNone/>
            </a:pPr>
            <a:r>
              <a:rPr lang="en-US" sz="1400" b="1" dirty="0">
                <a:solidFill>
                  <a:schemeClr val="tx1"/>
                </a:solidFill>
              </a:rPr>
              <a:t>Start</a:t>
            </a:r>
            <a:endParaRPr lang="en-US" sz="1400" dirty="0"/>
          </a:p>
        </p:txBody>
      </p:sp>
      <p:sp>
        <p:nvSpPr>
          <p:cNvPr id="9" name="Text 6"/>
          <p:cNvSpPr txBox="1"/>
          <p:nvPr/>
        </p:nvSpPr>
        <p:spPr>
          <a:xfrm>
            <a:off x="676656" y="2295144"/>
            <a:ext cx="1709928" cy="420624"/>
          </a:xfrm>
          <a:prstGeom prst="rect">
            <a:avLst/>
          </a:prstGeom>
          <a:noFill/>
          <a:ln/>
        </p:spPr>
        <p:txBody>
          <a:bodyPr wrap="square" lIns="0" tIns="0" rIns="0" bIns="0" rtlCol="0" anchor="t"/>
          <a:lstStyle/>
          <a:p>
            <a:pPr indent="0" marL="0">
              <a:buNone/>
            </a:pPr>
            <a:r>
              <a:rPr lang="en-US" sz="1200" dirty="0">
                <a:solidFill>
                  <a:schemeClr val="tx2"/>
                </a:solidFill>
              </a:rPr>
              <a:t>Type the stack, folder and role name by hand</a:t>
            </a:r>
            <a:endParaRPr lang="en-US" sz="1200" dirty="0"/>
          </a:p>
        </p:txBody>
      </p:sp>
      <p:sp>
        <p:nvSpPr>
          <p:cNvPr id="10" name="Shape 7"/>
          <p:cNvSpPr/>
          <p:nvPr/>
        </p:nvSpPr>
        <p:spPr>
          <a:xfrm>
            <a:off x="2551176" y="2240280"/>
            <a:ext cx="242316" cy="914"/>
          </a:xfrm>
          <a:prstGeom prst="line">
            <a:avLst/>
          </a:prstGeom>
          <a:noFill/>
          <a:ln w="22225">
            <a:solidFill>
              <a:schemeClr val="tx2"/>
            </a:solidFill>
            <a:prstDash val="solid"/>
            <a:tailEnd type="triangle"/>
          </a:ln>
        </p:spPr>
      </p:sp>
      <p:sp>
        <p:nvSpPr>
          <p:cNvPr id="11" name="Find files"/>
          <p:cNvSpPr/>
          <p:nvPr/>
        </p:nvSpPr>
        <p:spPr>
          <a:xfrm>
            <a:off x="2830068" y="1691640"/>
            <a:ext cx="1965960" cy="1097280"/>
          </a:xfrm>
          <a:prstGeom prst="roundRect">
            <a:avLst>
              <a:gd name="adj" fmla="val 8333"/>
            </a:avLst>
          </a:prstGeom>
          <a:solidFill>
            <a:schemeClr val="accent5">
              <a:alpha val="8000"/>
            </a:schemeClr>
          </a:solidFill>
          <a:ln w="15875">
            <a:solidFill>
              <a:schemeClr val="accent5"/>
            </a:solidFill>
            <a:prstDash val="solid"/>
          </a:ln>
        </p:spPr>
      </p:sp>
      <p:sp>
        <p:nvSpPr>
          <p:cNvPr id="12" name="Shape 9"/>
          <p:cNvSpPr/>
          <p:nvPr/>
        </p:nvSpPr>
        <p:spPr>
          <a:xfrm>
            <a:off x="2958084" y="1819656"/>
            <a:ext cx="384048" cy="384048"/>
          </a:xfrm>
          <a:prstGeom prst="ellipse">
            <a:avLst/>
          </a:prstGeom>
          <a:solidFill>
            <a:schemeClr val="accent5"/>
          </a:solidFill>
          <a:ln/>
        </p:spPr>
      </p:sp>
      <p:pic>
        <p:nvPicPr>
          <p:cNvPr id="13" name="Image 1" descr="preencoded.png">    </p:cNvPr>
          <p:cNvPicPr>
            <a:picLocks noChangeAspect="1"/>
          </p:cNvPicPr>
          <p:nvPr/>
        </p:nvPicPr>
        <p:blipFill>
          <a:blip r:embed="rId2"/>
          <a:stretch>
            <a:fillRect/>
          </a:stretch>
        </p:blipFill>
        <p:spPr>
          <a:xfrm>
            <a:off x="3042575" y="1904147"/>
            <a:ext cx="215067" cy="215067"/>
          </a:xfrm>
          <a:prstGeom prst="rect">
            <a:avLst/>
          </a:prstGeom>
        </p:spPr>
      </p:pic>
      <p:sp>
        <p:nvSpPr>
          <p:cNvPr id="14" name="Text 10"/>
          <p:cNvSpPr txBox="1"/>
          <p:nvPr/>
        </p:nvSpPr>
        <p:spPr>
          <a:xfrm>
            <a:off x="3433572" y="1819656"/>
            <a:ext cx="1252728" cy="384048"/>
          </a:xfrm>
          <a:prstGeom prst="rect">
            <a:avLst/>
          </a:prstGeom>
          <a:noFill/>
          <a:ln/>
        </p:spPr>
        <p:txBody>
          <a:bodyPr wrap="square" lIns="0" tIns="0" rIns="0" bIns="0" rtlCol="0" anchor="ctr"/>
          <a:lstStyle/>
          <a:p>
            <a:pPr indent="0" marL="0">
              <a:buNone/>
            </a:pPr>
            <a:r>
              <a:rPr lang="en-US" sz="1400" b="1" dirty="0">
                <a:solidFill>
                  <a:schemeClr val="tx1"/>
                </a:solidFill>
              </a:rPr>
              <a:t>Find files</a:t>
            </a:r>
            <a:endParaRPr lang="en-US" sz="1400" dirty="0"/>
          </a:p>
        </p:txBody>
      </p:sp>
      <p:sp>
        <p:nvSpPr>
          <p:cNvPr id="15" name="Text 11"/>
          <p:cNvSpPr txBox="1"/>
          <p:nvPr/>
        </p:nvSpPr>
        <p:spPr>
          <a:xfrm>
            <a:off x="2958084" y="2295144"/>
            <a:ext cx="1709928" cy="420624"/>
          </a:xfrm>
          <a:prstGeom prst="rect">
            <a:avLst/>
          </a:prstGeom>
          <a:noFill/>
          <a:ln/>
        </p:spPr>
        <p:txBody>
          <a:bodyPr wrap="square" lIns="0" tIns="0" rIns="0" bIns="0" rtlCol="0" anchor="t"/>
          <a:lstStyle/>
          <a:p>
            <a:pPr indent="0" marL="0">
              <a:buNone/>
            </a:pPr>
            <a:r>
              <a:rPr lang="en-US" sz="1200" dirty="0">
                <a:solidFill>
                  <a:schemeClr val="tx2"/>
                </a:solidFill>
              </a:rPr>
              <a:t>Template and settings from the chosen folder</a:t>
            </a:r>
            <a:endParaRPr lang="en-US" sz="1200" dirty="0"/>
          </a:p>
        </p:txBody>
      </p:sp>
      <p:sp>
        <p:nvSpPr>
          <p:cNvPr id="16" name="Shape 12"/>
          <p:cNvSpPr/>
          <p:nvPr/>
        </p:nvSpPr>
        <p:spPr>
          <a:xfrm>
            <a:off x="4832604" y="2240280"/>
            <a:ext cx="242316" cy="914"/>
          </a:xfrm>
          <a:prstGeom prst="line">
            <a:avLst/>
          </a:prstGeom>
          <a:noFill/>
          <a:ln w="22225">
            <a:solidFill>
              <a:schemeClr val="tx2"/>
            </a:solidFill>
            <a:prstDash val="solid"/>
            <a:tailEnd type="triangle"/>
          </a:ln>
        </p:spPr>
      </p:sp>
      <p:sp>
        <p:nvSpPr>
          <p:cNvPr id="17" name="Big template?"/>
          <p:cNvSpPr/>
          <p:nvPr/>
        </p:nvSpPr>
        <p:spPr>
          <a:xfrm>
            <a:off x="5111496" y="1691640"/>
            <a:ext cx="1965960" cy="1097280"/>
          </a:xfrm>
          <a:prstGeom prst="roundRect">
            <a:avLst>
              <a:gd name="adj" fmla="val 8333"/>
            </a:avLst>
          </a:prstGeom>
          <a:solidFill>
            <a:schemeClr val="bg1"/>
          </a:solidFill>
          <a:ln w="15875">
            <a:solidFill>
              <a:schemeClr val="accent5"/>
            </a:solidFill>
            <a:prstDash val="dash"/>
          </a:ln>
        </p:spPr>
      </p:sp>
      <p:sp>
        <p:nvSpPr>
          <p:cNvPr id="18" name="Shape 14"/>
          <p:cNvSpPr/>
          <p:nvPr/>
        </p:nvSpPr>
        <p:spPr>
          <a:xfrm>
            <a:off x="5239512" y="1819656"/>
            <a:ext cx="384048" cy="384048"/>
          </a:xfrm>
          <a:prstGeom prst="ellipse">
            <a:avLst/>
          </a:prstGeom>
          <a:solidFill>
            <a:schemeClr val="accent5"/>
          </a:solidFill>
          <a:ln/>
        </p:spPr>
      </p:sp>
      <p:pic>
        <p:nvPicPr>
          <p:cNvPr id="19" name="Image 2" descr="preencoded.png">    </p:cNvPr>
          <p:cNvPicPr>
            <a:picLocks noChangeAspect="1"/>
          </p:cNvPicPr>
          <p:nvPr/>
        </p:nvPicPr>
        <p:blipFill>
          <a:blip r:embed="rId3"/>
          <a:stretch>
            <a:fillRect/>
          </a:stretch>
        </p:blipFill>
        <p:spPr>
          <a:xfrm>
            <a:off x="5324003" y="1904147"/>
            <a:ext cx="215067" cy="215067"/>
          </a:xfrm>
          <a:prstGeom prst="rect">
            <a:avLst/>
          </a:prstGeom>
        </p:spPr>
      </p:pic>
      <p:sp>
        <p:nvSpPr>
          <p:cNvPr id="20" name="Text 15"/>
          <p:cNvSpPr txBox="1"/>
          <p:nvPr/>
        </p:nvSpPr>
        <p:spPr>
          <a:xfrm>
            <a:off x="5715000" y="1819656"/>
            <a:ext cx="1252728" cy="384048"/>
          </a:xfrm>
          <a:prstGeom prst="rect">
            <a:avLst/>
          </a:prstGeom>
          <a:noFill/>
          <a:ln/>
        </p:spPr>
        <p:txBody>
          <a:bodyPr wrap="square" lIns="0" tIns="0" rIns="0" bIns="0" rtlCol="0" anchor="ctr"/>
          <a:lstStyle/>
          <a:p>
            <a:pPr indent="0" marL="0">
              <a:buNone/>
            </a:pPr>
            <a:r>
              <a:rPr lang="en-US" sz="1400" b="1" dirty="0">
                <a:solidFill>
                  <a:schemeClr val="tx1"/>
                </a:solidFill>
              </a:rPr>
              <a:t>Big template?</a:t>
            </a:r>
            <a:endParaRPr lang="en-US" sz="1400" dirty="0"/>
          </a:p>
        </p:txBody>
      </p:sp>
      <p:sp>
        <p:nvSpPr>
          <p:cNvPr id="21" name="Text 16"/>
          <p:cNvSpPr txBox="1"/>
          <p:nvPr/>
        </p:nvSpPr>
        <p:spPr>
          <a:xfrm>
            <a:off x="5239512" y="2295144"/>
            <a:ext cx="1709928" cy="420624"/>
          </a:xfrm>
          <a:prstGeom prst="rect">
            <a:avLst/>
          </a:prstGeom>
          <a:noFill/>
          <a:ln/>
        </p:spPr>
        <p:txBody>
          <a:bodyPr wrap="square" lIns="0" tIns="0" rIns="0" bIns="0" rtlCol="0" anchor="t"/>
          <a:lstStyle/>
          <a:p>
            <a:pPr indent="0" marL="0">
              <a:buNone/>
            </a:pPr>
            <a:r>
              <a:rPr lang="en-US" sz="1200" dirty="0">
                <a:solidFill>
                  <a:schemeClr val="tx2"/>
                </a:solidFill>
              </a:rPr>
              <a:t>Over 50 KB: uploaded to S3 first</a:t>
            </a:r>
            <a:endParaRPr lang="en-US" sz="1200" dirty="0"/>
          </a:p>
        </p:txBody>
      </p:sp>
      <p:sp>
        <p:nvSpPr>
          <p:cNvPr id="22" name="Shape 17"/>
          <p:cNvSpPr/>
          <p:nvPr/>
        </p:nvSpPr>
        <p:spPr>
          <a:xfrm>
            <a:off x="7114032" y="2240280"/>
            <a:ext cx="242316" cy="914"/>
          </a:xfrm>
          <a:prstGeom prst="line">
            <a:avLst/>
          </a:prstGeom>
          <a:noFill/>
          <a:ln w="22225">
            <a:solidFill>
              <a:schemeClr val="tx2"/>
            </a:solidFill>
            <a:prstDash val="solid"/>
            <a:tailEnd type="triangle"/>
          </a:ln>
        </p:spPr>
      </p:sp>
      <p:sp>
        <p:nvSpPr>
          <p:cNvPr id="23" name="Deploy"/>
          <p:cNvSpPr/>
          <p:nvPr/>
        </p:nvSpPr>
        <p:spPr>
          <a:xfrm>
            <a:off x="7392924" y="1691640"/>
            <a:ext cx="1965960" cy="1097280"/>
          </a:xfrm>
          <a:prstGeom prst="roundRect">
            <a:avLst>
              <a:gd name="adj" fmla="val 8333"/>
            </a:avLst>
          </a:prstGeom>
          <a:solidFill>
            <a:schemeClr val="accent5">
              <a:alpha val="8000"/>
            </a:schemeClr>
          </a:solidFill>
          <a:ln w="15875">
            <a:solidFill>
              <a:schemeClr val="accent5"/>
            </a:solidFill>
            <a:prstDash val="solid"/>
          </a:ln>
        </p:spPr>
      </p:sp>
      <p:sp>
        <p:nvSpPr>
          <p:cNvPr id="24" name="Shape 19"/>
          <p:cNvSpPr/>
          <p:nvPr/>
        </p:nvSpPr>
        <p:spPr>
          <a:xfrm>
            <a:off x="7520940" y="1819656"/>
            <a:ext cx="384048" cy="384048"/>
          </a:xfrm>
          <a:prstGeom prst="ellipse">
            <a:avLst/>
          </a:prstGeom>
          <a:solidFill>
            <a:schemeClr val="accent5"/>
          </a:solidFill>
          <a:ln/>
        </p:spPr>
      </p:sp>
      <p:pic>
        <p:nvPicPr>
          <p:cNvPr id="25" name="Image 3" descr="preencoded.png">    </p:cNvPr>
          <p:cNvPicPr>
            <a:picLocks noChangeAspect="1"/>
          </p:cNvPicPr>
          <p:nvPr/>
        </p:nvPicPr>
        <p:blipFill>
          <a:blip r:embed="rId4"/>
          <a:stretch>
            <a:fillRect/>
          </a:stretch>
        </p:blipFill>
        <p:spPr>
          <a:xfrm>
            <a:off x="7605431" y="1904147"/>
            <a:ext cx="215067" cy="215067"/>
          </a:xfrm>
          <a:prstGeom prst="rect">
            <a:avLst/>
          </a:prstGeom>
        </p:spPr>
      </p:pic>
      <p:sp>
        <p:nvSpPr>
          <p:cNvPr id="26" name="Text 20"/>
          <p:cNvSpPr txBox="1"/>
          <p:nvPr/>
        </p:nvSpPr>
        <p:spPr>
          <a:xfrm>
            <a:off x="7996428" y="1819656"/>
            <a:ext cx="1252728" cy="384048"/>
          </a:xfrm>
          <a:prstGeom prst="rect">
            <a:avLst/>
          </a:prstGeom>
          <a:noFill/>
          <a:ln/>
        </p:spPr>
        <p:txBody>
          <a:bodyPr wrap="square" lIns="0" tIns="0" rIns="0" bIns="0" rtlCol="0" anchor="ctr"/>
          <a:lstStyle/>
          <a:p>
            <a:pPr indent="0" marL="0">
              <a:buNone/>
            </a:pPr>
            <a:r>
              <a:rPr lang="en-US" sz="1400" b="1" dirty="0">
                <a:solidFill>
                  <a:schemeClr val="tx1"/>
                </a:solidFill>
              </a:rPr>
              <a:t>Deploy</a:t>
            </a:r>
            <a:endParaRPr lang="en-US" sz="1400" dirty="0"/>
          </a:p>
        </p:txBody>
      </p:sp>
      <p:sp>
        <p:nvSpPr>
          <p:cNvPr id="27" name="Text 21"/>
          <p:cNvSpPr txBox="1"/>
          <p:nvPr/>
        </p:nvSpPr>
        <p:spPr>
          <a:xfrm>
            <a:off x="7520940" y="2295144"/>
            <a:ext cx="1709928" cy="420624"/>
          </a:xfrm>
          <a:prstGeom prst="rect">
            <a:avLst/>
          </a:prstGeom>
          <a:noFill/>
          <a:ln/>
        </p:spPr>
        <p:txBody>
          <a:bodyPr wrap="square" lIns="0" tIns="0" rIns="0" bIns="0" rtlCol="0" anchor="t"/>
          <a:lstStyle/>
          <a:p>
            <a:pPr indent="0" marL="0">
              <a:buNone/>
            </a:pPr>
            <a:r>
              <a:rPr lang="en-US" sz="1200" dirty="0">
                <a:solidFill>
                  <a:schemeClr val="tx2"/>
                </a:solidFill>
              </a:rPr>
              <a:t>Creates or updates the stack straight away</a:t>
            </a:r>
            <a:endParaRPr lang="en-US" sz="1200" dirty="0"/>
          </a:p>
        </p:txBody>
      </p:sp>
      <p:sp>
        <p:nvSpPr>
          <p:cNvPr id="28" name="Shape 22"/>
          <p:cNvSpPr/>
          <p:nvPr/>
        </p:nvSpPr>
        <p:spPr>
          <a:xfrm>
            <a:off x="9395460" y="2240280"/>
            <a:ext cx="242316" cy="914"/>
          </a:xfrm>
          <a:prstGeom prst="line">
            <a:avLst/>
          </a:prstGeom>
          <a:noFill/>
          <a:ln w="22225">
            <a:solidFill>
              <a:schemeClr val="tx2"/>
            </a:solidFill>
            <a:prstDash val="solid"/>
            <a:tailEnd type="triangle"/>
          </a:ln>
        </p:spPr>
      </p:sp>
      <p:sp>
        <p:nvSpPr>
          <p:cNvPr id="29" name="Done"/>
          <p:cNvSpPr/>
          <p:nvPr/>
        </p:nvSpPr>
        <p:spPr>
          <a:xfrm>
            <a:off x="9674352" y="1691640"/>
            <a:ext cx="1965960" cy="1097280"/>
          </a:xfrm>
          <a:prstGeom prst="roundRect">
            <a:avLst>
              <a:gd name="adj" fmla="val 8333"/>
            </a:avLst>
          </a:prstGeom>
          <a:solidFill>
            <a:schemeClr val="accent5">
              <a:alpha val="8000"/>
            </a:schemeClr>
          </a:solidFill>
          <a:ln w="15875">
            <a:solidFill>
              <a:schemeClr val="accent5"/>
            </a:solidFill>
            <a:prstDash val="solid"/>
          </a:ln>
        </p:spPr>
      </p:sp>
      <p:sp>
        <p:nvSpPr>
          <p:cNvPr id="30" name="Shape 24"/>
          <p:cNvSpPr/>
          <p:nvPr/>
        </p:nvSpPr>
        <p:spPr>
          <a:xfrm>
            <a:off x="9802368" y="1819656"/>
            <a:ext cx="384048" cy="384048"/>
          </a:xfrm>
          <a:prstGeom prst="ellipse">
            <a:avLst/>
          </a:prstGeom>
          <a:solidFill>
            <a:schemeClr val="accent5"/>
          </a:solidFill>
          <a:ln/>
        </p:spPr>
      </p:sp>
      <p:pic>
        <p:nvPicPr>
          <p:cNvPr id="31" name="Image 4" descr="preencoded.png">    </p:cNvPr>
          <p:cNvPicPr>
            <a:picLocks noChangeAspect="1"/>
          </p:cNvPicPr>
          <p:nvPr/>
        </p:nvPicPr>
        <p:blipFill>
          <a:blip r:embed="rId5"/>
          <a:stretch>
            <a:fillRect/>
          </a:stretch>
        </p:blipFill>
        <p:spPr>
          <a:xfrm>
            <a:off x="9886859" y="1904147"/>
            <a:ext cx="215067" cy="215067"/>
          </a:xfrm>
          <a:prstGeom prst="rect">
            <a:avLst/>
          </a:prstGeom>
        </p:spPr>
      </p:pic>
      <p:sp>
        <p:nvSpPr>
          <p:cNvPr id="32" name="Text 25"/>
          <p:cNvSpPr txBox="1"/>
          <p:nvPr/>
        </p:nvSpPr>
        <p:spPr>
          <a:xfrm>
            <a:off x="10277856" y="1819656"/>
            <a:ext cx="1252728" cy="384048"/>
          </a:xfrm>
          <a:prstGeom prst="rect">
            <a:avLst/>
          </a:prstGeom>
          <a:noFill/>
          <a:ln/>
        </p:spPr>
        <p:txBody>
          <a:bodyPr wrap="square" lIns="0" tIns="0" rIns="0" bIns="0" rtlCol="0" anchor="ctr"/>
          <a:lstStyle/>
          <a:p>
            <a:pPr indent="0" marL="0">
              <a:buNone/>
            </a:pPr>
            <a:r>
              <a:rPr lang="en-US" sz="1400" b="1" dirty="0">
                <a:solidFill>
                  <a:schemeClr val="tx1"/>
                </a:solidFill>
              </a:rPr>
              <a:t>Done</a:t>
            </a:r>
            <a:endParaRPr lang="en-US" sz="1400" dirty="0"/>
          </a:p>
        </p:txBody>
      </p:sp>
      <p:sp>
        <p:nvSpPr>
          <p:cNvPr id="33" name="Text 26"/>
          <p:cNvSpPr txBox="1"/>
          <p:nvPr/>
        </p:nvSpPr>
        <p:spPr>
          <a:xfrm>
            <a:off x="9802368" y="2295144"/>
            <a:ext cx="1709928" cy="420624"/>
          </a:xfrm>
          <a:prstGeom prst="rect">
            <a:avLst/>
          </a:prstGeom>
          <a:noFill/>
          <a:ln/>
        </p:spPr>
        <p:txBody>
          <a:bodyPr wrap="square" lIns="0" tIns="0" rIns="0" bIns="0" rtlCol="0" anchor="t"/>
          <a:lstStyle/>
          <a:p>
            <a:pPr indent="0" marL="0">
              <a:buNone/>
            </a:pPr>
            <a:r>
              <a:rPr lang="en-US" sz="1200" dirty="0">
                <a:solidFill>
                  <a:schemeClr val="tx2"/>
                </a:solidFill>
              </a:rPr>
              <a:t>Prints the stack’s outputs</a:t>
            </a:r>
            <a:endParaRPr lang="en-US" sz="1200" dirty="0"/>
          </a:p>
        </p:txBody>
      </p:sp>
      <p:sp>
        <p:nvSpPr>
          <p:cNvPr id="34" name="Missing checks"/>
          <p:cNvSpPr/>
          <p:nvPr/>
        </p:nvSpPr>
        <p:spPr>
          <a:xfrm>
            <a:off x="2377440" y="2990088"/>
            <a:ext cx="7434072" cy="457200"/>
          </a:xfrm>
          <a:prstGeom prst="roundRect">
            <a:avLst>
              <a:gd name="adj" fmla="val 50000"/>
            </a:avLst>
          </a:prstGeom>
          <a:solidFill>
            <a:schemeClr val="accent3">
              <a:alpha val="10000"/>
            </a:schemeClr>
          </a:solidFill>
          <a:ln w="12700">
            <a:solidFill>
              <a:schemeClr val="accent3"/>
            </a:solidFill>
            <a:prstDash val="dash"/>
          </a:ln>
        </p:spPr>
      </p:sp>
      <p:pic>
        <p:nvPicPr>
          <p:cNvPr id="35" name="Image 5" descr="preencoded.png">    </p:cNvPr>
          <p:cNvPicPr>
            <a:picLocks noChangeAspect="1"/>
          </p:cNvPicPr>
          <p:nvPr/>
        </p:nvPicPr>
        <p:blipFill>
          <a:blip r:embed="rId6"/>
          <a:stretch>
            <a:fillRect/>
          </a:stretch>
        </p:blipFill>
        <p:spPr>
          <a:xfrm>
            <a:off x="2578608" y="3090672"/>
            <a:ext cx="256032" cy="256032"/>
          </a:xfrm>
          <a:prstGeom prst="rect">
            <a:avLst/>
          </a:prstGeom>
        </p:spPr>
      </p:pic>
      <p:sp>
        <p:nvSpPr>
          <p:cNvPr id="36" name="Text 28"/>
          <p:cNvSpPr txBox="1"/>
          <p:nvPr/>
        </p:nvSpPr>
        <p:spPr>
          <a:xfrm>
            <a:off x="2944368" y="2990088"/>
            <a:ext cx="6766560" cy="457200"/>
          </a:xfrm>
          <a:prstGeom prst="rect">
            <a:avLst/>
          </a:prstGeom>
          <a:noFill/>
          <a:ln/>
        </p:spPr>
        <p:txBody>
          <a:bodyPr wrap="square" lIns="0" tIns="0" rIns="0" bIns="0" rtlCol="0" anchor="ctr"/>
          <a:lstStyle/>
          <a:p>
            <a:pPr indent="0" marL="0">
              <a:buNone/>
            </a:pPr>
            <a:r>
              <a:rPr lang="en-US" sz="1400" b="1" dirty="0">
                <a:solidFill>
                  <a:schemeClr val="tx1"/>
                </a:solidFill>
              </a:rPr>
              <a:t>Never stops to check for manual changes, show a preview, or wait for approval</a:t>
            </a:r>
            <a:endParaRPr lang="en-US" sz="1400" dirty="0"/>
          </a:p>
        </p:txBody>
      </p:sp>
      <p:sp>
        <p:nvSpPr>
          <p:cNvPr id="37" name="Good for"/>
          <p:cNvSpPr/>
          <p:nvPr/>
        </p:nvSpPr>
        <p:spPr>
          <a:xfrm>
            <a:off x="548640" y="3703320"/>
            <a:ext cx="3703320" cy="2468880"/>
          </a:xfrm>
          <a:prstGeom prst="roundRect">
            <a:avLst>
              <a:gd name="adj" fmla="val 4444"/>
            </a:avLst>
          </a:prstGeom>
          <a:solidFill>
            <a:schemeClr val="accent1">
              <a:alpha val="7000"/>
            </a:schemeClr>
          </a:solidFill>
          <a:ln/>
        </p:spPr>
      </p:sp>
      <p:sp>
        <p:nvSpPr>
          <p:cNvPr id="38" name="Shape 30"/>
          <p:cNvSpPr/>
          <p:nvPr/>
        </p:nvSpPr>
        <p:spPr>
          <a:xfrm>
            <a:off x="731520" y="3840480"/>
            <a:ext cx="384048" cy="384048"/>
          </a:xfrm>
          <a:prstGeom prst="ellipse">
            <a:avLst/>
          </a:prstGeom>
          <a:solidFill>
            <a:schemeClr val="accent1"/>
          </a:solidFill>
          <a:ln/>
        </p:spPr>
      </p:sp>
      <p:pic>
        <p:nvPicPr>
          <p:cNvPr id="39" name="Image 6" descr="preencoded.png">    </p:cNvPr>
          <p:cNvPicPr>
            <a:picLocks noChangeAspect="1"/>
          </p:cNvPicPr>
          <p:nvPr/>
        </p:nvPicPr>
        <p:blipFill>
          <a:blip r:embed="rId7"/>
          <a:stretch>
            <a:fillRect/>
          </a:stretch>
        </p:blipFill>
        <p:spPr>
          <a:xfrm>
            <a:off x="816011" y="3924971"/>
            <a:ext cx="215067" cy="215067"/>
          </a:xfrm>
          <a:prstGeom prst="rect">
            <a:avLst/>
          </a:prstGeom>
        </p:spPr>
      </p:pic>
      <p:sp>
        <p:nvSpPr>
          <p:cNvPr id="40" name="Text 31"/>
          <p:cNvSpPr txBox="1"/>
          <p:nvPr/>
        </p:nvSpPr>
        <p:spPr>
          <a:xfrm>
            <a:off x="1225296" y="3840480"/>
            <a:ext cx="2743200" cy="384048"/>
          </a:xfrm>
          <a:prstGeom prst="rect">
            <a:avLst/>
          </a:prstGeom>
          <a:noFill/>
          <a:ln/>
        </p:spPr>
        <p:txBody>
          <a:bodyPr wrap="square" lIns="0" tIns="0" rIns="0" bIns="0" rtlCol="0" anchor="ctr"/>
          <a:lstStyle/>
          <a:p>
            <a:pPr indent="0" marL="0">
              <a:buNone/>
            </a:pPr>
            <a:r>
              <a:rPr lang="en-US" sz="1800" b="1" dirty="0">
                <a:solidFill>
                  <a:schemeClr val="tx1"/>
                </a:solidFill>
              </a:rPr>
              <a:t>Good for</a:t>
            </a:r>
            <a:endParaRPr lang="en-US" sz="1800" dirty="0"/>
          </a:p>
        </p:txBody>
      </p:sp>
      <p:pic>
        <p:nvPicPr>
          <p:cNvPr id="41" name="Image 7" descr="preencoded.png">    </p:cNvPr>
          <p:cNvPicPr>
            <a:picLocks noChangeAspect="1"/>
          </p:cNvPicPr>
          <p:nvPr/>
        </p:nvPicPr>
        <p:blipFill>
          <a:blip r:embed="rId8"/>
          <a:stretch>
            <a:fillRect/>
          </a:stretch>
        </p:blipFill>
        <p:spPr>
          <a:xfrm>
            <a:off x="749808" y="4378706"/>
            <a:ext cx="219456" cy="219456"/>
          </a:xfrm>
          <a:prstGeom prst="rect">
            <a:avLst/>
          </a:prstGeom>
        </p:spPr>
      </p:pic>
      <p:sp>
        <p:nvSpPr>
          <p:cNvPr id="42" name="Text 32"/>
          <p:cNvSpPr txBox="1"/>
          <p:nvPr/>
        </p:nvSpPr>
        <p:spPr>
          <a:xfrm>
            <a:off x="1097280" y="4370832"/>
            <a:ext cx="3035808" cy="271780"/>
          </a:xfrm>
          <a:prstGeom prst="rect">
            <a:avLst/>
          </a:prstGeom>
          <a:noFill/>
          <a:ln/>
        </p:spPr>
        <p:txBody>
          <a:bodyPr wrap="square" lIns="0" tIns="0" rIns="0" bIns="0" rtlCol="0" anchor="t"/>
          <a:lstStyle/>
          <a:p>
            <a:pPr indent="0" marL="0">
              <a:buNone/>
            </a:pPr>
            <a:r>
              <a:rPr lang="en-US" sz="1400" dirty="0">
                <a:solidFill>
                  <a:schemeClr val="tx1"/>
                </a:solidFill>
              </a:rPr>
              <a:t>Simple and quick: one job, end to end</a:t>
            </a:r>
            <a:endParaRPr lang="en-US" sz="1400" dirty="0"/>
          </a:p>
        </p:txBody>
      </p:sp>
      <p:pic>
        <p:nvPicPr>
          <p:cNvPr id="43" name="Image 8" descr="preencoded.png">    </p:cNvPr>
          <p:cNvPicPr>
            <a:picLocks noChangeAspect="1"/>
          </p:cNvPicPr>
          <p:nvPr/>
        </p:nvPicPr>
        <p:blipFill>
          <a:blip r:embed="rId9"/>
          <a:stretch>
            <a:fillRect/>
          </a:stretch>
        </p:blipFill>
        <p:spPr>
          <a:xfrm>
            <a:off x="749808" y="4741926"/>
            <a:ext cx="219456" cy="219456"/>
          </a:xfrm>
          <a:prstGeom prst="rect">
            <a:avLst/>
          </a:prstGeom>
        </p:spPr>
      </p:pic>
      <p:sp>
        <p:nvSpPr>
          <p:cNvPr id="44" name="Text 33"/>
          <p:cNvSpPr txBox="1"/>
          <p:nvPr/>
        </p:nvSpPr>
        <p:spPr>
          <a:xfrm>
            <a:off x="1097280" y="4734052"/>
            <a:ext cx="3035808" cy="488696"/>
          </a:xfrm>
          <a:prstGeom prst="rect">
            <a:avLst/>
          </a:prstGeom>
          <a:noFill/>
          <a:ln/>
        </p:spPr>
        <p:txBody>
          <a:bodyPr wrap="square" lIns="0" tIns="0" rIns="0" bIns="0" rtlCol="0" anchor="t"/>
          <a:lstStyle/>
          <a:p>
            <a:pPr indent="0" marL="0">
              <a:buNone/>
            </a:pPr>
            <a:r>
              <a:rPr lang="en-US" sz="1400" dirty="0">
                <a:solidFill>
                  <a:schemeClr val="tx1"/>
                </a:solidFill>
              </a:rPr>
              <a:t>Works for every resource type, even ones AWS can’t drift-check</a:t>
            </a:r>
            <a:endParaRPr lang="en-US" sz="1400" dirty="0"/>
          </a:p>
        </p:txBody>
      </p:sp>
      <p:pic>
        <p:nvPicPr>
          <p:cNvPr id="45" name="Image 9" descr="preencoded.png">    </p:cNvPr>
          <p:cNvPicPr>
            <a:picLocks noChangeAspect="1"/>
          </p:cNvPicPr>
          <p:nvPr/>
        </p:nvPicPr>
        <p:blipFill>
          <a:blip r:embed="rId10"/>
          <a:stretch>
            <a:fillRect/>
          </a:stretch>
        </p:blipFill>
        <p:spPr>
          <a:xfrm>
            <a:off x="749808" y="5322062"/>
            <a:ext cx="219456" cy="219456"/>
          </a:xfrm>
          <a:prstGeom prst="rect">
            <a:avLst/>
          </a:prstGeom>
        </p:spPr>
      </p:pic>
      <p:sp>
        <p:nvSpPr>
          <p:cNvPr id="46" name="Text 34"/>
          <p:cNvSpPr txBox="1"/>
          <p:nvPr/>
        </p:nvSpPr>
        <p:spPr>
          <a:xfrm>
            <a:off x="1097280" y="5314188"/>
            <a:ext cx="3035808" cy="271780"/>
          </a:xfrm>
          <a:prstGeom prst="rect">
            <a:avLst/>
          </a:prstGeom>
          <a:noFill/>
          <a:ln/>
        </p:spPr>
        <p:txBody>
          <a:bodyPr wrap="square" lIns="0" tIns="0" rIns="0" bIns="0" rtlCol="0" anchor="t"/>
          <a:lstStyle/>
          <a:p>
            <a:pPr indent="0" marL="0">
              <a:buNone/>
            </a:pPr>
            <a:r>
              <a:rPr lang="en-US" sz="1400" dirty="0">
                <a:solidFill>
                  <a:schemeClr val="tx1"/>
                </a:solidFill>
              </a:rPr>
              <a:t>Copes with large templates (via S3)</a:t>
            </a:r>
            <a:endParaRPr lang="en-US" sz="1400" dirty="0"/>
          </a:p>
        </p:txBody>
      </p:sp>
      <p:sp>
        <p:nvSpPr>
          <p:cNvPr id="47" name="What it doesn’t do"/>
          <p:cNvSpPr/>
          <p:nvPr/>
        </p:nvSpPr>
        <p:spPr>
          <a:xfrm>
            <a:off x="4434840" y="3703320"/>
            <a:ext cx="3703320" cy="2468880"/>
          </a:xfrm>
          <a:prstGeom prst="roundRect">
            <a:avLst>
              <a:gd name="adj" fmla="val 4444"/>
            </a:avLst>
          </a:prstGeom>
          <a:solidFill>
            <a:schemeClr val="accent3">
              <a:alpha val="8000"/>
            </a:schemeClr>
          </a:solidFill>
          <a:ln/>
        </p:spPr>
      </p:sp>
      <p:sp>
        <p:nvSpPr>
          <p:cNvPr id="48" name="Shape 36"/>
          <p:cNvSpPr/>
          <p:nvPr/>
        </p:nvSpPr>
        <p:spPr>
          <a:xfrm>
            <a:off x="4617720" y="3840480"/>
            <a:ext cx="384048" cy="384048"/>
          </a:xfrm>
          <a:prstGeom prst="ellipse">
            <a:avLst/>
          </a:prstGeom>
          <a:solidFill>
            <a:schemeClr val="accent3"/>
          </a:solidFill>
          <a:ln/>
        </p:spPr>
      </p:sp>
      <p:pic>
        <p:nvPicPr>
          <p:cNvPr id="49" name="Image 10" descr="preencoded.png">    </p:cNvPr>
          <p:cNvPicPr>
            <a:picLocks noChangeAspect="1"/>
          </p:cNvPicPr>
          <p:nvPr/>
        </p:nvPicPr>
        <p:blipFill>
          <a:blip r:embed="rId11"/>
          <a:stretch>
            <a:fillRect/>
          </a:stretch>
        </p:blipFill>
        <p:spPr>
          <a:xfrm>
            <a:off x="4702211" y="3924971"/>
            <a:ext cx="215067" cy="215067"/>
          </a:xfrm>
          <a:prstGeom prst="rect">
            <a:avLst/>
          </a:prstGeom>
        </p:spPr>
      </p:pic>
      <p:sp>
        <p:nvSpPr>
          <p:cNvPr id="50" name="Text 37"/>
          <p:cNvSpPr txBox="1"/>
          <p:nvPr/>
        </p:nvSpPr>
        <p:spPr>
          <a:xfrm>
            <a:off x="5111496" y="3840480"/>
            <a:ext cx="2926080" cy="384048"/>
          </a:xfrm>
          <a:prstGeom prst="rect">
            <a:avLst/>
          </a:prstGeom>
          <a:noFill/>
          <a:ln/>
        </p:spPr>
        <p:txBody>
          <a:bodyPr wrap="square" lIns="0" tIns="0" rIns="0" bIns="0" rtlCol="0" anchor="ctr"/>
          <a:lstStyle/>
          <a:p>
            <a:pPr indent="0" marL="0">
              <a:buNone/>
            </a:pPr>
            <a:r>
              <a:rPr lang="en-US" sz="1800" b="1" dirty="0">
                <a:solidFill>
                  <a:schemeClr val="tx1"/>
                </a:solidFill>
              </a:rPr>
              <a:t>What it doesn’t do</a:t>
            </a:r>
            <a:endParaRPr lang="en-US" sz="1800" dirty="0"/>
          </a:p>
        </p:txBody>
      </p:sp>
      <p:pic>
        <p:nvPicPr>
          <p:cNvPr id="51" name="Image 11" descr="preencoded.png">    </p:cNvPr>
          <p:cNvPicPr>
            <a:picLocks noChangeAspect="1"/>
          </p:cNvPicPr>
          <p:nvPr/>
        </p:nvPicPr>
        <p:blipFill>
          <a:blip r:embed="rId12"/>
          <a:stretch>
            <a:fillRect/>
          </a:stretch>
        </p:blipFill>
        <p:spPr>
          <a:xfrm>
            <a:off x="4636008" y="4378706"/>
            <a:ext cx="219456" cy="219456"/>
          </a:xfrm>
          <a:prstGeom prst="rect">
            <a:avLst/>
          </a:prstGeom>
        </p:spPr>
      </p:pic>
      <p:sp>
        <p:nvSpPr>
          <p:cNvPr id="52" name="Text 38"/>
          <p:cNvSpPr txBox="1"/>
          <p:nvPr/>
        </p:nvSpPr>
        <p:spPr>
          <a:xfrm>
            <a:off x="4983480" y="4370832"/>
            <a:ext cx="3035808" cy="271780"/>
          </a:xfrm>
          <a:prstGeom prst="rect">
            <a:avLst/>
          </a:prstGeom>
          <a:noFill/>
          <a:ln/>
        </p:spPr>
        <p:txBody>
          <a:bodyPr wrap="square" lIns="0" tIns="0" rIns="0" bIns="0" rtlCol="0" anchor="t"/>
          <a:lstStyle/>
          <a:p>
            <a:pPr indent="0" marL="0">
              <a:buNone/>
            </a:pPr>
            <a:r>
              <a:rPr lang="en-US" sz="1400" dirty="0">
                <a:solidFill>
                  <a:schemeClr val="tx1"/>
                </a:solidFill>
              </a:rPr>
              <a:t>No check for changes made by hand</a:t>
            </a:r>
            <a:endParaRPr lang="en-US" sz="1400" dirty="0"/>
          </a:p>
        </p:txBody>
      </p:sp>
      <p:pic>
        <p:nvPicPr>
          <p:cNvPr id="53" name="Image 12" descr="preencoded.png">    </p:cNvPr>
          <p:cNvPicPr>
            <a:picLocks noChangeAspect="1"/>
          </p:cNvPicPr>
          <p:nvPr/>
        </p:nvPicPr>
        <p:blipFill>
          <a:blip r:embed="rId13"/>
          <a:stretch>
            <a:fillRect/>
          </a:stretch>
        </p:blipFill>
        <p:spPr>
          <a:xfrm>
            <a:off x="4636008" y="4760214"/>
            <a:ext cx="219456" cy="219456"/>
          </a:xfrm>
          <a:prstGeom prst="rect">
            <a:avLst/>
          </a:prstGeom>
        </p:spPr>
      </p:pic>
      <p:sp>
        <p:nvSpPr>
          <p:cNvPr id="54" name="Text 39"/>
          <p:cNvSpPr txBox="1"/>
          <p:nvPr/>
        </p:nvSpPr>
        <p:spPr>
          <a:xfrm>
            <a:off x="4983480" y="4752340"/>
            <a:ext cx="3035808" cy="271780"/>
          </a:xfrm>
          <a:prstGeom prst="rect">
            <a:avLst/>
          </a:prstGeom>
          <a:noFill/>
          <a:ln/>
        </p:spPr>
        <p:txBody>
          <a:bodyPr wrap="square" lIns="0" tIns="0" rIns="0" bIns="0" rtlCol="0" anchor="t"/>
          <a:lstStyle/>
          <a:p>
            <a:pPr indent="0" marL="0">
              <a:buNone/>
            </a:pPr>
            <a:r>
              <a:rPr lang="en-US" sz="1400" dirty="0">
                <a:solidFill>
                  <a:schemeClr val="tx1"/>
                </a:solidFill>
              </a:rPr>
              <a:t>No preview of what will change</a:t>
            </a:r>
            <a:endParaRPr lang="en-US" sz="1400" dirty="0"/>
          </a:p>
        </p:txBody>
      </p:sp>
      <p:pic>
        <p:nvPicPr>
          <p:cNvPr id="55" name="Image 13" descr="preencoded.png">    </p:cNvPr>
          <p:cNvPicPr>
            <a:picLocks noChangeAspect="1"/>
          </p:cNvPicPr>
          <p:nvPr/>
        </p:nvPicPr>
        <p:blipFill>
          <a:blip r:embed="rId14"/>
          <a:stretch>
            <a:fillRect/>
          </a:stretch>
        </p:blipFill>
        <p:spPr>
          <a:xfrm>
            <a:off x="4636008" y="5141722"/>
            <a:ext cx="219456" cy="219456"/>
          </a:xfrm>
          <a:prstGeom prst="rect">
            <a:avLst/>
          </a:prstGeom>
        </p:spPr>
      </p:pic>
      <p:sp>
        <p:nvSpPr>
          <p:cNvPr id="56" name="Text 40"/>
          <p:cNvSpPr txBox="1"/>
          <p:nvPr/>
        </p:nvSpPr>
        <p:spPr>
          <a:xfrm>
            <a:off x="4983480" y="5133848"/>
            <a:ext cx="3035808" cy="271780"/>
          </a:xfrm>
          <a:prstGeom prst="rect">
            <a:avLst/>
          </a:prstGeom>
          <a:noFill/>
          <a:ln/>
        </p:spPr>
        <p:txBody>
          <a:bodyPr wrap="square" lIns="0" tIns="0" rIns="0" bIns="0" rtlCol="0" anchor="t"/>
          <a:lstStyle/>
          <a:p>
            <a:pPr indent="0" marL="0">
              <a:buNone/>
            </a:pPr>
            <a:r>
              <a:rPr lang="en-US" sz="1400" dirty="0">
                <a:solidFill>
                  <a:schemeClr val="tx1"/>
                </a:solidFill>
              </a:rPr>
              <a:t>No pause for a person to approve</a:t>
            </a:r>
            <a:endParaRPr lang="en-US" sz="1400" dirty="0"/>
          </a:p>
        </p:txBody>
      </p:sp>
      <p:pic>
        <p:nvPicPr>
          <p:cNvPr id="57" name="Image 14" descr="preencoded.png">    </p:cNvPr>
          <p:cNvPicPr>
            <a:picLocks noChangeAspect="1"/>
          </p:cNvPicPr>
          <p:nvPr/>
        </p:nvPicPr>
        <p:blipFill>
          <a:blip r:embed="rId15"/>
          <a:stretch>
            <a:fillRect/>
          </a:stretch>
        </p:blipFill>
        <p:spPr>
          <a:xfrm>
            <a:off x="4636008" y="5523230"/>
            <a:ext cx="219456" cy="219456"/>
          </a:xfrm>
          <a:prstGeom prst="rect">
            <a:avLst/>
          </a:prstGeom>
        </p:spPr>
      </p:pic>
      <p:sp>
        <p:nvSpPr>
          <p:cNvPr id="58" name="Text 41"/>
          <p:cNvSpPr txBox="1"/>
          <p:nvPr/>
        </p:nvSpPr>
        <p:spPr>
          <a:xfrm>
            <a:off x="4983480" y="5515356"/>
            <a:ext cx="3035808" cy="271780"/>
          </a:xfrm>
          <a:prstGeom prst="rect">
            <a:avLst/>
          </a:prstGeom>
          <a:noFill/>
          <a:ln/>
        </p:spPr>
        <p:txBody>
          <a:bodyPr wrap="square" lIns="0" tIns="0" rIns="0" bIns="0" rtlCol="0" anchor="t"/>
          <a:lstStyle/>
          <a:p>
            <a:pPr indent="0" marL="0">
              <a:buNone/>
            </a:pPr>
            <a:r>
              <a:rPr lang="en-US" sz="1400" dirty="0">
                <a:solidFill>
                  <a:schemeClr val="tx1"/>
                </a:solidFill>
              </a:rPr>
              <a:t>Typed inputs — a typo means a failed run</a:t>
            </a:r>
            <a:endParaRPr lang="en-US" sz="1400" dirty="0"/>
          </a:p>
        </p:txBody>
      </p:sp>
      <p:sp>
        <p:nvSpPr>
          <p:cNvPr id="59" name="Screenshot panel"/>
          <p:cNvSpPr/>
          <p:nvPr/>
        </p:nvSpPr>
        <p:spPr>
          <a:xfrm>
            <a:off x="8366760" y="3703320"/>
            <a:ext cx="3273552" cy="1828800"/>
          </a:xfrm>
          <a:prstGeom prst="roundRect">
            <a:avLst>
              <a:gd name="adj" fmla="val 4000"/>
            </a:avLst>
          </a:prstGeom>
          <a:solidFill>
            <a:schemeClr val="bg2"/>
          </a:solidFill>
          <a:ln/>
        </p:spPr>
      </p:sp>
      <p:sp>
        <p:nvSpPr>
          <p:cNvPr id="60" name="Screenshot border"/>
          <p:cNvSpPr/>
          <p:nvPr/>
        </p:nvSpPr>
        <p:spPr>
          <a:xfrm>
            <a:off x="8474941" y="3794760"/>
            <a:ext cx="3057191" cy="1645920"/>
          </a:xfrm>
          <a:prstGeom prst="rect">
            <a:avLst/>
          </a:prstGeom>
          <a:solidFill>
            <a:schemeClr val="bg1"/>
          </a:solidFill>
          <a:ln w="9525">
            <a:solidFill>
              <a:srgbClr val="C9D1DB"/>
            </a:solidFill>
            <a:prstDash val="solid"/>
          </a:ln>
        </p:spPr>
      </p:sp>
      <p:pic>
        <p:nvPicPr>
          <p:cNvPr id="61" name="Image 15" descr="One-job run">    </p:cNvPr>
          <p:cNvPicPr>
            <a:picLocks noChangeAspect="1"/>
          </p:cNvPicPr>
          <p:nvPr/>
        </p:nvPicPr>
        <p:blipFill>
          <a:blip r:embed="rId16"/>
          <a:stretch>
            <a:fillRect/>
          </a:stretch>
        </p:blipFill>
        <p:spPr>
          <a:xfrm>
            <a:off x="8493229" y="3813048"/>
            <a:ext cx="3020615" cy="1609344"/>
          </a:xfrm>
          <a:prstGeom prst="rect">
            <a:avLst/>
          </a:prstGeom>
        </p:spPr>
      </p:pic>
      <p:sp>
        <p:nvSpPr>
          <p:cNvPr id="62" name="Text 44"/>
          <p:cNvSpPr txBox="1"/>
          <p:nvPr/>
        </p:nvSpPr>
        <p:spPr>
          <a:xfrm>
            <a:off x="8366760" y="5605272"/>
            <a:ext cx="3273552" cy="548640"/>
          </a:xfrm>
          <a:prstGeom prst="rect">
            <a:avLst/>
          </a:prstGeom>
          <a:noFill/>
          <a:ln/>
        </p:spPr>
        <p:txBody>
          <a:bodyPr wrap="square" lIns="0" tIns="0" rIns="0" bIns="0" rtlCol="0" anchor="t"/>
          <a:lstStyle/>
          <a:p>
            <a:pPr indent="0" marL="0">
              <a:buNone/>
            </a:pPr>
            <a:r>
              <a:rPr lang="en-US" sz="1300" b="1" dirty="0">
                <a:solidFill>
                  <a:schemeClr val="tx1"/>
                </a:solidFill>
              </a:rPr>
              <a:t>One-job run</a:t>
            </a:r>
            <a:pPr indent="0" marL="0">
              <a:buNone/>
            </a:pPr>
            <a:r>
              <a:rPr lang="en-US" sz="1200" dirty="0">
                <a:solidFill>
                  <a:schemeClr val="tx2"/>
                </a:solidFill>
              </a:rPr>
              <a:t>  the earlier CloudFormation pipeline: a single ‘deploy’ job, straight to AWS</a:t>
            </a:r>
            <a:endParaRPr lang="en-US" sz="14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Where the old pipeline still fits</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AWS can’t drift-check every resource type — for our firewall stacks we keep the old route</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spc="150" kern="0" dirty="0">
                <a:solidFill>
                  <a:schemeClr val="bg1"/>
                </a:solidFill>
              </a:rPr>
              <a:t>OLD PIPELINE</a:t>
            </a:r>
            <a:endParaRPr lang="en-US" sz="1100" dirty="0"/>
          </a:p>
        </p:txBody>
      </p:sp>
      <p:sp>
        <p:nvSpPr>
          <p:cNvPr id="5" name="Text 3"/>
          <p:cNvSpPr txBox="1"/>
          <p:nvPr/>
        </p:nvSpPr>
        <p:spPr>
          <a:xfrm>
            <a:off x="548640" y="1691640"/>
            <a:ext cx="6629400" cy="566928"/>
          </a:xfrm>
          <a:prstGeom prst="rect">
            <a:avLst/>
          </a:prstGeom>
          <a:noFill/>
          <a:ln/>
        </p:spPr>
        <p:txBody>
          <a:bodyPr wrap="square" lIns="0" tIns="0" rIns="0" bIns="0" rtlCol="0" anchor="t"/>
          <a:lstStyle/>
          <a:p>
            <a:pPr indent="0" marL="0">
              <a:buNone/>
            </a:pPr>
            <a:r>
              <a:rPr lang="en-US" sz="1500" dirty="0">
                <a:solidFill>
                  <a:schemeClr val="tx1"/>
                </a:solidFill>
              </a:rPr>
              <a:t>The drift check relies on AWS. For a few resource types, AWS doesn’t support it or can’t give a dependable answer:</a:t>
            </a:r>
            <a:endParaRPr lang="en-US" sz="1500" dirty="0"/>
          </a:p>
        </p:txBody>
      </p:sp>
      <p:sp>
        <p:nvSpPr>
          <p:cNvPr id="6" name="Firewall Manager (FMS) policies"/>
          <p:cNvSpPr/>
          <p:nvPr/>
        </p:nvSpPr>
        <p:spPr>
          <a:xfrm>
            <a:off x="548640" y="2395728"/>
            <a:ext cx="6629400" cy="841248"/>
          </a:xfrm>
          <a:prstGeom prst="roundRect">
            <a:avLst>
              <a:gd name="adj" fmla="val 10870"/>
            </a:avLst>
          </a:prstGeom>
          <a:solidFill>
            <a:schemeClr val="bg2"/>
          </a:solidFill>
          <a:ln/>
        </p:spPr>
      </p:sp>
      <p:sp>
        <p:nvSpPr>
          <p:cNvPr id="7" name="Shape 5"/>
          <p:cNvSpPr/>
          <p:nvPr/>
        </p:nvSpPr>
        <p:spPr>
          <a:xfrm>
            <a:off x="713232" y="2569464"/>
            <a:ext cx="493776" cy="493776"/>
          </a:xfrm>
          <a:prstGeom prst="ellipse">
            <a:avLst/>
          </a:prstGeom>
          <a:solidFill>
            <a:schemeClr val="accent5"/>
          </a:solidFill>
          <a:ln/>
        </p:spPr>
      </p:sp>
      <p:pic>
        <p:nvPicPr>
          <p:cNvPr id="8" name="Image 0" descr="preencoded.png">    </p:cNvPr>
          <p:cNvPicPr>
            <a:picLocks noChangeAspect="1"/>
          </p:cNvPicPr>
          <p:nvPr/>
        </p:nvPicPr>
        <p:blipFill>
          <a:blip r:embed="rId1"/>
          <a:stretch>
            <a:fillRect/>
          </a:stretch>
        </p:blipFill>
        <p:spPr>
          <a:xfrm>
            <a:off x="821863" y="2678095"/>
            <a:ext cx="276515" cy="276515"/>
          </a:xfrm>
          <a:prstGeom prst="rect">
            <a:avLst/>
          </a:prstGeom>
        </p:spPr>
      </p:pic>
      <p:sp>
        <p:nvSpPr>
          <p:cNvPr id="9" name="Text 6"/>
          <p:cNvSpPr txBox="1"/>
          <p:nvPr/>
        </p:nvSpPr>
        <p:spPr>
          <a:xfrm>
            <a:off x="1353312" y="2468880"/>
            <a:ext cx="3794760" cy="713232"/>
          </a:xfrm>
          <a:prstGeom prst="rect">
            <a:avLst/>
          </a:prstGeom>
          <a:noFill/>
          <a:ln/>
        </p:spPr>
        <p:txBody>
          <a:bodyPr wrap="square" lIns="0" tIns="0" rIns="0" bIns="0" rtlCol="0" anchor="ctr"/>
          <a:lstStyle/>
          <a:p>
            <a:pPr indent="0" marL="0">
              <a:buNone/>
            </a:pPr>
            <a:r>
              <a:rPr lang="en-US" sz="1500" b="1" dirty="0">
                <a:solidFill>
                  <a:schemeClr val="tx1"/>
                </a:solidFill>
              </a:rPr>
              <a:t>Firewall Manager (FMS) policies</a:t>
            </a:r>
            <a:endParaRPr lang="en-US" sz="1400" dirty="0"/>
          </a:p>
          <a:p>
            <a:pPr indent="0" marL="0">
              <a:buNone/>
            </a:pPr>
            <a:r>
              <a:rPr lang="en-US" sz="1250" dirty="0">
                <a:solidFill>
                  <a:schemeClr val="tx2"/>
                </a:solidFill>
              </a:rPr>
              <a:t>AWS documentation: drift detection is not supported</a:t>
            </a:r>
            <a:endParaRPr lang="en-US" sz="1400" dirty="0"/>
          </a:p>
        </p:txBody>
      </p:sp>
      <p:sp>
        <p:nvSpPr>
          <p:cNvPr id="10" name="Text 7"/>
          <p:cNvSpPr txBox="1"/>
          <p:nvPr/>
        </p:nvSpPr>
        <p:spPr>
          <a:xfrm>
            <a:off x="5349240" y="2606040"/>
            <a:ext cx="1664208" cy="420624"/>
          </a:xfrm>
          <a:prstGeom prst="roundRect">
            <a:avLst>
              <a:gd name="adj" fmla="val 43478"/>
            </a:avLst>
          </a:prstGeom>
          <a:solidFill>
            <a:schemeClr val="accent5"/>
          </a:solidFill>
          <a:ln/>
        </p:spPr>
        <p:txBody>
          <a:bodyPr wrap="square" lIns="0" tIns="0" rIns="0" bIns="0" rtlCol="0" anchor="ctr"/>
          <a:lstStyle/>
          <a:p>
            <a:pPr algn="ctr" indent="0" marL="0">
              <a:buNone/>
            </a:pPr>
            <a:r>
              <a:rPr lang="en-US" sz="1300" b="1" dirty="0">
                <a:solidFill>
                  <a:schemeClr val="bg1"/>
                </a:solidFill>
              </a:rPr>
              <a:t>→ Old pipeline</a:t>
            </a:r>
            <a:endParaRPr lang="en-US" sz="1300" dirty="0"/>
          </a:p>
        </p:txBody>
      </p:sp>
      <p:sp>
        <p:nvSpPr>
          <p:cNvPr id="11" name="Rule groups (large JSON settings)"/>
          <p:cNvSpPr/>
          <p:nvPr/>
        </p:nvSpPr>
        <p:spPr>
          <a:xfrm>
            <a:off x="548640" y="3337560"/>
            <a:ext cx="6629400" cy="841248"/>
          </a:xfrm>
          <a:prstGeom prst="roundRect">
            <a:avLst>
              <a:gd name="adj" fmla="val 10870"/>
            </a:avLst>
          </a:prstGeom>
          <a:solidFill>
            <a:schemeClr val="bg2"/>
          </a:solidFill>
          <a:ln/>
        </p:spPr>
      </p:sp>
      <p:sp>
        <p:nvSpPr>
          <p:cNvPr id="12" name="Shape 9"/>
          <p:cNvSpPr/>
          <p:nvPr/>
        </p:nvSpPr>
        <p:spPr>
          <a:xfrm>
            <a:off x="713232" y="3511296"/>
            <a:ext cx="493776" cy="493776"/>
          </a:xfrm>
          <a:prstGeom prst="ellipse">
            <a:avLst/>
          </a:prstGeom>
          <a:solidFill>
            <a:schemeClr val="accent5"/>
          </a:solidFill>
          <a:ln/>
        </p:spPr>
      </p:sp>
      <p:pic>
        <p:nvPicPr>
          <p:cNvPr id="13" name="Image 1" descr="preencoded.png">    </p:cNvPr>
          <p:cNvPicPr>
            <a:picLocks noChangeAspect="1"/>
          </p:cNvPicPr>
          <p:nvPr/>
        </p:nvPicPr>
        <p:blipFill>
          <a:blip r:embed="rId2"/>
          <a:stretch>
            <a:fillRect/>
          </a:stretch>
        </p:blipFill>
        <p:spPr>
          <a:xfrm>
            <a:off x="821863" y="3619927"/>
            <a:ext cx="276515" cy="276515"/>
          </a:xfrm>
          <a:prstGeom prst="rect">
            <a:avLst/>
          </a:prstGeom>
        </p:spPr>
      </p:pic>
      <p:sp>
        <p:nvSpPr>
          <p:cNvPr id="14" name="Text 10"/>
          <p:cNvSpPr txBox="1"/>
          <p:nvPr/>
        </p:nvSpPr>
        <p:spPr>
          <a:xfrm>
            <a:off x="1353312" y="3410712"/>
            <a:ext cx="3794760" cy="713232"/>
          </a:xfrm>
          <a:prstGeom prst="rect">
            <a:avLst/>
          </a:prstGeom>
          <a:noFill/>
          <a:ln/>
        </p:spPr>
        <p:txBody>
          <a:bodyPr wrap="square" lIns="0" tIns="0" rIns="0" bIns="0" rtlCol="0" anchor="ctr"/>
          <a:lstStyle/>
          <a:p>
            <a:pPr indent="0" marL="0">
              <a:buNone/>
            </a:pPr>
            <a:r>
              <a:rPr lang="en-US" sz="1500" b="1" dirty="0">
                <a:solidFill>
                  <a:schemeClr val="tx1"/>
                </a:solidFill>
              </a:rPr>
              <a:t>Rule groups (large JSON settings)</a:t>
            </a:r>
            <a:endParaRPr lang="en-US" sz="1400" dirty="0"/>
          </a:p>
          <a:p>
            <a:pPr indent="0" marL="0">
              <a:buNone/>
            </a:pPr>
            <a:r>
              <a:rPr lang="en-US" sz="1250" dirty="0">
                <a:solidFill>
                  <a:schemeClr val="tx2"/>
                </a:solidFill>
              </a:rPr>
              <a:t>Drift results aren’t dependable for big blocks of JSON</a:t>
            </a:r>
            <a:endParaRPr lang="en-US" sz="1400" dirty="0"/>
          </a:p>
        </p:txBody>
      </p:sp>
      <p:sp>
        <p:nvSpPr>
          <p:cNvPr id="15" name="Text 11"/>
          <p:cNvSpPr txBox="1"/>
          <p:nvPr/>
        </p:nvSpPr>
        <p:spPr>
          <a:xfrm>
            <a:off x="5349240" y="3547872"/>
            <a:ext cx="1664208" cy="420624"/>
          </a:xfrm>
          <a:prstGeom prst="roundRect">
            <a:avLst>
              <a:gd name="adj" fmla="val 43478"/>
            </a:avLst>
          </a:prstGeom>
          <a:solidFill>
            <a:schemeClr val="accent5"/>
          </a:solidFill>
          <a:ln/>
        </p:spPr>
        <p:txBody>
          <a:bodyPr wrap="square" lIns="0" tIns="0" rIns="0" bIns="0" rtlCol="0" anchor="ctr"/>
          <a:lstStyle/>
          <a:p>
            <a:pPr algn="ctr" indent="0" marL="0">
              <a:buNone/>
            </a:pPr>
            <a:r>
              <a:rPr lang="en-US" sz="1300" b="1" dirty="0">
                <a:solidFill>
                  <a:schemeClr val="bg1"/>
                </a:solidFill>
              </a:rPr>
              <a:t>→ Old pipeline</a:t>
            </a:r>
            <a:endParaRPr lang="en-US" sz="1300" dirty="0"/>
          </a:p>
        </p:txBody>
      </p:sp>
      <p:sp>
        <p:nvSpPr>
          <p:cNvPr id="16" name="Individual DNS records"/>
          <p:cNvSpPr/>
          <p:nvPr/>
        </p:nvSpPr>
        <p:spPr>
          <a:xfrm>
            <a:off x="548640" y="4279392"/>
            <a:ext cx="6629400" cy="841248"/>
          </a:xfrm>
          <a:prstGeom prst="roundRect">
            <a:avLst>
              <a:gd name="adj" fmla="val 10870"/>
            </a:avLst>
          </a:prstGeom>
          <a:solidFill>
            <a:schemeClr val="bg2"/>
          </a:solidFill>
          <a:ln/>
        </p:spPr>
      </p:sp>
      <p:sp>
        <p:nvSpPr>
          <p:cNvPr id="17" name="Shape 13"/>
          <p:cNvSpPr/>
          <p:nvPr/>
        </p:nvSpPr>
        <p:spPr>
          <a:xfrm>
            <a:off x="713232" y="4453128"/>
            <a:ext cx="493776" cy="493776"/>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821863" y="4561759"/>
            <a:ext cx="276515" cy="276515"/>
          </a:xfrm>
          <a:prstGeom prst="rect">
            <a:avLst/>
          </a:prstGeom>
        </p:spPr>
      </p:pic>
      <p:sp>
        <p:nvSpPr>
          <p:cNvPr id="19" name="Text 14"/>
          <p:cNvSpPr txBox="1"/>
          <p:nvPr/>
        </p:nvSpPr>
        <p:spPr>
          <a:xfrm>
            <a:off x="1353312" y="4352544"/>
            <a:ext cx="3794760" cy="713232"/>
          </a:xfrm>
          <a:prstGeom prst="rect">
            <a:avLst/>
          </a:prstGeom>
          <a:noFill/>
          <a:ln/>
        </p:spPr>
        <p:txBody>
          <a:bodyPr wrap="square" lIns="0" tIns="0" rIns="0" bIns="0" rtlCol="0" anchor="ctr"/>
          <a:lstStyle/>
          <a:p>
            <a:pPr indent="0" marL="0">
              <a:buNone/>
            </a:pPr>
            <a:r>
              <a:rPr lang="en-US" sz="1500" b="1" dirty="0">
                <a:solidFill>
                  <a:schemeClr val="tx1"/>
                </a:solidFill>
              </a:rPr>
              <a:t>Individual DNS records</a:t>
            </a:r>
            <a:endParaRPr lang="en-US" sz="1400" dirty="0"/>
          </a:p>
          <a:p>
            <a:pPr indent="0" marL="0">
              <a:buNone/>
            </a:pPr>
            <a:r>
              <a:rPr lang="en-US" sz="1250" dirty="0">
                <a:solidFill>
                  <a:schemeClr val="tx2"/>
                </a:solidFill>
              </a:rPr>
              <a:t>AWS checks the zone, not each record — the change set still shows every record change</a:t>
            </a:r>
            <a:endParaRPr lang="en-US" sz="1400" dirty="0"/>
          </a:p>
        </p:txBody>
      </p:sp>
      <p:sp>
        <p:nvSpPr>
          <p:cNvPr id="20" name="Text 15"/>
          <p:cNvSpPr txBox="1"/>
          <p:nvPr/>
        </p:nvSpPr>
        <p:spPr>
          <a:xfrm>
            <a:off x="5349240" y="4489704"/>
            <a:ext cx="1664208" cy="420624"/>
          </a:xfrm>
          <a:prstGeom prst="roundRect">
            <a:avLst>
              <a:gd name="adj" fmla="val 43478"/>
            </a:avLst>
          </a:prstGeom>
          <a:solidFill>
            <a:schemeClr val="accent1"/>
          </a:solidFill>
          <a:ln/>
        </p:spPr>
        <p:txBody>
          <a:bodyPr wrap="square" lIns="0" tIns="0" rIns="0" bIns="0" rtlCol="0" anchor="ctr"/>
          <a:lstStyle/>
          <a:p>
            <a:pPr algn="ctr" indent="0" marL="0">
              <a:buNone/>
            </a:pPr>
            <a:r>
              <a:rPr lang="en-US" sz="1300" b="1" dirty="0">
                <a:solidFill>
                  <a:schemeClr val="bg1"/>
                </a:solidFill>
              </a:rPr>
              <a:t>→ New pipeline</a:t>
            </a:r>
            <a:endParaRPr lang="en-US" sz="1300" dirty="0"/>
          </a:p>
        </p:txBody>
      </p:sp>
      <p:sp>
        <p:nvSpPr>
          <p:cNvPr id="21" name="Everything else"/>
          <p:cNvSpPr/>
          <p:nvPr/>
        </p:nvSpPr>
        <p:spPr>
          <a:xfrm>
            <a:off x="548640" y="5349240"/>
            <a:ext cx="6629400" cy="731520"/>
          </a:xfrm>
          <a:prstGeom prst="roundRect">
            <a:avLst>
              <a:gd name="adj" fmla="val 15000"/>
            </a:avLst>
          </a:prstGeom>
          <a:solidFill>
            <a:schemeClr val="accent1">
              <a:alpha val="10000"/>
            </a:schemeClr>
          </a:solidFill>
          <a:ln/>
        </p:spPr>
      </p:sp>
      <p:pic>
        <p:nvPicPr>
          <p:cNvPr id="22" name="Image 3" descr="preencoded.png">    </p:cNvPr>
          <p:cNvPicPr>
            <a:picLocks noChangeAspect="1"/>
          </p:cNvPicPr>
          <p:nvPr/>
        </p:nvPicPr>
        <p:blipFill>
          <a:blip r:embed="rId4"/>
          <a:stretch>
            <a:fillRect/>
          </a:stretch>
        </p:blipFill>
        <p:spPr>
          <a:xfrm>
            <a:off x="749808" y="5550408"/>
            <a:ext cx="329184" cy="329184"/>
          </a:xfrm>
          <a:prstGeom prst="rect">
            <a:avLst/>
          </a:prstGeom>
        </p:spPr>
      </p:pic>
      <p:sp>
        <p:nvSpPr>
          <p:cNvPr id="23" name="Text 17"/>
          <p:cNvSpPr txBox="1"/>
          <p:nvPr/>
        </p:nvSpPr>
        <p:spPr>
          <a:xfrm>
            <a:off x="1225296" y="5349240"/>
            <a:ext cx="5806440" cy="731520"/>
          </a:xfrm>
          <a:prstGeom prst="rect">
            <a:avLst/>
          </a:prstGeom>
          <a:noFill/>
          <a:ln/>
        </p:spPr>
        <p:txBody>
          <a:bodyPr wrap="square" lIns="0" tIns="0" rIns="0" bIns="0" rtlCol="0" anchor="ctr"/>
          <a:lstStyle/>
          <a:p>
            <a:pPr indent="0" marL="0">
              <a:buNone/>
            </a:pPr>
            <a:r>
              <a:rPr lang="en-US" sz="1500" b="1" dirty="0">
                <a:solidFill>
                  <a:schemeClr val="tx1"/>
                </a:solidFill>
              </a:rPr>
              <a:t>Everything else goes through the new pipeline — drift check and change set included.</a:t>
            </a:r>
            <a:endParaRPr lang="en-US" sz="1500" dirty="0"/>
          </a:p>
        </p:txBody>
      </p:sp>
      <p:sp>
        <p:nvSpPr>
          <p:cNvPr id="24" name="Screenshot panel"/>
          <p:cNvSpPr/>
          <p:nvPr/>
        </p:nvSpPr>
        <p:spPr>
          <a:xfrm>
            <a:off x="7498080" y="1691640"/>
            <a:ext cx="4142232" cy="2395728"/>
          </a:xfrm>
          <a:prstGeom prst="roundRect">
            <a:avLst>
              <a:gd name="adj" fmla="val 3053"/>
            </a:avLst>
          </a:prstGeom>
          <a:solidFill>
            <a:schemeClr val="bg2"/>
          </a:solidFill>
          <a:ln/>
        </p:spPr>
      </p:sp>
      <p:sp>
        <p:nvSpPr>
          <p:cNvPr id="25" name="Screenshot border"/>
          <p:cNvSpPr/>
          <p:nvPr/>
        </p:nvSpPr>
        <p:spPr>
          <a:xfrm>
            <a:off x="7589520" y="1783080"/>
            <a:ext cx="3959352" cy="790956"/>
          </a:xfrm>
          <a:prstGeom prst="rect">
            <a:avLst/>
          </a:prstGeom>
          <a:solidFill>
            <a:schemeClr val="bg1"/>
          </a:solidFill>
          <a:ln w="9525">
            <a:solidFill>
              <a:srgbClr val="C9D1DB"/>
            </a:solidFill>
            <a:prstDash val="solid"/>
          </a:ln>
        </p:spPr>
      </p:sp>
      <p:pic>
        <p:nvPicPr>
          <p:cNvPr id="26" name="Image 4" descr="AWS documentation: Resource type support page">    </p:cNvPr>
          <p:cNvPicPr>
            <a:picLocks noChangeAspect="1"/>
          </p:cNvPicPr>
          <p:nvPr/>
        </p:nvPicPr>
        <p:blipFill>
          <a:blip r:embed="rId5"/>
          <a:stretch>
            <a:fillRect/>
          </a:stretch>
        </p:blipFill>
        <p:spPr>
          <a:xfrm>
            <a:off x="7607808" y="1801368"/>
            <a:ext cx="3922776" cy="754380"/>
          </a:xfrm>
          <a:prstGeom prst="rect">
            <a:avLst/>
          </a:prstGeom>
        </p:spPr>
      </p:pic>
      <p:sp>
        <p:nvSpPr>
          <p:cNvPr id="27" name="Screenshot border"/>
          <p:cNvSpPr/>
          <p:nvPr/>
        </p:nvSpPr>
        <p:spPr>
          <a:xfrm>
            <a:off x="7589520" y="2665476"/>
            <a:ext cx="3959352" cy="895409"/>
          </a:xfrm>
          <a:prstGeom prst="rect">
            <a:avLst/>
          </a:prstGeom>
          <a:solidFill>
            <a:schemeClr val="bg1"/>
          </a:solidFill>
          <a:ln w="9525">
            <a:solidFill>
              <a:srgbClr val="C9D1DB"/>
            </a:solidFill>
            <a:prstDash val="solid"/>
          </a:ln>
        </p:spPr>
      </p:sp>
      <p:pic>
        <p:nvPicPr>
          <p:cNvPr id="28" name="Image 5" descr="Resource type support table: AWS::FMS::Policy, Drift detection No">    </p:cNvPr>
          <p:cNvPicPr>
            <a:picLocks noChangeAspect="1"/>
          </p:cNvPicPr>
          <p:nvPr/>
        </p:nvPicPr>
        <p:blipFill>
          <a:blip r:embed="rId6"/>
          <a:stretch>
            <a:fillRect/>
          </a:stretch>
        </p:blipFill>
        <p:spPr>
          <a:xfrm>
            <a:off x="7607808" y="2683764"/>
            <a:ext cx="3922776" cy="858833"/>
          </a:xfrm>
          <a:prstGeom prst="rect">
            <a:avLst/>
          </a:prstGeom>
        </p:spPr>
      </p:pic>
      <p:sp>
        <p:nvSpPr>
          <p:cNvPr id="29" name="Text 21"/>
          <p:cNvSpPr txBox="1"/>
          <p:nvPr/>
        </p:nvSpPr>
        <p:spPr>
          <a:xfrm>
            <a:off x="7607808" y="3588317"/>
            <a:ext cx="3922776" cy="237744"/>
          </a:xfrm>
          <a:prstGeom prst="rect">
            <a:avLst/>
          </a:prstGeom>
          <a:noFill/>
          <a:ln/>
        </p:spPr>
        <p:txBody>
          <a:bodyPr wrap="square" lIns="0" tIns="0" rIns="0" bIns="0" rtlCol="0" anchor="t"/>
          <a:lstStyle/>
          <a:p>
            <a:pPr algn="ctr" indent="0" marL="0">
              <a:buNone/>
            </a:pPr>
            <a:r>
              <a:rPr lang="en-US" sz="1100" i="1" dirty="0">
                <a:solidFill>
                  <a:schemeClr val="tx2"/>
                </a:solidFill>
              </a:rPr>
              <a:t>Columns: Resource import · Drift detection · IaC generator</a:t>
            </a:r>
            <a:endParaRPr lang="en-US" sz="1100" dirty="0"/>
          </a:p>
        </p:txBody>
      </p:sp>
      <p:sp>
        <p:nvSpPr>
          <p:cNvPr id="30" name="Text 22"/>
          <p:cNvSpPr txBox="1"/>
          <p:nvPr/>
        </p:nvSpPr>
        <p:spPr>
          <a:xfrm>
            <a:off x="7498080" y="4160520"/>
            <a:ext cx="4142232" cy="548640"/>
          </a:xfrm>
          <a:prstGeom prst="rect">
            <a:avLst/>
          </a:prstGeom>
          <a:noFill/>
          <a:ln/>
        </p:spPr>
        <p:txBody>
          <a:bodyPr wrap="square" lIns="0" tIns="0" rIns="0" bIns="0" rtlCol="0" anchor="t"/>
          <a:lstStyle/>
          <a:p>
            <a:pPr indent="0" marL="0">
              <a:buNone/>
            </a:pPr>
            <a:r>
              <a:rPr lang="en-US" sz="1300" b="1" dirty="0">
                <a:solidFill>
                  <a:schemeClr val="tx1"/>
                </a:solidFill>
              </a:rPr>
              <a:t>AWS documentation</a:t>
            </a:r>
            <a:pPr indent="0" marL="0">
              <a:buNone/>
            </a:pPr>
            <a:r>
              <a:rPr lang="en-US" sz="1200" dirty="0">
                <a:solidFill>
                  <a:schemeClr val="tx2"/>
                </a:solidFill>
              </a:rPr>
              <a:t>  “Resource type support” table — AWS::FMS::Policy shows Drift detection: No</a:t>
            </a:r>
            <a:endParaRPr lang="en-US" sz="1400" dirty="0"/>
          </a:p>
        </p:txBody>
      </p:sp>
      <p:sp>
        <p:nvSpPr>
          <p:cNvPr id="31" name="Text 23"/>
          <p:cNvSpPr txBox="1"/>
          <p:nvPr/>
        </p:nvSpPr>
        <p:spPr>
          <a:xfrm>
            <a:off x="7498080" y="4800600"/>
            <a:ext cx="4142232" cy="457200"/>
          </a:xfrm>
          <a:prstGeom prst="rect">
            <a:avLst/>
          </a:prstGeom>
          <a:noFill/>
          <a:ln/>
        </p:spPr>
        <p:txBody>
          <a:bodyPr wrap="square" lIns="0" tIns="0" rIns="0" bIns="0" rtlCol="0" anchor="t"/>
          <a:lstStyle/>
          <a:p>
            <a:pPr indent="0" marL="0">
              <a:buNone/>
            </a:pPr>
            <a:r>
              <a:rPr lang="en-US" sz="1100" dirty="0">
                <a:solidFill>
                  <a:schemeClr val="tx2"/>
                </a:solidFill>
              </a:rPr>
              <a:t>Source: AWS CloudFormation User Guide › Resource type support (checked 24 Oct 2026)</a:t>
            </a:r>
            <a:endParaRPr lang="en-US" sz="11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bg1"/>
                </a:solidFill>
              </a:rPr>
              <a:t>Our recommendation</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accent6"/>
                </a:solidFill>
              </a:rPr>
              <a:t>One safe path for almost everything — and a clear rule for the exceptions</a:t>
            </a:r>
            <a:endParaRPr lang="en-US" sz="1500" dirty="0"/>
          </a:p>
        </p:txBody>
      </p:sp>
      <p:sp>
        <p:nvSpPr>
          <p:cNvPr id="4" name="NEW PIPELINE"/>
          <p:cNvSpPr/>
          <p:nvPr/>
        </p:nvSpPr>
        <p:spPr>
          <a:xfrm>
            <a:off x="548640" y="1737360"/>
            <a:ext cx="5440680" cy="2423160"/>
          </a:xfrm>
          <a:prstGeom prst="roundRect">
            <a:avLst>
              <a:gd name="adj" fmla="val 5660"/>
            </a:avLst>
          </a:prstGeom>
          <a:solidFill>
            <a:schemeClr val="accent1"/>
          </a:solidFill>
          <a:ln/>
        </p:spPr>
      </p:sp>
      <p:sp>
        <p:nvSpPr>
          <p:cNvPr id="5" name="Shape 3"/>
          <p:cNvSpPr/>
          <p:nvPr/>
        </p:nvSpPr>
        <p:spPr>
          <a:xfrm>
            <a:off x="5120640" y="1965960"/>
            <a:ext cx="640080" cy="640080"/>
          </a:xfrm>
          <a:prstGeom prst="ellipse">
            <a:avLst/>
          </a:prstGeom>
          <a:solidFill>
            <a:schemeClr val="bg1">
              <a:alpha val="20000"/>
            </a:schemeClr>
          </a:solidFill>
          <a:ln/>
        </p:spPr>
      </p:sp>
      <p:pic>
        <p:nvPicPr>
          <p:cNvPr id="6" name="Image 0" descr="preencoded.png">    </p:cNvPr>
          <p:cNvPicPr>
            <a:picLocks noChangeAspect="1"/>
          </p:cNvPicPr>
          <p:nvPr/>
        </p:nvPicPr>
        <p:blipFill>
          <a:blip r:embed="rId1"/>
          <a:stretch>
            <a:fillRect/>
          </a:stretch>
        </p:blipFill>
        <p:spPr>
          <a:xfrm>
            <a:off x="5261458" y="2106778"/>
            <a:ext cx="358445" cy="358445"/>
          </a:xfrm>
          <a:prstGeom prst="rect">
            <a:avLst/>
          </a:prstGeom>
        </p:spPr>
      </p:pic>
      <p:sp>
        <p:nvSpPr>
          <p:cNvPr id="7" name="Text 4"/>
          <p:cNvSpPr txBox="1"/>
          <p:nvPr/>
        </p:nvSpPr>
        <p:spPr>
          <a:xfrm>
            <a:off x="914400" y="2011680"/>
            <a:ext cx="4023360" cy="274320"/>
          </a:xfrm>
          <a:prstGeom prst="rect">
            <a:avLst/>
          </a:prstGeom>
          <a:noFill/>
          <a:ln/>
        </p:spPr>
        <p:txBody>
          <a:bodyPr wrap="square" lIns="0" tIns="0" rIns="0" bIns="0" rtlCol="0" anchor="t"/>
          <a:lstStyle/>
          <a:p>
            <a:pPr indent="0" marL="0">
              <a:buNone/>
            </a:pPr>
            <a:r>
              <a:rPr lang="en-US" sz="1200" b="1" spc="200" kern="0" dirty="0">
                <a:solidFill>
                  <a:schemeClr val="bg1"/>
                </a:solidFill>
              </a:rPr>
              <a:t>NEW PIPELINE</a:t>
            </a:r>
            <a:endParaRPr lang="en-US" sz="1200" dirty="0"/>
          </a:p>
        </p:txBody>
      </p:sp>
      <p:sp>
        <p:nvSpPr>
          <p:cNvPr id="8" name="Text 5"/>
          <p:cNvSpPr txBox="1"/>
          <p:nvPr/>
        </p:nvSpPr>
        <p:spPr>
          <a:xfrm>
            <a:off x="914400" y="2359152"/>
            <a:ext cx="4206240" cy="548640"/>
          </a:xfrm>
          <a:prstGeom prst="rect">
            <a:avLst/>
          </a:prstGeom>
          <a:noFill/>
          <a:ln/>
        </p:spPr>
        <p:txBody>
          <a:bodyPr wrap="square" lIns="0" tIns="0" rIns="0" bIns="0" rtlCol="0" anchor="ctr"/>
          <a:lstStyle/>
          <a:p>
            <a:pPr indent="0" marL="0">
              <a:buNone/>
            </a:pPr>
            <a:r>
              <a:rPr lang="en-US" sz="2600" b="1" dirty="0">
                <a:solidFill>
                  <a:schemeClr val="bg1"/>
                </a:solidFill>
              </a:rPr>
              <a:t>Every change, by default</a:t>
            </a:r>
            <a:endParaRPr lang="en-US" sz="2600" dirty="0"/>
          </a:p>
        </p:txBody>
      </p:sp>
      <p:sp>
        <p:nvSpPr>
          <p:cNvPr id="9" name="Text 6"/>
          <p:cNvSpPr txBox="1"/>
          <p:nvPr/>
        </p:nvSpPr>
        <p:spPr>
          <a:xfrm>
            <a:off x="914400" y="3017520"/>
            <a:ext cx="4754880" cy="365760"/>
          </a:xfrm>
          <a:prstGeom prst="rect">
            <a:avLst/>
          </a:prstGeom>
          <a:noFill/>
          <a:ln/>
        </p:spPr>
        <p:txBody>
          <a:bodyPr wrap="square" lIns="0" tIns="0" rIns="0" bIns="0" rtlCol="0" anchor="t"/>
          <a:lstStyle/>
          <a:p>
            <a:pPr indent="0" marL="0">
              <a:buNone/>
            </a:pPr>
            <a:r>
              <a:rPr lang="en-US" sz="1500" dirty="0">
                <a:solidFill>
                  <a:schemeClr val="bg1"/>
                </a:solidFill>
              </a:rPr>
              <a:t>Network · security · access · monitoring · DNS</a:t>
            </a:r>
            <a:endParaRPr lang="en-US" sz="1500" dirty="0"/>
          </a:p>
        </p:txBody>
      </p:sp>
      <p:sp>
        <p:nvSpPr>
          <p:cNvPr id="10" name="Text 7"/>
          <p:cNvSpPr txBox="1"/>
          <p:nvPr/>
        </p:nvSpPr>
        <p:spPr>
          <a:xfrm>
            <a:off x="914400" y="3474720"/>
            <a:ext cx="4754880" cy="365760"/>
          </a:xfrm>
          <a:prstGeom prst="rect">
            <a:avLst/>
          </a:prstGeom>
          <a:noFill/>
          <a:ln/>
        </p:spPr>
        <p:txBody>
          <a:bodyPr wrap="square" lIns="0" tIns="0" rIns="0" bIns="0" rtlCol="0" anchor="t"/>
          <a:lstStyle/>
          <a:p>
            <a:pPr indent="0" marL="0">
              <a:buNone/>
            </a:pPr>
            <a:r>
              <a:rPr lang="en-US" sz="1500" i="1" dirty="0">
                <a:solidFill>
                  <a:schemeClr val="bg1"/>
                </a:solidFill>
              </a:rPr>
              <a:t>Drift check · change set · a person decides · easy undo</a:t>
            </a:r>
            <a:endParaRPr lang="en-US" sz="1500" dirty="0"/>
          </a:p>
        </p:txBody>
      </p:sp>
      <p:sp>
        <p:nvSpPr>
          <p:cNvPr id="11" name="OLD PIPELINE"/>
          <p:cNvSpPr/>
          <p:nvPr/>
        </p:nvSpPr>
        <p:spPr>
          <a:xfrm>
            <a:off x="6199632" y="1737360"/>
            <a:ext cx="5440680" cy="2423160"/>
          </a:xfrm>
          <a:prstGeom prst="roundRect">
            <a:avLst>
              <a:gd name="adj" fmla="val 5660"/>
            </a:avLst>
          </a:prstGeom>
          <a:solidFill>
            <a:schemeClr val="accent5"/>
          </a:solidFill>
          <a:ln/>
        </p:spPr>
      </p:sp>
      <p:sp>
        <p:nvSpPr>
          <p:cNvPr id="12" name="Shape 9"/>
          <p:cNvSpPr/>
          <p:nvPr/>
        </p:nvSpPr>
        <p:spPr>
          <a:xfrm>
            <a:off x="10771632" y="1965960"/>
            <a:ext cx="640080" cy="640080"/>
          </a:xfrm>
          <a:prstGeom prst="ellipse">
            <a:avLst/>
          </a:prstGeom>
          <a:solidFill>
            <a:schemeClr val="bg1">
              <a:alpha val="20000"/>
            </a:schemeClr>
          </a:solidFill>
          <a:ln/>
        </p:spPr>
      </p:sp>
      <p:pic>
        <p:nvPicPr>
          <p:cNvPr id="13" name="Image 1" descr="preencoded.png">    </p:cNvPr>
          <p:cNvPicPr>
            <a:picLocks noChangeAspect="1"/>
          </p:cNvPicPr>
          <p:nvPr/>
        </p:nvPicPr>
        <p:blipFill>
          <a:blip r:embed="rId2"/>
          <a:stretch>
            <a:fillRect/>
          </a:stretch>
        </p:blipFill>
        <p:spPr>
          <a:xfrm>
            <a:off x="10912450" y="2106778"/>
            <a:ext cx="358445" cy="358445"/>
          </a:xfrm>
          <a:prstGeom prst="rect">
            <a:avLst/>
          </a:prstGeom>
        </p:spPr>
      </p:pic>
      <p:sp>
        <p:nvSpPr>
          <p:cNvPr id="14" name="Text 10"/>
          <p:cNvSpPr txBox="1"/>
          <p:nvPr/>
        </p:nvSpPr>
        <p:spPr>
          <a:xfrm>
            <a:off x="6565392" y="2011680"/>
            <a:ext cx="4023360" cy="274320"/>
          </a:xfrm>
          <a:prstGeom prst="rect">
            <a:avLst/>
          </a:prstGeom>
          <a:noFill/>
          <a:ln/>
        </p:spPr>
        <p:txBody>
          <a:bodyPr wrap="square" lIns="0" tIns="0" rIns="0" bIns="0" rtlCol="0" anchor="t"/>
          <a:lstStyle/>
          <a:p>
            <a:pPr indent="0" marL="0">
              <a:buNone/>
            </a:pPr>
            <a:r>
              <a:rPr lang="en-US" sz="1200" b="1" spc="200" kern="0" dirty="0">
                <a:solidFill>
                  <a:schemeClr val="bg1"/>
                </a:solidFill>
              </a:rPr>
              <a:t>OLD PIPELINE</a:t>
            </a:r>
            <a:endParaRPr lang="en-US" sz="1200" dirty="0"/>
          </a:p>
        </p:txBody>
      </p:sp>
      <p:sp>
        <p:nvSpPr>
          <p:cNvPr id="15" name="Text 11"/>
          <p:cNvSpPr txBox="1"/>
          <p:nvPr/>
        </p:nvSpPr>
        <p:spPr>
          <a:xfrm>
            <a:off x="6565392" y="2359152"/>
            <a:ext cx="4206240" cy="548640"/>
          </a:xfrm>
          <a:prstGeom prst="rect">
            <a:avLst/>
          </a:prstGeom>
          <a:noFill/>
          <a:ln/>
        </p:spPr>
        <p:txBody>
          <a:bodyPr wrap="square" lIns="0" tIns="0" rIns="0" bIns="0" rtlCol="0" anchor="ctr"/>
          <a:lstStyle/>
          <a:p>
            <a:pPr indent="0" marL="0">
              <a:buNone/>
            </a:pPr>
            <a:r>
              <a:rPr lang="en-US" sz="2600" b="1" dirty="0">
                <a:solidFill>
                  <a:schemeClr val="bg1"/>
                </a:solidFill>
              </a:rPr>
              <a:t>Only the exceptions</a:t>
            </a:r>
            <a:endParaRPr lang="en-US" sz="2600" dirty="0"/>
          </a:p>
        </p:txBody>
      </p:sp>
      <p:sp>
        <p:nvSpPr>
          <p:cNvPr id="16" name="Text 12"/>
          <p:cNvSpPr txBox="1"/>
          <p:nvPr/>
        </p:nvSpPr>
        <p:spPr>
          <a:xfrm>
            <a:off x="6565392" y="3017520"/>
            <a:ext cx="4754880" cy="365760"/>
          </a:xfrm>
          <a:prstGeom prst="rect">
            <a:avLst/>
          </a:prstGeom>
          <a:noFill/>
          <a:ln/>
        </p:spPr>
        <p:txBody>
          <a:bodyPr wrap="square" lIns="0" tIns="0" rIns="0" bIns="0" rtlCol="0" anchor="t"/>
          <a:lstStyle/>
          <a:p>
            <a:pPr indent="0" marL="0">
              <a:buNone/>
            </a:pPr>
            <a:r>
              <a:rPr lang="en-US" sz="1500" dirty="0">
                <a:solidFill>
                  <a:schemeClr val="bg1"/>
                </a:solidFill>
              </a:rPr>
              <a:t>Firewall Manager (FMS) policies and rule groups</a:t>
            </a:r>
            <a:endParaRPr lang="en-US" sz="1500" dirty="0"/>
          </a:p>
        </p:txBody>
      </p:sp>
      <p:sp>
        <p:nvSpPr>
          <p:cNvPr id="17" name="Text 13"/>
          <p:cNvSpPr txBox="1"/>
          <p:nvPr/>
        </p:nvSpPr>
        <p:spPr>
          <a:xfrm>
            <a:off x="6565392" y="3474720"/>
            <a:ext cx="4754880" cy="365760"/>
          </a:xfrm>
          <a:prstGeom prst="rect">
            <a:avLst/>
          </a:prstGeom>
          <a:noFill/>
          <a:ln/>
        </p:spPr>
        <p:txBody>
          <a:bodyPr wrap="square" lIns="0" tIns="0" rIns="0" bIns="0" rtlCol="0" anchor="t"/>
          <a:lstStyle/>
          <a:p>
            <a:pPr indent="0" marL="0">
              <a:buNone/>
            </a:pPr>
            <a:r>
              <a:rPr lang="en-US" sz="1500" i="1" dirty="0">
                <a:solidFill>
                  <a:schemeClr val="bg1"/>
                </a:solidFill>
              </a:rPr>
              <a:t>Where AWS’s drift check can’t help</a:t>
            </a:r>
            <a:endParaRPr lang="en-US" sz="1500" dirty="0"/>
          </a:p>
        </p:txBody>
      </p:sp>
      <p:sp>
        <p:nvSpPr>
          <p:cNvPr id="18" name="Text 14"/>
          <p:cNvSpPr txBox="1"/>
          <p:nvPr/>
        </p:nvSpPr>
        <p:spPr>
          <a:xfrm>
            <a:off x="548640" y="4480560"/>
            <a:ext cx="7315200" cy="365760"/>
          </a:xfrm>
          <a:prstGeom prst="rect">
            <a:avLst/>
          </a:prstGeom>
          <a:noFill/>
          <a:ln/>
        </p:spPr>
        <p:txBody>
          <a:bodyPr wrap="square" lIns="0" tIns="0" rIns="0" bIns="0" rtlCol="0" anchor="t"/>
          <a:lstStyle/>
          <a:p>
            <a:pPr indent="0" marL="0">
              <a:buNone/>
            </a:pPr>
            <a:r>
              <a:rPr lang="en-US" sz="1800" b="1" dirty="0">
                <a:solidFill>
                  <a:schemeClr val="accent6"/>
                </a:solidFill>
              </a:rPr>
              <a:t>What we’re asking for today</a:t>
            </a:r>
            <a:endParaRPr lang="en-US" sz="1800" dirty="0"/>
          </a:p>
        </p:txBody>
      </p:sp>
      <p:sp>
        <p:nvSpPr>
          <p:cNvPr id="19" name="Ask 1"/>
          <p:cNvSpPr/>
          <p:nvPr/>
        </p:nvSpPr>
        <p:spPr>
          <a:xfrm>
            <a:off x="548640" y="4983480"/>
            <a:ext cx="3545129" cy="1097280"/>
          </a:xfrm>
          <a:prstGeom prst="roundRect">
            <a:avLst>
              <a:gd name="adj" fmla="val 10000"/>
            </a:avLst>
          </a:prstGeom>
          <a:solidFill>
            <a:schemeClr val="bg1">
              <a:alpha val="8000"/>
            </a:schemeClr>
          </a:solidFill>
          <a:ln/>
        </p:spPr>
      </p:sp>
      <p:sp>
        <p:nvSpPr>
          <p:cNvPr id="20" name="Text 16"/>
          <p:cNvSpPr txBox="1"/>
          <p:nvPr/>
        </p:nvSpPr>
        <p:spPr>
          <a:xfrm>
            <a:off x="749808" y="5257800"/>
            <a:ext cx="548640" cy="548640"/>
          </a:xfrm>
          <a:prstGeom prst="ellipse">
            <a:avLst/>
          </a:prstGeom>
          <a:solidFill>
            <a:schemeClr val="accent6"/>
          </a:solid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21" name="Text 17"/>
          <p:cNvSpPr txBox="1"/>
          <p:nvPr/>
        </p:nvSpPr>
        <p:spPr>
          <a:xfrm>
            <a:off x="1463040" y="4983480"/>
            <a:ext cx="2487168" cy="1097280"/>
          </a:xfrm>
          <a:prstGeom prst="rect">
            <a:avLst/>
          </a:prstGeom>
          <a:noFill/>
          <a:ln/>
        </p:spPr>
        <p:txBody>
          <a:bodyPr wrap="square" lIns="0" tIns="0" rIns="0" bIns="0" rtlCol="0" anchor="ctr"/>
          <a:lstStyle/>
          <a:p>
            <a:pPr indent="0" marL="0">
              <a:buNone/>
            </a:pPr>
            <a:r>
              <a:rPr lang="en-US" sz="1500" dirty="0">
                <a:solidFill>
                  <a:schemeClr val="bg1"/>
                </a:solidFill>
              </a:rPr>
              <a:t>Agree the new pipeline as the standard way to change AWS</a:t>
            </a:r>
            <a:endParaRPr lang="en-US" sz="1500" dirty="0"/>
          </a:p>
        </p:txBody>
      </p:sp>
      <p:sp>
        <p:nvSpPr>
          <p:cNvPr id="22" name="Ask 2"/>
          <p:cNvSpPr/>
          <p:nvPr/>
        </p:nvSpPr>
        <p:spPr>
          <a:xfrm>
            <a:off x="4322369" y="4983480"/>
            <a:ext cx="3545129" cy="1097280"/>
          </a:xfrm>
          <a:prstGeom prst="roundRect">
            <a:avLst>
              <a:gd name="adj" fmla="val 10000"/>
            </a:avLst>
          </a:prstGeom>
          <a:solidFill>
            <a:schemeClr val="bg1">
              <a:alpha val="8000"/>
            </a:schemeClr>
          </a:solidFill>
          <a:ln/>
        </p:spPr>
      </p:sp>
      <p:sp>
        <p:nvSpPr>
          <p:cNvPr id="23" name="Text 19"/>
          <p:cNvSpPr txBox="1"/>
          <p:nvPr/>
        </p:nvSpPr>
        <p:spPr>
          <a:xfrm>
            <a:off x="4523537" y="5257800"/>
            <a:ext cx="548640" cy="548640"/>
          </a:xfrm>
          <a:prstGeom prst="ellipse">
            <a:avLst/>
          </a:prstGeom>
          <a:solidFill>
            <a:schemeClr val="accent6"/>
          </a:solid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24" name="Text 20"/>
          <p:cNvSpPr txBox="1"/>
          <p:nvPr/>
        </p:nvSpPr>
        <p:spPr>
          <a:xfrm>
            <a:off x="5236769" y="4983480"/>
            <a:ext cx="2487168" cy="1097280"/>
          </a:xfrm>
          <a:prstGeom prst="rect">
            <a:avLst/>
          </a:prstGeom>
          <a:noFill/>
          <a:ln/>
        </p:spPr>
        <p:txBody>
          <a:bodyPr wrap="square" lIns="0" tIns="0" rIns="0" bIns="0" rtlCol="0" anchor="ctr"/>
          <a:lstStyle/>
          <a:p>
            <a:pPr indent="0" marL="0">
              <a:buNone/>
            </a:pPr>
            <a:r>
              <a:rPr lang="en-US" sz="1500" dirty="0">
                <a:solidFill>
                  <a:schemeClr val="bg1"/>
                </a:solidFill>
              </a:rPr>
              <a:t>Keep the old pipeline only for FMS policies and rule groups</a:t>
            </a:r>
            <a:endParaRPr lang="en-US" sz="1500" dirty="0"/>
          </a:p>
        </p:txBody>
      </p:sp>
      <p:sp>
        <p:nvSpPr>
          <p:cNvPr id="25" name="Ask 3"/>
          <p:cNvSpPr/>
          <p:nvPr/>
        </p:nvSpPr>
        <p:spPr>
          <a:xfrm>
            <a:off x="8096098" y="4983480"/>
            <a:ext cx="3545129" cy="1097280"/>
          </a:xfrm>
          <a:prstGeom prst="roundRect">
            <a:avLst>
              <a:gd name="adj" fmla="val 10000"/>
            </a:avLst>
          </a:prstGeom>
          <a:solidFill>
            <a:schemeClr val="bg1">
              <a:alpha val="8000"/>
            </a:schemeClr>
          </a:solidFill>
          <a:ln/>
        </p:spPr>
      </p:sp>
      <p:sp>
        <p:nvSpPr>
          <p:cNvPr id="26" name="Text 22"/>
          <p:cNvSpPr txBox="1"/>
          <p:nvPr/>
        </p:nvSpPr>
        <p:spPr>
          <a:xfrm>
            <a:off x="8297266" y="5257800"/>
            <a:ext cx="548640" cy="548640"/>
          </a:xfrm>
          <a:prstGeom prst="ellipse">
            <a:avLst/>
          </a:prstGeom>
          <a:solidFill>
            <a:schemeClr val="accent6"/>
          </a:solid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27" name="Text 23"/>
          <p:cNvSpPr txBox="1"/>
          <p:nvPr/>
        </p:nvSpPr>
        <p:spPr>
          <a:xfrm>
            <a:off x="9010498" y="4983480"/>
            <a:ext cx="2487168" cy="1097280"/>
          </a:xfrm>
          <a:prstGeom prst="rect">
            <a:avLst/>
          </a:prstGeom>
          <a:noFill/>
          <a:ln/>
        </p:spPr>
        <p:txBody>
          <a:bodyPr wrap="square" lIns="0" tIns="0" rIns="0" bIns="0" rtlCol="0" anchor="ctr"/>
          <a:lstStyle/>
          <a:p>
            <a:pPr indent="0" marL="0">
              <a:buNone/>
            </a:pPr>
            <a:r>
              <a:rPr lang="en-US" sz="1500" dirty="0">
                <a:solidFill>
                  <a:schemeClr val="bg1"/>
                </a:solidFill>
              </a:rPr>
              <a:t>Move DNS record changes onto the new pipeline too</a:t>
            </a:r>
            <a:endParaRPr lang="en-US" sz="15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Pipeline Review">
  <a:themeElements>
    <a:clrScheme name="Pipeline Review">
      <a:dk1>
        <a:srgbClr val="1B2433"/>
      </a:dk1>
      <a:lt1>
        <a:srgbClr val="FFFFFF"/>
      </a:lt1>
      <a:dk2>
        <a:srgbClr val="4A5568"/>
      </a:dk2>
      <a:lt2>
        <a:srgbClr val="F1F4F7"/>
      </a:lt2>
      <a:accent1>
        <a:srgbClr val="0F7B6C"/>
      </a:accent1>
      <a:accent2>
        <a:srgbClr val="5B4B9A"/>
      </a:accent2>
      <a:accent3>
        <a:srgbClr val="C8443F"/>
      </a:accent3>
      <a:accent4>
        <a:srgbClr val="B7791F"/>
      </a:accent4>
      <a:accent5>
        <a:srgbClr val="6B7785"/>
      </a:accent5>
      <a:accent6>
        <a:srgbClr val="7FD8C6"/>
      </a:accent6>
      <a:hlink>
        <a:srgbClr val="0F7B6C"/>
      </a:hlink>
      <a:folHlink>
        <a:srgbClr val="5B4B9A"/>
      </a:folHlink>
    </a:clrScheme>
    <a:fontScheme name="Pipeline Revie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AWS changes safely</dc:title>
  <dc:subject>Deployment pipelines review</dc:subject>
  <dc:creator>Kunal Shrivastava</dc:creator>
  <cp:lastModifiedBy>Kunal Shrivastava</cp:lastModifiedBy>
  <cp:revision>1</cp:revision>
  <dcterms:created xsi:type="dcterms:W3CDTF">2026-10-25T14:46:06Z</dcterms:created>
  <dcterms:modified xsi:type="dcterms:W3CDTF">2026-10-25T14:46:06Z</dcterms:modified>
</cp:coreProperties>
</file>