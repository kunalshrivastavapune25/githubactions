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6593f54-46d3-72ba-a0db-f04e7eeab718}">
          <p14:sldIdLst>
            <p14:sldId id="256"/>
            <p14:sldId id="257"/>
          </p14:sldIdLst>
        </p14:section>
        <p14:section name="New pipeline" id="{671e58a3-2842-5e01-940b-05a47c9a148b}">
          <p14:sldIdLst>
            <p14:sldId id="258"/>
            <p14:sldId id="259"/>
            <p14:sldId id="260"/>
          </p14:sldIdLst>
        </p14:section>
        <p14:section name="WS2 DNS pipelines" id="{105945fb-3596-b6f8-20a3-d3821cbaf765}">
          <p14:sldIdLst>
            <p14:sldId id="261"/>
            <p14:sldId id="262"/>
          </p14:sldIdLst>
        </p14:section>
        <p14:section name="Comparison" id="{e325bbb1-ee5f-1432-50f1-6902a32ad8b6}">
          <p14:sldIdLst>
            <p14:sldId id="263"/>
            <p14:sldId id="264"/>
            <p14:sldId id="265"/>
          </p14:sldIdLst>
        </p14:section>
        <p14:section name="Old pipeline" id="{ba1c318e-ade5-4576-57a7-ed764dfb6831}">
          <p14:sldIdLst>
            <p14:sldId id="266"/>
            <p14:sldId id="267"/>
          </p14:sldIdLst>
        </p14:section>
        <p14:section name="Recommendation" id="{0ca03216-8140-de1e-a975-8029b01e06e3}">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show how our three pipelines differ, why the new one is the safer default, and agree which one to use for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ideas carry the whole deck. Drift check: before deploying, compare live AWS with the code, so manual console changes are caught. Change set: AWS’s itemised list of planned changes, which a person reviews before it is executed. The builder analogies help a non-technical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Prepare takes the role from a dropdown, finds the template and refuses to touch a stack that is busy or broken. The drift check runs on existing stacks; if anything was changed by hand, the run stops and shows expected versus actual values. The change set lists every add, change and removal, flags replacements and deletions, and links straight to it in the AWS console. Default (Deploy = no): a person reviews and clicks Execute in AWS. Deploy = yes: the pipeline executes that same change set and follows it to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new pipeline adds both safety checks and keeps a person in control, for any CloudFormation stack. Be upfront about its limits — AWS does not support drift checks for every resource type, and Deploy = yes is meant for changes that are already agreed.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capture (click inside a frame, then Ctrl+V): 1) GitHub › Actions › “CloudFormation Stack using S3 as required” › a sandbox run › the job graph. 2) In sandbox, change a tag by hand on a resource in a stack, then run the pipeline on that stack — it stops at Drift check; crop the drift table and the expected / actual lines from the run Summary, then undo the edit. 3) Any run with a real change and Deploy = no — crop “Change set ready for review” from the Summary. 4) Click the console link in that Summary — crop the change set page with the “Execute change set”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where it is due: WS2 is a well-built tool for bulk DNS record edits. Export copies the live records into files and opens a Pull Request; Apply previews the differences and then applies them. The key gap: the Apply workflow is named “Gated / Audited” and its header says gatekeeper approval is required outside sandbox, but the approval job itself was never added — so with ‘execute’ ticked, changes go live straight after the preview, production included. Note the contrast: the read-only Export has an approval step for all-zone exports, while Apply, which changes live DNS, has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strengths are real: bulk edits, Pull Request review, deletes off by default. The biggest gap is governance: the header of ws2-dns-records-apply.yml says gatekeeper approval is required for non-sandbox accounts, but lines 418–444 show only the heading of the gate-approval job — no job under it — and the apply job needs only validate-account and preview. So anyone who ticks ‘execute’ changes live DNS straight away, production included. The other gaps: DNS records only (the export itself says to use CloudFormation for alias records), no manual-change alarm, and it works outside CloudFormation.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asterisk matters: AWS cannot drift-check every resource type, and FMS policies and individual DNS records are the ones that affect us. For DNS, the gains are the locked, reviewed change set, a real pause for approval (WS2’s approval job is missing), full coverage including alias records, and a proper history to roll back from (next slide). If asked: the new pipeline’s pause is its default (Deploy = no) — keep that default for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WS2’s export calls itself a backup (“periodic backup”, “back up everything”), but it is a snapshot: it runs only when someone triggers it, lands on a side branch or a download kept for 30 days, and skips alias records. With the new pipeline, the record templates in Git are the real thing that gets deployed, so in a production DNS issue we can see exactly what changed, when and who approved it — and undo it by reverting the commit, checking the change set and executing it. Be clear about one limit: Git only sees changes made through the pipeline; edits made by hand in the console never reach it, and AWS cannot drift-check individual records — one more reason to make the pipeline the only way DNS is changed. Screenshot: GitHub › the DNS record template file › History (or a merged Pull Request › Files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two files side by side, ideally for the same zone. Left: WS2’s export, a JSON file written by pipeline/dns_records_export.py into config/accounts/&lt;account&gt;/networking/dns-records-&lt;zone&gt;.json. It lists ordinary records only; the export run’s own summary (“Record Export Behavior”) says SOA, the zone’s own NS records and alias records are skipped, and the hosted zone itself is not in the file. Right: the zone’s CloudFormation template — the AWS::Route53::HostedZone resource plus every record as its own AWS::Route53::RecordSet, alias records included. If asked about SOA and NS: Route 53 creates them with the zone, which is why they come with the zone resource rather than being listed as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pipeline is simple and works for every resource type, but it deploys straight away: no drift check, no preview and no pause for approval. For small templates it uses “cloudformation deploy”, which creates and executes a change set in one go, so nobody gets to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the old pipeline for the firewall stacks: AWS’s own Resource type support table lists AWS::FMS::Policy as not supported for drift detection, and large JSON rule groups do not give dependable drift results. DNS records are a special case: AWS checks the hosted zone but not each record set, yet the change set still shows every record change, so DNS stays on the new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three decisions. If DNS is the sticking point, agree points 1 and 2 today and trial DNS on the new pipeline with one zone. If WS2 stays in use for now, the quickest win is to add its missing approval job before the next production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6675120" cy="155448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548640" y="3291840"/>
            <a:ext cx="6492240" cy="1005840"/>
          </a:xfrm>
          <a:prstGeom prst="rect">
            <a:avLst/>
          </a:prstGeom>
          <a:noFill/>
          <a:ln/>
        </p:spPr>
        <p:txBody>
          <a:bodyPr wrap="square" rtlCol="0"/>
          <a:lstStyle>
            <a:lvl1pPr indent="0" marL="0">
              <a:buNone/>
              <a:defRPr lang="en-US" sz="2000" dirty="0">
                <a:solidFill>
                  <a:schemeClr val="accent6"/>
                </a:solidFill>
              </a:defRPr>
            </a:lvl1pPr>
          </a:lstStyle>
          <a:p>
            <a:pPr indent="0" marL="0">
              <a:buNone/>
            </a:pPr>
            <a:endParaRPr lang="en-US" sz="2000" dirty="0"/>
          </a:p>
        </p:txBody>
      </p:sp>
      <p:sp>
        <p:nvSpPr>
          <p:cNvPr id="4" name="Text 0"/>
          <p:cNvSpPr/>
          <p:nvPr>
            <p:ph idx="102" type="body" hasCustomPrompt="1"/>
          </p:nvPr>
        </p:nvSpPr>
        <p:spPr>
          <a:xfrm>
            <a:off x="548640" y="5257800"/>
            <a:ext cx="6492240" cy="41148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rtlCol="0"/>
          <a:lstStyle>
            <a:lvl1pPr indent="0" marL="0">
              <a:buNone/>
              <a:defRPr lang="en-US" sz="1500" dirty="0">
                <a:solidFill>
                  <a:schemeClr val="tx2"/>
                </a:solidFill>
              </a:defRPr>
            </a:lvl1pPr>
          </a:lstStyle>
          <a:p>
            <a:pPr indent="0" marL="0">
              <a:buNone/>
            </a:pPr>
            <a:endParaRPr lang="en-US" sz="1500" dirty="0"/>
          </a:p>
        </p:txBody>
      </p:sp>
      <p:sp>
        <p:nvSpPr>
          <p:cNvPr id="4" name="Text 0"/>
          <p:cNvSpPr/>
          <p:nvPr/>
        </p:nvSpPr>
        <p:spPr>
          <a:xfrm>
            <a:off x="548640" y="6473952"/>
            <a:ext cx="6400800" cy="274320"/>
          </a:xfrm>
          <a:prstGeom prst="rect">
            <a:avLst/>
          </a:prstGeom>
          <a:noFill/>
          <a:ln/>
        </p:spPr>
        <p:txBody>
          <a:bodyPr wrap="square" lIns="0" tIns="0" rIns="0" bIns="0" rtlCol="0" anchor="t"/>
          <a:lstStyle/>
          <a:p>
            <a:pPr indent="0" marL="0">
              <a:buNone/>
            </a:pPr>
            <a:r>
              <a:rPr lang="en-US" sz="1000" dirty="0">
                <a:solidFill>
                  <a:schemeClr val="tx2"/>
                </a:solidFill>
              </a:rPr>
              <a:t>Deployment pipelines review  ·  October 2026</a:t>
            </a:r>
            <a:endParaRPr lang="en-US" sz="10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creenshots 2x2">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rtlCol="0"/>
          <a:lstStyle>
            <a:lvl1pPr indent="0" marL="0">
              <a:buNone/>
              <a:defRPr lang="en-US" sz="1500" dirty="0">
                <a:solidFill>
                  <a:schemeClr val="tx2"/>
                </a:solidFill>
              </a:defRPr>
            </a:lvl1pPr>
          </a:lstStyle>
          <a:p>
            <a:pPr indent="0" marL="0">
              <a:buNone/>
            </a:pPr>
            <a:endParaRPr lang="en-US" sz="1500" dirty="0"/>
          </a:p>
        </p:txBody>
      </p:sp>
      <p:sp>
        <p:nvSpPr>
          <p:cNvPr id="4" name="Text 0"/>
          <p:cNvSpPr/>
          <p:nvPr/>
        </p:nvSpPr>
        <p:spPr>
          <a:xfrm>
            <a:off x="548640" y="6473952"/>
            <a:ext cx="6400800" cy="274320"/>
          </a:xfrm>
          <a:prstGeom prst="rect">
            <a:avLst/>
          </a:prstGeom>
          <a:noFill/>
          <a:ln/>
        </p:spPr>
        <p:txBody>
          <a:bodyPr wrap="square" lIns="0" tIns="0" rIns="0" bIns="0" rtlCol="0" anchor="t"/>
          <a:lstStyle/>
          <a:p>
            <a:pPr indent="0" marL="0">
              <a:buNone/>
            </a:pPr>
            <a:r>
              <a:rPr lang="en-US" sz="1000" dirty="0">
                <a:solidFill>
                  <a:schemeClr val="tx2"/>
                </a:solidFill>
              </a:rPr>
              <a:t>Deployment pipelines review  ·  October 2026</a:t>
            </a:r>
            <a:endParaRPr lang="en-US" sz="1000" dirty="0"/>
          </a:p>
        </p:txBody>
      </p:sp>
      <p:sp>
        <p:nvSpPr>
          <p:cNvPr id="5" name="Text 1"/>
          <p:cNvSpPr/>
          <p:nvPr>
            <p:ph idx="103" hasCustomPrompt="1"/>
          </p:nvPr>
        </p:nvSpPr>
        <p:spPr>
          <a:xfrm>
            <a:off x="548640" y="1645920"/>
            <a:ext cx="5440680" cy="1691640"/>
          </a:xfrm>
          <a:prstGeom prst="rect">
            <a:avLst/>
          </a:prstGeom>
          <a:noFill/>
          <a:ln/>
        </p:spPr>
        <p:txBody>
          <a:bodyPr wrap="square" rtlCol="0"/>
          <a:lstStyle>
            <a:lvl1pPr algn="ctr" indent="0" marL="0">
              <a:buNone/>
              <a:defRPr lang="en-US" sz="1200" dirty="0">
                <a:solidFill>
                  <a:schemeClr val="tx2"/>
                </a:solidFill>
              </a:defRPr>
            </a:lvl1pPr>
          </a:lstStyle>
          <a:p>
            <a:pPr algn="ctr" indent="0" marL="0">
              <a:buNone/>
            </a:pPr>
            <a:r>
              <a:rPr lang="en-US" sz="1200" dirty="0">
                <a:solidFill>
                  <a:schemeClr val="tx2"/>
                </a:solidFill>
              </a:rPr>
              <a:t>PASTE HERE — GitHub › Actions › “CloudFormation Stack using S3 as required” › open a sandbox run › crop the job graph: Prepare → Drift check → Change set → Deploy</a:t>
            </a:r>
            <a:endParaRPr lang="en-US" sz="1200" dirty="0"/>
          </a:p>
        </p:txBody>
      </p:sp>
      <p:sp>
        <p:nvSpPr>
          <p:cNvPr id="6" name="Text 1"/>
          <p:cNvSpPr/>
          <p:nvPr>
            <p:ph idx="104" hasCustomPrompt="1"/>
          </p:nvPr>
        </p:nvSpPr>
        <p:spPr>
          <a:xfrm>
            <a:off x="6199632" y="1645920"/>
            <a:ext cx="5440680" cy="1691640"/>
          </a:xfrm>
          <a:prstGeom prst="rect">
            <a:avLst/>
          </a:prstGeom>
          <a:noFill/>
          <a:ln/>
        </p:spPr>
        <p:txBody>
          <a:bodyPr wrap="square" rtlCol="0"/>
          <a:lstStyle>
            <a:lvl1pPr algn="ctr" indent="0" marL="0">
              <a:buNone/>
              <a:defRPr lang="en-US" sz="1200" dirty="0">
                <a:solidFill>
                  <a:schemeClr val="tx2"/>
                </a:solidFill>
              </a:defRPr>
            </a:lvl1pPr>
          </a:lstStyle>
          <a:p>
            <a:pPr algn="ctr" indent="0" marL="0">
              <a:buNone/>
            </a:pPr>
            <a:r>
              <a:rPr lang="en-US" sz="1200" dirty="0">
                <a:solidFill>
                  <a:schemeClr val="tx2"/>
                </a:solidFill>
              </a:rPr>
              <a:t>PASTE HERE — In sandbox, change a tag by hand on a stack resource, then run the pipeline › it stops at Drift check › Summary › crop “Drift found”, the table and expected / actual. Undo the edit afterwards.</a:t>
            </a:r>
            <a:endParaRPr lang="en-US" sz="1200" dirty="0"/>
          </a:p>
        </p:txBody>
      </p:sp>
      <p:sp>
        <p:nvSpPr>
          <p:cNvPr id="7" name="Text 1"/>
          <p:cNvSpPr/>
          <p:nvPr>
            <p:ph idx="105" hasCustomPrompt="1"/>
          </p:nvPr>
        </p:nvSpPr>
        <p:spPr>
          <a:xfrm>
            <a:off x="548640" y="4041648"/>
            <a:ext cx="5440680" cy="1691640"/>
          </a:xfrm>
          <a:prstGeom prst="rect">
            <a:avLst/>
          </a:prstGeom>
          <a:noFill/>
          <a:ln/>
        </p:spPr>
        <p:txBody>
          <a:bodyPr wrap="square" rtlCol="0"/>
          <a:lstStyle>
            <a:lvl1pPr algn="ctr" indent="0" marL="0">
              <a:buNone/>
              <a:defRPr lang="en-US" sz="1200" dirty="0">
                <a:solidFill>
                  <a:schemeClr val="tx2"/>
                </a:solidFill>
              </a:defRPr>
            </a:lvl1pPr>
          </a:lstStyle>
          <a:p>
            <a:pPr algn="ctr" indent="0" marL="0">
              <a:buNone/>
            </a:pPr>
            <a:r>
              <a:rPr lang="en-US" sz="1200" dirty="0">
                <a:solidFill>
                  <a:schemeClr val="tx2"/>
                </a:solidFill>
              </a:rPr>
              <a:t>PASTE HERE — A run with a real change (Deploy = no) › Summary › crop “Change set ready for review”, the add / modify / remove counts and the table</a:t>
            </a:r>
            <a:endParaRPr lang="en-US" sz="1200" dirty="0"/>
          </a:p>
        </p:txBody>
      </p:sp>
      <p:sp>
        <p:nvSpPr>
          <p:cNvPr id="8" name="Text 1"/>
          <p:cNvSpPr/>
          <p:nvPr>
            <p:ph idx="106" hasCustomPrompt="1"/>
          </p:nvPr>
        </p:nvSpPr>
        <p:spPr>
          <a:xfrm>
            <a:off x="6199632" y="4041648"/>
            <a:ext cx="5440680" cy="1691640"/>
          </a:xfrm>
          <a:prstGeom prst="rect">
            <a:avLst/>
          </a:prstGeom>
          <a:noFill/>
          <a:ln/>
        </p:spPr>
        <p:txBody>
          <a:bodyPr wrap="square" rtlCol="0"/>
          <a:lstStyle>
            <a:lvl1pPr algn="ctr" indent="0" marL="0">
              <a:buNone/>
              <a:defRPr lang="en-US" sz="1200" dirty="0">
                <a:solidFill>
                  <a:schemeClr val="tx2"/>
                </a:solidFill>
              </a:defRPr>
            </a:lvl1pPr>
          </a:lstStyle>
          <a:p>
            <a:pPr algn="ctr" indent="0" marL="0">
              <a:buNone/>
            </a:pPr>
            <a:r>
              <a:rPr lang="en-US" sz="1200" dirty="0">
                <a:solidFill>
                  <a:schemeClr val="tx2"/>
                </a:solidFill>
              </a:rPr>
              <a:t>PASTE HERE — Click “Review and execute it in the AWS console” in that Summary › crop the change set page: the Changes list and the “Execute change set” button</a:t>
            </a: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ext and screenshot (WS2)">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rtlCol="0"/>
          <a:lstStyle>
            <a:lvl1pPr indent="0" marL="0">
              <a:buNone/>
              <a:defRPr lang="en-US" sz="1500" dirty="0">
                <a:solidFill>
                  <a:schemeClr val="tx2"/>
                </a:solidFill>
              </a:defRPr>
            </a:lvl1pPr>
          </a:lstStyle>
          <a:p>
            <a:pPr indent="0" marL="0">
              <a:buNone/>
            </a:pPr>
            <a:endParaRPr lang="en-US" sz="1500" dirty="0"/>
          </a:p>
        </p:txBody>
      </p:sp>
      <p:sp>
        <p:nvSpPr>
          <p:cNvPr id="4" name="Text 0"/>
          <p:cNvSpPr/>
          <p:nvPr/>
        </p:nvSpPr>
        <p:spPr>
          <a:xfrm>
            <a:off x="548640" y="6473952"/>
            <a:ext cx="6400800" cy="274320"/>
          </a:xfrm>
          <a:prstGeom prst="rect">
            <a:avLst/>
          </a:prstGeom>
          <a:noFill/>
          <a:ln/>
        </p:spPr>
        <p:txBody>
          <a:bodyPr wrap="square" lIns="0" tIns="0" rIns="0" bIns="0" rtlCol="0" anchor="t"/>
          <a:lstStyle/>
          <a:p>
            <a:pPr indent="0" marL="0">
              <a:buNone/>
            </a:pPr>
            <a:r>
              <a:rPr lang="en-US" sz="1000" dirty="0">
                <a:solidFill>
                  <a:schemeClr val="tx2"/>
                </a:solidFill>
              </a:rPr>
              <a:t>Deployment pipelines review  ·  October 2026</a:t>
            </a:r>
            <a:endParaRPr lang="en-US" sz="1000" dirty="0"/>
          </a:p>
        </p:txBody>
      </p:sp>
      <p:sp>
        <p:nvSpPr>
          <p:cNvPr id="5" name="Text 1"/>
          <p:cNvSpPr/>
          <p:nvPr>
            <p:ph idx="103" hasCustomPrompt="1"/>
          </p:nvPr>
        </p:nvSpPr>
        <p:spPr>
          <a:xfrm>
            <a:off x="7498080" y="1691640"/>
            <a:ext cx="4142232" cy="3246120"/>
          </a:xfrm>
          <a:prstGeom prst="rect">
            <a:avLst/>
          </a:prstGeom>
          <a:noFill/>
          <a:ln/>
        </p:spPr>
        <p:txBody>
          <a:bodyPr wrap="square" rtlCol="0"/>
          <a:lstStyle>
            <a:lvl1pPr algn="ctr" indent="0" marL="0">
              <a:buNone/>
              <a:defRPr lang="en-US" sz="1200" dirty="0">
                <a:solidFill>
                  <a:schemeClr val="tx2"/>
                </a:solidFill>
              </a:defRPr>
            </a:lvl1pPr>
          </a:lstStyle>
          <a:p>
            <a:pPr algn="ctr" indent="0" marL="0">
              <a:buNone/>
            </a:pPr>
            <a:r>
              <a:rPr lang="en-US" sz="1200" dirty="0">
                <a:solidFill>
                  <a:schemeClr val="tx2"/>
                </a:solidFill>
              </a:rPr>
              <a:t>PASTE HERE — GitHub › ws2-dns-records-apply.yml › click line 418, Shift+click line 444 › crop the “gate-approval” heading with no job under it, and the apply job’s needs: [validate-account, preview]</a:t>
            </a: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ext and screenshot (Git histor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rtlCol="0"/>
          <a:lstStyle>
            <a:lvl1pPr indent="0" marL="0">
              <a:buNone/>
              <a:defRPr lang="en-US" sz="1500" dirty="0">
                <a:solidFill>
                  <a:schemeClr val="tx2"/>
                </a:solidFill>
              </a:defRPr>
            </a:lvl1pPr>
          </a:lstStyle>
          <a:p>
            <a:pPr indent="0" marL="0">
              <a:buNone/>
            </a:pPr>
            <a:endParaRPr lang="en-US" sz="1500" dirty="0"/>
          </a:p>
        </p:txBody>
      </p:sp>
      <p:sp>
        <p:nvSpPr>
          <p:cNvPr id="4" name="Text 0"/>
          <p:cNvSpPr/>
          <p:nvPr/>
        </p:nvSpPr>
        <p:spPr>
          <a:xfrm>
            <a:off x="548640" y="6473952"/>
            <a:ext cx="6400800" cy="274320"/>
          </a:xfrm>
          <a:prstGeom prst="rect">
            <a:avLst/>
          </a:prstGeom>
          <a:noFill/>
          <a:ln/>
        </p:spPr>
        <p:txBody>
          <a:bodyPr wrap="square" lIns="0" tIns="0" rIns="0" bIns="0" rtlCol="0" anchor="t"/>
          <a:lstStyle/>
          <a:p>
            <a:pPr indent="0" marL="0">
              <a:buNone/>
            </a:pPr>
            <a:r>
              <a:rPr lang="en-US" sz="1000" dirty="0">
                <a:solidFill>
                  <a:schemeClr val="tx2"/>
                </a:solidFill>
              </a:rPr>
              <a:t>Deployment pipelines review  ·  October 2026</a:t>
            </a:r>
            <a:endParaRPr lang="en-US" sz="1000" dirty="0"/>
          </a:p>
        </p:txBody>
      </p:sp>
      <p:sp>
        <p:nvSpPr>
          <p:cNvPr id="5" name="Text 1"/>
          <p:cNvSpPr/>
          <p:nvPr>
            <p:ph idx="103" hasCustomPrompt="1"/>
          </p:nvPr>
        </p:nvSpPr>
        <p:spPr>
          <a:xfrm>
            <a:off x="8275320" y="1691640"/>
            <a:ext cx="3364992" cy="3566160"/>
          </a:xfrm>
          <a:prstGeom prst="rect">
            <a:avLst/>
          </a:prstGeom>
          <a:noFill/>
          <a:ln/>
        </p:spPr>
        <p:txBody>
          <a:bodyPr wrap="square" rtlCol="0"/>
          <a:lstStyle>
            <a:lvl1pPr algn="ctr" indent="0" marL="0">
              <a:buNone/>
              <a:defRPr lang="en-US" sz="1200" dirty="0">
                <a:solidFill>
                  <a:schemeClr val="tx2"/>
                </a:solidFill>
              </a:defRPr>
            </a:lvl1pPr>
          </a:lstStyle>
          <a:p>
            <a:pPr algn="ctr" indent="0" marL="0">
              <a:buNone/>
            </a:pPr>
            <a:r>
              <a:rPr lang="en-US" sz="1200" dirty="0">
                <a:solidFill>
                  <a:schemeClr val="tx2"/>
                </a:solidFill>
              </a:rPr>
              <a:t>PASTE HERE — GitHub › your DNS record template file › History › crop the list of commits — or open a merged Pull Request › Files changed › crop one record’s before / after</a:t>
            </a: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Backup files side by sid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rtlCol="0"/>
          <a:lstStyle>
            <a:lvl1pPr indent="0" marL="0">
              <a:buNone/>
              <a:defRPr lang="en-US" sz="1500" dirty="0">
                <a:solidFill>
                  <a:schemeClr val="tx2"/>
                </a:solidFill>
              </a:defRPr>
            </a:lvl1pPr>
          </a:lstStyle>
          <a:p>
            <a:pPr indent="0" marL="0">
              <a:buNone/>
            </a:pPr>
            <a:endParaRPr lang="en-US" sz="1500" dirty="0"/>
          </a:p>
        </p:txBody>
      </p:sp>
      <p:sp>
        <p:nvSpPr>
          <p:cNvPr id="4" name="Text 0"/>
          <p:cNvSpPr/>
          <p:nvPr/>
        </p:nvSpPr>
        <p:spPr>
          <a:xfrm>
            <a:off x="548640" y="6473952"/>
            <a:ext cx="6400800" cy="274320"/>
          </a:xfrm>
          <a:prstGeom prst="rect">
            <a:avLst/>
          </a:prstGeom>
          <a:noFill/>
          <a:ln/>
        </p:spPr>
        <p:txBody>
          <a:bodyPr wrap="square" lIns="0" tIns="0" rIns="0" bIns="0" rtlCol="0" anchor="t"/>
          <a:lstStyle/>
          <a:p>
            <a:pPr indent="0" marL="0">
              <a:buNone/>
            </a:pPr>
            <a:r>
              <a:rPr lang="en-US" sz="1000" dirty="0">
                <a:solidFill>
                  <a:schemeClr val="tx2"/>
                </a:solidFill>
              </a:rPr>
              <a:t>Deployment pipelines review  ·  October 2026</a:t>
            </a:r>
            <a:endParaRPr lang="en-US" sz="1000" dirty="0"/>
          </a:p>
        </p:txBody>
      </p:sp>
      <p:sp>
        <p:nvSpPr>
          <p:cNvPr id="5" name="Text 1"/>
          <p:cNvSpPr/>
          <p:nvPr>
            <p:ph idx="103" hasCustomPrompt="1"/>
          </p:nvPr>
        </p:nvSpPr>
        <p:spPr>
          <a:xfrm>
            <a:off x="731520" y="2331720"/>
            <a:ext cx="5074920" cy="2468880"/>
          </a:xfrm>
          <a:prstGeom prst="rect">
            <a:avLst/>
          </a:prstGeom>
          <a:noFill/>
          <a:ln/>
        </p:spPr>
        <p:txBody>
          <a:bodyPr wrap="square" rtlCol="0"/>
          <a:lstStyle>
            <a:lvl1pPr algn="ctr" indent="0" marL="0">
              <a:buNone/>
              <a:defRPr lang="en-US" sz="1200" dirty="0">
                <a:solidFill>
                  <a:schemeClr val="tx2"/>
                </a:solidFill>
              </a:defRPr>
            </a:lvl1pPr>
          </a:lstStyle>
          <a:p>
            <a:pPr algn="ctr" indent="0" marL="0">
              <a:buNone/>
            </a:pPr>
            <a:r>
              <a:rPr lang="en-US" sz="1200" dirty="0">
                <a:solidFill>
                  <a:schemeClr val="tx2"/>
                </a:solidFill>
              </a:rPr>
              <a:t>PASTE HERE — WS2 export Pull Request › Files changed › config/accounts/&lt;account&gt;/networking/dns-records-&lt;zone&gt;.json › crop the start of the file: a list of records, with no hosted zone, SOA or NS</a:t>
            </a:r>
            <a:endParaRPr lang="en-US" sz="1200" dirty="0"/>
          </a:p>
        </p:txBody>
      </p:sp>
      <p:sp>
        <p:nvSpPr>
          <p:cNvPr id="6" name="Text 1"/>
          <p:cNvSpPr/>
          <p:nvPr>
            <p:ph idx="104" hasCustomPrompt="1"/>
          </p:nvPr>
        </p:nvSpPr>
        <p:spPr>
          <a:xfrm>
            <a:off x="6382512" y="2331720"/>
            <a:ext cx="5074920" cy="2468880"/>
          </a:xfrm>
          <a:prstGeom prst="rect">
            <a:avLst/>
          </a:prstGeom>
          <a:noFill/>
          <a:ln/>
        </p:spPr>
        <p:txBody>
          <a:bodyPr wrap="square" rtlCol="0"/>
          <a:lstStyle>
            <a:lvl1pPr algn="ctr" indent="0" marL="0">
              <a:buNone/>
              <a:defRPr lang="en-US" sz="1200" dirty="0">
                <a:solidFill>
                  <a:schemeClr val="tx2"/>
                </a:solidFill>
              </a:defRPr>
            </a:lvl1pPr>
          </a:lstStyle>
          <a:p>
            <a:pPr algn="ctr" indent="0" marL="0">
              <a:buNone/>
            </a:pPr>
            <a:r>
              <a:rPr lang="en-US" sz="1200" dirty="0">
                <a:solidFill>
                  <a:schemeClr val="tx2"/>
                </a:solidFill>
              </a:rPr>
              <a:t>PASTE HERE — GitHub › the same zone’s CloudFormation template (YAML) › crop the top: the AWS::Route53::HostedZone resource, then the first AWS::Route53::RecordSet resources (include an alias record if you can)</a:t>
            </a: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Flow and screensho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rtlCol="0"/>
          <a:lstStyle>
            <a:lvl1pPr indent="0" marL="0">
              <a:buNone/>
              <a:defRPr lang="en-US" sz="1500" dirty="0">
                <a:solidFill>
                  <a:schemeClr val="tx2"/>
                </a:solidFill>
              </a:defRPr>
            </a:lvl1pPr>
          </a:lstStyle>
          <a:p>
            <a:pPr indent="0" marL="0">
              <a:buNone/>
            </a:pPr>
            <a:endParaRPr lang="en-US" sz="1500" dirty="0"/>
          </a:p>
        </p:txBody>
      </p:sp>
      <p:sp>
        <p:nvSpPr>
          <p:cNvPr id="4" name="Text 0"/>
          <p:cNvSpPr/>
          <p:nvPr/>
        </p:nvSpPr>
        <p:spPr>
          <a:xfrm>
            <a:off x="548640" y="6473952"/>
            <a:ext cx="6400800" cy="274320"/>
          </a:xfrm>
          <a:prstGeom prst="rect">
            <a:avLst/>
          </a:prstGeom>
          <a:noFill/>
          <a:ln/>
        </p:spPr>
        <p:txBody>
          <a:bodyPr wrap="square" lIns="0" tIns="0" rIns="0" bIns="0" rtlCol="0" anchor="t"/>
          <a:lstStyle/>
          <a:p>
            <a:pPr indent="0" marL="0">
              <a:buNone/>
            </a:pPr>
            <a:r>
              <a:rPr lang="en-US" sz="1000" dirty="0">
                <a:solidFill>
                  <a:schemeClr val="tx2"/>
                </a:solidFill>
              </a:rPr>
              <a:t>Deployment pipelines review  ·  October 2026</a:t>
            </a:r>
            <a:endParaRPr lang="en-US" sz="1000" dirty="0"/>
          </a:p>
        </p:txBody>
      </p:sp>
      <p:sp>
        <p:nvSpPr>
          <p:cNvPr id="5" name="Text 1"/>
          <p:cNvSpPr/>
          <p:nvPr>
            <p:ph idx="103" hasCustomPrompt="1"/>
          </p:nvPr>
        </p:nvSpPr>
        <p:spPr>
          <a:xfrm>
            <a:off x="8366760" y="3703320"/>
            <a:ext cx="3273552" cy="1828800"/>
          </a:xfrm>
          <a:prstGeom prst="rect">
            <a:avLst/>
          </a:prstGeom>
          <a:noFill/>
          <a:ln/>
        </p:spPr>
        <p:txBody>
          <a:bodyPr wrap="square" rtlCol="0"/>
          <a:lstStyle>
            <a:lvl1pPr algn="ctr" indent="0" marL="0">
              <a:buNone/>
              <a:defRPr lang="en-US" sz="1200" dirty="0">
                <a:solidFill>
                  <a:schemeClr val="tx2"/>
                </a:solidFill>
              </a:defRPr>
            </a:lvl1pPr>
          </a:lstStyle>
          <a:p>
            <a:pPr algn="ctr" indent="0" marL="0">
              <a:buNone/>
            </a:pPr>
            <a:r>
              <a:rPr lang="en-US" sz="1200" dirty="0">
                <a:solidFill>
                  <a:schemeClr val="tx2"/>
                </a:solidFill>
              </a:rPr>
              <a:t>PASTE HERE — GitHub › Actions › “Old Pipeline for Firewall Standard Change” › any recent run › crop the single “deploy” job</a:t>
            </a: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ext and screenshot (AWS docs)">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rtlCol="0"/>
          <a:lstStyle>
            <a:lvl1pPr indent="0" marL="0">
              <a:buNone/>
              <a:defRPr lang="en-US" sz="1500" dirty="0">
                <a:solidFill>
                  <a:schemeClr val="tx2"/>
                </a:solidFill>
              </a:defRPr>
            </a:lvl1pPr>
          </a:lstStyle>
          <a:p>
            <a:pPr indent="0" marL="0">
              <a:buNone/>
            </a:pPr>
            <a:endParaRPr lang="en-US" sz="1500" dirty="0"/>
          </a:p>
        </p:txBody>
      </p:sp>
      <p:sp>
        <p:nvSpPr>
          <p:cNvPr id="4" name="Text 0"/>
          <p:cNvSpPr/>
          <p:nvPr/>
        </p:nvSpPr>
        <p:spPr>
          <a:xfrm>
            <a:off x="548640" y="6473952"/>
            <a:ext cx="6400800" cy="274320"/>
          </a:xfrm>
          <a:prstGeom prst="rect">
            <a:avLst/>
          </a:prstGeom>
          <a:noFill/>
          <a:ln/>
        </p:spPr>
        <p:txBody>
          <a:bodyPr wrap="square" lIns="0" tIns="0" rIns="0" bIns="0" rtlCol="0" anchor="t"/>
          <a:lstStyle/>
          <a:p>
            <a:pPr indent="0" marL="0">
              <a:buNone/>
            </a:pPr>
            <a:r>
              <a:rPr lang="en-US" sz="1000" dirty="0">
                <a:solidFill>
                  <a:schemeClr val="tx2"/>
                </a:solidFill>
              </a:rPr>
              <a:t>Deployment pipelines review  ·  October 2026</a:t>
            </a:r>
            <a:endParaRPr lang="en-US" sz="1000" dirty="0"/>
          </a:p>
        </p:txBody>
      </p:sp>
      <p:sp>
        <p:nvSpPr>
          <p:cNvPr id="5" name="Text 1"/>
          <p:cNvSpPr/>
          <p:nvPr>
            <p:ph idx="103" hasCustomPrompt="1"/>
          </p:nvPr>
        </p:nvSpPr>
        <p:spPr>
          <a:xfrm>
            <a:off x="7498080" y="1691640"/>
            <a:ext cx="4142232" cy="3246120"/>
          </a:xfrm>
          <a:prstGeom prst="rect">
            <a:avLst/>
          </a:prstGeom>
          <a:noFill/>
          <a:ln/>
        </p:spPr>
        <p:txBody>
          <a:bodyPr wrap="square" rtlCol="0"/>
          <a:lstStyle>
            <a:lvl1pPr algn="ctr" indent="0" marL="0">
              <a:buNone/>
              <a:defRPr lang="en-US" sz="1200" dirty="0">
                <a:solidFill>
                  <a:schemeClr val="tx2"/>
                </a:solidFill>
              </a:defRPr>
            </a:lvl1pPr>
          </a:lstStyle>
          <a:p>
            <a:pPr algn="ctr" indent="0" marL="0">
              <a:buNone/>
            </a:pPr>
            <a:r>
              <a:rPr lang="en-US" sz="1200" dirty="0">
                <a:solidFill>
                  <a:schemeClr val="tx2"/>
                </a:solidFill>
              </a:rPr>
              <a:t>PASTE HERE — AWS docs › CloudFormation User Guide › “Resource type support” › Ctrl+F “AWS::FMS::Policy” › crop the table header and that row (Drift detection: No)</a:t>
            </a: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rtlCol="0"/>
          <a:lstStyle>
            <a:lvl1pPr indent="0" marL="0">
              <a:buNone/>
              <a:defRPr lang="en-US" sz="1500" dirty="0">
                <a:solidFill>
                  <a:schemeClr val="accent6"/>
                </a:solidFill>
              </a:defRPr>
            </a:lvl1pPr>
          </a:lstStyle>
          <a:p>
            <a:pPr indent="0" marL="0">
              <a:buNone/>
            </a:pPr>
            <a:endParaRPr lang="en-US" sz="1500" dirty="0"/>
          </a:p>
        </p:txBody>
      </p:sp>
      <p:sp>
        <p:nvSpPr>
          <p:cNvPr id="4" name="Text 0"/>
          <p:cNvSpPr/>
          <p:nvPr/>
        </p:nvSpPr>
        <p:spPr>
          <a:xfrm>
            <a:off x="548640" y="6473952"/>
            <a:ext cx="6400800" cy="274320"/>
          </a:xfrm>
          <a:prstGeom prst="rect">
            <a:avLst/>
          </a:prstGeom>
          <a:noFill/>
          <a:ln/>
        </p:spPr>
        <p:txBody>
          <a:bodyPr wrap="square" lIns="0" tIns="0" rIns="0" bIns="0" rtlCol="0" anchor="t"/>
          <a:lstStyle/>
          <a:p>
            <a:pPr indent="0" marL="0">
              <a:buNone/>
            </a:pPr>
            <a:r>
              <a:rPr lang="en-US" sz="1000" dirty="0">
                <a:solidFill>
                  <a:schemeClr val="bg2"/>
                </a:solidFill>
              </a:rPr>
              <a:t>Deployment pipelines review  ·  October 2026</a:t>
            </a:r>
            <a:endParaRPr lang="en-US" sz="10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1010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slideLayout" Target="../slideLayouts/slideLayout3.xml"/><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3.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5.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slideLayout" Target="../slideLayouts/slideLayout6.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slideLayout" Target="../slideLayouts/slideLayout7.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slideLayout" Target="../slideLayouts/slideLayout8.xml"/><Relationship Id="rId1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9.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0.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6675120" cy="1554480"/>
          </a:xfrm>
          <a:prstGeom prst="rect">
            <a:avLst/>
          </a:prstGeom>
          <a:noFill/>
          <a:ln/>
        </p:spPr>
        <p:txBody>
          <a:bodyPr wrap="square" lIns="0" tIns="0" rIns="0" bIns="0" rtlCol="0" anchor="b"/>
          <a:lstStyle/>
          <a:p>
            <a:pPr algn="l" indent="0" marL="0">
              <a:buNone/>
            </a:pPr>
            <a:r>
              <a:rPr lang="en-US" sz="4600" b="1" dirty="0">
                <a:solidFill>
                  <a:schemeClr val="bg1"/>
                </a:solidFill>
              </a:rPr>
              <a:t>Making AWS changes safely</a:t>
            </a:r>
            <a:endParaRPr lang="en-US" sz="4600" dirty="0"/>
          </a:p>
        </p:txBody>
      </p:sp>
      <p:sp>
        <p:nvSpPr>
          <p:cNvPr id="3" name="Text 0"/>
          <p:cNvSpPr/>
          <p:nvPr>
            <p:ph idx="101" type="body" hasCustomPrompt="1"/>
          </p:nvPr>
        </p:nvSpPr>
        <p:spPr>
          <a:xfrm>
            <a:off x="548640" y="3291840"/>
            <a:ext cx="6492240" cy="1005840"/>
          </a:xfrm>
          <a:prstGeom prst="rect">
            <a:avLst/>
          </a:prstGeom>
          <a:noFill/>
          <a:ln/>
        </p:spPr>
        <p:txBody>
          <a:bodyPr wrap="square" lIns="0" tIns="0" rIns="0" bIns="0" rtlCol="0" anchor="t"/>
          <a:lstStyle/>
          <a:p>
            <a:pPr indent="0" marL="0">
              <a:buNone/>
            </a:pPr>
            <a:r>
              <a:rPr lang="en-US" sz="2000" dirty="0">
                <a:solidFill>
                  <a:schemeClr val="accent6"/>
                </a:solidFill>
              </a:rPr>
              <a:t>Three deployment pipelines compared — what each one checks, and which one to use when</a:t>
            </a:r>
            <a:endParaRPr lang="en-US" sz="2000" dirty="0"/>
          </a:p>
        </p:txBody>
      </p:sp>
      <p:sp>
        <p:nvSpPr>
          <p:cNvPr id="4" name="Text 0"/>
          <p:cNvSpPr/>
          <p:nvPr>
            <p:ph idx="102" type="body" hasCustomPrompt="1"/>
          </p:nvPr>
        </p:nvSpPr>
        <p:spPr>
          <a:xfrm>
            <a:off x="548640" y="5257800"/>
            <a:ext cx="6492240" cy="411480"/>
          </a:xfrm>
          <a:prstGeom prst="rect">
            <a:avLst/>
          </a:prstGeom>
          <a:noFill/>
          <a:ln/>
        </p:spPr>
        <p:txBody>
          <a:bodyPr wrap="square" lIns="0" tIns="0" rIns="0" bIns="0" rtlCol="0" anchor="t"/>
          <a:lstStyle/>
          <a:p>
            <a:pPr indent="0" marL="0">
              <a:buNone/>
            </a:pPr>
            <a:r>
              <a:rPr lang="en-US" sz="1400" dirty="0">
                <a:solidFill>
                  <a:schemeClr val="bg2"/>
                </a:solidFill>
              </a:rPr>
              <a:t>Kunal Shrivastava  ·  Platform Engineering  ·  October 2026</a:t>
            </a:r>
            <a:endParaRPr lang="en-US" sz="1400" dirty="0"/>
          </a:p>
        </p:txBody>
      </p:sp>
      <p:sp>
        <p:nvSpPr>
          <p:cNvPr id="5" name="Text 3"/>
          <p:cNvSpPr txBox="1"/>
          <p:nvPr/>
        </p:nvSpPr>
        <p:spPr>
          <a:xfrm>
            <a:off x="7726680" y="1481328"/>
            <a:ext cx="3913632" cy="274320"/>
          </a:xfrm>
          <a:prstGeom prst="rect">
            <a:avLst/>
          </a:prstGeom>
          <a:noFill/>
          <a:ln/>
        </p:spPr>
        <p:txBody>
          <a:bodyPr wrap="square" lIns="0" tIns="0" rIns="0" bIns="0" rtlCol="0" anchor="t"/>
          <a:lstStyle/>
          <a:p>
            <a:pPr indent="0" marL="0">
              <a:buNone/>
            </a:pPr>
            <a:r>
              <a:rPr lang="en-US" sz="1100" b="1" spc="200" kern="0" dirty="0">
                <a:solidFill>
                  <a:schemeClr val="accent6"/>
                </a:solidFill>
              </a:rPr>
              <a:t>IN THIS DECK</a:t>
            </a:r>
            <a:endParaRPr lang="en-US" sz="1100" dirty="0"/>
          </a:p>
        </p:txBody>
      </p:sp>
      <p:sp>
        <p:nvSpPr>
          <p:cNvPr id="6" name="New pipeline"/>
          <p:cNvSpPr/>
          <p:nvPr/>
        </p:nvSpPr>
        <p:spPr>
          <a:xfrm>
            <a:off x="7726680" y="1874520"/>
            <a:ext cx="3913632" cy="914400"/>
          </a:xfrm>
          <a:prstGeom prst="roundRect">
            <a:avLst>
              <a:gd name="adj" fmla="val 14000"/>
            </a:avLst>
          </a:prstGeom>
          <a:solidFill>
            <a:schemeClr val="accent1"/>
          </a:solidFill>
          <a:ln/>
        </p:spPr>
      </p:sp>
      <p:sp>
        <p:nvSpPr>
          <p:cNvPr id="7" name="Shape 5"/>
          <p:cNvSpPr/>
          <p:nvPr/>
        </p:nvSpPr>
        <p:spPr>
          <a:xfrm>
            <a:off x="7936992" y="2057400"/>
            <a:ext cx="548640" cy="548640"/>
          </a:xfrm>
          <a:prstGeom prst="ellipse">
            <a:avLst/>
          </a:prstGeom>
          <a:solidFill>
            <a:schemeClr val="bg1">
              <a:alpha val="20000"/>
            </a:schemeClr>
          </a:solidFill>
          <a:ln/>
        </p:spPr>
      </p:sp>
      <p:pic>
        <p:nvPicPr>
          <p:cNvPr id="8" name="Image 0" descr="preencoded.png">    </p:cNvPr>
          <p:cNvPicPr>
            <a:picLocks noChangeAspect="1"/>
          </p:cNvPicPr>
          <p:nvPr/>
        </p:nvPicPr>
        <p:blipFill>
          <a:blip r:embed="rId1"/>
          <a:stretch>
            <a:fillRect/>
          </a:stretch>
        </p:blipFill>
        <p:spPr>
          <a:xfrm>
            <a:off x="8057693" y="2178101"/>
            <a:ext cx="307238" cy="307238"/>
          </a:xfrm>
          <a:prstGeom prst="rect">
            <a:avLst/>
          </a:prstGeom>
        </p:spPr>
      </p:pic>
      <p:sp>
        <p:nvSpPr>
          <p:cNvPr id="9" name="Text 6"/>
          <p:cNvSpPr txBox="1"/>
          <p:nvPr/>
        </p:nvSpPr>
        <p:spPr>
          <a:xfrm>
            <a:off x="8686800" y="2002536"/>
            <a:ext cx="2834640" cy="365760"/>
          </a:xfrm>
          <a:prstGeom prst="rect">
            <a:avLst/>
          </a:prstGeom>
          <a:noFill/>
          <a:ln/>
        </p:spPr>
        <p:txBody>
          <a:bodyPr wrap="square" lIns="0" tIns="0" rIns="0" bIns="0" rtlCol="0" anchor="ctr"/>
          <a:lstStyle/>
          <a:p>
            <a:pPr indent="0" marL="0">
              <a:buNone/>
            </a:pPr>
            <a:r>
              <a:rPr lang="en-US" sz="1800" b="1" dirty="0">
                <a:solidFill>
                  <a:schemeClr val="bg1"/>
                </a:solidFill>
              </a:rPr>
              <a:t>New pipeline</a:t>
            </a:r>
            <a:endParaRPr lang="en-US" sz="1800" dirty="0"/>
          </a:p>
        </p:txBody>
      </p:sp>
      <p:sp>
        <p:nvSpPr>
          <p:cNvPr id="10" name="Text 7"/>
          <p:cNvSpPr txBox="1"/>
          <p:nvPr/>
        </p:nvSpPr>
        <p:spPr>
          <a:xfrm>
            <a:off x="8686800" y="2350008"/>
            <a:ext cx="2834640" cy="310896"/>
          </a:xfrm>
          <a:prstGeom prst="rect">
            <a:avLst/>
          </a:prstGeom>
          <a:noFill/>
          <a:ln/>
        </p:spPr>
        <p:txBody>
          <a:bodyPr wrap="square" lIns="0" tIns="0" rIns="0" bIns="0" rtlCol="0" anchor="t"/>
          <a:lstStyle/>
          <a:p>
            <a:pPr indent="0" marL="0">
              <a:buNone/>
            </a:pPr>
            <a:r>
              <a:rPr lang="en-US" sz="1300" dirty="0">
                <a:solidFill>
                  <a:schemeClr val="bg1"/>
                </a:solidFill>
              </a:rPr>
              <a:t>Drift check + change set, any stack</a:t>
            </a:r>
            <a:endParaRPr lang="en-US" sz="1300" dirty="0"/>
          </a:p>
        </p:txBody>
      </p:sp>
      <p:sp>
        <p:nvSpPr>
          <p:cNvPr id="11" name="WS2 DNS pipelines"/>
          <p:cNvSpPr/>
          <p:nvPr/>
        </p:nvSpPr>
        <p:spPr>
          <a:xfrm>
            <a:off x="7726680" y="2990088"/>
            <a:ext cx="3913632" cy="914400"/>
          </a:xfrm>
          <a:prstGeom prst="roundRect">
            <a:avLst>
              <a:gd name="adj" fmla="val 14000"/>
            </a:avLst>
          </a:prstGeom>
          <a:solidFill>
            <a:schemeClr val="accent2"/>
          </a:solidFill>
          <a:ln/>
        </p:spPr>
      </p:sp>
      <p:sp>
        <p:nvSpPr>
          <p:cNvPr id="12" name="Shape 9"/>
          <p:cNvSpPr/>
          <p:nvPr/>
        </p:nvSpPr>
        <p:spPr>
          <a:xfrm>
            <a:off x="7936992" y="3172968"/>
            <a:ext cx="548640" cy="548640"/>
          </a:xfrm>
          <a:prstGeom prst="ellipse">
            <a:avLst/>
          </a:prstGeom>
          <a:solidFill>
            <a:schemeClr val="bg1">
              <a:alpha val="20000"/>
            </a:schemeClr>
          </a:solidFill>
          <a:ln/>
        </p:spPr>
      </p:sp>
      <p:pic>
        <p:nvPicPr>
          <p:cNvPr id="13" name="Image 1" descr="preencoded.png">    </p:cNvPr>
          <p:cNvPicPr>
            <a:picLocks noChangeAspect="1"/>
          </p:cNvPicPr>
          <p:nvPr/>
        </p:nvPicPr>
        <p:blipFill>
          <a:blip r:embed="rId2"/>
          <a:stretch>
            <a:fillRect/>
          </a:stretch>
        </p:blipFill>
        <p:spPr>
          <a:xfrm>
            <a:off x="8057693" y="3293669"/>
            <a:ext cx="307238" cy="307238"/>
          </a:xfrm>
          <a:prstGeom prst="rect">
            <a:avLst/>
          </a:prstGeom>
        </p:spPr>
      </p:pic>
      <p:sp>
        <p:nvSpPr>
          <p:cNvPr id="14" name="Text 10"/>
          <p:cNvSpPr txBox="1"/>
          <p:nvPr/>
        </p:nvSpPr>
        <p:spPr>
          <a:xfrm>
            <a:off x="8686800" y="3118104"/>
            <a:ext cx="2834640" cy="365760"/>
          </a:xfrm>
          <a:prstGeom prst="rect">
            <a:avLst/>
          </a:prstGeom>
          <a:noFill/>
          <a:ln/>
        </p:spPr>
        <p:txBody>
          <a:bodyPr wrap="square" lIns="0" tIns="0" rIns="0" bIns="0" rtlCol="0" anchor="ctr"/>
          <a:lstStyle/>
          <a:p>
            <a:pPr indent="0" marL="0">
              <a:buNone/>
            </a:pPr>
            <a:r>
              <a:rPr lang="en-US" sz="1800" b="1" dirty="0">
                <a:solidFill>
                  <a:schemeClr val="bg1"/>
                </a:solidFill>
              </a:rPr>
              <a:t>WS2 DNS pipelines</a:t>
            </a:r>
            <a:endParaRPr lang="en-US" sz="1800" dirty="0"/>
          </a:p>
        </p:txBody>
      </p:sp>
      <p:sp>
        <p:nvSpPr>
          <p:cNvPr id="15" name="Text 11"/>
          <p:cNvSpPr txBox="1"/>
          <p:nvPr/>
        </p:nvSpPr>
        <p:spPr>
          <a:xfrm>
            <a:off x="8686800" y="3465576"/>
            <a:ext cx="2834640" cy="310896"/>
          </a:xfrm>
          <a:prstGeom prst="rect">
            <a:avLst/>
          </a:prstGeom>
          <a:noFill/>
          <a:ln/>
        </p:spPr>
        <p:txBody>
          <a:bodyPr wrap="square" lIns="0" tIns="0" rIns="0" bIns="0" rtlCol="0" anchor="t"/>
          <a:lstStyle/>
          <a:p>
            <a:pPr indent="0" marL="0">
              <a:buNone/>
            </a:pPr>
            <a:r>
              <a:rPr lang="en-US" sz="1300" dirty="0">
                <a:solidFill>
                  <a:schemeClr val="bg1"/>
                </a:solidFill>
              </a:rPr>
              <a:t>Bulk changes to DNS records</a:t>
            </a:r>
            <a:endParaRPr lang="en-US" sz="1300" dirty="0"/>
          </a:p>
        </p:txBody>
      </p:sp>
      <p:sp>
        <p:nvSpPr>
          <p:cNvPr id="16" name="Old pipeline"/>
          <p:cNvSpPr/>
          <p:nvPr/>
        </p:nvSpPr>
        <p:spPr>
          <a:xfrm>
            <a:off x="7726680" y="4105656"/>
            <a:ext cx="3913632" cy="914400"/>
          </a:xfrm>
          <a:prstGeom prst="roundRect">
            <a:avLst>
              <a:gd name="adj" fmla="val 14000"/>
            </a:avLst>
          </a:prstGeom>
          <a:solidFill>
            <a:schemeClr val="accent5"/>
          </a:solidFill>
          <a:ln/>
        </p:spPr>
      </p:sp>
      <p:sp>
        <p:nvSpPr>
          <p:cNvPr id="17" name="Shape 13"/>
          <p:cNvSpPr/>
          <p:nvPr/>
        </p:nvSpPr>
        <p:spPr>
          <a:xfrm>
            <a:off x="7936992" y="4288536"/>
            <a:ext cx="548640" cy="548640"/>
          </a:xfrm>
          <a:prstGeom prst="ellipse">
            <a:avLst/>
          </a:prstGeom>
          <a:solidFill>
            <a:schemeClr val="bg1">
              <a:alpha val="20000"/>
            </a:schemeClr>
          </a:solidFill>
          <a:ln/>
        </p:spPr>
      </p:sp>
      <p:pic>
        <p:nvPicPr>
          <p:cNvPr id="18" name="Image 2" descr="preencoded.png">    </p:cNvPr>
          <p:cNvPicPr>
            <a:picLocks noChangeAspect="1"/>
          </p:cNvPicPr>
          <p:nvPr/>
        </p:nvPicPr>
        <p:blipFill>
          <a:blip r:embed="rId3"/>
          <a:stretch>
            <a:fillRect/>
          </a:stretch>
        </p:blipFill>
        <p:spPr>
          <a:xfrm>
            <a:off x="8057693" y="4409237"/>
            <a:ext cx="307238" cy="307238"/>
          </a:xfrm>
          <a:prstGeom prst="rect">
            <a:avLst/>
          </a:prstGeom>
        </p:spPr>
      </p:pic>
      <p:sp>
        <p:nvSpPr>
          <p:cNvPr id="19" name="Text 14"/>
          <p:cNvSpPr txBox="1"/>
          <p:nvPr/>
        </p:nvSpPr>
        <p:spPr>
          <a:xfrm>
            <a:off x="8686800" y="4233672"/>
            <a:ext cx="2834640" cy="365760"/>
          </a:xfrm>
          <a:prstGeom prst="rect">
            <a:avLst/>
          </a:prstGeom>
          <a:noFill/>
          <a:ln/>
        </p:spPr>
        <p:txBody>
          <a:bodyPr wrap="square" lIns="0" tIns="0" rIns="0" bIns="0" rtlCol="0" anchor="ctr"/>
          <a:lstStyle/>
          <a:p>
            <a:pPr indent="0" marL="0">
              <a:buNone/>
            </a:pPr>
            <a:r>
              <a:rPr lang="en-US" sz="1800" b="1" dirty="0">
                <a:solidFill>
                  <a:schemeClr val="bg1"/>
                </a:solidFill>
              </a:rPr>
              <a:t>Old pipeline</a:t>
            </a:r>
            <a:endParaRPr lang="en-US" sz="1800" dirty="0"/>
          </a:p>
        </p:txBody>
      </p:sp>
      <p:sp>
        <p:nvSpPr>
          <p:cNvPr id="20" name="Text 15"/>
          <p:cNvSpPr txBox="1"/>
          <p:nvPr/>
        </p:nvSpPr>
        <p:spPr>
          <a:xfrm>
            <a:off x="8686800" y="4581144"/>
            <a:ext cx="2834640" cy="310896"/>
          </a:xfrm>
          <a:prstGeom prst="rect">
            <a:avLst/>
          </a:prstGeom>
          <a:noFill/>
          <a:ln/>
        </p:spPr>
        <p:txBody>
          <a:bodyPr wrap="square" lIns="0" tIns="0" rIns="0" bIns="0" rtlCol="0" anchor="t"/>
          <a:lstStyle/>
          <a:p>
            <a:pPr indent="0" marL="0">
              <a:buNone/>
            </a:pPr>
            <a:r>
              <a:rPr lang="en-US" sz="1300" dirty="0">
                <a:solidFill>
                  <a:schemeClr val="bg1"/>
                </a:solidFill>
              </a:rPr>
              <a:t>Direct deployment, no checks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Two checks every change should pass</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What we mean by a drift check and a change set — in plain words</a:t>
            </a:r>
            <a:endParaRPr lang="en-US" sz="1500" dirty="0"/>
          </a:p>
        </p:txBody>
      </p:sp>
      <p:sp>
        <p:nvSpPr>
          <p:cNvPr id="4" name="Drift check card"/>
          <p:cNvSpPr/>
          <p:nvPr/>
        </p:nvSpPr>
        <p:spPr>
          <a:xfrm>
            <a:off x="548640" y="1691640"/>
            <a:ext cx="5440680" cy="3611880"/>
          </a:xfrm>
          <a:prstGeom prst="roundRect">
            <a:avLst>
              <a:gd name="adj" fmla="val 3797"/>
            </a:avLst>
          </a:prstGeom>
          <a:solidFill>
            <a:schemeClr val="accent1">
              <a:alpha val="7000"/>
            </a:schemeClr>
          </a:solidFill>
          <a:ln/>
        </p:spPr>
      </p:sp>
      <p:sp>
        <p:nvSpPr>
          <p:cNvPr id="5" name="Shape 3"/>
          <p:cNvSpPr/>
          <p:nvPr/>
        </p:nvSpPr>
        <p:spPr>
          <a:xfrm>
            <a:off x="914400" y="2011680"/>
            <a:ext cx="731520" cy="73152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1075334" y="2172614"/>
            <a:ext cx="409651" cy="409651"/>
          </a:xfrm>
          <a:prstGeom prst="rect">
            <a:avLst/>
          </a:prstGeom>
        </p:spPr>
      </p:pic>
      <p:sp>
        <p:nvSpPr>
          <p:cNvPr id="7" name="Text 4"/>
          <p:cNvSpPr txBox="1"/>
          <p:nvPr/>
        </p:nvSpPr>
        <p:spPr>
          <a:xfrm>
            <a:off x="1874520" y="2029968"/>
            <a:ext cx="3840480" cy="256032"/>
          </a:xfrm>
          <a:prstGeom prst="rect">
            <a:avLst/>
          </a:prstGeom>
          <a:noFill/>
          <a:ln/>
        </p:spPr>
        <p:txBody>
          <a:bodyPr wrap="square" lIns="0" tIns="0" rIns="0" bIns="0" rtlCol="0" anchor="t"/>
          <a:lstStyle/>
          <a:p>
            <a:pPr indent="0" marL="0">
              <a:buNone/>
            </a:pPr>
            <a:r>
              <a:rPr lang="en-US" sz="1100" b="1" spc="150" kern="0" dirty="0">
                <a:solidFill>
                  <a:schemeClr val="accent1"/>
                </a:solidFill>
              </a:rPr>
              <a:t>CHECK 1</a:t>
            </a:r>
            <a:endParaRPr lang="en-US" sz="1100" dirty="0"/>
          </a:p>
        </p:txBody>
      </p:sp>
      <p:sp>
        <p:nvSpPr>
          <p:cNvPr id="8" name="Text 5"/>
          <p:cNvSpPr txBox="1"/>
          <p:nvPr/>
        </p:nvSpPr>
        <p:spPr>
          <a:xfrm>
            <a:off x="1874520" y="2267712"/>
            <a:ext cx="3840480" cy="475488"/>
          </a:xfrm>
          <a:prstGeom prst="rect">
            <a:avLst/>
          </a:prstGeom>
          <a:noFill/>
          <a:ln/>
        </p:spPr>
        <p:txBody>
          <a:bodyPr wrap="square" lIns="0" tIns="0" rIns="0" bIns="0" rtlCol="0" anchor="ctr"/>
          <a:lstStyle/>
          <a:p>
            <a:pPr indent="0" marL="0">
              <a:buNone/>
            </a:pPr>
            <a:r>
              <a:rPr lang="en-US" sz="2600" b="1" dirty="0">
                <a:solidFill>
                  <a:schemeClr val="tx1"/>
                </a:solidFill>
              </a:rPr>
              <a:t>Drift check</a:t>
            </a:r>
            <a:endParaRPr lang="en-US" sz="2600" dirty="0"/>
          </a:p>
        </p:txBody>
      </p:sp>
      <p:sp>
        <p:nvSpPr>
          <p:cNvPr id="9" name="Text 6"/>
          <p:cNvSpPr txBox="1"/>
          <p:nvPr/>
        </p:nvSpPr>
        <p:spPr>
          <a:xfrm>
            <a:off x="914400" y="2944368"/>
            <a:ext cx="4709160" cy="365760"/>
          </a:xfrm>
          <a:prstGeom prst="rect">
            <a:avLst/>
          </a:prstGeom>
          <a:noFill/>
          <a:ln/>
        </p:spPr>
        <p:txBody>
          <a:bodyPr wrap="square" lIns="0" tIns="0" rIns="0" bIns="0" rtlCol="0" anchor="t"/>
          <a:lstStyle/>
          <a:p>
            <a:pPr indent="0" marL="0">
              <a:buNone/>
            </a:pPr>
            <a:r>
              <a:rPr lang="en-US" sz="1700" i="1" dirty="0">
                <a:solidFill>
                  <a:schemeClr val="accent1"/>
                </a:solidFill>
              </a:rPr>
              <a:t>“Has anyone changed it by hand?”</a:t>
            </a:r>
            <a:endParaRPr lang="en-US" sz="1700" dirty="0"/>
          </a:p>
        </p:txBody>
      </p:sp>
      <p:sp>
        <p:nvSpPr>
          <p:cNvPr id="10" name="Text 7"/>
          <p:cNvSpPr txBox="1"/>
          <p:nvPr/>
        </p:nvSpPr>
        <p:spPr>
          <a:xfrm>
            <a:off x="914400" y="3401568"/>
            <a:ext cx="4709160" cy="1097280"/>
          </a:xfrm>
          <a:prstGeom prst="rect">
            <a:avLst/>
          </a:prstGeom>
          <a:noFill/>
          <a:ln/>
        </p:spPr>
        <p:txBody>
          <a:bodyPr wrap="square" lIns="0" tIns="0" rIns="0" bIns="0" rtlCol="0" anchor="t"/>
          <a:lstStyle/>
          <a:p>
            <a:pPr indent="0" marL="0">
              <a:buNone/>
            </a:pPr>
            <a:r>
              <a:rPr lang="en-US" sz="1500" dirty="0">
                <a:solidFill>
                  <a:schemeClr val="tx1"/>
                </a:solidFill>
              </a:rPr>
              <a:t>Before deploying, we compare what is live in AWS with what our code says it should be. If someone changed something by hand in the AWS console, we find out first — not after.</a:t>
            </a:r>
            <a:endParaRPr lang="en-US" sz="1500" dirty="0"/>
          </a:p>
        </p:txBody>
      </p:sp>
      <p:pic>
        <p:nvPicPr>
          <p:cNvPr id="11" name="Image 1" descr="preencoded.png">    </p:cNvPr>
          <p:cNvPicPr>
            <a:picLocks noChangeAspect="1"/>
          </p:cNvPicPr>
          <p:nvPr/>
        </p:nvPicPr>
        <p:blipFill>
          <a:blip r:embed="rId2"/>
          <a:stretch>
            <a:fillRect/>
          </a:stretch>
        </p:blipFill>
        <p:spPr>
          <a:xfrm>
            <a:off x="914400" y="4681728"/>
            <a:ext cx="256032" cy="256032"/>
          </a:xfrm>
          <a:prstGeom prst="rect">
            <a:avLst/>
          </a:prstGeom>
        </p:spPr>
      </p:pic>
      <p:sp>
        <p:nvSpPr>
          <p:cNvPr id="12" name="Text 8"/>
          <p:cNvSpPr txBox="1"/>
          <p:nvPr/>
        </p:nvSpPr>
        <p:spPr>
          <a:xfrm>
            <a:off x="1280160" y="4645152"/>
            <a:ext cx="4343400" cy="502920"/>
          </a:xfrm>
          <a:prstGeom prst="rect">
            <a:avLst/>
          </a:prstGeom>
          <a:noFill/>
          <a:ln/>
        </p:spPr>
        <p:txBody>
          <a:bodyPr wrap="square" lIns="0" tIns="0" rIns="0" bIns="0" rtlCol="0" anchor="t"/>
          <a:lstStyle/>
          <a:p>
            <a:pPr indent="0" marL="0">
              <a:buNone/>
            </a:pPr>
            <a:r>
              <a:rPr lang="en-US" sz="1400" i="1" dirty="0">
                <a:solidFill>
                  <a:schemeClr val="tx2"/>
                </a:solidFill>
              </a:rPr>
              <a:t>Like checking nobody has moved a wall before the builders start work.</a:t>
            </a:r>
            <a:endParaRPr lang="en-US" sz="1400" dirty="0"/>
          </a:p>
        </p:txBody>
      </p:sp>
      <p:sp>
        <p:nvSpPr>
          <p:cNvPr id="13" name="Change set card"/>
          <p:cNvSpPr/>
          <p:nvPr/>
        </p:nvSpPr>
        <p:spPr>
          <a:xfrm>
            <a:off x="6199632" y="1691640"/>
            <a:ext cx="5440680" cy="3611880"/>
          </a:xfrm>
          <a:prstGeom prst="roundRect">
            <a:avLst>
              <a:gd name="adj" fmla="val 3797"/>
            </a:avLst>
          </a:prstGeom>
          <a:solidFill>
            <a:schemeClr val="accent1">
              <a:alpha val="7000"/>
            </a:schemeClr>
          </a:solidFill>
          <a:ln/>
        </p:spPr>
      </p:sp>
      <p:sp>
        <p:nvSpPr>
          <p:cNvPr id="14" name="Shape 10"/>
          <p:cNvSpPr/>
          <p:nvPr/>
        </p:nvSpPr>
        <p:spPr>
          <a:xfrm>
            <a:off x="6565392" y="2011680"/>
            <a:ext cx="731520" cy="73152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6726326" y="2172614"/>
            <a:ext cx="409651" cy="409651"/>
          </a:xfrm>
          <a:prstGeom prst="rect">
            <a:avLst/>
          </a:prstGeom>
        </p:spPr>
      </p:pic>
      <p:sp>
        <p:nvSpPr>
          <p:cNvPr id="16" name="Text 11"/>
          <p:cNvSpPr txBox="1"/>
          <p:nvPr/>
        </p:nvSpPr>
        <p:spPr>
          <a:xfrm>
            <a:off x="7525512" y="2029968"/>
            <a:ext cx="3840480" cy="256032"/>
          </a:xfrm>
          <a:prstGeom prst="rect">
            <a:avLst/>
          </a:prstGeom>
          <a:noFill/>
          <a:ln/>
        </p:spPr>
        <p:txBody>
          <a:bodyPr wrap="square" lIns="0" tIns="0" rIns="0" bIns="0" rtlCol="0" anchor="t"/>
          <a:lstStyle/>
          <a:p>
            <a:pPr indent="0" marL="0">
              <a:buNone/>
            </a:pPr>
            <a:r>
              <a:rPr lang="en-US" sz="1100" b="1" spc="150" kern="0" dirty="0">
                <a:solidFill>
                  <a:schemeClr val="accent1"/>
                </a:solidFill>
              </a:rPr>
              <a:t>CHECK 2</a:t>
            </a:r>
            <a:endParaRPr lang="en-US" sz="1100" dirty="0"/>
          </a:p>
        </p:txBody>
      </p:sp>
      <p:sp>
        <p:nvSpPr>
          <p:cNvPr id="17" name="Text 12"/>
          <p:cNvSpPr txBox="1"/>
          <p:nvPr/>
        </p:nvSpPr>
        <p:spPr>
          <a:xfrm>
            <a:off x="7525512" y="2267712"/>
            <a:ext cx="3840480" cy="475488"/>
          </a:xfrm>
          <a:prstGeom prst="rect">
            <a:avLst/>
          </a:prstGeom>
          <a:noFill/>
          <a:ln/>
        </p:spPr>
        <p:txBody>
          <a:bodyPr wrap="square" lIns="0" tIns="0" rIns="0" bIns="0" rtlCol="0" anchor="ctr"/>
          <a:lstStyle/>
          <a:p>
            <a:pPr indent="0" marL="0">
              <a:buNone/>
            </a:pPr>
            <a:r>
              <a:rPr lang="en-US" sz="2600" b="1" dirty="0">
                <a:solidFill>
                  <a:schemeClr val="tx1"/>
                </a:solidFill>
              </a:rPr>
              <a:t>Change set</a:t>
            </a:r>
            <a:endParaRPr lang="en-US" sz="2600" dirty="0"/>
          </a:p>
        </p:txBody>
      </p:sp>
      <p:sp>
        <p:nvSpPr>
          <p:cNvPr id="18" name="Text 13"/>
          <p:cNvSpPr txBox="1"/>
          <p:nvPr/>
        </p:nvSpPr>
        <p:spPr>
          <a:xfrm>
            <a:off x="6565392" y="2944368"/>
            <a:ext cx="4709160" cy="365760"/>
          </a:xfrm>
          <a:prstGeom prst="rect">
            <a:avLst/>
          </a:prstGeom>
          <a:noFill/>
          <a:ln/>
        </p:spPr>
        <p:txBody>
          <a:bodyPr wrap="square" lIns="0" tIns="0" rIns="0" bIns="0" rtlCol="0" anchor="t"/>
          <a:lstStyle/>
          <a:p>
            <a:pPr indent="0" marL="0">
              <a:buNone/>
            </a:pPr>
            <a:r>
              <a:rPr lang="en-US" sz="1700" i="1" dirty="0">
                <a:solidFill>
                  <a:schemeClr val="accent1"/>
                </a:solidFill>
              </a:rPr>
              <a:t>“What exactly will change?”</a:t>
            </a:r>
            <a:endParaRPr lang="en-US" sz="1700" dirty="0"/>
          </a:p>
        </p:txBody>
      </p:sp>
      <p:sp>
        <p:nvSpPr>
          <p:cNvPr id="19" name="Text 14"/>
          <p:cNvSpPr txBox="1"/>
          <p:nvPr/>
        </p:nvSpPr>
        <p:spPr>
          <a:xfrm>
            <a:off x="6565392" y="3401568"/>
            <a:ext cx="4709160" cy="1097280"/>
          </a:xfrm>
          <a:prstGeom prst="rect">
            <a:avLst/>
          </a:prstGeom>
          <a:noFill/>
          <a:ln/>
        </p:spPr>
        <p:txBody>
          <a:bodyPr wrap="square" lIns="0" tIns="0" rIns="0" bIns="0" rtlCol="0" anchor="t"/>
          <a:lstStyle/>
          <a:p>
            <a:pPr indent="0" marL="0">
              <a:buNone/>
            </a:pPr>
            <a:r>
              <a:rPr lang="en-US" sz="1500" dirty="0">
                <a:solidFill>
                  <a:schemeClr val="tx1"/>
                </a:solidFill>
              </a:rPr>
              <a:t>AWS prepares an itemised list of every change — what will be added, changed, removed or replaced. A person reviews it and clicks Execute, and exactly that list is what runs.</a:t>
            </a:r>
            <a:endParaRPr lang="en-US" sz="1500" dirty="0"/>
          </a:p>
        </p:txBody>
      </p:sp>
      <p:pic>
        <p:nvPicPr>
          <p:cNvPr id="20" name="Image 3" descr="preencoded.png">    </p:cNvPr>
          <p:cNvPicPr>
            <a:picLocks noChangeAspect="1"/>
          </p:cNvPicPr>
          <p:nvPr/>
        </p:nvPicPr>
        <p:blipFill>
          <a:blip r:embed="rId4"/>
          <a:stretch>
            <a:fillRect/>
          </a:stretch>
        </p:blipFill>
        <p:spPr>
          <a:xfrm>
            <a:off x="6565392" y="4681728"/>
            <a:ext cx="256032" cy="256032"/>
          </a:xfrm>
          <a:prstGeom prst="rect">
            <a:avLst/>
          </a:prstGeom>
        </p:spPr>
      </p:pic>
      <p:sp>
        <p:nvSpPr>
          <p:cNvPr id="21" name="Text 15"/>
          <p:cNvSpPr txBox="1"/>
          <p:nvPr/>
        </p:nvSpPr>
        <p:spPr>
          <a:xfrm>
            <a:off x="6931152" y="4645152"/>
            <a:ext cx="4343400" cy="502920"/>
          </a:xfrm>
          <a:prstGeom prst="rect">
            <a:avLst/>
          </a:prstGeom>
          <a:noFill/>
          <a:ln/>
        </p:spPr>
        <p:txBody>
          <a:bodyPr wrap="square" lIns="0" tIns="0" rIns="0" bIns="0" rtlCol="0" anchor="t"/>
          <a:lstStyle/>
          <a:p>
            <a:pPr indent="0" marL="0">
              <a:buNone/>
            </a:pPr>
            <a:r>
              <a:rPr lang="en-US" sz="1400" i="1" dirty="0">
                <a:solidFill>
                  <a:schemeClr val="tx2"/>
                </a:solidFill>
              </a:rPr>
              <a:t>Like approving a builder’s itemised quote before any work begins.</a:t>
            </a:r>
            <a:endParaRPr lang="en-US" sz="1400" dirty="0"/>
          </a:p>
        </p:txBody>
      </p:sp>
      <p:sp>
        <p:nvSpPr>
          <p:cNvPr id="22" name="Takeaway"/>
          <p:cNvSpPr/>
          <p:nvPr/>
        </p:nvSpPr>
        <p:spPr>
          <a:xfrm>
            <a:off x="548640" y="5532120"/>
            <a:ext cx="11091672" cy="640080"/>
          </a:xfrm>
          <a:prstGeom prst="roundRect">
            <a:avLst>
              <a:gd name="adj" fmla="val 17143"/>
            </a:avLst>
          </a:prstGeom>
          <a:solidFill>
            <a:schemeClr val="tx1"/>
          </a:solidFill>
          <a:ln/>
        </p:spPr>
      </p:sp>
      <p:pic>
        <p:nvPicPr>
          <p:cNvPr id="23" name="Image 4" descr="preencoded.png">    </p:cNvPr>
          <p:cNvPicPr>
            <a:picLocks noChangeAspect="1"/>
          </p:cNvPicPr>
          <p:nvPr/>
        </p:nvPicPr>
        <p:blipFill>
          <a:blip r:embed="rId5"/>
          <a:stretch>
            <a:fillRect/>
          </a:stretch>
        </p:blipFill>
        <p:spPr>
          <a:xfrm>
            <a:off x="804672" y="5687568"/>
            <a:ext cx="329184" cy="329184"/>
          </a:xfrm>
          <a:prstGeom prst="rect">
            <a:avLst/>
          </a:prstGeom>
        </p:spPr>
      </p:pic>
      <p:sp>
        <p:nvSpPr>
          <p:cNvPr id="24" name="Text 17"/>
          <p:cNvSpPr txBox="1"/>
          <p:nvPr/>
        </p:nvSpPr>
        <p:spPr>
          <a:xfrm>
            <a:off x="1298448" y="5532120"/>
            <a:ext cx="10058400" cy="640080"/>
          </a:xfrm>
          <a:prstGeom prst="rect">
            <a:avLst/>
          </a:prstGeom>
          <a:noFill/>
          <a:ln/>
        </p:spPr>
        <p:txBody>
          <a:bodyPr wrap="square" lIns="0" tIns="0" rIns="0" bIns="0" rtlCol="0" anchor="ctr"/>
          <a:lstStyle/>
          <a:p>
            <a:pPr indent="0" marL="0">
              <a:buNone/>
            </a:pPr>
            <a:r>
              <a:rPr lang="en-US" sz="1700" b="1" dirty="0">
                <a:solidFill>
                  <a:schemeClr val="bg1"/>
                </a:solidFill>
              </a:rPr>
              <a:t>The new pipeline builds both checks into every run.</a:t>
            </a:r>
            <a:endParaRPr lang="en-US" sz="17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New pipeline: check, preview, then decide</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latest_cft_deployment.yml — for any CloudFormation stack, in any account and region</a:t>
            </a:r>
            <a:endParaRPr lang="en-US" sz="1500" dirty="0"/>
          </a:p>
        </p:txBody>
      </p:sp>
      <p:sp>
        <p:nvSpPr>
          <p:cNvPr id="4" name="Text 2"/>
          <p:cNvSpPr txBox="1"/>
          <p:nvPr/>
        </p:nvSpPr>
        <p:spPr>
          <a:xfrm>
            <a:off x="9811512" y="566928"/>
            <a:ext cx="1828800" cy="347472"/>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spc="150" kern="0" dirty="0">
                <a:solidFill>
                  <a:schemeClr val="bg1"/>
                </a:solidFill>
              </a:rPr>
              <a:t>NEW PIPELINE</a:t>
            </a:r>
            <a:endParaRPr lang="en-US" sz="1100" dirty="0"/>
          </a:p>
        </p:txBody>
      </p:sp>
      <p:sp>
        <p:nvSpPr>
          <p:cNvPr id="5" name="Start"/>
          <p:cNvSpPr/>
          <p:nvPr/>
        </p:nvSpPr>
        <p:spPr>
          <a:xfrm>
            <a:off x="548640" y="2011680"/>
            <a:ext cx="1874520" cy="1280160"/>
          </a:xfrm>
          <a:prstGeom prst="roundRect">
            <a:avLst>
              <a:gd name="adj" fmla="val 7143"/>
            </a:avLst>
          </a:prstGeom>
          <a:solidFill>
            <a:schemeClr val="accent1">
              <a:alpha val="8000"/>
            </a:schemeClr>
          </a:solidFill>
          <a:ln w="15875">
            <a:solidFill>
              <a:schemeClr val="accent1"/>
            </a:solidFill>
            <a:prstDash val="solid"/>
          </a:ln>
        </p:spPr>
      </p:sp>
      <p:sp>
        <p:nvSpPr>
          <p:cNvPr id="6" name="Shape 4"/>
          <p:cNvSpPr/>
          <p:nvPr/>
        </p:nvSpPr>
        <p:spPr>
          <a:xfrm>
            <a:off x="676656" y="2139696"/>
            <a:ext cx="384048" cy="384048"/>
          </a:xfrm>
          <a:prstGeom prst="ellipse">
            <a:avLst/>
          </a:prstGeom>
          <a:solidFill>
            <a:schemeClr val="accent1"/>
          </a:solidFill>
          <a:ln/>
        </p:spPr>
      </p:sp>
      <p:pic>
        <p:nvPicPr>
          <p:cNvPr id="7" name="Image 0" descr="preencoded.png">    </p:cNvPr>
          <p:cNvPicPr>
            <a:picLocks noChangeAspect="1"/>
          </p:cNvPicPr>
          <p:nvPr/>
        </p:nvPicPr>
        <p:blipFill>
          <a:blip r:embed="rId1"/>
          <a:stretch>
            <a:fillRect/>
          </a:stretch>
        </p:blipFill>
        <p:spPr>
          <a:xfrm>
            <a:off x="761147" y="2224187"/>
            <a:ext cx="215067" cy="215067"/>
          </a:xfrm>
          <a:prstGeom prst="rect">
            <a:avLst/>
          </a:prstGeom>
        </p:spPr>
      </p:pic>
      <p:sp>
        <p:nvSpPr>
          <p:cNvPr id="8" name="Text 5"/>
          <p:cNvSpPr txBox="1"/>
          <p:nvPr/>
        </p:nvSpPr>
        <p:spPr>
          <a:xfrm>
            <a:off x="1152144" y="2139696"/>
            <a:ext cx="1161288" cy="384048"/>
          </a:xfrm>
          <a:prstGeom prst="rect">
            <a:avLst/>
          </a:prstGeom>
          <a:noFill/>
          <a:ln/>
        </p:spPr>
        <p:txBody>
          <a:bodyPr wrap="square" lIns="0" tIns="0" rIns="0" bIns="0" rtlCol="0" anchor="ctr"/>
          <a:lstStyle/>
          <a:p>
            <a:pPr indent="0" marL="0">
              <a:buNone/>
            </a:pPr>
            <a:r>
              <a:rPr lang="en-US" sz="1400" b="1" dirty="0">
                <a:solidFill>
                  <a:schemeClr val="tx1"/>
                </a:solidFill>
              </a:rPr>
              <a:t>Start</a:t>
            </a:r>
            <a:endParaRPr lang="en-US" sz="1400" dirty="0"/>
          </a:p>
        </p:txBody>
      </p:sp>
      <p:sp>
        <p:nvSpPr>
          <p:cNvPr id="9" name="Text 6"/>
          <p:cNvSpPr txBox="1"/>
          <p:nvPr/>
        </p:nvSpPr>
        <p:spPr>
          <a:xfrm>
            <a:off x="676656" y="2615184"/>
            <a:ext cx="1618488" cy="603504"/>
          </a:xfrm>
          <a:prstGeom prst="rect">
            <a:avLst/>
          </a:prstGeom>
          <a:noFill/>
          <a:ln/>
        </p:spPr>
        <p:txBody>
          <a:bodyPr wrap="square" lIns="0" tIns="0" rIns="0" bIns="0" rtlCol="0" anchor="t"/>
          <a:lstStyle/>
          <a:p>
            <a:pPr indent="0" marL="0">
              <a:buNone/>
            </a:pPr>
            <a:r>
              <a:rPr lang="en-US" sz="1200" dirty="0">
                <a:solidFill>
                  <a:schemeClr val="tx2"/>
                </a:solidFill>
              </a:rPr>
              <a:t>Pick the stack, account and region from dropdowns</a:t>
            </a:r>
            <a:endParaRPr lang="en-US" sz="1200" dirty="0"/>
          </a:p>
        </p:txBody>
      </p:sp>
      <p:sp>
        <p:nvSpPr>
          <p:cNvPr id="10" name="Shape 7"/>
          <p:cNvSpPr/>
          <p:nvPr/>
        </p:nvSpPr>
        <p:spPr>
          <a:xfrm>
            <a:off x="2459736" y="2651760"/>
            <a:ext cx="246888" cy="914"/>
          </a:xfrm>
          <a:prstGeom prst="line">
            <a:avLst/>
          </a:prstGeom>
          <a:noFill/>
          <a:ln w="22225">
            <a:solidFill>
              <a:schemeClr val="tx2"/>
            </a:solidFill>
            <a:prstDash val="solid"/>
            <a:tailEnd type="triangle"/>
          </a:ln>
        </p:spPr>
      </p:sp>
      <p:sp>
        <p:nvSpPr>
          <p:cNvPr id="11" name="Prepare"/>
          <p:cNvSpPr/>
          <p:nvPr/>
        </p:nvSpPr>
        <p:spPr>
          <a:xfrm>
            <a:off x="2743200" y="2011680"/>
            <a:ext cx="1874520" cy="1280160"/>
          </a:xfrm>
          <a:prstGeom prst="roundRect">
            <a:avLst>
              <a:gd name="adj" fmla="val 7143"/>
            </a:avLst>
          </a:prstGeom>
          <a:solidFill>
            <a:schemeClr val="accent1">
              <a:alpha val="8000"/>
            </a:schemeClr>
          </a:solidFill>
          <a:ln w="15875">
            <a:solidFill>
              <a:schemeClr val="accent1"/>
            </a:solidFill>
            <a:prstDash val="solid"/>
          </a:ln>
        </p:spPr>
      </p:sp>
      <p:sp>
        <p:nvSpPr>
          <p:cNvPr id="12" name="Shape 9"/>
          <p:cNvSpPr/>
          <p:nvPr/>
        </p:nvSpPr>
        <p:spPr>
          <a:xfrm>
            <a:off x="2871216" y="2139696"/>
            <a:ext cx="384048" cy="384048"/>
          </a:xfrm>
          <a:prstGeom prst="ellipse">
            <a:avLst/>
          </a:prstGeom>
          <a:solidFill>
            <a:schemeClr val="accent1"/>
          </a:solidFill>
          <a:ln/>
        </p:spPr>
      </p:sp>
      <p:pic>
        <p:nvPicPr>
          <p:cNvPr id="13" name="Image 1" descr="preencoded.png">    </p:cNvPr>
          <p:cNvPicPr>
            <a:picLocks noChangeAspect="1"/>
          </p:cNvPicPr>
          <p:nvPr/>
        </p:nvPicPr>
        <p:blipFill>
          <a:blip r:embed="rId2"/>
          <a:stretch>
            <a:fillRect/>
          </a:stretch>
        </p:blipFill>
        <p:spPr>
          <a:xfrm>
            <a:off x="2955707" y="2224187"/>
            <a:ext cx="215067" cy="215067"/>
          </a:xfrm>
          <a:prstGeom prst="rect">
            <a:avLst/>
          </a:prstGeom>
        </p:spPr>
      </p:pic>
      <p:sp>
        <p:nvSpPr>
          <p:cNvPr id="14" name="Text 10"/>
          <p:cNvSpPr txBox="1"/>
          <p:nvPr/>
        </p:nvSpPr>
        <p:spPr>
          <a:xfrm>
            <a:off x="3346704" y="2139696"/>
            <a:ext cx="1161288" cy="384048"/>
          </a:xfrm>
          <a:prstGeom prst="rect">
            <a:avLst/>
          </a:prstGeom>
          <a:noFill/>
          <a:ln/>
        </p:spPr>
        <p:txBody>
          <a:bodyPr wrap="square" lIns="0" tIns="0" rIns="0" bIns="0" rtlCol="0" anchor="ctr"/>
          <a:lstStyle/>
          <a:p>
            <a:pPr indent="0" marL="0">
              <a:buNone/>
            </a:pPr>
            <a:r>
              <a:rPr lang="en-US" sz="1400" b="1" dirty="0">
                <a:solidFill>
                  <a:schemeClr val="tx1"/>
                </a:solidFill>
              </a:rPr>
              <a:t>Prepare</a:t>
            </a:r>
            <a:endParaRPr lang="en-US" sz="1400" dirty="0"/>
          </a:p>
        </p:txBody>
      </p:sp>
      <p:sp>
        <p:nvSpPr>
          <p:cNvPr id="15" name="Text 11"/>
          <p:cNvSpPr txBox="1"/>
          <p:nvPr/>
        </p:nvSpPr>
        <p:spPr>
          <a:xfrm>
            <a:off x="2871216" y="2615184"/>
            <a:ext cx="1618488" cy="603504"/>
          </a:xfrm>
          <a:prstGeom prst="rect">
            <a:avLst/>
          </a:prstGeom>
          <a:noFill/>
          <a:ln/>
        </p:spPr>
        <p:txBody>
          <a:bodyPr wrap="square" lIns="0" tIns="0" rIns="0" bIns="0" rtlCol="0" anchor="t"/>
          <a:lstStyle/>
          <a:p>
            <a:pPr indent="0" marL="0">
              <a:buNone/>
            </a:pPr>
            <a:r>
              <a:rPr lang="en-US" sz="1200" dirty="0">
                <a:solidFill>
                  <a:schemeClr val="tx2"/>
                </a:solidFill>
              </a:rPr>
              <a:t>Finds the template; checks the stack is healthy</a:t>
            </a:r>
            <a:endParaRPr lang="en-US" sz="1200" dirty="0"/>
          </a:p>
        </p:txBody>
      </p:sp>
      <p:sp>
        <p:nvSpPr>
          <p:cNvPr id="16" name="Shape 12"/>
          <p:cNvSpPr/>
          <p:nvPr/>
        </p:nvSpPr>
        <p:spPr>
          <a:xfrm>
            <a:off x="4654296" y="2651760"/>
            <a:ext cx="246888" cy="914"/>
          </a:xfrm>
          <a:prstGeom prst="line">
            <a:avLst/>
          </a:prstGeom>
          <a:noFill/>
          <a:ln w="22225">
            <a:solidFill>
              <a:schemeClr val="tx2"/>
            </a:solidFill>
            <a:prstDash val="solid"/>
            <a:tailEnd type="triangle"/>
          </a:ln>
        </p:spPr>
      </p:sp>
      <p:sp>
        <p:nvSpPr>
          <p:cNvPr id="17" name="Drift check"/>
          <p:cNvSpPr/>
          <p:nvPr/>
        </p:nvSpPr>
        <p:spPr>
          <a:xfrm>
            <a:off x="4937760" y="2011680"/>
            <a:ext cx="1874520" cy="1280160"/>
          </a:xfrm>
          <a:prstGeom prst="roundRect">
            <a:avLst>
              <a:gd name="adj" fmla="val 7143"/>
            </a:avLst>
          </a:prstGeom>
          <a:solidFill>
            <a:schemeClr val="accent1">
              <a:alpha val="8000"/>
            </a:schemeClr>
          </a:solidFill>
          <a:ln w="15875">
            <a:solidFill>
              <a:schemeClr val="accent1"/>
            </a:solidFill>
            <a:prstDash val="solid"/>
          </a:ln>
        </p:spPr>
      </p:sp>
      <p:sp>
        <p:nvSpPr>
          <p:cNvPr id="18" name="Shape 14"/>
          <p:cNvSpPr/>
          <p:nvPr/>
        </p:nvSpPr>
        <p:spPr>
          <a:xfrm>
            <a:off x="5065776" y="2139696"/>
            <a:ext cx="384048" cy="384048"/>
          </a:xfrm>
          <a:prstGeom prst="ellipse">
            <a:avLst/>
          </a:prstGeom>
          <a:solidFill>
            <a:schemeClr val="accent1"/>
          </a:solidFill>
          <a:ln/>
        </p:spPr>
      </p:sp>
      <p:pic>
        <p:nvPicPr>
          <p:cNvPr id="19" name="Image 2" descr="preencoded.png">    </p:cNvPr>
          <p:cNvPicPr>
            <a:picLocks noChangeAspect="1"/>
          </p:cNvPicPr>
          <p:nvPr/>
        </p:nvPicPr>
        <p:blipFill>
          <a:blip r:embed="rId3"/>
          <a:stretch>
            <a:fillRect/>
          </a:stretch>
        </p:blipFill>
        <p:spPr>
          <a:xfrm>
            <a:off x="5150267" y="2224187"/>
            <a:ext cx="215067" cy="215067"/>
          </a:xfrm>
          <a:prstGeom prst="rect">
            <a:avLst/>
          </a:prstGeom>
        </p:spPr>
      </p:pic>
      <p:sp>
        <p:nvSpPr>
          <p:cNvPr id="20" name="Text 15"/>
          <p:cNvSpPr txBox="1"/>
          <p:nvPr/>
        </p:nvSpPr>
        <p:spPr>
          <a:xfrm>
            <a:off x="5541264" y="2139696"/>
            <a:ext cx="1161288" cy="384048"/>
          </a:xfrm>
          <a:prstGeom prst="rect">
            <a:avLst/>
          </a:prstGeom>
          <a:noFill/>
          <a:ln/>
        </p:spPr>
        <p:txBody>
          <a:bodyPr wrap="square" lIns="0" tIns="0" rIns="0" bIns="0" rtlCol="0" anchor="ctr"/>
          <a:lstStyle/>
          <a:p>
            <a:pPr indent="0" marL="0">
              <a:buNone/>
            </a:pPr>
            <a:r>
              <a:rPr lang="en-US" sz="1400" b="1" dirty="0">
                <a:solidFill>
                  <a:schemeClr val="tx1"/>
                </a:solidFill>
              </a:rPr>
              <a:t>Drift check</a:t>
            </a:r>
            <a:endParaRPr lang="en-US" sz="1400" dirty="0"/>
          </a:p>
        </p:txBody>
      </p:sp>
      <p:sp>
        <p:nvSpPr>
          <p:cNvPr id="21" name="Text 16"/>
          <p:cNvSpPr txBox="1"/>
          <p:nvPr/>
        </p:nvSpPr>
        <p:spPr>
          <a:xfrm>
            <a:off x="5065776" y="2615184"/>
            <a:ext cx="1618488" cy="603504"/>
          </a:xfrm>
          <a:prstGeom prst="rect">
            <a:avLst/>
          </a:prstGeom>
          <a:noFill/>
          <a:ln/>
        </p:spPr>
        <p:txBody>
          <a:bodyPr wrap="square" lIns="0" tIns="0" rIns="0" bIns="0" rtlCol="0" anchor="t"/>
          <a:lstStyle/>
          <a:p>
            <a:pPr indent="0" marL="0">
              <a:buNone/>
            </a:pPr>
            <a:r>
              <a:rPr lang="en-US" sz="1200" dirty="0">
                <a:solidFill>
                  <a:schemeClr val="tx2"/>
                </a:solidFill>
              </a:rPr>
              <a:t>Has anything been changed by hand since the last deploy?</a:t>
            </a:r>
            <a:endParaRPr lang="en-US" sz="1200" dirty="0"/>
          </a:p>
        </p:txBody>
      </p:sp>
      <p:sp>
        <p:nvSpPr>
          <p:cNvPr id="22" name="Shape 17"/>
          <p:cNvSpPr/>
          <p:nvPr/>
        </p:nvSpPr>
        <p:spPr>
          <a:xfrm>
            <a:off x="6848856" y="2651760"/>
            <a:ext cx="246888" cy="914"/>
          </a:xfrm>
          <a:prstGeom prst="line">
            <a:avLst/>
          </a:prstGeom>
          <a:noFill/>
          <a:ln w="22225">
            <a:solidFill>
              <a:schemeClr val="tx2"/>
            </a:solidFill>
            <a:prstDash val="solid"/>
            <a:tailEnd type="triangle"/>
          </a:ln>
        </p:spPr>
      </p:sp>
      <p:sp>
        <p:nvSpPr>
          <p:cNvPr id="23" name="Change set"/>
          <p:cNvSpPr/>
          <p:nvPr/>
        </p:nvSpPr>
        <p:spPr>
          <a:xfrm>
            <a:off x="7132320" y="2011680"/>
            <a:ext cx="1874520" cy="1280160"/>
          </a:xfrm>
          <a:prstGeom prst="roundRect">
            <a:avLst>
              <a:gd name="adj" fmla="val 7143"/>
            </a:avLst>
          </a:prstGeom>
          <a:solidFill>
            <a:schemeClr val="accent1">
              <a:alpha val="8000"/>
            </a:schemeClr>
          </a:solidFill>
          <a:ln w="15875">
            <a:solidFill>
              <a:schemeClr val="accent1"/>
            </a:solidFill>
            <a:prstDash val="solid"/>
          </a:ln>
        </p:spPr>
      </p:sp>
      <p:sp>
        <p:nvSpPr>
          <p:cNvPr id="24" name="Shape 19"/>
          <p:cNvSpPr/>
          <p:nvPr/>
        </p:nvSpPr>
        <p:spPr>
          <a:xfrm>
            <a:off x="7260336" y="2139696"/>
            <a:ext cx="384048" cy="384048"/>
          </a:xfrm>
          <a:prstGeom prst="ellipse">
            <a:avLst/>
          </a:prstGeom>
          <a:solidFill>
            <a:schemeClr val="accent1"/>
          </a:solidFill>
          <a:ln/>
        </p:spPr>
      </p:sp>
      <p:pic>
        <p:nvPicPr>
          <p:cNvPr id="25" name="Image 3" descr="preencoded.png">    </p:cNvPr>
          <p:cNvPicPr>
            <a:picLocks noChangeAspect="1"/>
          </p:cNvPicPr>
          <p:nvPr/>
        </p:nvPicPr>
        <p:blipFill>
          <a:blip r:embed="rId4"/>
          <a:stretch>
            <a:fillRect/>
          </a:stretch>
        </p:blipFill>
        <p:spPr>
          <a:xfrm>
            <a:off x="7344827" y="2224187"/>
            <a:ext cx="215067" cy="215067"/>
          </a:xfrm>
          <a:prstGeom prst="rect">
            <a:avLst/>
          </a:prstGeom>
        </p:spPr>
      </p:pic>
      <p:sp>
        <p:nvSpPr>
          <p:cNvPr id="26" name="Text 20"/>
          <p:cNvSpPr txBox="1"/>
          <p:nvPr/>
        </p:nvSpPr>
        <p:spPr>
          <a:xfrm>
            <a:off x="7735824" y="2139696"/>
            <a:ext cx="1161288" cy="384048"/>
          </a:xfrm>
          <a:prstGeom prst="rect">
            <a:avLst/>
          </a:prstGeom>
          <a:noFill/>
          <a:ln/>
        </p:spPr>
        <p:txBody>
          <a:bodyPr wrap="square" lIns="0" tIns="0" rIns="0" bIns="0" rtlCol="0" anchor="ctr"/>
          <a:lstStyle/>
          <a:p>
            <a:pPr indent="0" marL="0">
              <a:buNone/>
            </a:pPr>
            <a:r>
              <a:rPr lang="en-US" sz="1400" b="1" dirty="0">
                <a:solidFill>
                  <a:schemeClr val="tx1"/>
                </a:solidFill>
              </a:rPr>
              <a:t>Change set</a:t>
            </a:r>
            <a:endParaRPr lang="en-US" sz="1400" dirty="0"/>
          </a:p>
        </p:txBody>
      </p:sp>
      <p:sp>
        <p:nvSpPr>
          <p:cNvPr id="27" name="Text 21"/>
          <p:cNvSpPr txBox="1"/>
          <p:nvPr/>
        </p:nvSpPr>
        <p:spPr>
          <a:xfrm>
            <a:off x="7260336" y="2615184"/>
            <a:ext cx="1618488" cy="603504"/>
          </a:xfrm>
          <a:prstGeom prst="rect">
            <a:avLst/>
          </a:prstGeom>
          <a:noFill/>
          <a:ln/>
        </p:spPr>
        <p:txBody>
          <a:bodyPr wrap="square" lIns="0" tIns="0" rIns="0" bIns="0" rtlCol="0" anchor="t"/>
          <a:lstStyle/>
          <a:p>
            <a:pPr indent="0" marL="0">
              <a:buNone/>
            </a:pPr>
            <a:r>
              <a:rPr lang="en-US" sz="1200" dirty="0">
                <a:solidFill>
                  <a:schemeClr val="tx2"/>
                </a:solidFill>
              </a:rPr>
              <a:t>Itemised list of every change, plus a link to it in AWS</a:t>
            </a:r>
            <a:endParaRPr lang="en-US" sz="1200" dirty="0"/>
          </a:p>
        </p:txBody>
      </p:sp>
      <p:sp>
        <p:nvSpPr>
          <p:cNvPr id="28" name="Deploy = no"/>
          <p:cNvSpPr/>
          <p:nvPr/>
        </p:nvSpPr>
        <p:spPr>
          <a:xfrm>
            <a:off x="9464040" y="1691640"/>
            <a:ext cx="2176272" cy="1143000"/>
          </a:xfrm>
          <a:prstGeom prst="roundRect">
            <a:avLst>
              <a:gd name="adj" fmla="val 8000"/>
            </a:avLst>
          </a:prstGeom>
          <a:solidFill>
            <a:schemeClr val="accent1">
              <a:alpha val="20000"/>
            </a:schemeClr>
          </a:solidFill>
          <a:ln w="15875">
            <a:solidFill>
              <a:schemeClr val="accent1"/>
            </a:solidFill>
            <a:prstDash val="solid"/>
          </a:ln>
        </p:spPr>
      </p:sp>
      <p:sp>
        <p:nvSpPr>
          <p:cNvPr id="29" name="Shape 23"/>
          <p:cNvSpPr/>
          <p:nvPr/>
        </p:nvSpPr>
        <p:spPr>
          <a:xfrm>
            <a:off x="9592056" y="1819656"/>
            <a:ext cx="384048" cy="384048"/>
          </a:xfrm>
          <a:prstGeom prst="ellipse">
            <a:avLst/>
          </a:prstGeom>
          <a:solidFill>
            <a:schemeClr val="accent1"/>
          </a:solidFill>
          <a:ln/>
        </p:spPr>
      </p:sp>
      <p:pic>
        <p:nvPicPr>
          <p:cNvPr id="30" name="Image 4" descr="preencoded.png">    </p:cNvPr>
          <p:cNvPicPr>
            <a:picLocks noChangeAspect="1"/>
          </p:cNvPicPr>
          <p:nvPr/>
        </p:nvPicPr>
        <p:blipFill>
          <a:blip r:embed="rId5"/>
          <a:stretch>
            <a:fillRect/>
          </a:stretch>
        </p:blipFill>
        <p:spPr>
          <a:xfrm>
            <a:off x="9676547" y="1904147"/>
            <a:ext cx="215067" cy="215067"/>
          </a:xfrm>
          <a:prstGeom prst="rect">
            <a:avLst/>
          </a:prstGeom>
        </p:spPr>
      </p:pic>
      <p:sp>
        <p:nvSpPr>
          <p:cNvPr id="31" name="Text 24"/>
          <p:cNvSpPr txBox="1"/>
          <p:nvPr/>
        </p:nvSpPr>
        <p:spPr>
          <a:xfrm>
            <a:off x="10067544" y="1819656"/>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Deploy = no</a:t>
            </a:r>
            <a:endParaRPr lang="en-US" sz="1400" dirty="0"/>
          </a:p>
        </p:txBody>
      </p:sp>
      <p:sp>
        <p:nvSpPr>
          <p:cNvPr id="32" name="Text 25"/>
          <p:cNvSpPr txBox="1"/>
          <p:nvPr/>
        </p:nvSpPr>
        <p:spPr>
          <a:xfrm>
            <a:off x="9592056" y="2295144"/>
            <a:ext cx="1920240" cy="466344"/>
          </a:xfrm>
          <a:prstGeom prst="rect">
            <a:avLst/>
          </a:prstGeom>
          <a:noFill/>
          <a:ln/>
        </p:spPr>
        <p:txBody>
          <a:bodyPr wrap="square" lIns="0" tIns="0" rIns="0" bIns="0" rtlCol="0" anchor="t"/>
          <a:lstStyle/>
          <a:p>
            <a:pPr indent="0" marL="0">
              <a:buNone/>
            </a:pPr>
            <a:r>
              <a:rPr lang="en-US" sz="1200" dirty="0">
                <a:solidFill>
                  <a:schemeClr val="tx2"/>
                </a:solidFill>
              </a:rPr>
              <a:t>Default. A person reviews it in AWS and clicks Execute.</a:t>
            </a:r>
            <a:endParaRPr lang="en-US" sz="1200" dirty="0"/>
          </a:p>
        </p:txBody>
      </p:sp>
      <p:sp>
        <p:nvSpPr>
          <p:cNvPr id="33" name="Deploy = yes"/>
          <p:cNvSpPr/>
          <p:nvPr/>
        </p:nvSpPr>
        <p:spPr>
          <a:xfrm>
            <a:off x="9464040" y="3063240"/>
            <a:ext cx="2176272" cy="1143000"/>
          </a:xfrm>
          <a:prstGeom prst="roundRect">
            <a:avLst>
              <a:gd name="adj" fmla="val 8000"/>
            </a:avLst>
          </a:prstGeom>
          <a:solidFill>
            <a:schemeClr val="bg1"/>
          </a:solidFill>
          <a:ln w="15875">
            <a:solidFill>
              <a:schemeClr val="accent1"/>
            </a:solidFill>
            <a:prstDash val="dash"/>
          </a:ln>
        </p:spPr>
      </p:sp>
      <p:sp>
        <p:nvSpPr>
          <p:cNvPr id="34" name="Shape 27"/>
          <p:cNvSpPr/>
          <p:nvPr/>
        </p:nvSpPr>
        <p:spPr>
          <a:xfrm>
            <a:off x="9592056" y="3191256"/>
            <a:ext cx="384048" cy="384048"/>
          </a:xfrm>
          <a:prstGeom prst="ellipse">
            <a:avLst/>
          </a:prstGeom>
          <a:solidFill>
            <a:schemeClr val="accent1"/>
          </a:solidFill>
          <a:ln/>
        </p:spPr>
      </p:sp>
      <p:pic>
        <p:nvPicPr>
          <p:cNvPr id="35" name="Image 5" descr="preencoded.png">    </p:cNvPr>
          <p:cNvPicPr>
            <a:picLocks noChangeAspect="1"/>
          </p:cNvPicPr>
          <p:nvPr/>
        </p:nvPicPr>
        <p:blipFill>
          <a:blip r:embed="rId6"/>
          <a:stretch>
            <a:fillRect/>
          </a:stretch>
        </p:blipFill>
        <p:spPr>
          <a:xfrm>
            <a:off x="9676547" y="3275747"/>
            <a:ext cx="215067" cy="215067"/>
          </a:xfrm>
          <a:prstGeom prst="rect">
            <a:avLst/>
          </a:prstGeom>
        </p:spPr>
      </p:pic>
      <p:sp>
        <p:nvSpPr>
          <p:cNvPr id="36" name="Text 28"/>
          <p:cNvSpPr txBox="1"/>
          <p:nvPr/>
        </p:nvSpPr>
        <p:spPr>
          <a:xfrm>
            <a:off x="10067544" y="3191256"/>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Deploy = yes</a:t>
            </a:r>
            <a:endParaRPr lang="en-US" sz="1400" dirty="0"/>
          </a:p>
        </p:txBody>
      </p:sp>
      <p:sp>
        <p:nvSpPr>
          <p:cNvPr id="37" name="Text 29"/>
          <p:cNvSpPr txBox="1"/>
          <p:nvPr/>
        </p:nvSpPr>
        <p:spPr>
          <a:xfrm>
            <a:off x="9592056" y="3666744"/>
            <a:ext cx="1920240" cy="466344"/>
          </a:xfrm>
          <a:prstGeom prst="rect">
            <a:avLst/>
          </a:prstGeom>
          <a:noFill/>
          <a:ln/>
        </p:spPr>
        <p:txBody>
          <a:bodyPr wrap="square" lIns="0" tIns="0" rIns="0" bIns="0" rtlCol="0" anchor="t"/>
          <a:lstStyle/>
          <a:p>
            <a:pPr indent="0" marL="0">
              <a:buNone/>
            </a:pPr>
            <a:r>
              <a:rPr lang="en-US" sz="1200" dirty="0">
                <a:solidFill>
                  <a:schemeClr val="tx2"/>
                </a:solidFill>
              </a:rPr>
              <a:t>The pipeline runs that same change set and reports back.</a:t>
            </a:r>
            <a:endParaRPr lang="en-US" sz="1200" dirty="0"/>
          </a:p>
        </p:txBody>
      </p:sp>
      <p:sp>
        <p:nvSpPr>
          <p:cNvPr id="38" name="Shape 30"/>
          <p:cNvSpPr/>
          <p:nvPr/>
        </p:nvSpPr>
        <p:spPr>
          <a:xfrm flipV="1">
            <a:off x="9043416" y="2267712"/>
            <a:ext cx="384048" cy="384048"/>
          </a:xfrm>
          <a:prstGeom prst="line">
            <a:avLst/>
          </a:prstGeom>
          <a:noFill/>
          <a:ln w="22225">
            <a:solidFill>
              <a:schemeClr val="tx2"/>
            </a:solidFill>
            <a:prstDash val="solid"/>
            <a:tailEnd type="triangle"/>
          </a:ln>
        </p:spPr>
      </p:sp>
      <p:sp>
        <p:nvSpPr>
          <p:cNvPr id="39" name="Shape 31"/>
          <p:cNvSpPr/>
          <p:nvPr/>
        </p:nvSpPr>
        <p:spPr>
          <a:xfrm>
            <a:off x="9043416" y="2651760"/>
            <a:ext cx="384048" cy="978408"/>
          </a:xfrm>
          <a:prstGeom prst="line">
            <a:avLst/>
          </a:prstGeom>
          <a:noFill/>
          <a:ln w="22225">
            <a:solidFill>
              <a:schemeClr val="tx2"/>
            </a:solidFill>
            <a:prstDash val="solid"/>
            <a:tailEnd type="triangle"/>
          </a:ln>
        </p:spPr>
      </p:sp>
      <p:sp>
        <p:nvSpPr>
          <p:cNvPr id="40" name="Stop on drift"/>
          <p:cNvSpPr/>
          <p:nvPr/>
        </p:nvSpPr>
        <p:spPr>
          <a:xfrm>
            <a:off x="4937760" y="4434840"/>
            <a:ext cx="1874520" cy="1097280"/>
          </a:xfrm>
          <a:prstGeom prst="roundRect">
            <a:avLst>
              <a:gd name="adj" fmla="val 8333"/>
            </a:avLst>
          </a:prstGeom>
          <a:solidFill>
            <a:schemeClr val="accent3">
              <a:alpha val="8000"/>
            </a:schemeClr>
          </a:solidFill>
          <a:ln w="15875">
            <a:solidFill>
              <a:schemeClr val="accent3"/>
            </a:solidFill>
            <a:prstDash val="solid"/>
          </a:ln>
        </p:spPr>
      </p:sp>
      <p:sp>
        <p:nvSpPr>
          <p:cNvPr id="41" name="Shape 33"/>
          <p:cNvSpPr/>
          <p:nvPr/>
        </p:nvSpPr>
        <p:spPr>
          <a:xfrm>
            <a:off x="5065776" y="4562856"/>
            <a:ext cx="384048" cy="384048"/>
          </a:xfrm>
          <a:prstGeom prst="ellipse">
            <a:avLst/>
          </a:prstGeom>
          <a:solidFill>
            <a:schemeClr val="accent3"/>
          </a:solidFill>
          <a:ln/>
        </p:spPr>
      </p:sp>
      <p:pic>
        <p:nvPicPr>
          <p:cNvPr id="42" name="Image 6" descr="preencoded.png">    </p:cNvPr>
          <p:cNvPicPr>
            <a:picLocks noChangeAspect="1"/>
          </p:cNvPicPr>
          <p:nvPr/>
        </p:nvPicPr>
        <p:blipFill>
          <a:blip r:embed="rId7"/>
          <a:stretch>
            <a:fillRect/>
          </a:stretch>
        </p:blipFill>
        <p:spPr>
          <a:xfrm>
            <a:off x="5150267" y="4647347"/>
            <a:ext cx="215067" cy="215067"/>
          </a:xfrm>
          <a:prstGeom prst="rect">
            <a:avLst/>
          </a:prstGeom>
        </p:spPr>
      </p:pic>
      <p:sp>
        <p:nvSpPr>
          <p:cNvPr id="43" name="Text 34"/>
          <p:cNvSpPr txBox="1"/>
          <p:nvPr/>
        </p:nvSpPr>
        <p:spPr>
          <a:xfrm>
            <a:off x="5541264" y="4562856"/>
            <a:ext cx="1161288" cy="384048"/>
          </a:xfrm>
          <a:prstGeom prst="rect">
            <a:avLst/>
          </a:prstGeom>
          <a:noFill/>
          <a:ln/>
        </p:spPr>
        <p:txBody>
          <a:bodyPr wrap="square" lIns="0" tIns="0" rIns="0" bIns="0" rtlCol="0" anchor="ctr"/>
          <a:lstStyle/>
          <a:p>
            <a:pPr indent="0" marL="0">
              <a:buNone/>
            </a:pPr>
            <a:r>
              <a:rPr lang="en-US" sz="1400" b="1" dirty="0">
                <a:solidFill>
                  <a:schemeClr val="tx1"/>
                </a:solidFill>
              </a:rPr>
              <a:t>Stop</a:t>
            </a:r>
            <a:endParaRPr lang="en-US" sz="1400" dirty="0"/>
          </a:p>
        </p:txBody>
      </p:sp>
      <p:sp>
        <p:nvSpPr>
          <p:cNvPr id="44" name="Text 35"/>
          <p:cNvSpPr txBox="1"/>
          <p:nvPr/>
        </p:nvSpPr>
        <p:spPr>
          <a:xfrm>
            <a:off x="5065776" y="5038344"/>
            <a:ext cx="1618488" cy="420624"/>
          </a:xfrm>
          <a:prstGeom prst="rect">
            <a:avLst/>
          </a:prstGeom>
          <a:noFill/>
          <a:ln/>
        </p:spPr>
        <p:txBody>
          <a:bodyPr wrap="square" lIns="0" tIns="0" rIns="0" bIns="0" rtlCol="0" anchor="t"/>
          <a:lstStyle/>
          <a:p>
            <a:pPr indent="0" marL="0">
              <a:buNone/>
            </a:pPr>
            <a:r>
              <a:rPr lang="en-US" sz="1200" dirty="0">
                <a:solidFill>
                  <a:schemeClr val="tx2"/>
                </a:solidFill>
              </a:rPr>
              <a:t>Shows what changed — expected vs actual</a:t>
            </a:r>
            <a:endParaRPr lang="en-US" sz="1200" dirty="0"/>
          </a:p>
        </p:txBody>
      </p:sp>
      <p:sp>
        <p:nvSpPr>
          <p:cNvPr id="45" name="No changes"/>
          <p:cNvSpPr/>
          <p:nvPr/>
        </p:nvSpPr>
        <p:spPr>
          <a:xfrm>
            <a:off x="7132320" y="4434840"/>
            <a:ext cx="1874520" cy="1097280"/>
          </a:xfrm>
          <a:prstGeom prst="roundRect">
            <a:avLst>
              <a:gd name="adj" fmla="val 8333"/>
            </a:avLst>
          </a:prstGeom>
          <a:solidFill>
            <a:schemeClr val="accent5">
              <a:alpha val="8000"/>
            </a:schemeClr>
          </a:solidFill>
          <a:ln w="15875">
            <a:solidFill>
              <a:schemeClr val="accent5"/>
            </a:solidFill>
            <a:prstDash val="solid"/>
          </a:ln>
        </p:spPr>
      </p:sp>
      <p:sp>
        <p:nvSpPr>
          <p:cNvPr id="46" name="Shape 37"/>
          <p:cNvSpPr/>
          <p:nvPr/>
        </p:nvSpPr>
        <p:spPr>
          <a:xfrm>
            <a:off x="7260336" y="4562856"/>
            <a:ext cx="384048" cy="384048"/>
          </a:xfrm>
          <a:prstGeom prst="ellipse">
            <a:avLst/>
          </a:prstGeom>
          <a:solidFill>
            <a:schemeClr val="accent5"/>
          </a:solidFill>
          <a:ln/>
        </p:spPr>
      </p:sp>
      <p:pic>
        <p:nvPicPr>
          <p:cNvPr id="47" name="Image 7" descr="preencoded.png">    </p:cNvPr>
          <p:cNvPicPr>
            <a:picLocks noChangeAspect="1"/>
          </p:cNvPicPr>
          <p:nvPr/>
        </p:nvPicPr>
        <p:blipFill>
          <a:blip r:embed="rId8"/>
          <a:stretch>
            <a:fillRect/>
          </a:stretch>
        </p:blipFill>
        <p:spPr>
          <a:xfrm>
            <a:off x="7344827" y="4647347"/>
            <a:ext cx="215067" cy="215067"/>
          </a:xfrm>
          <a:prstGeom prst="rect">
            <a:avLst/>
          </a:prstGeom>
        </p:spPr>
      </p:pic>
      <p:sp>
        <p:nvSpPr>
          <p:cNvPr id="48" name="Text 38"/>
          <p:cNvSpPr txBox="1"/>
          <p:nvPr/>
        </p:nvSpPr>
        <p:spPr>
          <a:xfrm>
            <a:off x="7735824" y="4562856"/>
            <a:ext cx="1161288" cy="384048"/>
          </a:xfrm>
          <a:prstGeom prst="rect">
            <a:avLst/>
          </a:prstGeom>
          <a:noFill/>
          <a:ln/>
        </p:spPr>
        <p:txBody>
          <a:bodyPr wrap="square" lIns="0" tIns="0" rIns="0" bIns="0" rtlCol="0" anchor="ctr"/>
          <a:lstStyle/>
          <a:p>
            <a:pPr indent="0" marL="0">
              <a:buNone/>
            </a:pPr>
            <a:r>
              <a:rPr lang="en-US" sz="1400" b="1" dirty="0">
                <a:solidFill>
                  <a:schemeClr val="tx1"/>
                </a:solidFill>
              </a:rPr>
              <a:t>No changes</a:t>
            </a:r>
            <a:endParaRPr lang="en-US" sz="1400" dirty="0"/>
          </a:p>
        </p:txBody>
      </p:sp>
      <p:sp>
        <p:nvSpPr>
          <p:cNvPr id="49" name="Text 39"/>
          <p:cNvSpPr txBox="1"/>
          <p:nvPr/>
        </p:nvSpPr>
        <p:spPr>
          <a:xfrm>
            <a:off x="7260336" y="5038344"/>
            <a:ext cx="1618488" cy="420624"/>
          </a:xfrm>
          <a:prstGeom prst="rect">
            <a:avLst/>
          </a:prstGeom>
          <a:noFill/>
          <a:ln/>
        </p:spPr>
        <p:txBody>
          <a:bodyPr wrap="square" lIns="0" tIns="0" rIns="0" bIns="0" rtlCol="0" anchor="t"/>
          <a:lstStyle/>
          <a:p>
            <a:pPr indent="0" marL="0">
              <a:buNone/>
            </a:pPr>
            <a:r>
              <a:rPr lang="en-US" sz="1200" dirty="0">
                <a:solidFill>
                  <a:schemeClr val="tx2"/>
                </a:solidFill>
              </a:rPr>
              <a:t>Ends cleanly — nothing is deployed.</a:t>
            </a:r>
            <a:endParaRPr lang="en-US" sz="1200" dirty="0"/>
          </a:p>
        </p:txBody>
      </p:sp>
      <p:sp>
        <p:nvSpPr>
          <p:cNvPr id="50" name="Shape 40"/>
          <p:cNvSpPr/>
          <p:nvPr/>
        </p:nvSpPr>
        <p:spPr>
          <a:xfrm>
            <a:off x="5875020" y="3328416"/>
            <a:ext cx="914" cy="1069848"/>
          </a:xfrm>
          <a:prstGeom prst="line">
            <a:avLst/>
          </a:prstGeom>
          <a:noFill/>
          <a:ln w="22225">
            <a:solidFill>
              <a:schemeClr val="accent3"/>
            </a:solidFill>
            <a:prstDash val="solid"/>
            <a:tailEnd type="triangle"/>
          </a:ln>
        </p:spPr>
      </p:sp>
      <p:sp>
        <p:nvSpPr>
          <p:cNvPr id="51" name="Shape 41"/>
          <p:cNvSpPr/>
          <p:nvPr/>
        </p:nvSpPr>
        <p:spPr>
          <a:xfrm>
            <a:off x="8069580" y="3328416"/>
            <a:ext cx="914" cy="1069848"/>
          </a:xfrm>
          <a:prstGeom prst="line">
            <a:avLst/>
          </a:prstGeom>
          <a:noFill/>
          <a:ln w="22225">
            <a:solidFill>
              <a:schemeClr val="tx2"/>
            </a:solidFill>
            <a:prstDash val="solid"/>
            <a:tailEnd type="triangle"/>
          </a:ln>
        </p:spPr>
      </p:sp>
      <p:sp>
        <p:nvSpPr>
          <p:cNvPr id="52" name="Text 42"/>
          <p:cNvSpPr txBox="1"/>
          <p:nvPr/>
        </p:nvSpPr>
        <p:spPr>
          <a:xfrm>
            <a:off x="5966460" y="3703320"/>
            <a:ext cx="1463040" cy="274320"/>
          </a:xfrm>
          <a:prstGeom prst="rect">
            <a:avLst/>
          </a:prstGeom>
          <a:noFill/>
          <a:ln/>
        </p:spPr>
        <p:txBody>
          <a:bodyPr wrap="square" lIns="0" tIns="0" rIns="0" bIns="0" rtlCol="0" anchor="t"/>
          <a:lstStyle/>
          <a:p>
            <a:pPr indent="0" marL="0">
              <a:buNone/>
            </a:pPr>
            <a:r>
              <a:rPr lang="en-US" sz="1100" i="1" dirty="0">
                <a:solidFill>
                  <a:schemeClr val="accent3"/>
                </a:solidFill>
              </a:rPr>
              <a:t>manual change found</a:t>
            </a:r>
            <a:endParaRPr lang="en-US" sz="1100" dirty="0"/>
          </a:p>
        </p:txBody>
      </p:sp>
      <p:sp>
        <p:nvSpPr>
          <p:cNvPr id="53" name="Text 43"/>
          <p:cNvSpPr txBox="1"/>
          <p:nvPr/>
        </p:nvSpPr>
        <p:spPr>
          <a:xfrm>
            <a:off x="8161020" y="3703320"/>
            <a:ext cx="1234440" cy="274320"/>
          </a:xfrm>
          <a:prstGeom prst="rect">
            <a:avLst/>
          </a:prstGeom>
          <a:noFill/>
          <a:ln/>
        </p:spPr>
        <p:txBody>
          <a:bodyPr wrap="square" lIns="0" tIns="0" rIns="0" bIns="0" rtlCol="0" anchor="t"/>
          <a:lstStyle/>
          <a:p>
            <a:pPr indent="0" marL="0">
              <a:buNone/>
            </a:pPr>
            <a:r>
              <a:rPr lang="en-US" sz="1100" i="1" dirty="0">
                <a:solidFill>
                  <a:schemeClr val="tx2"/>
                </a:solidFill>
              </a:rPr>
              <a:t>nothing to deploy</a:t>
            </a:r>
            <a:endParaRPr lang="en-US" sz="1100" dirty="0"/>
          </a:p>
        </p:txBody>
      </p:sp>
      <p:sp>
        <p:nvSpPr>
          <p:cNvPr id="54" name="New stack note"/>
          <p:cNvSpPr/>
          <p:nvPr/>
        </p:nvSpPr>
        <p:spPr>
          <a:xfrm>
            <a:off x="548640" y="4434840"/>
            <a:ext cx="4069080" cy="1097280"/>
          </a:xfrm>
          <a:prstGeom prst="roundRect">
            <a:avLst>
              <a:gd name="adj" fmla="val 8333"/>
            </a:avLst>
          </a:prstGeom>
          <a:solidFill>
            <a:schemeClr val="bg2"/>
          </a:solidFill>
          <a:ln/>
        </p:spPr>
      </p:sp>
      <p:sp>
        <p:nvSpPr>
          <p:cNvPr id="55" name="Shape 45"/>
          <p:cNvSpPr/>
          <p:nvPr/>
        </p:nvSpPr>
        <p:spPr>
          <a:xfrm>
            <a:off x="713232" y="4599432"/>
            <a:ext cx="384048" cy="384048"/>
          </a:xfrm>
          <a:prstGeom prst="ellipse">
            <a:avLst/>
          </a:prstGeom>
          <a:solidFill>
            <a:schemeClr val="accent5"/>
          </a:solidFill>
          <a:ln/>
        </p:spPr>
      </p:sp>
      <p:pic>
        <p:nvPicPr>
          <p:cNvPr id="56" name="Image 8" descr="preencoded.png">    </p:cNvPr>
          <p:cNvPicPr>
            <a:picLocks noChangeAspect="1"/>
          </p:cNvPicPr>
          <p:nvPr/>
        </p:nvPicPr>
        <p:blipFill>
          <a:blip r:embed="rId9"/>
          <a:stretch>
            <a:fillRect/>
          </a:stretch>
        </p:blipFill>
        <p:spPr>
          <a:xfrm>
            <a:off x="797723" y="4683923"/>
            <a:ext cx="215067" cy="215067"/>
          </a:xfrm>
          <a:prstGeom prst="rect">
            <a:avLst/>
          </a:prstGeom>
        </p:spPr>
      </p:pic>
      <p:sp>
        <p:nvSpPr>
          <p:cNvPr id="57" name="Text 46"/>
          <p:cNvSpPr txBox="1"/>
          <p:nvPr/>
        </p:nvSpPr>
        <p:spPr>
          <a:xfrm>
            <a:off x="1243584" y="4581144"/>
            <a:ext cx="3246120" cy="868680"/>
          </a:xfrm>
          <a:prstGeom prst="rect">
            <a:avLst/>
          </a:prstGeom>
          <a:noFill/>
          <a:ln/>
        </p:spPr>
        <p:txBody>
          <a:bodyPr wrap="square" lIns="0" tIns="0" rIns="0" bIns="0" rtlCol="0" anchor="t"/>
          <a:lstStyle/>
          <a:p>
            <a:pPr indent="0" marL="0">
              <a:buNone/>
            </a:pPr>
            <a:r>
              <a:rPr lang="en-US" sz="1300" b="1" dirty="0">
                <a:solidFill>
                  <a:schemeClr val="tx1"/>
                </a:solidFill>
              </a:rPr>
              <a:t>Brand-new stack?</a:t>
            </a:r>
            <a:endParaRPr lang="en-US" sz="1300" dirty="0"/>
          </a:p>
          <a:p>
            <a:pPr indent="0" marL="0">
              <a:buNone/>
            </a:pPr>
            <a:r>
              <a:rPr lang="en-US" sz="1300" dirty="0">
                <a:solidFill>
                  <a:schemeClr val="tx2"/>
                </a:solidFill>
              </a:rPr>
              <a:t>The drift check is skipped — there is nothing to compare yet. It goes straight to the change set.</a:t>
            </a:r>
            <a:endParaRPr lang="en-US" sz="1300" dirty="0"/>
          </a:p>
        </p:txBody>
      </p:sp>
      <p:sp>
        <p:nvSpPr>
          <p:cNvPr id="58" name="Safety chip"/>
          <p:cNvSpPr/>
          <p:nvPr/>
        </p:nvSpPr>
        <p:spPr>
          <a:xfrm>
            <a:off x="548640" y="5760720"/>
            <a:ext cx="2633472" cy="420624"/>
          </a:xfrm>
          <a:prstGeom prst="roundRect">
            <a:avLst>
              <a:gd name="adj" fmla="val 50000"/>
            </a:avLst>
          </a:prstGeom>
          <a:solidFill>
            <a:schemeClr val="accent1">
              <a:alpha val="10000"/>
            </a:schemeClr>
          </a:solidFill>
          <a:ln/>
        </p:spPr>
      </p:sp>
      <p:pic>
        <p:nvPicPr>
          <p:cNvPr id="59" name="Image 9" descr="preencoded.png">    </p:cNvPr>
          <p:cNvPicPr>
            <a:picLocks noChangeAspect="1"/>
          </p:cNvPicPr>
          <p:nvPr/>
        </p:nvPicPr>
        <p:blipFill>
          <a:blip r:embed="rId10"/>
          <a:stretch>
            <a:fillRect/>
          </a:stretch>
        </p:blipFill>
        <p:spPr>
          <a:xfrm>
            <a:off x="694944" y="5870448"/>
            <a:ext cx="201168" cy="201168"/>
          </a:xfrm>
          <a:prstGeom prst="rect">
            <a:avLst/>
          </a:prstGeom>
        </p:spPr>
      </p:pic>
      <p:sp>
        <p:nvSpPr>
          <p:cNvPr id="60" name="Text 48"/>
          <p:cNvSpPr txBox="1"/>
          <p:nvPr/>
        </p:nvSpPr>
        <p:spPr>
          <a:xfrm>
            <a:off x="960120" y="5760720"/>
            <a:ext cx="2176272" cy="420624"/>
          </a:xfrm>
          <a:prstGeom prst="rect">
            <a:avLst/>
          </a:prstGeom>
          <a:noFill/>
          <a:ln/>
        </p:spPr>
        <p:txBody>
          <a:bodyPr wrap="square" lIns="0" tIns="0" rIns="0" bIns="0" rtlCol="0" anchor="ctr"/>
          <a:lstStyle/>
          <a:p>
            <a:pPr indent="0" marL="0">
              <a:buNone/>
            </a:pPr>
            <a:r>
              <a:rPr lang="en-US" sz="1200" dirty="0">
                <a:solidFill>
                  <a:schemeClr val="tx1"/>
                </a:solidFill>
              </a:rPr>
              <a:t>One run per stack at a time</a:t>
            </a:r>
            <a:endParaRPr lang="en-US" sz="1200" dirty="0"/>
          </a:p>
        </p:txBody>
      </p:sp>
      <p:sp>
        <p:nvSpPr>
          <p:cNvPr id="61" name="Safety chip"/>
          <p:cNvSpPr/>
          <p:nvPr/>
        </p:nvSpPr>
        <p:spPr>
          <a:xfrm>
            <a:off x="3367735" y="5760720"/>
            <a:ext cx="2633472" cy="420624"/>
          </a:xfrm>
          <a:prstGeom prst="roundRect">
            <a:avLst>
              <a:gd name="adj" fmla="val 50000"/>
            </a:avLst>
          </a:prstGeom>
          <a:solidFill>
            <a:schemeClr val="accent1">
              <a:alpha val="10000"/>
            </a:schemeClr>
          </a:solidFill>
          <a:ln/>
        </p:spPr>
      </p:sp>
      <p:pic>
        <p:nvPicPr>
          <p:cNvPr id="62" name="Image 10" descr="preencoded.png">    </p:cNvPr>
          <p:cNvPicPr>
            <a:picLocks noChangeAspect="1"/>
          </p:cNvPicPr>
          <p:nvPr/>
        </p:nvPicPr>
        <p:blipFill>
          <a:blip r:embed="rId11"/>
          <a:stretch>
            <a:fillRect/>
          </a:stretch>
        </p:blipFill>
        <p:spPr>
          <a:xfrm>
            <a:off x="3514039" y="5870448"/>
            <a:ext cx="201168" cy="201168"/>
          </a:xfrm>
          <a:prstGeom prst="rect">
            <a:avLst/>
          </a:prstGeom>
        </p:spPr>
      </p:pic>
      <p:sp>
        <p:nvSpPr>
          <p:cNvPr id="63" name="Text 50"/>
          <p:cNvSpPr txBox="1"/>
          <p:nvPr/>
        </p:nvSpPr>
        <p:spPr>
          <a:xfrm>
            <a:off x="3779215" y="5760720"/>
            <a:ext cx="2176272" cy="420624"/>
          </a:xfrm>
          <a:prstGeom prst="rect">
            <a:avLst/>
          </a:prstGeom>
          <a:noFill/>
          <a:ln/>
        </p:spPr>
        <p:txBody>
          <a:bodyPr wrap="square" lIns="0" tIns="0" rIns="0" bIns="0" rtlCol="0" anchor="ctr"/>
          <a:lstStyle/>
          <a:p>
            <a:pPr indent="0" marL="0">
              <a:buNone/>
            </a:pPr>
            <a:r>
              <a:rPr lang="en-US" sz="1200" dirty="0">
                <a:solidFill>
                  <a:schemeClr val="tx1"/>
                </a:solidFill>
              </a:rPr>
              <a:t>Blocks busy or broken stacks</a:t>
            </a:r>
            <a:endParaRPr lang="en-US" sz="1200" dirty="0"/>
          </a:p>
        </p:txBody>
      </p:sp>
      <p:sp>
        <p:nvSpPr>
          <p:cNvPr id="64" name="Safety chip"/>
          <p:cNvSpPr/>
          <p:nvPr/>
        </p:nvSpPr>
        <p:spPr>
          <a:xfrm>
            <a:off x="6186830" y="5760720"/>
            <a:ext cx="2633472" cy="420624"/>
          </a:xfrm>
          <a:prstGeom prst="roundRect">
            <a:avLst>
              <a:gd name="adj" fmla="val 50000"/>
            </a:avLst>
          </a:prstGeom>
          <a:solidFill>
            <a:schemeClr val="accent1">
              <a:alpha val="10000"/>
            </a:schemeClr>
          </a:solidFill>
          <a:ln/>
        </p:spPr>
      </p:sp>
      <p:pic>
        <p:nvPicPr>
          <p:cNvPr id="65" name="Image 11" descr="preencoded.png">    </p:cNvPr>
          <p:cNvPicPr>
            <a:picLocks noChangeAspect="1"/>
          </p:cNvPicPr>
          <p:nvPr/>
        </p:nvPicPr>
        <p:blipFill>
          <a:blip r:embed="rId12"/>
          <a:stretch>
            <a:fillRect/>
          </a:stretch>
        </p:blipFill>
        <p:spPr>
          <a:xfrm>
            <a:off x="6333134" y="5870448"/>
            <a:ext cx="201168" cy="201168"/>
          </a:xfrm>
          <a:prstGeom prst="rect">
            <a:avLst/>
          </a:prstGeom>
        </p:spPr>
      </p:pic>
      <p:sp>
        <p:nvSpPr>
          <p:cNvPr id="66" name="Text 52"/>
          <p:cNvSpPr txBox="1"/>
          <p:nvPr/>
        </p:nvSpPr>
        <p:spPr>
          <a:xfrm>
            <a:off x="6598310" y="5760720"/>
            <a:ext cx="2176272" cy="420624"/>
          </a:xfrm>
          <a:prstGeom prst="rect">
            <a:avLst/>
          </a:prstGeom>
          <a:noFill/>
          <a:ln/>
        </p:spPr>
        <p:txBody>
          <a:bodyPr wrap="square" lIns="0" tIns="0" rIns="0" bIns="0" rtlCol="0" anchor="ctr"/>
          <a:lstStyle/>
          <a:p>
            <a:pPr indent="0" marL="0">
              <a:buNone/>
            </a:pPr>
            <a:r>
              <a:rPr lang="en-US" sz="1200" dirty="0">
                <a:solidFill>
                  <a:schemeClr val="tx1"/>
                </a:solidFill>
              </a:rPr>
              <a:t>Flags deletions &amp; replacements</a:t>
            </a:r>
            <a:endParaRPr lang="en-US" sz="1200" dirty="0"/>
          </a:p>
        </p:txBody>
      </p:sp>
      <p:sp>
        <p:nvSpPr>
          <p:cNvPr id="67" name="Safety chip"/>
          <p:cNvSpPr/>
          <p:nvPr/>
        </p:nvSpPr>
        <p:spPr>
          <a:xfrm>
            <a:off x="9005926" y="5760720"/>
            <a:ext cx="2633472" cy="420624"/>
          </a:xfrm>
          <a:prstGeom prst="roundRect">
            <a:avLst>
              <a:gd name="adj" fmla="val 50000"/>
            </a:avLst>
          </a:prstGeom>
          <a:solidFill>
            <a:schemeClr val="accent1">
              <a:alpha val="10000"/>
            </a:schemeClr>
          </a:solidFill>
          <a:ln/>
        </p:spPr>
      </p:sp>
      <p:pic>
        <p:nvPicPr>
          <p:cNvPr id="68" name="Image 12" descr="preencoded.png">    </p:cNvPr>
          <p:cNvPicPr>
            <a:picLocks noChangeAspect="1"/>
          </p:cNvPicPr>
          <p:nvPr/>
        </p:nvPicPr>
        <p:blipFill>
          <a:blip r:embed="rId13"/>
          <a:stretch>
            <a:fillRect/>
          </a:stretch>
        </p:blipFill>
        <p:spPr>
          <a:xfrm>
            <a:off x="9152230" y="5870448"/>
            <a:ext cx="201168" cy="201168"/>
          </a:xfrm>
          <a:prstGeom prst="rect">
            <a:avLst/>
          </a:prstGeom>
        </p:spPr>
      </p:pic>
      <p:sp>
        <p:nvSpPr>
          <p:cNvPr id="69" name="Text 54"/>
          <p:cNvSpPr txBox="1"/>
          <p:nvPr/>
        </p:nvSpPr>
        <p:spPr>
          <a:xfrm>
            <a:off x="9417406" y="5760720"/>
            <a:ext cx="2176272" cy="420624"/>
          </a:xfrm>
          <a:prstGeom prst="rect">
            <a:avLst/>
          </a:prstGeom>
          <a:noFill/>
          <a:ln/>
        </p:spPr>
        <p:txBody>
          <a:bodyPr wrap="square" lIns="0" tIns="0" rIns="0" bIns="0" rtlCol="0" anchor="ctr"/>
          <a:lstStyle/>
          <a:p>
            <a:pPr indent="0" marL="0">
              <a:buNone/>
            </a:pPr>
            <a:r>
              <a:rPr lang="en-US" sz="1200" dirty="0">
                <a:solidFill>
                  <a:schemeClr val="tx1"/>
                </a:solidFill>
              </a:rPr>
              <a:t>Warns if code isn’t merged yet</a:t>
            </a: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What the new pipeline gives us</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Good for: every routine change to AWS that we manage in code</a:t>
            </a:r>
            <a:endParaRPr lang="en-US" sz="1500" dirty="0"/>
          </a:p>
        </p:txBody>
      </p:sp>
      <p:sp>
        <p:nvSpPr>
          <p:cNvPr id="4" name="Text 2"/>
          <p:cNvSpPr txBox="1"/>
          <p:nvPr/>
        </p:nvSpPr>
        <p:spPr>
          <a:xfrm>
            <a:off x="9811512" y="566928"/>
            <a:ext cx="1828800" cy="347472"/>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spc="150" kern="0" dirty="0">
                <a:solidFill>
                  <a:schemeClr val="bg1"/>
                </a:solidFill>
              </a:rPr>
              <a:t>NEW PIPELINE</a:t>
            </a:r>
            <a:endParaRPr lang="en-US" sz="1100" dirty="0"/>
          </a:p>
        </p:txBody>
      </p:sp>
      <p:sp>
        <p:nvSpPr>
          <p:cNvPr id="5" name="Catches manual changes"/>
          <p:cNvSpPr/>
          <p:nvPr/>
        </p:nvSpPr>
        <p:spPr>
          <a:xfrm>
            <a:off x="548640" y="1691640"/>
            <a:ext cx="3611880" cy="1325880"/>
          </a:xfrm>
          <a:prstGeom prst="roundRect">
            <a:avLst>
              <a:gd name="adj" fmla="val 6897"/>
            </a:avLst>
          </a:prstGeom>
          <a:solidFill>
            <a:schemeClr val="accent1">
              <a:alpha val="6000"/>
            </a:schemeClr>
          </a:solidFill>
          <a:ln/>
        </p:spPr>
      </p:sp>
      <p:sp>
        <p:nvSpPr>
          <p:cNvPr id="6" name="Shape 4"/>
          <p:cNvSpPr/>
          <p:nvPr/>
        </p:nvSpPr>
        <p:spPr>
          <a:xfrm>
            <a:off x="713232" y="1874520"/>
            <a:ext cx="502920" cy="502920"/>
          </a:xfrm>
          <a:prstGeom prst="ellipse">
            <a:avLst/>
          </a:prstGeom>
          <a:solidFill>
            <a:schemeClr val="accent1"/>
          </a:solidFill>
          <a:ln/>
        </p:spPr>
      </p:sp>
      <p:pic>
        <p:nvPicPr>
          <p:cNvPr id="7" name="Image 0" descr="preencoded.png">    </p:cNvPr>
          <p:cNvPicPr>
            <a:picLocks noChangeAspect="1"/>
          </p:cNvPicPr>
          <p:nvPr/>
        </p:nvPicPr>
        <p:blipFill>
          <a:blip r:embed="rId1"/>
          <a:stretch>
            <a:fillRect/>
          </a:stretch>
        </p:blipFill>
        <p:spPr>
          <a:xfrm>
            <a:off x="823874" y="1985162"/>
            <a:ext cx="281635" cy="281635"/>
          </a:xfrm>
          <a:prstGeom prst="rect">
            <a:avLst/>
          </a:prstGeom>
        </p:spPr>
      </p:pic>
      <p:sp>
        <p:nvSpPr>
          <p:cNvPr id="8" name="Text 5"/>
          <p:cNvSpPr txBox="1"/>
          <p:nvPr/>
        </p:nvSpPr>
        <p:spPr>
          <a:xfrm>
            <a:off x="1371600" y="1837944"/>
            <a:ext cx="2651760" cy="329184"/>
          </a:xfrm>
          <a:prstGeom prst="rect">
            <a:avLst/>
          </a:prstGeom>
          <a:noFill/>
          <a:ln/>
        </p:spPr>
        <p:txBody>
          <a:bodyPr wrap="square" lIns="0" tIns="0" rIns="0" bIns="0" rtlCol="0" anchor="ctr"/>
          <a:lstStyle/>
          <a:p>
            <a:pPr indent="0" marL="0">
              <a:buNone/>
            </a:pPr>
            <a:r>
              <a:rPr lang="en-US" sz="1600" b="1" dirty="0">
                <a:solidFill>
                  <a:schemeClr val="tx1"/>
                </a:solidFill>
              </a:rPr>
              <a:t>Catches manual changes</a:t>
            </a:r>
            <a:endParaRPr lang="en-US" sz="1600" dirty="0"/>
          </a:p>
        </p:txBody>
      </p:sp>
      <p:sp>
        <p:nvSpPr>
          <p:cNvPr id="9" name="Text 6"/>
          <p:cNvSpPr txBox="1"/>
          <p:nvPr/>
        </p:nvSpPr>
        <p:spPr>
          <a:xfrm>
            <a:off x="1371600" y="2185416"/>
            <a:ext cx="2651760" cy="786384"/>
          </a:xfrm>
          <a:prstGeom prst="rect">
            <a:avLst/>
          </a:prstGeom>
          <a:noFill/>
          <a:ln/>
        </p:spPr>
        <p:txBody>
          <a:bodyPr wrap="square" lIns="0" tIns="0" rIns="0" bIns="0" rtlCol="0" anchor="t"/>
          <a:lstStyle/>
          <a:p>
            <a:pPr indent="0" marL="0">
              <a:buNone/>
            </a:pPr>
            <a:r>
              <a:rPr lang="en-US" sz="1400" dirty="0">
                <a:solidFill>
                  <a:schemeClr val="tx2"/>
                </a:solidFill>
              </a:rPr>
              <a:t>The run stops and shows exactly what was changed by hand — expected vs actual.</a:t>
            </a:r>
            <a:endParaRPr lang="en-US" sz="1400" dirty="0"/>
          </a:p>
        </p:txBody>
      </p:sp>
      <p:sp>
        <p:nvSpPr>
          <p:cNvPr id="10" name="Itemised preview"/>
          <p:cNvSpPr/>
          <p:nvPr/>
        </p:nvSpPr>
        <p:spPr>
          <a:xfrm>
            <a:off x="4389120" y="1691640"/>
            <a:ext cx="3611880" cy="1325880"/>
          </a:xfrm>
          <a:prstGeom prst="roundRect">
            <a:avLst>
              <a:gd name="adj" fmla="val 6897"/>
            </a:avLst>
          </a:prstGeom>
          <a:solidFill>
            <a:schemeClr val="accent1">
              <a:alpha val="6000"/>
            </a:schemeClr>
          </a:solidFill>
          <a:ln/>
        </p:spPr>
      </p:sp>
      <p:sp>
        <p:nvSpPr>
          <p:cNvPr id="11" name="Shape 8"/>
          <p:cNvSpPr/>
          <p:nvPr/>
        </p:nvSpPr>
        <p:spPr>
          <a:xfrm>
            <a:off x="4553712" y="1874520"/>
            <a:ext cx="502920" cy="502920"/>
          </a:xfrm>
          <a:prstGeom prst="ellipse">
            <a:avLst/>
          </a:prstGeom>
          <a:solidFill>
            <a:schemeClr val="accent1"/>
          </a:solidFill>
          <a:ln/>
        </p:spPr>
      </p:sp>
      <p:pic>
        <p:nvPicPr>
          <p:cNvPr id="12" name="Image 1" descr="preencoded.png">    </p:cNvPr>
          <p:cNvPicPr>
            <a:picLocks noChangeAspect="1"/>
          </p:cNvPicPr>
          <p:nvPr/>
        </p:nvPicPr>
        <p:blipFill>
          <a:blip r:embed="rId2"/>
          <a:stretch>
            <a:fillRect/>
          </a:stretch>
        </p:blipFill>
        <p:spPr>
          <a:xfrm>
            <a:off x="4664354" y="1985162"/>
            <a:ext cx="281635" cy="281635"/>
          </a:xfrm>
          <a:prstGeom prst="rect">
            <a:avLst/>
          </a:prstGeom>
        </p:spPr>
      </p:pic>
      <p:sp>
        <p:nvSpPr>
          <p:cNvPr id="13" name="Text 9"/>
          <p:cNvSpPr txBox="1"/>
          <p:nvPr/>
        </p:nvSpPr>
        <p:spPr>
          <a:xfrm>
            <a:off x="5212080" y="1837944"/>
            <a:ext cx="2651760" cy="329184"/>
          </a:xfrm>
          <a:prstGeom prst="rect">
            <a:avLst/>
          </a:prstGeom>
          <a:noFill/>
          <a:ln/>
        </p:spPr>
        <p:txBody>
          <a:bodyPr wrap="square" lIns="0" tIns="0" rIns="0" bIns="0" rtlCol="0" anchor="ctr"/>
          <a:lstStyle/>
          <a:p>
            <a:pPr indent="0" marL="0">
              <a:buNone/>
            </a:pPr>
            <a:r>
              <a:rPr lang="en-US" sz="1600" b="1" dirty="0">
                <a:solidFill>
                  <a:schemeClr val="tx1"/>
                </a:solidFill>
              </a:rPr>
              <a:t>Itemised preview</a:t>
            </a:r>
            <a:endParaRPr lang="en-US" sz="1600" dirty="0"/>
          </a:p>
        </p:txBody>
      </p:sp>
      <p:sp>
        <p:nvSpPr>
          <p:cNvPr id="14" name="Text 10"/>
          <p:cNvSpPr txBox="1"/>
          <p:nvPr/>
        </p:nvSpPr>
        <p:spPr>
          <a:xfrm>
            <a:off x="5212080" y="2185416"/>
            <a:ext cx="2651760" cy="786384"/>
          </a:xfrm>
          <a:prstGeom prst="rect">
            <a:avLst/>
          </a:prstGeom>
          <a:noFill/>
          <a:ln/>
        </p:spPr>
        <p:txBody>
          <a:bodyPr wrap="square" lIns="0" tIns="0" rIns="0" bIns="0" rtlCol="0" anchor="t"/>
          <a:lstStyle/>
          <a:p>
            <a:pPr indent="0" marL="0">
              <a:buNone/>
            </a:pPr>
            <a:r>
              <a:rPr lang="en-US" sz="1400" dirty="0">
                <a:solidFill>
                  <a:schemeClr val="tx2"/>
                </a:solidFill>
              </a:rPr>
              <a:t>Every add, change and removal, with a warning if anything will be deleted or replaced.</a:t>
            </a:r>
            <a:endParaRPr lang="en-US" sz="1400" dirty="0"/>
          </a:p>
        </p:txBody>
      </p:sp>
      <p:sp>
        <p:nvSpPr>
          <p:cNvPr id="15" name="A person stays in control"/>
          <p:cNvSpPr/>
          <p:nvPr/>
        </p:nvSpPr>
        <p:spPr>
          <a:xfrm>
            <a:off x="548640" y="3200400"/>
            <a:ext cx="3611880" cy="1325880"/>
          </a:xfrm>
          <a:prstGeom prst="roundRect">
            <a:avLst>
              <a:gd name="adj" fmla="val 6897"/>
            </a:avLst>
          </a:prstGeom>
          <a:solidFill>
            <a:schemeClr val="accent1">
              <a:alpha val="6000"/>
            </a:schemeClr>
          </a:solidFill>
          <a:ln/>
        </p:spPr>
      </p:sp>
      <p:sp>
        <p:nvSpPr>
          <p:cNvPr id="16" name="Shape 12"/>
          <p:cNvSpPr/>
          <p:nvPr/>
        </p:nvSpPr>
        <p:spPr>
          <a:xfrm>
            <a:off x="713232" y="3383280"/>
            <a:ext cx="502920" cy="502920"/>
          </a:xfrm>
          <a:prstGeom prst="ellipse">
            <a:avLst/>
          </a:prstGeom>
          <a:solidFill>
            <a:schemeClr val="accent1"/>
          </a:solidFill>
          <a:ln/>
        </p:spPr>
      </p:sp>
      <p:pic>
        <p:nvPicPr>
          <p:cNvPr id="17" name="Image 2" descr="preencoded.png">    </p:cNvPr>
          <p:cNvPicPr>
            <a:picLocks noChangeAspect="1"/>
          </p:cNvPicPr>
          <p:nvPr/>
        </p:nvPicPr>
        <p:blipFill>
          <a:blip r:embed="rId3"/>
          <a:stretch>
            <a:fillRect/>
          </a:stretch>
        </p:blipFill>
        <p:spPr>
          <a:xfrm>
            <a:off x="823874" y="3493922"/>
            <a:ext cx="281635" cy="281635"/>
          </a:xfrm>
          <a:prstGeom prst="rect">
            <a:avLst/>
          </a:prstGeom>
        </p:spPr>
      </p:pic>
      <p:sp>
        <p:nvSpPr>
          <p:cNvPr id="18" name="Text 13"/>
          <p:cNvSpPr txBox="1"/>
          <p:nvPr/>
        </p:nvSpPr>
        <p:spPr>
          <a:xfrm>
            <a:off x="1371600" y="3346704"/>
            <a:ext cx="2651760" cy="329184"/>
          </a:xfrm>
          <a:prstGeom prst="rect">
            <a:avLst/>
          </a:prstGeom>
          <a:noFill/>
          <a:ln/>
        </p:spPr>
        <p:txBody>
          <a:bodyPr wrap="square" lIns="0" tIns="0" rIns="0" bIns="0" rtlCol="0" anchor="ctr"/>
          <a:lstStyle/>
          <a:p>
            <a:pPr indent="0" marL="0">
              <a:buNone/>
            </a:pPr>
            <a:r>
              <a:rPr lang="en-US" sz="1600" b="1" dirty="0">
                <a:solidFill>
                  <a:schemeClr val="tx1"/>
                </a:solidFill>
              </a:rPr>
              <a:t>A person stays in control</a:t>
            </a:r>
            <a:endParaRPr lang="en-US" sz="1600" dirty="0"/>
          </a:p>
        </p:txBody>
      </p:sp>
      <p:sp>
        <p:nvSpPr>
          <p:cNvPr id="19" name="Text 14"/>
          <p:cNvSpPr txBox="1"/>
          <p:nvPr/>
        </p:nvSpPr>
        <p:spPr>
          <a:xfrm>
            <a:off x="1371600" y="3694176"/>
            <a:ext cx="2651760" cy="786384"/>
          </a:xfrm>
          <a:prstGeom prst="rect">
            <a:avLst/>
          </a:prstGeom>
          <a:noFill/>
          <a:ln/>
        </p:spPr>
        <p:txBody>
          <a:bodyPr wrap="square" lIns="0" tIns="0" rIns="0" bIns="0" rtlCol="0" anchor="t"/>
          <a:lstStyle/>
          <a:p>
            <a:pPr indent="0" marL="0">
              <a:buNone/>
            </a:pPr>
            <a:r>
              <a:rPr lang="en-US" sz="1400" dirty="0">
                <a:solidFill>
                  <a:schemeClr val="tx2"/>
                </a:solidFill>
              </a:rPr>
              <a:t>By default nothing goes live until someone clicks Execute in AWS.</a:t>
            </a:r>
            <a:endParaRPr lang="en-US" sz="1400" dirty="0"/>
          </a:p>
        </p:txBody>
      </p:sp>
      <p:sp>
        <p:nvSpPr>
          <p:cNvPr id="20" name="Approved means exactly that"/>
          <p:cNvSpPr/>
          <p:nvPr/>
        </p:nvSpPr>
        <p:spPr>
          <a:xfrm>
            <a:off x="4389120" y="3200400"/>
            <a:ext cx="3611880" cy="1325880"/>
          </a:xfrm>
          <a:prstGeom prst="roundRect">
            <a:avLst>
              <a:gd name="adj" fmla="val 6897"/>
            </a:avLst>
          </a:prstGeom>
          <a:solidFill>
            <a:schemeClr val="accent1">
              <a:alpha val="6000"/>
            </a:schemeClr>
          </a:solidFill>
          <a:ln/>
        </p:spPr>
      </p:sp>
      <p:sp>
        <p:nvSpPr>
          <p:cNvPr id="21" name="Shape 16"/>
          <p:cNvSpPr/>
          <p:nvPr/>
        </p:nvSpPr>
        <p:spPr>
          <a:xfrm>
            <a:off x="4553712" y="3383280"/>
            <a:ext cx="502920" cy="502920"/>
          </a:xfrm>
          <a:prstGeom prst="ellipse">
            <a:avLst/>
          </a:prstGeom>
          <a:solidFill>
            <a:schemeClr val="accent1"/>
          </a:solidFill>
          <a:ln/>
        </p:spPr>
      </p:sp>
      <p:pic>
        <p:nvPicPr>
          <p:cNvPr id="22" name="Image 3" descr="preencoded.png">    </p:cNvPr>
          <p:cNvPicPr>
            <a:picLocks noChangeAspect="1"/>
          </p:cNvPicPr>
          <p:nvPr/>
        </p:nvPicPr>
        <p:blipFill>
          <a:blip r:embed="rId4"/>
          <a:stretch>
            <a:fillRect/>
          </a:stretch>
        </p:blipFill>
        <p:spPr>
          <a:xfrm>
            <a:off x="4664354" y="3493922"/>
            <a:ext cx="281635" cy="281635"/>
          </a:xfrm>
          <a:prstGeom prst="rect">
            <a:avLst/>
          </a:prstGeom>
        </p:spPr>
      </p:pic>
      <p:sp>
        <p:nvSpPr>
          <p:cNvPr id="23" name="Text 17"/>
          <p:cNvSpPr txBox="1"/>
          <p:nvPr/>
        </p:nvSpPr>
        <p:spPr>
          <a:xfrm>
            <a:off x="5212080" y="3346704"/>
            <a:ext cx="2651760" cy="329184"/>
          </a:xfrm>
          <a:prstGeom prst="rect">
            <a:avLst/>
          </a:prstGeom>
          <a:noFill/>
          <a:ln/>
        </p:spPr>
        <p:txBody>
          <a:bodyPr wrap="square" lIns="0" tIns="0" rIns="0" bIns="0" rtlCol="0" anchor="ctr"/>
          <a:lstStyle/>
          <a:p>
            <a:pPr indent="0" marL="0">
              <a:buNone/>
            </a:pPr>
            <a:r>
              <a:rPr lang="en-US" sz="1600" b="1" dirty="0">
                <a:solidFill>
                  <a:schemeClr val="tx1"/>
                </a:solidFill>
              </a:rPr>
              <a:t>Approved means exactly that</a:t>
            </a:r>
            <a:endParaRPr lang="en-US" sz="1600" dirty="0"/>
          </a:p>
        </p:txBody>
      </p:sp>
      <p:sp>
        <p:nvSpPr>
          <p:cNvPr id="24" name="Text 18"/>
          <p:cNvSpPr txBox="1"/>
          <p:nvPr/>
        </p:nvSpPr>
        <p:spPr>
          <a:xfrm>
            <a:off x="5212080" y="3694176"/>
            <a:ext cx="2651760" cy="786384"/>
          </a:xfrm>
          <a:prstGeom prst="rect">
            <a:avLst/>
          </a:prstGeom>
          <a:noFill/>
          <a:ln/>
        </p:spPr>
        <p:txBody>
          <a:bodyPr wrap="square" lIns="0" tIns="0" rIns="0" bIns="0" rtlCol="0" anchor="t"/>
          <a:lstStyle/>
          <a:p>
            <a:pPr indent="0" marL="0">
              <a:buNone/>
            </a:pPr>
            <a:r>
              <a:rPr lang="en-US" sz="1400" dirty="0">
                <a:solidFill>
                  <a:schemeClr val="tx2"/>
                </a:solidFill>
              </a:rPr>
              <a:t>The change set that was reviewed is the one that runs; AWS refuses an out-of-date one.</a:t>
            </a:r>
            <a:endParaRPr lang="en-US" sz="1400" dirty="0"/>
          </a:p>
        </p:txBody>
      </p:sp>
      <p:sp>
        <p:nvSpPr>
          <p:cNvPr id="25" name="One way for everything"/>
          <p:cNvSpPr/>
          <p:nvPr/>
        </p:nvSpPr>
        <p:spPr>
          <a:xfrm>
            <a:off x="548640" y="4709160"/>
            <a:ext cx="3611880" cy="1325880"/>
          </a:xfrm>
          <a:prstGeom prst="roundRect">
            <a:avLst>
              <a:gd name="adj" fmla="val 6897"/>
            </a:avLst>
          </a:prstGeom>
          <a:solidFill>
            <a:schemeClr val="accent1">
              <a:alpha val="6000"/>
            </a:schemeClr>
          </a:solidFill>
          <a:ln/>
        </p:spPr>
      </p:sp>
      <p:sp>
        <p:nvSpPr>
          <p:cNvPr id="26" name="Shape 20"/>
          <p:cNvSpPr/>
          <p:nvPr/>
        </p:nvSpPr>
        <p:spPr>
          <a:xfrm>
            <a:off x="713232" y="4892040"/>
            <a:ext cx="502920" cy="502920"/>
          </a:xfrm>
          <a:prstGeom prst="ellipse">
            <a:avLst/>
          </a:prstGeom>
          <a:solidFill>
            <a:schemeClr val="accent1"/>
          </a:solidFill>
          <a:ln/>
        </p:spPr>
      </p:sp>
      <p:pic>
        <p:nvPicPr>
          <p:cNvPr id="27" name="Image 4" descr="preencoded.png">    </p:cNvPr>
          <p:cNvPicPr>
            <a:picLocks noChangeAspect="1"/>
          </p:cNvPicPr>
          <p:nvPr/>
        </p:nvPicPr>
        <p:blipFill>
          <a:blip r:embed="rId5"/>
          <a:stretch>
            <a:fillRect/>
          </a:stretch>
        </p:blipFill>
        <p:spPr>
          <a:xfrm>
            <a:off x="823874" y="5002682"/>
            <a:ext cx="281635" cy="281635"/>
          </a:xfrm>
          <a:prstGeom prst="rect">
            <a:avLst/>
          </a:prstGeom>
        </p:spPr>
      </p:pic>
      <p:sp>
        <p:nvSpPr>
          <p:cNvPr id="28" name="Text 21"/>
          <p:cNvSpPr txBox="1"/>
          <p:nvPr/>
        </p:nvSpPr>
        <p:spPr>
          <a:xfrm>
            <a:off x="1371600" y="4855464"/>
            <a:ext cx="2651760" cy="329184"/>
          </a:xfrm>
          <a:prstGeom prst="rect">
            <a:avLst/>
          </a:prstGeom>
          <a:noFill/>
          <a:ln/>
        </p:spPr>
        <p:txBody>
          <a:bodyPr wrap="square" lIns="0" tIns="0" rIns="0" bIns="0" rtlCol="0" anchor="ctr"/>
          <a:lstStyle/>
          <a:p>
            <a:pPr indent="0" marL="0">
              <a:buNone/>
            </a:pPr>
            <a:r>
              <a:rPr lang="en-US" sz="1600" b="1" dirty="0">
                <a:solidFill>
                  <a:schemeClr val="tx1"/>
                </a:solidFill>
              </a:rPr>
              <a:t>One way for everything</a:t>
            </a:r>
            <a:endParaRPr lang="en-US" sz="1600" dirty="0"/>
          </a:p>
        </p:txBody>
      </p:sp>
      <p:sp>
        <p:nvSpPr>
          <p:cNvPr id="29" name="Text 22"/>
          <p:cNvSpPr txBox="1"/>
          <p:nvPr/>
        </p:nvSpPr>
        <p:spPr>
          <a:xfrm>
            <a:off x="1371600" y="5202936"/>
            <a:ext cx="2651760" cy="786384"/>
          </a:xfrm>
          <a:prstGeom prst="rect">
            <a:avLst/>
          </a:prstGeom>
          <a:noFill/>
          <a:ln/>
        </p:spPr>
        <p:txBody>
          <a:bodyPr wrap="square" lIns="0" tIns="0" rIns="0" bIns="0" rtlCol="0" anchor="t"/>
          <a:lstStyle/>
          <a:p>
            <a:pPr indent="0" marL="0">
              <a:buNone/>
            </a:pPr>
            <a:r>
              <a:rPr lang="en-US" sz="1400" dirty="0">
                <a:solidFill>
                  <a:schemeClr val="tx2"/>
                </a:solidFill>
              </a:rPr>
              <a:t>Any resource we manage in CloudFormation — network, security, access, DNS.</a:t>
            </a:r>
            <a:endParaRPr lang="en-US" sz="1400" dirty="0"/>
          </a:p>
        </p:txBody>
      </p:sp>
      <p:sp>
        <p:nvSpPr>
          <p:cNvPr id="30" name="A clear record of every run"/>
          <p:cNvSpPr/>
          <p:nvPr/>
        </p:nvSpPr>
        <p:spPr>
          <a:xfrm>
            <a:off x="4389120" y="4709160"/>
            <a:ext cx="3611880" cy="1325880"/>
          </a:xfrm>
          <a:prstGeom prst="roundRect">
            <a:avLst>
              <a:gd name="adj" fmla="val 6897"/>
            </a:avLst>
          </a:prstGeom>
          <a:solidFill>
            <a:schemeClr val="accent1">
              <a:alpha val="6000"/>
            </a:schemeClr>
          </a:solidFill>
          <a:ln/>
        </p:spPr>
      </p:sp>
      <p:sp>
        <p:nvSpPr>
          <p:cNvPr id="31" name="Shape 24"/>
          <p:cNvSpPr/>
          <p:nvPr/>
        </p:nvSpPr>
        <p:spPr>
          <a:xfrm>
            <a:off x="4553712" y="4892040"/>
            <a:ext cx="502920" cy="502920"/>
          </a:xfrm>
          <a:prstGeom prst="ellipse">
            <a:avLst/>
          </a:prstGeom>
          <a:solidFill>
            <a:schemeClr val="accent1"/>
          </a:solidFill>
          <a:ln/>
        </p:spPr>
      </p:sp>
      <p:pic>
        <p:nvPicPr>
          <p:cNvPr id="32" name="Image 5" descr="preencoded.png">    </p:cNvPr>
          <p:cNvPicPr>
            <a:picLocks noChangeAspect="1"/>
          </p:cNvPicPr>
          <p:nvPr/>
        </p:nvPicPr>
        <p:blipFill>
          <a:blip r:embed="rId6"/>
          <a:stretch>
            <a:fillRect/>
          </a:stretch>
        </p:blipFill>
        <p:spPr>
          <a:xfrm>
            <a:off x="4664354" y="5002682"/>
            <a:ext cx="281635" cy="281635"/>
          </a:xfrm>
          <a:prstGeom prst="rect">
            <a:avLst/>
          </a:prstGeom>
        </p:spPr>
      </p:pic>
      <p:sp>
        <p:nvSpPr>
          <p:cNvPr id="33" name="Text 25"/>
          <p:cNvSpPr txBox="1"/>
          <p:nvPr/>
        </p:nvSpPr>
        <p:spPr>
          <a:xfrm>
            <a:off x="5212080" y="4855464"/>
            <a:ext cx="2651760" cy="329184"/>
          </a:xfrm>
          <a:prstGeom prst="rect">
            <a:avLst/>
          </a:prstGeom>
          <a:noFill/>
          <a:ln/>
        </p:spPr>
        <p:txBody>
          <a:bodyPr wrap="square" lIns="0" tIns="0" rIns="0" bIns="0" rtlCol="0" anchor="ctr"/>
          <a:lstStyle/>
          <a:p>
            <a:pPr indent="0" marL="0">
              <a:buNone/>
            </a:pPr>
            <a:r>
              <a:rPr lang="en-US" sz="1600" b="1" dirty="0">
                <a:solidFill>
                  <a:schemeClr val="tx1"/>
                </a:solidFill>
              </a:rPr>
              <a:t>A clear record of every run</a:t>
            </a:r>
            <a:endParaRPr lang="en-US" sz="1600" dirty="0"/>
          </a:p>
        </p:txBody>
      </p:sp>
      <p:sp>
        <p:nvSpPr>
          <p:cNvPr id="34" name="Text 26"/>
          <p:cNvSpPr txBox="1"/>
          <p:nvPr/>
        </p:nvSpPr>
        <p:spPr>
          <a:xfrm>
            <a:off x="5212080" y="5202936"/>
            <a:ext cx="2651760" cy="786384"/>
          </a:xfrm>
          <a:prstGeom prst="rect">
            <a:avLst/>
          </a:prstGeom>
          <a:noFill/>
          <a:ln/>
        </p:spPr>
        <p:txBody>
          <a:bodyPr wrap="square" lIns="0" tIns="0" rIns="0" bIns="0" rtlCol="0" anchor="t"/>
          <a:lstStyle/>
          <a:p>
            <a:pPr indent="0" marL="0">
              <a:buNone/>
            </a:pPr>
            <a:r>
              <a:rPr lang="en-US" sz="1400" dirty="0">
                <a:solidFill>
                  <a:schemeClr val="tx2"/>
                </a:solidFill>
              </a:rPr>
              <a:t>Who ran it, what changed, where, and how it ended.</a:t>
            </a:r>
            <a:endParaRPr lang="en-US" sz="1400" dirty="0"/>
          </a:p>
        </p:txBody>
      </p:sp>
      <p:sp>
        <p:nvSpPr>
          <p:cNvPr id="35" name="Limits card"/>
          <p:cNvSpPr/>
          <p:nvPr/>
        </p:nvSpPr>
        <p:spPr>
          <a:xfrm>
            <a:off x="8366760" y="1691640"/>
            <a:ext cx="3273552" cy="4343400"/>
          </a:xfrm>
          <a:prstGeom prst="roundRect">
            <a:avLst>
              <a:gd name="adj" fmla="val 3352"/>
            </a:avLst>
          </a:prstGeom>
          <a:solidFill>
            <a:schemeClr val="accent4">
              <a:alpha val="12000"/>
            </a:schemeClr>
          </a:solidFill>
          <a:ln/>
        </p:spPr>
      </p:sp>
      <p:sp>
        <p:nvSpPr>
          <p:cNvPr id="36" name="Shape 28"/>
          <p:cNvSpPr/>
          <p:nvPr/>
        </p:nvSpPr>
        <p:spPr>
          <a:xfrm>
            <a:off x="8577072" y="1901952"/>
            <a:ext cx="457200" cy="457200"/>
          </a:xfrm>
          <a:prstGeom prst="ellipse">
            <a:avLst/>
          </a:prstGeom>
          <a:solidFill>
            <a:schemeClr val="accent4"/>
          </a:solidFill>
          <a:ln/>
        </p:spPr>
      </p:sp>
      <p:pic>
        <p:nvPicPr>
          <p:cNvPr id="37" name="Image 6" descr="preencoded.png">    </p:cNvPr>
          <p:cNvPicPr>
            <a:picLocks noChangeAspect="1"/>
          </p:cNvPicPr>
          <p:nvPr/>
        </p:nvPicPr>
        <p:blipFill>
          <a:blip r:embed="rId7"/>
          <a:stretch>
            <a:fillRect/>
          </a:stretch>
        </p:blipFill>
        <p:spPr>
          <a:xfrm>
            <a:off x="8677656" y="2002536"/>
            <a:ext cx="256032" cy="256032"/>
          </a:xfrm>
          <a:prstGeom prst="rect">
            <a:avLst/>
          </a:prstGeom>
        </p:spPr>
      </p:pic>
      <p:sp>
        <p:nvSpPr>
          <p:cNvPr id="38" name="Text 29"/>
          <p:cNvSpPr txBox="1"/>
          <p:nvPr/>
        </p:nvSpPr>
        <p:spPr>
          <a:xfrm>
            <a:off x="9162288" y="1901952"/>
            <a:ext cx="2377440" cy="457200"/>
          </a:xfrm>
          <a:prstGeom prst="rect">
            <a:avLst/>
          </a:prstGeom>
          <a:noFill/>
          <a:ln/>
        </p:spPr>
        <p:txBody>
          <a:bodyPr wrap="square" lIns="0" tIns="0" rIns="0" bIns="0" rtlCol="0" anchor="ctr"/>
          <a:lstStyle/>
          <a:p>
            <a:pPr indent="0" marL="0">
              <a:buNone/>
            </a:pPr>
            <a:r>
              <a:rPr lang="en-US" sz="1800" b="1" dirty="0">
                <a:solidFill>
                  <a:schemeClr val="tx1"/>
                </a:solidFill>
              </a:rPr>
              <a:t>What it doesn’t do</a:t>
            </a:r>
            <a:endParaRPr lang="en-US" sz="1800" dirty="0"/>
          </a:p>
        </p:txBody>
      </p:sp>
      <p:pic>
        <p:nvPicPr>
          <p:cNvPr id="39" name="Image 7" descr="preencoded.png">    </p:cNvPr>
          <p:cNvPicPr>
            <a:picLocks noChangeAspect="1"/>
          </p:cNvPicPr>
          <p:nvPr/>
        </p:nvPicPr>
        <p:blipFill>
          <a:blip r:embed="rId8"/>
          <a:stretch>
            <a:fillRect/>
          </a:stretch>
        </p:blipFill>
        <p:spPr>
          <a:xfrm>
            <a:off x="8595360" y="2613914"/>
            <a:ext cx="219456" cy="219456"/>
          </a:xfrm>
          <a:prstGeom prst="rect">
            <a:avLst/>
          </a:prstGeom>
        </p:spPr>
      </p:pic>
      <p:sp>
        <p:nvSpPr>
          <p:cNvPr id="40" name="Text 30"/>
          <p:cNvSpPr txBox="1"/>
          <p:nvPr/>
        </p:nvSpPr>
        <p:spPr>
          <a:xfrm>
            <a:off x="8942832" y="2606040"/>
            <a:ext cx="2532888" cy="922528"/>
          </a:xfrm>
          <a:prstGeom prst="rect">
            <a:avLst/>
          </a:prstGeom>
          <a:noFill/>
          <a:ln/>
        </p:spPr>
        <p:txBody>
          <a:bodyPr wrap="square" lIns="0" tIns="0" rIns="0" bIns="0" rtlCol="0" anchor="t"/>
          <a:lstStyle/>
          <a:p>
            <a:pPr indent="0" marL="0">
              <a:buNone/>
            </a:pPr>
            <a:r>
              <a:rPr lang="en-US" sz="1400" dirty="0">
                <a:solidFill>
                  <a:schemeClr val="tx1"/>
                </a:solidFill>
              </a:rPr>
              <a:t>Drift check works only where AWS supports it — FMS policies, for example, can’t be checked (slide 12).</a:t>
            </a:r>
            <a:endParaRPr lang="en-US" sz="1400" dirty="0"/>
          </a:p>
        </p:txBody>
      </p:sp>
      <p:pic>
        <p:nvPicPr>
          <p:cNvPr id="41" name="Image 8" descr="preencoded.png">    </p:cNvPr>
          <p:cNvPicPr>
            <a:picLocks noChangeAspect="1"/>
          </p:cNvPicPr>
          <p:nvPr/>
        </p:nvPicPr>
        <p:blipFill>
          <a:blip r:embed="rId9"/>
          <a:stretch>
            <a:fillRect/>
          </a:stretch>
        </p:blipFill>
        <p:spPr>
          <a:xfrm>
            <a:off x="8595360" y="3719322"/>
            <a:ext cx="219456" cy="219456"/>
          </a:xfrm>
          <a:prstGeom prst="rect">
            <a:avLst/>
          </a:prstGeom>
        </p:spPr>
      </p:pic>
      <p:sp>
        <p:nvSpPr>
          <p:cNvPr id="42" name="Text 31"/>
          <p:cNvSpPr txBox="1"/>
          <p:nvPr/>
        </p:nvSpPr>
        <p:spPr>
          <a:xfrm>
            <a:off x="8942832" y="3711448"/>
            <a:ext cx="2532888" cy="705612"/>
          </a:xfrm>
          <a:prstGeom prst="rect">
            <a:avLst/>
          </a:prstGeom>
          <a:noFill/>
          <a:ln/>
        </p:spPr>
        <p:txBody>
          <a:bodyPr wrap="square" lIns="0" tIns="0" rIns="0" bIns="0" rtlCol="0" anchor="t"/>
          <a:lstStyle/>
          <a:p>
            <a:pPr indent="0" marL="0">
              <a:buNone/>
            </a:pPr>
            <a:r>
              <a:rPr lang="en-US" sz="1400" dirty="0">
                <a:solidFill>
                  <a:schemeClr val="tx1"/>
                </a:solidFill>
              </a:rPr>
              <a:t>Deploy = yes removes the human pause — keep the default for production.</a:t>
            </a:r>
            <a:endParaRPr lang="en-US" sz="1400" dirty="0"/>
          </a:p>
        </p:txBody>
      </p:sp>
      <p:pic>
        <p:nvPicPr>
          <p:cNvPr id="43" name="Image 9" descr="preencoded.png">    </p:cNvPr>
          <p:cNvPicPr>
            <a:picLocks noChangeAspect="1"/>
          </p:cNvPicPr>
          <p:nvPr/>
        </p:nvPicPr>
        <p:blipFill>
          <a:blip r:embed="rId10"/>
          <a:stretch>
            <a:fillRect/>
          </a:stretch>
        </p:blipFill>
        <p:spPr>
          <a:xfrm>
            <a:off x="8595360" y="4607814"/>
            <a:ext cx="219456" cy="219456"/>
          </a:xfrm>
          <a:prstGeom prst="rect">
            <a:avLst/>
          </a:prstGeom>
        </p:spPr>
      </p:pic>
      <p:sp>
        <p:nvSpPr>
          <p:cNvPr id="44" name="Text 32"/>
          <p:cNvSpPr txBox="1"/>
          <p:nvPr/>
        </p:nvSpPr>
        <p:spPr>
          <a:xfrm>
            <a:off x="8942832" y="4599940"/>
            <a:ext cx="2532888" cy="922528"/>
          </a:xfrm>
          <a:prstGeom prst="rect">
            <a:avLst/>
          </a:prstGeom>
          <a:noFill/>
          <a:ln/>
        </p:spPr>
        <p:txBody>
          <a:bodyPr wrap="square" lIns="0" tIns="0" rIns="0" bIns="0" rtlCol="0" anchor="t"/>
          <a:lstStyle/>
          <a:p>
            <a:pPr indent="0" marL="0">
              <a:buNone/>
            </a:pPr>
            <a:r>
              <a:rPr lang="en-US" sz="1400" dirty="0">
                <a:solidFill>
                  <a:schemeClr val="tx1"/>
                </a:solidFill>
              </a:rPr>
              <a:t>Doesn’t force a code review on its own — it can run from a branch (it warns when it deploys one).</a:t>
            </a:r>
            <a:endParaRPr lang="en-US" sz="14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The new pipeline in action</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Screenshots from a real run in sandbox</a:t>
            </a:r>
            <a:endParaRPr lang="en-US" sz="1500" dirty="0"/>
          </a:p>
        </p:txBody>
      </p:sp>
      <p:sp>
        <p:nvSpPr>
          <p:cNvPr id="4" name="Text 2"/>
          <p:cNvSpPr txBox="1"/>
          <p:nvPr/>
        </p:nvSpPr>
        <p:spPr>
          <a:xfrm>
            <a:off x="9811512" y="566928"/>
            <a:ext cx="1828800" cy="347472"/>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spc="150" kern="0" dirty="0">
                <a:solidFill>
                  <a:schemeClr val="bg1"/>
                </a:solidFill>
              </a:rPr>
              <a:t>NEW PIPELINE</a:t>
            </a:r>
            <a:endParaRPr lang="en-US" sz="1100" dirty="0"/>
          </a:p>
        </p:txBody>
      </p:sp>
      <p:sp>
        <p:nvSpPr>
          <p:cNvPr id="5" name="Screenshot frame"/>
          <p:cNvSpPr/>
          <p:nvPr/>
        </p:nvSpPr>
        <p:spPr>
          <a:xfrm>
            <a:off x="548640" y="1645920"/>
            <a:ext cx="5440680" cy="1691640"/>
          </a:xfrm>
          <a:prstGeom prst="roundRect">
            <a:avLst>
              <a:gd name="adj" fmla="val 4324"/>
            </a:avLst>
          </a:prstGeom>
          <a:solidFill>
            <a:schemeClr val="bg2"/>
          </a:solidFill>
          <a:ln w="15875">
            <a:solidFill>
              <a:schemeClr val="accent5"/>
            </a:solidFill>
            <a:prstDash val="dash"/>
          </a:ln>
        </p:spPr>
      </p:sp>
      <p:sp>
        <p:nvSpPr>
          <p:cNvPr id="6" name="Shape 4"/>
          <p:cNvSpPr/>
          <p:nvPr/>
        </p:nvSpPr>
        <p:spPr>
          <a:xfrm>
            <a:off x="676656" y="1773936"/>
            <a:ext cx="365760" cy="365760"/>
          </a:xfrm>
          <a:prstGeom prst="ellipse">
            <a:avLst/>
          </a:prstGeom>
          <a:solidFill>
            <a:schemeClr val="accent5"/>
          </a:solidFill>
          <a:ln/>
        </p:spPr>
      </p:sp>
      <p:pic>
        <p:nvPicPr>
          <p:cNvPr id="7" name="Image 0" descr="preencoded.png">    </p:cNvPr>
          <p:cNvPicPr>
            <a:picLocks noChangeAspect="1"/>
          </p:cNvPicPr>
          <p:nvPr/>
        </p:nvPicPr>
        <p:blipFill>
          <a:blip r:embed="rId1"/>
          <a:stretch>
            <a:fillRect/>
          </a:stretch>
        </p:blipFill>
        <p:spPr>
          <a:xfrm>
            <a:off x="757123" y="1854403"/>
            <a:ext cx="204826" cy="204826"/>
          </a:xfrm>
          <a:prstGeom prst="rect">
            <a:avLst/>
          </a:prstGeom>
        </p:spPr>
      </p:pic>
      <p:sp>
        <p:nvSpPr>
          <p:cNvPr id="8" name="Text 5"/>
          <p:cNvSpPr txBox="1"/>
          <p:nvPr/>
        </p:nvSpPr>
        <p:spPr>
          <a:xfrm>
            <a:off x="548640" y="3410712"/>
            <a:ext cx="5440680" cy="502920"/>
          </a:xfrm>
          <a:prstGeom prst="rect">
            <a:avLst/>
          </a:prstGeom>
          <a:noFill/>
          <a:ln/>
        </p:spPr>
        <p:txBody>
          <a:bodyPr wrap="square" lIns="0" tIns="0" rIns="0" bIns="0" rtlCol="0" anchor="t"/>
          <a:lstStyle/>
          <a:p>
            <a:pPr indent="0" marL="0">
              <a:buNone/>
            </a:pPr>
            <a:r>
              <a:rPr lang="en-US" sz="1300" b="1" dirty="0">
                <a:solidFill>
                  <a:schemeClr val="tx1"/>
                </a:solidFill>
              </a:rPr>
              <a:t>1 · The run page</a:t>
            </a:r>
            <a:pPr indent="0" marL="0">
              <a:buNone/>
            </a:pPr>
            <a:r>
              <a:rPr lang="en-US" sz="1200" dirty="0">
                <a:solidFill>
                  <a:schemeClr val="tx2"/>
                </a:solidFill>
              </a:rPr>
              <a:t>  GitHub Actions run with the four stage boxes: Prepare → Drift check → Change set → Deploy</a:t>
            </a:r>
            <a:endParaRPr lang="en-US" sz="1400" dirty="0"/>
          </a:p>
        </p:txBody>
      </p:sp>
      <p:sp>
        <p:nvSpPr>
          <p:cNvPr id="9" name="Screenshot frame"/>
          <p:cNvSpPr/>
          <p:nvPr/>
        </p:nvSpPr>
        <p:spPr>
          <a:xfrm>
            <a:off x="6199632" y="1645920"/>
            <a:ext cx="5440680" cy="1691640"/>
          </a:xfrm>
          <a:prstGeom prst="roundRect">
            <a:avLst>
              <a:gd name="adj" fmla="val 4324"/>
            </a:avLst>
          </a:prstGeom>
          <a:solidFill>
            <a:schemeClr val="bg2"/>
          </a:solidFill>
          <a:ln w="15875">
            <a:solidFill>
              <a:schemeClr val="accent5"/>
            </a:solidFill>
            <a:prstDash val="dash"/>
          </a:ln>
        </p:spPr>
      </p:sp>
      <p:sp>
        <p:nvSpPr>
          <p:cNvPr id="10" name="Shape 7"/>
          <p:cNvSpPr/>
          <p:nvPr/>
        </p:nvSpPr>
        <p:spPr>
          <a:xfrm>
            <a:off x="6327648" y="1773936"/>
            <a:ext cx="365760" cy="365760"/>
          </a:xfrm>
          <a:prstGeom prst="ellipse">
            <a:avLst/>
          </a:prstGeom>
          <a:solidFill>
            <a:schemeClr val="accent5"/>
          </a:solidFill>
          <a:ln/>
        </p:spPr>
      </p:sp>
      <p:pic>
        <p:nvPicPr>
          <p:cNvPr id="11" name="Image 1" descr="preencoded.png">    </p:cNvPr>
          <p:cNvPicPr>
            <a:picLocks noChangeAspect="1"/>
          </p:cNvPicPr>
          <p:nvPr/>
        </p:nvPicPr>
        <p:blipFill>
          <a:blip r:embed="rId2"/>
          <a:stretch>
            <a:fillRect/>
          </a:stretch>
        </p:blipFill>
        <p:spPr>
          <a:xfrm>
            <a:off x="6408115" y="1854403"/>
            <a:ext cx="204826" cy="204826"/>
          </a:xfrm>
          <a:prstGeom prst="rect">
            <a:avLst/>
          </a:prstGeom>
        </p:spPr>
      </p:pic>
      <p:sp>
        <p:nvSpPr>
          <p:cNvPr id="12" name="Text 8"/>
          <p:cNvSpPr txBox="1"/>
          <p:nvPr/>
        </p:nvSpPr>
        <p:spPr>
          <a:xfrm>
            <a:off x="6199632" y="3410712"/>
            <a:ext cx="5440680" cy="502920"/>
          </a:xfrm>
          <a:prstGeom prst="rect">
            <a:avLst/>
          </a:prstGeom>
          <a:noFill/>
          <a:ln/>
        </p:spPr>
        <p:txBody>
          <a:bodyPr wrap="square" lIns="0" tIns="0" rIns="0" bIns="0" rtlCol="0" anchor="t"/>
          <a:lstStyle/>
          <a:p>
            <a:pPr indent="0" marL="0">
              <a:buNone/>
            </a:pPr>
            <a:r>
              <a:rPr lang="en-US" sz="1300" b="1" dirty="0">
                <a:solidFill>
                  <a:schemeClr val="tx1"/>
                </a:solidFill>
              </a:rPr>
              <a:t>2 · Drift caught</a:t>
            </a:r>
            <a:pPr indent="0" marL="0">
              <a:buNone/>
            </a:pPr>
            <a:r>
              <a:rPr lang="en-US" sz="1200" dirty="0">
                <a:solidFill>
                  <a:schemeClr val="tx2"/>
                </a:solidFill>
              </a:rPr>
              <a:t>  A run stopped by a hand-made change, showing expected vs actual</a:t>
            </a:r>
            <a:endParaRPr lang="en-US" sz="1400" dirty="0"/>
          </a:p>
        </p:txBody>
      </p:sp>
      <p:sp>
        <p:nvSpPr>
          <p:cNvPr id="13" name="Screenshot frame"/>
          <p:cNvSpPr/>
          <p:nvPr/>
        </p:nvSpPr>
        <p:spPr>
          <a:xfrm>
            <a:off x="548640" y="4041648"/>
            <a:ext cx="5440680" cy="1691640"/>
          </a:xfrm>
          <a:prstGeom prst="roundRect">
            <a:avLst>
              <a:gd name="adj" fmla="val 4324"/>
            </a:avLst>
          </a:prstGeom>
          <a:solidFill>
            <a:schemeClr val="bg2"/>
          </a:solidFill>
          <a:ln w="15875">
            <a:solidFill>
              <a:schemeClr val="accent5"/>
            </a:solidFill>
            <a:prstDash val="dash"/>
          </a:ln>
        </p:spPr>
      </p:sp>
      <p:sp>
        <p:nvSpPr>
          <p:cNvPr id="14" name="Shape 10"/>
          <p:cNvSpPr/>
          <p:nvPr/>
        </p:nvSpPr>
        <p:spPr>
          <a:xfrm>
            <a:off x="676656" y="4169664"/>
            <a:ext cx="365760" cy="365760"/>
          </a:xfrm>
          <a:prstGeom prst="ellipse">
            <a:avLst/>
          </a:prstGeom>
          <a:solidFill>
            <a:schemeClr val="accent5"/>
          </a:solidFill>
          <a:ln/>
        </p:spPr>
      </p:sp>
      <p:pic>
        <p:nvPicPr>
          <p:cNvPr id="15" name="Image 2" descr="preencoded.png">    </p:cNvPr>
          <p:cNvPicPr>
            <a:picLocks noChangeAspect="1"/>
          </p:cNvPicPr>
          <p:nvPr/>
        </p:nvPicPr>
        <p:blipFill>
          <a:blip r:embed="rId3"/>
          <a:stretch>
            <a:fillRect/>
          </a:stretch>
        </p:blipFill>
        <p:spPr>
          <a:xfrm>
            <a:off x="757123" y="4250131"/>
            <a:ext cx="204826" cy="204826"/>
          </a:xfrm>
          <a:prstGeom prst="rect">
            <a:avLst/>
          </a:prstGeom>
        </p:spPr>
      </p:pic>
      <p:sp>
        <p:nvSpPr>
          <p:cNvPr id="16" name="Text 11"/>
          <p:cNvSpPr txBox="1"/>
          <p:nvPr/>
        </p:nvSpPr>
        <p:spPr>
          <a:xfrm>
            <a:off x="548640" y="5806440"/>
            <a:ext cx="5440680" cy="502920"/>
          </a:xfrm>
          <a:prstGeom prst="rect">
            <a:avLst/>
          </a:prstGeom>
          <a:noFill/>
          <a:ln/>
        </p:spPr>
        <p:txBody>
          <a:bodyPr wrap="square" lIns="0" tIns="0" rIns="0" bIns="0" rtlCol="0" anchor="t"/>
          <a:lstStyle/>
          <a:p>
            <a:pPr indent="0" marL="0">
              <a:buNone/>
            </a:pPr>
            <a:r>
              <a:rPr lang="en-US" sz="1300" b="1" dirty="0">
                <a:solidFill>
                  <a:schemeClr val="tx1"/>
                </a:solidFill>
              </a:rPr>
              <a:t>3 · The change set</a:t>
            </a:r>
            <a:pPr indent="0" marL="0">
              <a:buNone/>
            </a:pPr>
            <a:r>
              <a:rPr lang="en-US" sz="1200" dirty="0">
                <a:solidFill>
                  <a:schemeClr val="tx2"/>
                </a:solidFill>
              </a:rPr>
              <a:t>  Run summary “ready for review” with the add / modify / remove list</a:t>
            </a:r>
            <a:endParaRPr lang="en-US" sz="1400" dirty="0"/>
          </a:p>
        </p:txBody>
      </p:sp>
      <p:sp>
        <p:nvSpPr>
          <p:cNvPr id="17" name="Screenshot frame"/>
          <p:cNvSpPr/>
          <p:nvPr/>
        </p:nvSpPr>
        <p:spPr>
          <a:xfrm>
            <a:off x="6199632" y="4041648"/>
            <a:ext cx="5440680" cy="1691640"/>
          </a:xfrm>
          <a:prstGeom prst="roundRect">
            <a:avLst>
              <a:gd name="adj" fmla="val 4324"/>
            </a:avLst>
          </a:prstGeom>
          <a:solidFill>
            <a:schemeClr val="bg2"/>
          </a:solidFill>
          <a:ln w="15875">
            <a:solidFill>
              <a:schemeClr val="accent5"/>
            </a:solidFill>
            <a:prstDash val="dash"/>
          </a:ln>
        </p:spPr>
      </p:sp>
      <p:sp>
        <p:nvSpPr>
          <p:cNvPr id="18" name="Shape 13"/>
          <p:cNvSpPr/>
          <p:nvPr/>
        </p:nvSpPr>
        <p:spPr>
          <a:xfrm>
            <a:off x="6327648" y="4169664"/>
            <a:ext cx="365760" cy="365760"/>
          </a:xfrm>
          <a:prstGeom prst="ellipse">
            <a:avLst/>
          </a:prstGeom>
          <a:solidFill>
            <a:schemeClr val="accent5"/>
          </a:solidFill>
          <a:ln/>
        </p:spPr>
      </p:sp>
      <p:pic>
        <p:nvPicPr>
          <p:cNvPr id="19" name="Image 3" descr="preencoded.png">    </p:cNvPr>
          <p:cNvPicPr>
            <a:picLocks noChangeAspect="1"/>
          </p:cNvPicPr>
          <p:nvPr/>
        </p:nvPicPr>
        <p:blipFill>
          <a:blip r:embed="rId4"/>
          <a:stretch>
            <a:fillRect/>
          </a:stretch>
        </p:blipFill>
        <p:spPr>
          <a:xfrm>
            <a:off x="6408115" y="4250131"/>
            <a:ext cx="204826" cy="204826"/>
          </a:xfrm>
          <a:prstGeom prst="rect">
            <a:avLst/>
          </a:prstGeom>
        </p:spPr>
      </p:pic>
      <p:sp>
        <p:nvSpPr>
          <p:cNvPr id="20" name="Text 14"/>
          <p:cNvSpPr txBox="1"/>
          <p:nvPr/>
        </p:nvSpPr>
        <p:spPr>
          <a:xfrm>
            <a:off x="6199632" y="5806440"/>
            <a:ext cx="5440680" cy="502920"/>
          </a:xfrm>
          <a:prstGeom prst="rect">
            <a:avLst/>
          </a:prstGeom>
          <a:noFill/>
          <a:ln/>
        </p:spPr>
        <p:txBody>
          <a:bodyPr wrap="square" lIns="0" tIns="0" rIns="0" bIns="0" rtlCol="0" anchor="t"/>
          <a:lstStyle/>
          <a:p>
            <a:pPr indent="0" marL="0">
              <a:buNone/>
            </a:pPr>
            <a:r>
              <a:rPr lang="en-US" sz="1300" b="1" dirty="0">
                <a:solidFill>
                  <a:schemeClr val="tx1"/>
                </a:solidFill>
              </a:rPr>
              <a:t>4 · Review and Execute</a:t>
            </a:r>
            <a:pPr indent="0" marL="0">
              <a:buNone/>
            </a:pPr>
            <a:r>
              <a:rPr lang="en-US" sz="1200" dirty="0">
                <a:solidFill>
                  <a:schemeClr val="tx2"/>
                </a:solidFill>
              </a:rPr>
              <a:t>  AWS CloudFormation console: the change set page with the Execute button</a:t>
            </a:r>
            <a:endParaRPr lang="en-US" sz="1400" dirty="0"/>
          </a:p>
        </p:txBody>
      </p:sp>
      <p:sp>
        <p:nvSpPr>
          <p:cNvPr id="22" name="Text 1"/>
          <p:cNvSpPr/>
          <p:nvPr>
            <p:ph idx="103" hasCustomPrompt="1"/>
          </p:nvPr>
        </p:nvSpPr>
        <p:spPr>
          <a:xfrm>
            <a:off x="548640" y="1645920"/>
            <a:ext cx="5440680" cy="1691640"/>
          </a:xfrm>
          <a:prstGeom prst="rect">
            <a:avLst/>
          </a:prstGeom>
          <a:noFill/>
          <a:ln/>
        </p:spPr>
        <p:txBody>
          <a:bodyPr wrap="square" lIns="558800" tIns="50800" rIns="558800" bIns="50800" rtlCol="0" anchor="ctr"/>
          <a:lstStyle/>
          <a:p>
            <a:pPr algn="ctr" indent="0" marL="0">
              <a:buNone/>
            </a:pPr>
            <a:endParaRPr lang="en-US" sz="1200" dirty="0"/>
          </a:p>
        </p:txBody>
      </p:sp>
      <p:sp>
        <p:nvSpPr>
          <p:cNvPr id="23" name="Text 1"/>
          <p:cNvSpPr/>
          <p:nvPr>
            <p:ph idx="104" hasCustomPrompt="1"/>
          </p:nvPr>
        </p:nvSpPr>
        <p:spPr>
          <a:xfrm>
            <a:off x="6199632" y="1645920"/>
            <a:ext cx="5440680" cy="1691640"/>
          </a:xfrm>
          <a:prstGeom prst="rect">
            <a:avLst/>
          </a:prstGeom>
          <a:noFill/>
          <a:ln/>
        </p:spPr>
        <p:txBody>
          <a:bodyPr wrap="square" lIns="558800" tIns="50800" rIns="558800" bIns="50800" rtlCol="0" anchor="ctr"/>
          <a:lstStyle/>
          <a:p>
            <a:pPr algn="ctr" indent="0" marL="0">
              <a:buNone/>
            </a:pPr>
            <a:endParaRPr lang="en-US" sz="1200" dirty="0"/>
          </a:p>
        </p:txBody>
      </p:sp>
      <p:sp>
        <p:nvSpPr>
          <p:cNvPr id="24" name="Text 1"/>
          <p:cNvSpPr/>
          <p:nvPr>
            <p:ph idx="105" hasCustomPrompt="1"/>
          </p:nvPr>
        </p:nvSpPr>
        <p:spPr>
          <a:xfrm>
            <a:off x="548640" y="4041648"/>
            <a:ext cx="5440680" cy="1691640"/>
          </a:xfrm>
          <a:prstGeom prst="rect">
            <a:avLst/>
          </a:prstGeom>
          <a:noFill/>
          <a:ln/>
        </p:spPr>
        <p:txBody>
          <a:bodyPr wrap="square" lIns="558800" tIns="50800" rIns="558800" bIns="50800" rtlCol="0" anchor="ctr"/>
          <a:lstStyle/>
          <a:p>
            <a:pPr algn="ctr" indent="0" marL="0">
              <a:buNone/>
            </a:pPr>
            <a:endParaRPr lang="en-US" sz="1200" dirty="0"/>
          </a:p>
        </p:txBody>
      </p:sp>
      <p:sp>
        <p:nvSpPr>
          <p:cNvPr id="25" name="Text 1"/>
          <p:cNvSpPr/>
          <p:nvPr>
            <p:ph idx="106" hasCustomPrompt="1"/>
          </p:nvPr>
        </p:nvSpPr>
        <p:spPr>
          <a:xfrm>
            <a:off x="6199632" y="4041648"/>
            <a:ext cx="5440680" cy="1691640"/>
          </a:xfrm>
          <a:prstGeom prst="rect">
            <a:avLst/>
          </a:prstGeom>
          <a:noFill/>
          <a:ln/>
        </p:spPr>
        <p:txBody>
          <a:bodyPr wrap="square" lIns="558800" tIns="50800" rIns="558800" bIns="50800" rtlCol="0" anchor="ctr"/>
          <a:lstStyle/>
          <a:p>
            <a:pPr algn="ctr" indent="0" marL="0">
              <a:buNone/>
            </a:pP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WS2 DNS pipelines: export, edit, apply</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ws2-dns-records-export.yml + ws2-dns-records-apply.yml — bulk changes to DNS records only</a:t>
            </a:r>
            <a:endParaRPr lang="en-US" sz="1500" dirty="0"/>
          </a:p>
        </p:txBody>
      </p:sp>
      <p:sp>
        <p:nvSpPr>
          <p:cNvPr id="4" name="Text 2"/>
          <p:cNvSpPr txBox="1"/>
          <p:nvPr/>
        </p:nvSpPr>
        <p:spPr>
          <a:xfrm>
            <a:off x="9811512" y="566928"/>
            <a:ext cx="182880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spc="150" kern="0" dirty="0">
                <a:solidFill>
                  <a:schemeClr val="bg1"/>
                </a:solidFill>
              </a:rPr>
              <a:t>WS2 DNS</a:t>
            </a:r>
            <a:endParaRPr lang="en-US" sz="1100" dirty="0"/>
          </a:p>
        </p:txBody>
      </p:sp>
      <p:sp>
        <p:nvSpPr>
          <p:cNvPr id="5" name="PART 1"/>
          <p:cNvSpPr/>
          <p:nvPr/>
        </p:nvSpPr>
        <p:spPr>
          <a:xfrm>
            <a:off x="548640" y="1691640"/>
            <a:ext cx="1463040" cy="1097280"/>
          </a:xfrm>
          <a:prstGeom prst="roundRect">
            <a:avLst>
              <a:gd name="adj" fmla="val 8333"/>
            </a:avLst>
          </a:prstGeom>
          <a:solidFill>
            <a:schemeClr val="accent2"/>
          </a:solidFill>
          <a:ln/>
        </p:spPr>
      </p:sp>
      <p:sp>
        <p:nvSpPr>
          <p:cNvPr id="6" name="Text 4"/>
          <p:cNvSpPr txBox="1"/>
          <p:nvPr/>
        </p:nvSpPr>
        <p:spPr>
          <a:xfrm>
            <a:off x="658368" y="1783080"/>
            <a:ext cx="1280160" cy="932688"/>
          </a:xfrm>
          <a:prstGeom prst="rect">
            <a:avLst/>
          </a:prstGeom>
          <a:noFill/>
          <a:ln/>
        </p:spPr>
        <p:txBody>
          <a:bodyPr wrap="square" lIns="0" tIns="0" rIns="0" bIns="0" rtlCol="0" anchor="ctr"/>
          <a:lstStyle/>
          <a:p>
            <a:pPr indent="0" marL="0">
              <a:buNone/>
            </a:pPr>
            <a:r>
              <a:rPr lang="en-US" sz="1100" b="1" spc="150" kern="0" dirty="0">
                <a:solidFill>
                  <a:schemeClr val="bg1"/>
                </a:solidFill>
              </a:rPr>
              <a:t>PART 1</a:t>
            </a:r>
            <a:endParaRPr lang="en-US" sz="1400" dirty="0"/>
          </a:p>
          <a:p>
            <a:pPr indent="0" marL="0">
              <a:buNone/>
            </a:pPr>
            <a:r>
              <a:rPr lang="en-US" sz="1800" b="1" dirty="0">
                <a:solidFill>
                  <a:schemeClr val="bg1"/>
                </a:solidFill>
              </a:rPr>
              <a:t>Export</a:t>
            </a:r>
            <a:endParaRPr lang="en-US" sz="1400" dirty="0"/>
          </a:p>
          <a:p>
            <a:pPr indent="0" marL="0">
              <a:buNone/>
            </a:pPr>
            <a:r>
              <a:rPr lang="en-US" sz="1100" dirty="0">
                <a:solidFill>
                  <a:schemeClr val="bg1"/>
                </a:solidFill>
              </a:rPr>
              <a:t>live DNS → Git</a:t>
            </a:r>
            <a:endParaRPr lang="en-US" sz="1400" dirty="0"/>
          </a:p>
        </p:txBody>
      </p:sp>
      <p:sp>
        <p:nvSpPr>
          <p:cNvPr id="7" name="PART 2"/>
          <p:cNvSpPr/>
          <p:nvPr/>
        </p:nvSpPr>
        <p:spPr>
          <a:xfrm>
            <a:off x="548640" y="3648456"/>
            <a:ext cx="1463040" cy="1097280"/>
          </a:xfrm>
          <a:prstGeom prst="roundRect">
            <a:avLst>
              <a:gd name="adj" fmla="val 8333"/>
            </a:avLst>
          </a:prstGeom>
          <a:solidFill>
            <a:schemeClr val="accent2"/>
          </a:solidFill>
          <a:ln/>
        </p:spPr>
      </p:sp>
      <p:sp>
        <p:nvSpPr>
          <p:cNvPr id="8" name="Text 6"/>
          <p:cNvSpPr txBox="1"/>
          <p:nvPr/>
        </p:nvSpPr>
        <p:spPr>
          <a:xfrm>
            <a:off x="658368" y="3739896"/>
            <a:ext cx="1280160" cy="932688"/>
          </a:xfrm>
          <a:prstGeom prst="rect">
            <a:avLst/>
          </a:prstGeom>
          <a:noFill/>
          <a:ln/>
        </p:spPr>
        <p:txBody>
          <a:bodyPr wrap="square" lIns="0" tIns="0" rIns="0" bIns="0" rtlCol="0" anchor="ctr"/>
          <a:lstStyle/>
          <a:p>
            <a:pPr indent="0" marL="0">
              <a:buNone/>
            </a:pPr>
            <a:r>
              <a:rPr lang="en-US" sz="1100" b="1" spc="150" kern="0" dirty="0">
                <a:solidFill>
                  <a:schemeClr val="bg1"/>
                </a:solidFill>
              </a:rPr>
              <a:t>PART 2</a:t>
            </a:r>
            <a:endParaRPr lang="en-US" sz="1400" dirty="0"/>
          </a:p>
          <a:p>
            <a:pPr indent="0" marL="0">
              <a:buNone/>
            </a:pPr>
            <a:r>
              <a:rPr lang="en-US" sz="1800" b="1" dirty="0">
                <a:solidFill>
                  <a:schemeClr val="bg1"/>
                </a:solidFill>
              </a:rPr>
              <a:t>Apply</a:t>
            </a:r>
            <a:endParaRPr lang="en-US" sz="1400" dirty="0"/>
          </a:p>
          <a:p>
            <a:pPr indent="0" marL="0">
              <a:buNone/>
            </a:pPr>
            <a:r>
              <a:rPr lang="en-US" sz="1100" dirty="0">
                <a:solidFill>
                  <a:schemeClr val="bg1"/>
                </a:solidFill>
              </a:rPr>
              <a:t>Git → live DNS</a:t>
            </a:r>
            <a:endParaRPr lang="en-US" sz="1400" dirty="0"/>
          </a:p>
        </p:txBody>
      </p:sp>
      <p:sp>
        <p:nvSpPr>
          <p:cNvPr id="9" name="Export: Start"/>
          <p:cNvSpPr/>
          <p:nvPr/>
        </p:nvSpPr>
        <p:spPr>
          <a:xfrm>
            <a:off x="2240280" y="1691640"/>
            <a:ext cx="2075688" cy="1097280"/>
          </a:xfrm>
          <a:prstGeom prst="roundRect">
            <a:avLst>
              <a:gd name="adj" fmla="val 8333"/>
            </a:avLst>
          </a:prstGeom>
          <a:solidFill>
            <a:schemeClr val="accent2">
              <a:alpha val="8000"/>
            </a:schemeClr>
          </a:solidFill>
          <a:ln w="15875">
            <a:solidFill>
              <a:schemeClr val="accent2"/>
            </a:solidFill>
            <a:prstDash val="solid"/>
          </a:ln>
        </p:spPr>
      </p:sp>
      <p:sp>
        <p:nvSpPr>
          <p:cNvPr id="10" name="Shape 8"/>
          <p:cNvSpPr/>
          <p:nvPr/>
        </p:nvSpPr>
        <p:spPr>
          <a:xfrm>
            <a:off x="2368296" y="1819656"/>
            <a:ext cx="384048" cy="384048"/>
          </a:xfrm>
          <a:prstGeom prst="ellipse">
            <a:avLst/>
          </a:prstGeom>
          <a:solidFill>
            <a:schemeClr val="accent2"/>
          </a:solidFill>
          <a:ln/>
        </p:spPr>
      </p:sp>
      <p:pic>
        <p:nvPicPr>
          <p:cNvPr id="11" name="Image 0" descr="preencoded.png">    </p:cNvPr>
          <p:cNvPicPr>
            <a:picLocks noChangeAspect="1"/>
          </p:cNvPicPr>
          <p:nvPr/>
        </p:nvPicPr>
        <p:blipFill>
          <a:blip r:embed="rId1"/>
          <a:stretch>
            <a:fillRect/>
          </a:stretch>
        </p:blipFill>
        <p:spPr>
          <a:xfrm>
            <a:off x="2452787" y="1904147"/>
            <a:ext cx="215067" cy="215067"/>
          </a:xfrm>
          <a:prstGeom prst="rect">
            <a:avLst/>
          </a:prstGeom>
        </p:spPr>
      </p:pic>
      <p:sp>
        <p:nvSpPr>
          <p:cNvPr id="12" name="Text 9"/>
          <p:cNvSpPr txBox="1"/>
          <p:nvPr/>
        </p:nvSpPr>
        <p:spPr>
          <a:xfrm>
            <a:off x="2843784" y="1819656"/>
            <a:ext cx="1362456" cy="384048"/>
          </a:xfrm>
          <a:prstGeom prst="rect">
            <a:avLst/>
          </a:prstGeom>
          <a:noFill/>
          <a:ln/>
        </p:spPr>
        <p:txBody>
          <a:bodyPr wrap="square" lIns="0" tIns="0" rIns="0" bIns="0" rtlCol="0" anchor="ctr"/>
          <a:lstStyle/>
          <a:p>
            <a:pPr indent="0" marL="0">
              <a:buNone/>
            </a:pPr>
            <a:r>
              <a:rPr lang="en-US" sz="1400" b="1" dirty="0">
                <a:solidFill>
                  <a:schemeClr val="tx1"/>
                </a:solidFill>
              </a:rPr>
              <a:t>Start</a:t>
            </a:r>
            <a:endParaRPr lang="en-US" sz="1400" dirty="0"/>
          </a:p>
        </p:txBody>
      </p:sp>
      <p:sp>
        <p:nvSpPr>
          <p:cNvPr id="13" name="Text 10"/>
          <p:cNvSpPr txBox="1"/>
          <p:nvPr/>
        </p:nvSpPr>
        <p:spPr>
          <a:xfrm>
            <a:off x="2368296" y="2295144"/>
            <a:ext cx="1819656" cy="420624"/>
          </a:xfrm>
          <a:prstGeom prst="rect">
            <a:avLst/>
          </a:prstGeom>
          <a:noFill/>
          <a:ln/>
        </p:spPr>
        <p:txBody>
          <a:bodyPr wrap="square" lIns="0" tIns="0" rIns="0" bIns="0" rtlCol="0" anchor="t"/>
          <a:lstStyle/>
          <a:p>
            <a:pPr indent="0" marL="0">
              <a:buNone/>
            </a:pPr>
            <a:r>
              <a:rPr lang="en-US" sz="1200" dirty="0">
                <a:solidFill>
                  <a:schemeClr val="tx2"/>
                </a:solidFill>
              </a:rPr>
              <a:t>Pick the account and one zone — or all zones</a:t>
            </a:r>
            <a:endParaRPr lang="en-US" sz="1200" dirty="0"/>
          </a:p>
        </p:txBody>
      </p:sp>
      <p:sp>
        <p:nvSpPr>
          <p:cNvPr id="14" name="Apply: Start"/>
          <p:cNvSpPr/>
          <p:nvPr/>
        </p:nvSpPr>
        <p:spPr>
          <a:xfrm>
            <a:off x="2240280" y="3648456"/>
            <a:ext cx="2075688" cy="1097280"/>
          </a:xfrm>
          <a:prstGeom prst="roundRect">
            <a:avLst>
              <a:gd name="adj" fmla="val 8333"/>
            </a:avLst>
          </a:prstGeom>
          <a:solidFill>
            <a:schemeClr val="accent2">
              <a:alpha val="8000"/>
            </a:schemeClr>
          </a:solidFill>
          <a:ln w="15875">
            <a:solidFill>
              <a:schemeClr val="accent2"/>
            </a:solidFill>
            <a:prstDash val="solid"/>
          </a:ln>
        </p:spPr>
      </p:sp>
      <p:sp>
        <p:nvSpPr>
          <p:cNvPr id="15" name="Shape 12"/>
          <p:cNvSpPr/>
          <p:nvPr/>
        </p:nvSpPr>
        <p:spPr>
          <a:xfrm>
            <a:off x="2368296" y="3776472"/>
            <a:ext cx="384048" cy="384048"/>
          </a:xfrm>
          <a:prstGeom prst="ellipse">
            <a:avLst/>
          </a:prstGeom>
          <a:solidFill>
            <a:schemeClr val="accent2"/>
          </a:solidFill>
          <a:ln/>
        </p:spPr>
      </p:sp>
      <p:pic>
        <p:nvPicPr>
          <p:cNvPr id="16" name="Image 1" descr="preencoded.png">    </p:cNvPr>
          <p:cNvPicPr>
            <a:picLocks noChangeAspect="1"/>
          </p:cNvPicPr>
          <p:nvPr/>
        </p:nvPicPr>
        <p:blipFill>
          <a:blip r:embed="rId2"/>
          <a:stretch>
            <a:fillRect/>
          </a:stretch>
        </p:blipFill>
        <p:spPr>
          <a:xfrm>
            <a:off x="2452787" y="3860963"/>
            <a:ext cx="215067" cy="215067"/>
          </a:xfrm>
          <a:prstGeom prst="rect">
            <a:avLst/>
          </a:prstGeom>
        </p:spPr>
      </p:pic>
      <p:sp>
        <p:nvSpPr>
          <p:cNvPr id="17" name="Text 13"/>
          <p:cNvSpPr txBox="1"/>
          <p:nvPr/>
        </p:nvSpPr>
        <p:spPr>
          <a:xfrm>
            <a:off x="2843784" y="3776472"/>
            <a:ext cx="1362456" cy="384048"/>
          </a:xfrm>
          <a:prstGeom prst="rect">
            <a:avLst/>
          </a:prstGeom>
          <a:noFill/>
          <a:ln/>
        </p:spPr>
        <p:txBody>
          <a:bodyPr wrap="square" lIns="0" tIns="0" rIns="0" bIns="0" rtlCol="0" anchor="ctr"/>
          <a:lstStyle/>
          <a:p>
            <a:pPr indent="0" marL="0">
              <a:buNone/>
            </a:pPr>
            <a:r>
              <a:rPr lang="en-US" sz="1400" b="1" dirty="0">
                <a:solidFill>
                  <a:schemeClr val="tx1"/>
                </a:solidFill>
              </a:rPr>
              <a:t>Start</a:t>
            </a:r>
            <a:endParaRPr lang="en-US" sz="1400" dirty="0"/>
          </a:p>
        </p:txBody>
      </p:sp>
      <p:sp>
        <p:nvSpPr>
          <p:cNvPr id="18" name="Text 14"/>
          <p:cNvSpPr txBox="1"/>
          <p:nvPr/>
        </p:nvSpPr>
        <p:spPr>
          <a:xfrm>
            <a:off x="2368296" y="4251960"/>
            <a:ext cx="1819656" cy="420624"/>
          </a:xfrm>
          <a:prstGeom prst="rect">
            <a:avLst/>
          </a:prstGeom>
          <a:noFill/>
          <a:ln/>
        </p:spPr>
        <p:txBody>
          <a:bodyPr wrap="square" lIns="0" tIns="0" rIns="0" bIns="0" rtlCol="0" anchor="t"/>
          <a:lstStyle/>
          <a:p>
            <a:pPr indent="0" marL="0">
              <a:buNone/>
            </a:pPr>
            <a:r>
              <a:rPr lang="en-US" sz="1200" dirty="0">
                <a:solidFill>
                  <a:schemeClr val="tx2"/>
                </a:solidFill>
              </a:rPr>
              <a:t>Pick the zone; without ‘execute’ it only previews</a:t>
            </a:r>
            <a:endParaRPr lang="en-US" sz="1200" dirty="0"/>
          </a:p>
        </p:txBody>
      </p:sp>
      <p:sp>
        <p:nvSpPr>
          <p:cNvPr id="19" name="Shape 15"/>
          <p:cNvSpPr/>
          <p:nvPr/>
        </p:nvSpPr>
        <p:spPr>
          <a:xfrm>
            <a:off x="4352544" y="2240280"/>
            <a:ext cx="292608" cy="914"/>
          </a:xfrm>
          <a:prstGeom prst="line">
            <a:avLst/>
          </a:prstGeom>
          <a:noFill/>
          <a:ln w="22225">
            <a:solidFill>
              <a:schemeClr val="tx2"/>
            </a:solidFill>
            <a:prstDash val="solid"/>
            <a:tailEnd type="triangle"/>
          </a:ln>
        </p:spPr>
      </p:sp>
      <p:sp>
        <p:nvSpPr>
          <p:cNvPr id="20" name="Shape 16"/>
          <p:cNvSpPr/>
          <p:nvPr/>
        </p:nvSpPr>
        <p:spPr>
          <a:xfrm>
            <a:off x="4352544" y="4197096"/>
            <a:ext cx="292608" cy="914"/>
          </a:xfrm>
          <a:prstGeom prst="line">
            <a:avLst/>
          </a:prstGeom>
          <a:noFill/>
          <a:ln w="22225">
            <a:solidFill>
              <a:schemeClr val="tx2"/>
            </a:solidFill>
            <a:prstDash val="solid"/>
            <a:tailEnd type="triangle"/>
          </a:ln>
        </p:spPr>
      </p:sp>
      <p:sp>
        <p:nvSpPr>
          <p:cNvPr id="21" name="Export: Approval"/>
          <p:cNvSpPr/>
          <p:nvPr/>
        </p:nvSpPr>
        <p:spPr>
          <a:xfrm>
            <a:off x="4681728" y="1691640"/>
            <a:ext cx="2075688" cy="1097280"/>
          </a:xfrm>
          <a:prstGeom prst="roundRect">
            <a:avLst>
              <a:gd name="adj" fmla="val 8333"/>
            </a:avLst>
          </a:prstGeom>
          <a:solidFill>
            <a:schemeClr val="bg1"/>
          </a:solidFill>
          <a:ln w="15875">
            <a:solidFill>
              <a:schemeClr val="accent2"/>
            </a:solidFill>
            <a:prstDash val="dash"/>
          </a:ln>
        </p:spPr>
      </p:sp>
      <p:sp>
        <p:nvSpPr>
          <p:cNvPr id="22" name="Shape 18"/>
          <p:cNvSpPr/>
          <p:nvPr/>
        </p:nvSpPr>
        <p:spPr>
          <a:xfrm>
            <a:off x="4809744" y="1819656"/>
            <a:ext cx="384048" cy="384048"/>
          </a:xfrm>
          <a:prstGeom prst="ellipse">
            <a:avLst/>
          </a:prstGeom>
          <a:solidFill>
            <a:schemeClr val="accent2"/>
          </a:solidFill>
          <a:ln/>
        </p:spPr>
      </p:sp>
      <p:pic>
        <p:nvPicPr>
          <p:cNvPr id="23" name="Image 2" descr="preencoded.png">    </p:cNvPr>
          <p:cNvPicPr>
            <a:picLocks noChangeAspect="1"/>
          </p:cNvPicPr>
          <p:nvPr/>
        </p:nvPicPr>
        <p:blipFill>
          <a:blip r:embed="rId3"/>
          <a:stretch>
            <a:fillRect/>
          </a:stretch>
        </p:blipFill>
        <p:spPr>
          <a:xfrm>
            <a:off x="4894235" y="1904147"/>
            <a:ext cx="215067" cy="215067"/>
          </a:xfrm>
          <a:prstGeom prst="rect">
            <a:avLst/>
          </a:prstGeom>
        </p:spPr>
      </p:pic>
      <p:sp>
        <p:nvSpPr>
          <p:cNvPr id="24" name="Text 19"/>
          <p:cNvSpPr txBox="1"/>
          <p:nvPr/>
        </p:nvSpPr>
        <p:spPr>
          <a:xfrm>
            <a:off x="5285232" y="1819656"/>
            <a:ext cx="1362456" cy="384048"/>
          </a:xfrm>
          <a:prstGeom prst="rect">
            <a:avLst/>
          </a:prstGeom>
          <a:noFill/>
          <a:ln/>
        </p:spPr>
        <p:txBody>
          <a:bodyPr wrap="square" lIns="0" tIns="0" rIns="0" bIns="0" rtlCol="0" anchor="ctr"/>
          <a:lstStyle/>
          <a:p>
            <a:pPr indent="0" marL="0">
              <a:buNone/>
            </a:pPr>
            <a:r>
              <a:rPr lang="en-US" sz="1400" b="1" dirty="0">
                <a:solidFill>
                  <a:schemeClr val="tx1"/>
                </a:solidFill>
              </a:rPr>
              <a:t>Approval</a:t>
            </a:r>
            <a:endParaRPr lang="en-US" sz="1400" dirty="0"/>
          </a:p>
        </p:txBody>
      </p:sp>
      <p:sp>
        <p:nvSpPr>
          <p:cNvPr id="25" name="Text 20"/>
          <p:cNvSpPr txBox="1"/>
          <p:nvPr/>
        </p:nvSpPr>
        <p:spPr>
          <a:xfrm>
            <a:off x="4809744" y="2295144"/>
            <a:ext cx="1819656" cy="420624"/>
          </a:xfrm>
          <a:prstGeom prst="rect">
            <a:avLst/>
          </a:prstGeom>
          <a:noFill/>
          <a:ln/>
        </p:spPr>
        <p:txBody>
          <a:bodyPr wrap="square" lIns="0" tIns="0" rIns="0" bIns="0" rtlCol="0" anchor="t"/>
          <a:lstStyle/>
          <a:p>
            <a:pPr indent="0" marL="0">
              <a:buNone/>
            </a:pPr>
            <a:r>
              <a:rPr lang="en-US" sz="1200" dirty="0">
                <a:solidFill>
                  <a:schemeClr val="tx2"/>
                </a:solidFill>
              </a:rPr>
              <a:t>Only when exporting every zone outside sandbox</a:t>
            </a:r>
            <a:endParaRPr lang="en-US" sz="1200" dirty="0"/>
          </a:p>
        </p:txBody>
      </p:sp>
      <p:sp>
        <p:nvSpPr>
          <p:cNvPr id="26" name="Apply: Preview"/>
          <p:cNvSpPr/>
          <p:nvPr/>
        </p:nvSpPr>
        <p:spPr>
          <a:xfrm>
            <a:off x="4681728" y="3648456"/>
            <a:ext cx="2075688" cy="1097280"/>
          </a:xfrm>
          <a:prstGeom prst="roundRect">
            <a:avLst>
              <a:gd name="adj" fmla="val 8333"/>
            </a:avLst>
          </a:prstGeom>
          <a:solidFill>
            <a:schemeClr val="accent2">
              <a:alpha val="8000"/>
            </a:schemeClr>
          </a:solidFill>
          <a:ln w="15875">
            <a:solidFill>
              <a:schemeClr val="accent2"/>
            </a:solidFill>
            <a:prstDash val="solid"/>
          </a:ln>
        </p:spPr>
      </p:sp>
      <p:sp>
        <p:nvSpPr>
          <p:cNvPr id="27" name="Shape 22"/>
          <p:cNvSpPr/>
          <p:nvPr/>
        </p:nvSpPr>
        <p:spPr>
          <a:xfrm>
            <a:off x="4809744" y="3776472"/>
            <a:ext cx="384048" cy="384048"/>
          </a:xfrm>
          <a:prstGeom prst="ellipse">
            <a:avLst/>
          </a:prstGeom>
          <a:solidFill>
            <a:schemeClr val="accent2"/>
          </a:solidFill>
          <a:ln/>
        </p:spPr>
      </p:sp>
      <p:pic>
        <p:nvPicPr>
          <p:cNvPr id="28" name="Image 3" descr="preencoded.png">    </p:cNvPr>
          <p:cNvPicPr>
            <a:picLocks noChangeAspect="1"/>
          </p:cNvPicPr>
          <p:nvPr/>
        </p:nvPicPr>
        <p:blipFill>
          <a:blip r:embed="rId4"/>
          <a:stretch>
            <a:fillRect/>
          </a:stretch>
        </p:blipFill>
        <p:spPr>
          <a:xfrm>
            <a:off x="4894235" y="3860963"/>
            <a:ext cx="215067" cy="215067"/>
          </a:xfrm>
          <a:prstGeom prst="rect">
            <a:avLst/>
          </a:prstGeom>
        </p:spPr>
      </p:pic>
      <p:sp>
        <p:nvSpPr>
          <p:cNvPr id="29" name="Text 23"/>
          <p:cNvSpPr txBox="1"/>
          <p:nvPr/>
        </p:nvSpPr>
        <p:spPr>
          <a:xfrm>
            <a:off x="5285232" y="3776472"/>
            <a:ext cx="1362456" cy="384048"/>
          </a:xfrm>
          <a:prstGeom prst="rect">
            <a:avLst/>
          </a:prstGeom>
          <a:noFill/>
          <a:ln/>
        </p:spPr>
        <p:txBody>
          <a:bodyPr wrap="square" lIns="0" tIns="0" rIns="0" bIns="0" rtlCol="0" anchor="ctr"/>
          <a:lstStyle/>
          <a:p>
            <a:pPr indent="0" marL="0">
              <a:buNone/>
            </a:pPr>
            <a:r>
              <a:rPr lang="en-US" sz="1400" b="1" dirty="0">
                <a:solidFill>
                  <a:schemeClr val="tx1"/>
                </a:solidFill>
              </a:rPr>
              <a:t>Preview</a:t>
            </a:r>
            <a:endParaRPr lang="en-US" sz="1400" dirty="0"/>
          </a:p>
        </p:txBody>
      </p:sp>
      <p:sp>
        <p:nvSpPr>
          <p:cNvPr id="30" name="Text 24"/>
          <p:cNvSpPr txBox="1"/>
          <p:nvPr/>
        </p:nvSpPr>
        <p:spPr>
          <a:xfrm>
            <a:off x="4809744" y="4251960"/>
            <a:ext cx="1819656" cy="420624"/>
          </a:xfrm>
          <a:prstGeom prst="rect">
            <a:avLst/>
          </a:prstGeom>
          <a:noFill/>
          <a:ln/>
        </p:spPr>
        <p:txBody>
          <a:bodyPr wrap="square" lIns="0" tIns="0" rIns="0" bIns="0" rtlCol="0" anchor="t"/>
          <a:lstStyle/>
          <a:p>
            <a:pPr indent="0" marL="0">
              <a:buNone/>
            </a:pPr>
            <a:r>
              <a:rPr lang="en-US" sz="1200" dirty="0">
                <a:solidFill>
                  <a:schemeClr val="tx2"/>
                </a:solidFill>
              </a:rPr>
              <a:t>Compares files with live DNS: adds, edits, deletes</a:t>
            </a:r>
            <a:endParaRPr lang="en-US" sz="1200" dirty="0"/>
          </a:p>
        </p:txBody>
      </p:sp>
      <p:sp>
        <p:nvSpPr>
          <p:cNvPr id="31" name="Shape 25"/>
          <p:cNvSpPr/>
          <p:nvPr/>
        </p:nvSpPr>
        <p:spPr>
          <a:xfrm>
            <a:off x="6793992" y="2240280"/>
            <a:ext cx="292608" cy="914"/>
          </a:xfrm>
          <a:prstGeom prst="line">
            <a:avLst/>
          </a:prstGeom>
          <a:noFill/>
          <a:ln w="22225">
            <a:solidFill>
              <a:schemeClr val="tx2"/>
            </a:solidFill>
            <a:prstDash val="solid"/>
            <a:tailEnd type="triangle"/>
          </a:ln>
        </p:spPr>
      </p:sp>
      <p:sp>
        <p:nvSpPr>
          <p:cNvPr id="32" name="Shape 26"/>
          <p:cNvSpPr/>
          <p:nvPr/>
        </p:nvSpPr>
        <p:spPr>
          <a:xfrm>
            <a:off x="6793992" y="4197096"/>
            <a:ext cx="292608" cy="914"/>
          </a:xfrm>
          <a:prstGeom prst="line">
            <a:avLst/>
          </a:prstGeom>
          <a:noFill/>
          <a:ln w="22225">
            <a:solidFill>
              <a:schemeClr val="tx2"/>
            </a:solidFill>
            <a:prstDash val="solid"/>
            <a:tailEnd type="triangle"/>
          </a:ln>
        </p:spPr>
      </p:sp>
      <p:sp>
        <p:nvSpPr>
          <p:cNvPr id="33" name="Export: Export"/>
          <p:cNvSpPr/>
          <p:nvPr/>
        </p:nvSpPr>
        <p:spPr>
          <a:xfrm>
            <a:off x="7123176" y="1691640"/>
            <a:ext cx="2075688" cy="1097280"/>
          </a:xfrm>
          <a:prstGeom prst="roundRect">
            <a:avLst>
              <a:gd name="adj" fmla="val 8333"/>
            </a:avLst>
          </a:prstGeom>
          <a:solidFill>
            <a:schemeClr val="accent2">
              <a:alpha val="8000"/>
            </a:schemeClr>
          </a:solidFill>
          <a:ln w="15875">
            <a:solidFill>
              <a:schemeClr val="accent2"/>
            </a:solidFill>
            <a:prstDash val="solid"/>
          </a:ln>
        </p:spPr>
      </p:sp>
      <p:sp>
        <p:nvSpPr>
          <p:cNvPr id="34" name="Shape 28"/>
          <p:cNvSpPr/>
          <p:nvPr/>
        </p:nvSpPr>
        <p:spPr>
          <a:xfrm>
            <a:off x="7251192" y="1819656"/>
            <a:ext cx="384048" cy="384048"/>
          </a:xfrm>
          <a:prstGeom prst="ellipse">
            <a:avLst/>
          </a:prstGeom>
          <a:solidFill>
            <a:schemeClr val="accent2"/>
          </a:solidFill>
          <a:ln/>
        </p:spPr>
      </p:sp>
      <p:pic>
        <p:nvPicPr>
          <p:cNvPr id="35" name="Image 4" descr="preencoded.png">    </p:cNvPr>
          <p:cNvPicPr>
            <a:picLocks noChangeAspect="1"/>
          </p:cNvPicPr>
          <p:nvPr/>
        </p:nvPicPr>
        <p:blipFill>
          <a:blip r:embed="rId5"/>
          <a:stretch>
            <a:fillRect/>
          </a:stretch>
        </p:blipFill>
        <p:spPr>
          <a:xfrm>
            <a:off x="7335683" y="1904147"/>
            <a:ext cx="215067" cy="215067"/>
          </a:xfrm>
          <a:prstGeom prst="rect">
            <a:avLst/>
          </a:prstGeom>
        </p:spPr>
      </p:pic>
      <p:sp>
        <p:nvSpPr>
          <p:cNvPr id="36" name="Text 29"/>
          <p:cNvSpPr txBox="1"/>
          <p:nvPr/>
        </p:nvSpPr>
        <p:spPr>
          <a:xfrm>
            <a:off x="7726680" y="1819656"/>
            <a:ext cx="1362456" cy="384048"/>
          </a:xfrm>
          <a:prstGeom prst="rect">
            <a:avLst/>
          </a:prstGeom>
          <a:noFill/>
          <a:ln/>
        </p:spPr>
        <p:txBody>
          <a:bodyPr wrap="square" lIns="0" tIns="0" rIns="0" bIns="0" rtlCol="0" anchor="ctr"/>
          <a:lstStyle/>
          <a:p>
            <a:pPr indent="0" marL="0">
              <a:buNone/>
            </a:pPr>
            <a:r>
              <a:rPr lang="en-US" sz="1400" b="1" dirty="0">
                <a:solidFill>
                  <a:schemeClr val="tx1"/>
                </a:solidFill>
              </a:rPr>
              <a:t>Export</a:t>
            </a:r>
            <a:endParaRPr lang="en-US" sz="1400" dirty="0"/>
          </a:p>
        </p:txBody>
      </p:sp>
      <p:sp>
        <p:nvSpPr>
          <p:cNvPr id="37" name="Text 30"/>
          <p:cNvSpPr txBox="1"/>
          <p:nvPr/>
        </p:nvSpPr>
        <p:spPr>
          <a:xfrm>
            <a:off x="7251192" y="2295144"/>
            <a:ext cx="1819656" cy="420624"/>
          </a:xfrm>
          <a:prstGeom prst="rect">
            <a:avLst/>
          </a:prstGeom>
          <a:noFill/>
          <a:ln/>
        </p:spPr>
        <p:txBody>
          <a:bodyPr wrap="square" lIns="0" tIns="0" rIns="0" bIns="0" rtlCol="0" anchor="t"/>
          <a:lstStyle/>
          <a:p>
            <a:pPr indent="0" marL="0">
              <a:buNone/>
            </a:pPr>
            <a:r>
              <a:rPr lang="en-US" sz="1200" dirty="0">
                <a:solidFill>
                  <a:schemeClr val="tx2"/>
                </a:solidFill>
              </a:rPr>
              <a:t>Live records copied into one file per zone</a:t>
            </a:r>
            <a:endParaRPr lang="en-US" sz="1200" dirty="0"/>
          </a:p>
        </p:txBody>
      </p:sp>
      <p:sp>
        <p:nvSpPr>
          <p:cNvPr id="38" name="Apply: Approval (missing)"/>
          <p:cNvSpPr/>
          <p:nvPr/>
        </p:nvSpPr>
        <p:spPr>
          <a:xfrm>
            <a:off x="7123176" y="3648456"/>
            <a:ext cx="2075688" cy="1097280"/>
          </a:xfrm>
          <a:prstGeom prst="roundRect">
            <a:avLst>
              <a:gd name="adj" fmla="val 8333"/>
            </a:avLst>
          </a:prstGeom>
          <a:solidFill>
            <a:schemeClr val="bg1"/>
          </a:solidFill>
          <a:ln w="15875">
            <a:solidFill>
              <a:schemeClr val="accent3"/>
            </a:solidFill>
            <a:prstDash val="dash"/>
          </a:ln>
        </p:spPr>
      </p:sp>
      <p:sp>
        <p:nvSpPr>
          <p:cNvPr id="39" name="Shape 32"/>
          <p:cNvSpPr/>
          <p:nvPr/>
        </p:nvSpPr>
        <p:spPr>
          <a:xfrm>
            <a:off x="7251192" y="3776472"/>
            <a:ext cx="384048" cy="384048"/>
          </a:xfrm>
          <a:prstGeom prst="ellipse">
            <a:avLst/>
          </a:prstGeom>
          <a:solidFill>
            <a:schemeClr val="accent3"/>
          </a:solidFill>
          <a:ln/>
        </p:spPr>
      </p:sp>
      <p:pic>
        <p:nvPicPr>
          <p:cNvPr id="40" name="Image 5" descr="preencoded.png">    </p:cNvPr>
          <p:cNvPicPr>
            <a:picLocks noChangeAspect="1"/>
          </p:cNvPicPr>
          <p:nvPr/>
        </p:nvPicPr>
        <p:blipFill>
          <a:blip r:embed="rId6"/>
          <a:stretch>
            <a:fillRect/>
          </a:stretch>
        </p:blipFill>
        <p:spPr>
          <a:xfrm>
            <a:off x="7335683" y="3860963"/>
            <a:ext cx="215067" cy="215067"/>
          </a:xfrm>
          <a:prstGeom prst="rect">
            <a:avLst/>
          </a:prstGeom>
        </p:spPr>
      </p:pic>
      <p:sp>
        <p:nvSpPr>
          <p:cNvPr id="41" name="Text 33"/>
          <p:cNvSpPr txBox="1"/>
          <p:nvPr/>
        </p:nvSpPr>
        <p:spPr>
          <a:xfrm>
            <a:off x="7726680" y="3776472"/>
            <a:ext cx="1362456" cy="384048"/>
          </a:xfrm>
          <a:prstGeom prst="rect">
            <a:avLst/>
          </a:prstGeom>
          <a:noFill/>
          <a:ln/>
        </p:spPr>
        <p:txBody>
          <a:bodyPr wrap="square" lIns="0" tIns="0" rIns="0" bIns="0" rtlCol="0" anchor="ctr"/>
          <a:lstStyle/>
          <a:p>
            <a:pPr indent="0" marL="0">
              <a:buNone/>
            </a:pPr>
            <a:r>
              <a:rPr lang="en-US" sz="1400" b="1" dirty="0">
                <a:solidFill>
                  <a:schemeClr val="tx1"/>
                </a:solidFill>
              </a:rPr>
              <a:t>Approval</a:t>
            </a:r>
            <a:endParaRPr lang="en-US" sz="1400" dirty="0"/>
          </a:p>
        </p:txBody>
      </p:sp>
      <p:sp>
        <p:nvSpPr>
          <p:cNvPr id="42" name="Text 34"/>
          <p:cNvSpPr txBox="1"/>
          <p:nvPr/>
        </p:nvSpPr>
        <p:spPr>
          <a:xfrm>
            <a:off x="7251192" y="4251960"/>
            <a:ext cx="1819656" cy="420624"/>
          </a:xfrm>
          <a:prstGeom prst="rect">
            <a:avLst/>
          </a:prstGeom>
          <a:noFill/>
          <a:ln/>
        </p:spPr>
        <p:txBody>
          <a:bodyPr wrap="square" lIns="0" tIns="0" rIns="0" bIns="0" rtlCol="0" anchor="t"/>
          <a:lstStyle/>
          <a:p>
            <a:pPr indent="0" marL="0">
              <a:buNone/>
            </a:pPr>
            <a:r>
              <a:rPr lang="en-US" sz="1200" dirty="0">
                <a:solidFill>
                  <a:schemeClr val="tx2"/>
                </a:solidFill>
              </a:rPr>
              <a:t>Promised in the file — but the job isn’t there</a:t>
            </a:r>
            <a:endParaRPr lang="en-US" sz="1200" dirty="0"/>
          </a:p>
        </p:txBody>
      </p:sp>
      <p:sp>
        <p:nvSpPr>
          <p:cNvPr id="43" name="Shape 35"/>
          <p:cNvSpPr/>
          <p:nvPr/>
        </p:nvSpPr>
        <p:spPr>
          <a:xfrm>
            <a:off x="9235440" y="2240280"/>
            <a:ext cx="292608" cy="914"/>
          </a:xfrm>
          <a:prstGeom prst="line">
            <a:avLst/>
          </a:prstGeom>
          <a:noFill/>
          <a:ln w="22225">
            <a:solidFill>
              <a:schemeClr val="tx2"/>
            </a:solidFill>
            <a:prstDash val="solid"/>
            <a:tailEnd type="triangle"/>
          </a:ln>
        </p:spPr>
      </p:sp>
      <p:sp>
        <p:nvSpPr>
          <p:cNvPr id="44" name="Shape 36"/>
          <p:cNvSpPr/>
          <p:nvPr/>
        </p:nvSpPr>
        <p:spPr>
          <a:xfrm>
            <a:off x="9235440" y="4197096"/>
            <a:ext cx="292608" cy="914"/>
          </a:xfrm>
          <a:prstGeom prst="line">
            <a:avLst/>
          </a:prstGeom>
          <a:noFill/>
          <a:ln w="22225">
            <a:solidFill>
              <a:schemeClr val="tx2"/>
            </a:solidFill>
            <a:prstDash val="solid"/>
            <a:tailEnd type="triangle"/>
          </a:ln>
        </p:spPr>
      </p:sp>
      <p:sp>
        <p:nvSpPr>
          <p:cNvPr id="45" name="Export: Pull Request"/>
          <p:cNvSpPr/>
          <p:nvPr/>
        </p:nvSpPr>
        <p:spPr>
          <a:xfrm>
            <a:off x="9564624" y="1691640"/>
            <a:ext cx="2075688" cy="1097280"/>
          </a:xfrm>
          <a:prstGeom prst="roundRect">
            <a:avLst>
              <a:gd name="adj" fmla="val 8333"/>
            </a:avLst>
          </a:prstGeom>
          <a:solidFill>
            <a:schemeClr val="accent2">
              <a:alpha val="8000"/>
            </a:schemeClr>
          </a:solidFill>
          <a:ln w="15875">
            <a:solidFill>
              <a:schemeClr val="accent2"/>
            </a:solidFill>
            <a:prstDash val="solid"/>
          </a:ln>
        </p:spPr>
      </p:sp>
      <p:sp>
        <p:nvSpPr>
          <p:cNvPr id="46" name="Shape 38"/>
          <p:cNvSpPr/>
          <p:nvPr/>
        </p:nvSpPr>
        <p:spPr>
          <a:xfrm>
            <a:off x="9692640" y="1819656"/>
            <a:ext cx="384048" cy="384048"/>
          </a:xfrm>
          <a:prstGeom prst="ellipse">
            <a:avLst/>
          </a:prstGeom>
          <a:solidFill>
            <a:schemeClr val="accent2"/>
          </a:solidFill>
          <a:ln/>
        </p:spPr>
      </p:sp>
      <p:pic>
        <p:nvPicPr>
          <p:cNvPr id="47" name="Image 6" descr="preencoded.png">    </p:cNvPr>
          <p:cNvPicPr>
            <a:picLocks noChangeAspect="1"/>
          </p:cNvPicPr>
          <p:nvPr/>
        </p:nvPicPr>
        <p:blipFill>
          <a:blip r:embed="rId7"/>
          <a:stretch>
            <a:fillRect/>
          </a:stretch>
        </p:blipFill>
        <p:spPr>
          <a:xfrm>
            <a:off x="9777131" y="1904147"/>
            <a:ext cx="215067" cy="215067"/>
          </a:xfrm>
          <a:prstGeom prst="rect">
            <a:avLst/>
          </a:prstGeom>
        </p:spPr>
      </p:pic>
      <p:sp>
        <p:nvSpPr>
          <p:cNvPr id="48" name="Text 39"/>
          <p:cNvSpPr txBox="1"/>
          <p:nvPr/>
        </p:nvSpPr>
        <p:spPr>
          <a:xfrm>
            <a:off x="10168128" y="1819656"/>
            <a:ext cx="1362456" cy="384048"/>
          </a:xfrm>
          <a:prstGeom prst="rect">
            <a:avLst/>
          </a:prstGeom>
          <a:noFill/>
          <a:ln/>
        </p:spPr>
        <p:txBody>
          <a:bodyPr wrap="square" lIns="0" tIns="0" rIns="0" bIns="0" rtlCol="0" anchor="ctr"/>
          <a:lstStyle/>
          <a:p>
            <a:pPr indent="0" marL="0">
              <a:buNone/>
            </a:pPr>
            <a:r>
              <a:rPr lang="en-US" sz="1400" b="1" dirty="0">
                <a:solidFill>
                  <a:schemeClr val="tx1"/>
                </a:solidFill>
              </a:rPr>
              <a:t>Pull Request</a:t>
            </a:r>
            <a:endParaRPr lang="en-US" sz="1400" dirty="0"/>
          </a:p>
        </p:txBody>
      </p:sp>
      <p:sp>
        <p:nvSpPr>
          <p:cNvPr id="49" name="Text 40"/>
          <p:cNvSpPr txBox="1"/>
          <p:nvPr/>
        </p:nvSpPr>
        <p:spPr>
          <a:xfrm>
            <a:off x="9692640" y="2295144"/>
            <a:ext cx="1819656" cy="420624"/>
          </a:xfrm>
          <a:prstGeom prst="rect">
            <a:avLst/>
          </a:prstGeom>
          <a:noFill/>
          <a:ln/>
        </p:spPr>
        <p:txBody>
          <a:bodyPr wrap="square" lIns="0" tIns="0" rIns="0" bIns="0" rtlCol="0" anchor="t"/>
          <a:lstStyle/>
          <a:p>
            <a:pPr indent="0" marL="0">
              <a:buNone/>
            </a:pPr>
            <a:r>
              <a:rPr lang="en-US" sz="1200" dirty="0">
                <a:solidFill>
                  <a:schemeClr val="tx2"/>
                </a:solidFill>
              </a:rPr>
              <a:t>New branch and Pull Request created for you</a:t>
            </a:r>
            <a:endParaRPr lang="en-US" sz="1200" dirty="0"/>
          </a:p>
        </p:txBody>
      </p:sp>
      <p:sp>
        <p:nvSpPr>
          <p:cNvPr id="50" name="Apply: Apply"/>
          <p:cNvSpPr/>
          <p:nvPr/>
        </p:nvSpPr>
        <p:spPr>
          <a:xfrm>
            <a:off x="9564624" y="3648456"/>
            <a:ext cx="2075688" cy="1097280"/>
          </a:xfrm>
          <a:prstGeom prst="roundRect">
            <a:avLst>
              <a:gd name="adj" fmla="val 8333"/>
            </a:avLst>
          </a:prstGeom>
          <a:solidFill>
            <a:schemeClr val="accent2">
              <a:alpha val="8000"/>
            </a:schemeClr>
          </a:solidFill>
          <a:ln w="15875">
            <a:solidFill>
              <a:schemeClr val="accent2"/>
            </a:solidFill>
            <a:prstDash val="solid"/>
          </a:ln>
        </p:spPr>
      </p:sp>
      <p:sp>
        <p:nvSpPr>
          <p:cNvPr id="51" name="Shape 42"/>
          <p:cNvSpPr/>
          <p:nvPr/>
        </p:nvSpPr>
        <p:spPr>
          <a:xfrm>
            <a:off x="9692640" y="3776472"/>
            <a:ext cx="384048" cy="384048"/>
          </a:xfrm>
          <a:prstGeom prst="ellipse">
            <a:avLst/>
          </a:prstGeom>
          <a:solidFill>
            <a:schemeClr val="accent2"/>
          </a:solidFill>
          <a:ln/>
        </p:spPr>
      </p:sp>
      <p:pic>
        <p:nvPicPr>
          <p:cNvPr id="52" name="Image 7" descr="preencoded.png">    </p:cNvPr>
          <p:cNvPicPr>
            <a:picLocks noChangeAspect="1"/>
          </p:cNvPicPr>
          <p:nvPr/>
        </p:nvPicPr>
        <p:blipFill>
          <a:blip r:embed="rId8"/>
          <a:stretch>
            <a:fillRect/>
          </a:stretch>
        </p:blipFill>
        <p:spPr>
          <a:xfrm>
            <a:off x="9777131" y="3860963"/>
            <a:ext cx="215067" cy="215067"/>
          </a:xfrm>
          <a:prstGeom prst="rect">
            <a:avLst/>
          </a:prstGeom>
        </p:spPr>
      </p:pic>
      <p:sp>
        <p:nvSpPr>
          <p:cNvPr id="53" name="Text 43"/>
          <p:cNvSpPr txBox="1"/>
          <p:nvPr/>
        </p:nvSpPr>
        <p:spPr>
          <a:xfrm>
            <a:off x="10168128" y="3776472"/>
            <a:ext cx="1362456" cy="384048"/>
          </a:xfrm>
          <a:prstGeom prst="rect">
            <a:avLst/>
          </a:prstGeom>
          <a:noFill/>
          <a:ln/>
        </p:spPr>
        <p:txBody>
          <a:bodyPr wrap="square" lIns="0" tIns="0" rIns="0" bIns="0" rtlCol="0" anchor="ctr"/>
          <a:lstStyle/>
          <a:p>
            <a:pPr indent="0" marL="0">
              <a:buNone/>
            </a:pPr>
            <a:r>
              <a:rPr lang="en-US" sz="1400" b="1" dirty="0">
                <a:solidFill>
                  <a:schemeClr val="tx1"/>
                </a:solidFill>
              </a:rPr>
              <a:t>Apply</a:t>
            </a:r>
            <a:endParaRPr lang="en-US" sz="1400" dirty="0"/>
          </a:p>
        </p:txBody>
      </p:sp>
      <p:sp>
        <p:nvSpPr>
          <p:cNvPr id="54" name="Text 44"/>
          <p:cNvSpPr txBox="1"/>
          <p:nvPr/>
        </p:nvSpPr>
        <p:spPr>
          <a:xfrm>
            <a:off x="9692640" y="4251960"/>
            <a:ext cx="1819656" cy="420624"/>
          </a:xfrm>
          <a:prstGeom prst="rect">
            <a:avLst/>
          </a:prstGeom>
          <a:noFill/>
          <a:ln/>
        </p:spPr>
        <p:txBody>
          <a:bodyPr wrap="square" lIns="0" tIns="0" rIns="0" bIns="0" rtlCol="0" anchor="t"/>
          <a:lstStyle/>
          <a:p>
            <a:pPr indent="0" marL="0">
              <a:buNone/>
            </a:pPr>
            <a:r>
              <a:rPr lang="en-US" sz="1200" dirty="0">
                <a:solidFill>
                  <a:schemeClr val="tx2"/>
                </a:solidFill>
              </a:rPr>
              <a:t>Script writes the changes straight into Route 53</a:t>
            </a:r>
            <a:endParaRPr lang="en-US" sz="1200" dirty="0"/>
          </a:p>
        </p:txBody>
      </p:sp>
      <p:sp>
        <p:nvSpPr>
          <p:cNvPr id="55" name="Missing approval"/>
          <p:cNvSpPr txBox="1"/>
          <p:nvPr/>
        </p:nvSpPr>
        <p:spPr>
          <a:xfrm>
            <a:off x="8266176" y="3511296"/>
            <a:ext cx="822960" cy="256032"/>
          </a:xfrm>
          <a:prstGeom prst="roundRect">
            <a:avLst>
              <a:gd name="adj" fmla="val 46429"/>
            </a:avLst>
          </a:prstGeom>
          <a:solidFill>
            <a:schemeClr val="accent3"/>
          </a:solidFill>
          <a:ln/>
        </p:spPr>
        <p:txBody>
          <a:bodyPr wrap="square" lIns="0" tIns="0" rIns="0" bIns="0" rtlCol="0" anchor="ctr"/>
          <a:lstStyle/>
          <a:p>
            <a:pPr algn="ctr" indent="0" marL="0">
              <a:buNone/>
            </a:pPr>
            <a:r>
              <a:rPr lang="en-US" sz="1000" b="1" spc="150" kern="0" dirty="0">
                <a:solidFill>
                  <a:schemeClr val="bg1"/>
                </a:solidFill>
              </a:rPr>
              <a:t>MISSING</a:t>
            </a:r>
            <a:endParaRPr lang="en-US" sz="1000" dirty="0"/>
          </a:p>
        </p:txBody>
      </p:sp>
      <p:sp>
        <p:nvSpPr>
          <p:cNvPr id="56" name="Edit and merge"/>
          <p:cNvSpPr/>
          <p:nvPr/>
        </p:nvSpPr>
        <p:spPr>
          <a:xfrm>
            <a:off x="2240280" y="2999232"/>
            <a:ext cx="9400032" cy="438912"/>
          </a:xfrm>
          <a:prstGeom prst="roundRect">
            <a:avLst>
              <a:gd name="adj" fmla="val 50000"/>
            </a:avLst>
          </a:prstGeom>
          <a:solidFill>
            <a:schemeClr val="accent2">
              <a:alpha val="12000"/>
            </a:schemeClr>
          </a:solidFill>
          <a:ln/>
        </p:spPr>
      </p:sp>
      <p:pic>
        <p:nvPicPr>
          <p:cNvPr id="57" name="Image 8" descr="preencoded.png">    </p:cNvPr>
          <p:cNvPicPr>
            <a:picLocks noChangeAspect="1"/>
          </p:cNvPicPr>
          <p:nvPr/>
        </p:nvPicPr>
        <p:blipFill>
          <a:blip r:embed="rId9"/>
          <a:stretch>
            <a:fillRect/>
          </a:stretch>
        </p:blipFill>
        <p:spPr>
          <a:xfrm>
            <a:off x="2423160" y="3099816"/>
            <a:ext cx="237744" cy="237744"/>
          </a:xfrm>
          <a:prstGeom prst="rect">
            <a:avLst/>
          </a:prstGeom>
        </p:spPr>
      </p:pic>
      <p:sp>
        <p:nvSpPr>
          <p:cNvPr id="58" name="Text 47"/>
          <p:cNvSpPr txBox="1"/>
          <p:nvPr/>
        </p:nvSpPr>
        <p:spPr>
          <a:xfrm>
            <a:off x="2788920" y="2999232"/>
            <a:ext cx="8686800" cy="438912"/>
          </a:xfrm>
          <a:prstGeom prst="rect">
            <a:avLst/>
          </a:prstGeom>
          <a:noFill/>
          <a:ln/>
        </p:spPr>
        <p:txBody>
          <a:bodyPr wrap="square" lIns="0" tIns="0" rIns="0" bIns="0" rtlCol="0" anchor="ctr"/>
          <a:lstStyle/>
          <a:p>
            <a:pPr indent="0" marL="0">
              <a:buNone/>
            </a:pPr>
            <a:r>
              <a:rPr lang="en-US" sz="1300" dirty="0">
                <a:solidFill>
                  <a:schemeClr val="tx1"/>
                </a:solidFill>
              </a:rPr>
              <a:t>In between:  edit the record files in that branch  →  reviewer approves the Pull Request  →  merge</a:t>
            </a:r>
            <a:endParaRPr lang="en-US" sz="1300" dirty="0"/>
          </a:p>
        </p:txBody>
      </p:sp>
      <p:sp>
        <p:nvSpPr>
          <p:cNvPr id="59" name="Shape 48"/>
          <p:cNvSpPr/>
          <p:nvPr/>
        </p:nvSpPr>
        <p:spPr>
          <a:xfrm>
            <a:off x="10602468" y="2807208"/>
            <a:ext cx="914" cy="173736"/>
          </a:xfrm>
          <a:prstGeom prst="line">
            <a:avLst/>
          </a:prstGeom>
          <a:noFill/>
          <a:ln w="22225">
            <a:solidFill>
              <a:schemeClr val="tx2"/>
            </a:solidFill>
            <a:prstDash val="solid"/>
            <a:tailEnd type="triangle"/>
          </a:ln>
        </p:spPr>
      </p:sp>
      <p:sp>
        <p:nvSpPr>
          <p:cNvPr id="60" name="Shape 49"/>
          <p:cNvSpPr/>
          <p:nvPr/>
        </p:nvSpPr>
        <p:spPr>
          <a:xfrm>
            <a:off x="3278124" y="3456432"/>
            <a:ext cx="914" cy="173736"/>
          </a:xfrm>
          <a:prstGeom prst="line">
            <a:avLst/>
          </a:prstGeom>
          <a:noFill/>
          <a:ln w="22225">
            <a:solidFill>
              <a:schemeClr val="tx2"/>
            </a:solidFill>
            <a:prstDash val="solid"/>
            <a:tailEnd type="triangle"/>
          </a:ln>
        </p:spPr>
      </p:sp>
      <p:sp>
        <p:nvSpPr>
          <p:cNvPr id="61" name="Shape 50"/>
          <p:cNvSpPr/>
          <p:nvPr/>
        </p:nvSpPr>
        <p:spPr>
          <a:xfrm>
            <a:off x="5719572" y="4764024"/>
            <a:ext cx="914" cy="201168"/>
          </a:xfrm>
          <a:prstGeom prst="line">
            <a:avLst/>
          </a:prstGeom>
          <a:noFill/>
          <a:ln w="15875">
            <a:solidFill>
              <a:schemeClr val="accent3"/>
            </a:solidFill>
            <a:prstDash val="dash"/>
          </a:ln>
        </p:spPr>
      </p:sp>
      <p:sp>
        <p:nvSpPr>
          <p:cNvPr id="62" name="Gap: No manual-change alarm"/>
          <p:cNvSpPr/>
          <p:nvPr/>
        </p:nvSpPr>
        <p:spPr>
          <a:xfrm>
            <a:off x="4681728" y="4983480"/>
            <a:ext cx="2075688" cy="1280160"/>
          </a:xfrm>
          <a:prstGeom prst="roundRect">
            <a:avLst>
              <a:gd name="adj" fmla="val 7143"/>
            </a:avLst>
          </a:prstGeom>
          <a:solidFill>
            <a:schemeClr val="accent3">
              <a:alpha val="8000"/>
            </a:schemeClr>
          </a:solidFill>
          <a:ln w="15875">
            <a:solidFill>
              <a:schemeClr val="accent3"/>
            </a:solidFill>
            <a:prstDash val="dash"/>
          </a:ln>
        </p:spPr>
      </p:sp>
      <p:sp>
        <p:nvSpPr>
          <p:cNvPr id="63" name="Shape 52"/>
          <p:cNvSpPr/>
          <p:nvPr/>
        </p:nvSpPr>
        <p:spPr>
          <a:xfrm>
            <a:off x="4809744" y="5111496"/>
            <a:ext cx="384048" cy="384048"/>
          </a:xfrm>
          <a:prstGeom prst="ellipse">
            <a:avLst/>
          </a:prstGeom>
          <a:solidFill>
            <a:schemeClr val="accent3"/>
          </a:solidFill>
          <a:ln/>
        </p:spPr>
      </p:sp>
      <p:pic>
        <p:nvPicPr>
          <p:cNvPr id="64" name="Image 9" descr="preencoded.png">    </p:cNvPr>
          <p:cNvPicPr>
            <a:picLocks noChangeAspect="1"/>
          </p:cNvPicPr>
          <p:nvPr/>
        </p:nvPicPr>
        <p:blipFill>
          <a:blip r:embed="rId10"/>
          <a:stretch>
            <a:fillRect/>
          </a:stretch>
        </p:blipFill>
        <p:spPr>
          <a:xfrm>
            <a:off x="4894235" y="5195987"/>
            <a:ext cx="215067" cy="215067"/>
          </a:xfrm>
          <a:prstGeom prst="rect">
            <a:avLst/>
          </a:prstGeom>
        </p:spPr>
      </p:pic>
      <p:sp>
        <p:nvSpPr>
          <p:cNvPr id="65" name="Text 53"/>
          <p:cNvSpPr txBox="1"/>
          <p:nvPr/>
        </p:nvSpPr>
        <p:spPr>
          <a:xfrm>
            <a:off x="5285232" y="5111496"/>
            <a:ext cx="1362456" cy="384048"/>
          </a:xfrm>
          <a:prstGeom prst="rect">
            <a:avLst/>
          </a:prstGeom>
          <a:noFill/>
          <a:ln/>
        </p:spPr>
        <p:txBody>
          <a:bodyPr wrap="square" lIns="0" tIns="0" rIns="0" bIns="0" rtlCol="0" anchor="ctr"/>
          <a:lstStyle/>
          <a:p>
            <a:pPr indent="0" marL="0">
              <a:buNone/>
            </a:pPr>
            <a:r>
              <a:rPr lang="en-US" sz="1300" b="1" dirty="0">
                <a:solidFill>
                  <a:schemeClr val="tx1"/>
                </a:solidFill>
              </a:rPr>
              <a:t>No manual-change alarm</a:t>
            </a:r>
            <a:endParaRPr lang="en-US" sz="1300" dirty="0"/>
          </a:p>
        </p:txBody>
      </p:sp>
      <p:sp>
        <p:nvSpPr>
          <p:cNvPr id="66" name="Text 54"/>
          <p:cNvSpPr txBox="1"/>
          <p:nvPr/>
        </p:nvSpPr>
        <p:spPr>
          <a:xfrm>
            <a:off x="4809744" y="5586984"/>
            <a:ext cx="1819656" cy="603504"/>
          </a:xfrm>
          <a:prstGeom prst="rect">
            <a:avLst/>
          </a:prstGeom>
          <a:noFill/>
          <a:ln/>
        </p:spPr>
        <p:txBody>
          <a:bodyPr wrap="square" lIns="0" tIns="0" rIns="0" bIns="0" rtlCol="0" anchor="t"/>
          <a:lstStyle/>
          <a:p>
            <a:pPr indent="0" marL="0">
              <a:buNone/>
            </a:pPr>
            <a:r>
              <a:rPr lang="en-US" sz="1200" dirty="0">
                <a:solidFill>
                  <a:schemeClr val="tx2"/>
                </a:solidFill>
              </a:rPr>
              <a:t>A hand edit looks like any other change — and is overwritten</a:t>
            </a:r>
            <a:endParaRPr lang="en-US" sz="1200" dirty="0"/>
          </a:p>
        </p:txBody>
      </p:sp>
      <p:sp>
        <p:nvSpPr>
          <p:cNvPr id="67" name="Shape 55"/>
          <p:cNvSpPr/>
          <p:nvPr/>
        </p:nvSpPr>
        <p:spPr>
          <a:xfrm>
            <a:off x="8161020" y="4764024"/>
            <a:ext cx="914" cy="201168"/>
          </a:xfrm>
          <a:prstGeom prst="line">
            <a:avLst/>
          </a:prstGeom>
          <a:noFill/>
          <a:ln w="15875">
            <a:solidFill>
              <a:schemeClr val="accent3"/>
            </a:solidFill>
            <a:prstDash val="dash"/>
          </a:ln>
        </p:spPr>
      </p:sp>
      <p:sp>
        <p:nvSpPr>
          <p:cNvPr id="68" name="Gap: Goes live at once"/>
          <p:cNvSpPr/>
          <p:nvPr/>
        </p:nvSpPr>
        <p:spPr>
          <a:xfrm>
            <a:off x="7123176" y="4983480"/>
            <a:ext cx="2075688" cy="1280160"/>
          </a:xfrm>
          <a:prstGeom prst="roundRect">
            <a:avLst>
              <a:gd name="adj" fmla="val 7143"/>
            </a:avLst>
          </a:prstGeom>
          <a:solidFill>
            <a:schemeClr val="accent3">
              <a:alpha val="8000"/>
            </a:schemeClr>
          </a:solidFill>
          <a:ln w="15875">
            <a:solidFill>
              <a:schemeClr val="accent3"/>
            </a:solidFill>
            <a:prstDash val="dash"/>
          </a:ln>
        </p:spPr>
      </p:sp>
      <p:sp>
        <p:nvSpPr>
          <p:cNvPr id="69" name="Shape 57"/>
          <p:cNvSpPr/>
          <p:nvPr/>
        </p:nvSpPr>
        <p:spPr>
          <a:xfrm>
            <a:off x="7251192" y="5111496"/>
            <a:ext cx="384048" cy="384048"/>
          </a:xfrm>
          <a:prstGeom prst="ellipse">
            <a:avLst/>
          </a:prstGeom>
          <a:solidFill>
            <a:schemeClr val="accent3"/>
          </a:solidFill>
          <a:ln/>
        </p:spPr>
      </p:sp>
      <p:pic>
        <p:nvPicPr>
          <p:cNvPr id="70" name="Image 10" descr="preencoded.png">    </p:cNvPr>
          <p:cNvPicPr>
            <a:picLocks noChangeAspect="1"/>
          </p:cNvPicPr>
          <p:nvPr/>
        </p:nvPicPr>
        <p:blipFill>
          <a:blip r:embed="rId11"/>
          <a:stretch>
            <a:fillRect/>
          </a:stretch>
        </p:blipFill>
        <p:spPr>
          <a:xfrm>
            <a:off x="7335683" y="5195987"/>
            <a:ext cx="215067" cy="215067"/>
          </a:xfrm>
          <a:prstGeom prst="rect">
            <a:avLst/>
          </a:prstGeom>
        </p:spPr>
      </p:pic>
      <p:sp>
        <p:nvSpPr>
          <p:cNvPr id="71" name="Text 58"/>
          <p:cNvSpPr txBox="1"/>
          <p:nvPr/>
        </p:nvSpPr>
        <p:spPr>
          <a:xfrm>
            <a:off x="7726680" y="5111496"/>
            <a:ext cx="1362456" cy="384048"/>
          </a:xfrm>
          <a:prstGeom prst="rect">
            <a:avLst/>
          </a:prstGeom>
          <a:noFill/>
          <a:ln/>
        </p:spPr>
        <p:txBody>
          <a:bodyPr wrap="square" lIns="0" tIns="0" rIns="0" bIns="0" rtlCol="0" anchor="ctr"/>
          <a:lstStyle/>
          <a:p>
            <a:pPr indent="0" marL="0">
              <a:buNone/>
            </a:pPr>
            <a:r>
              <a:rPr lang="en-US" sz="1300" b="1" dirty="0">
                <a:solidFill>
                  <a:schemeClr val="tx1"/>
                </a:solidFill>
              </a:rPr>
              <a:t>Goes live at once</a:t>
            </a:r>
            <a:endParaRPr lang="en-US" sz="1300" dirty="0"/>
          </a:p>
        </p:txBody>
      </p:sp>
      <p:sp>
        <p:nvSpPr>
          <p:cNvPr id="72" name="Text 59"/>
          <p:cNvSpPr txBox="1"/>
          <p:nvPr/>
        </p:nvSpPr>
        <p:spPr>
          <a:xfrm>
            <a:off x="7251192" y="5586984"/>
            <a:ext cx="1819656" cy="603504"/>
          </a:xfrm>
          <a:prstGeom prst="rect">
            <a:avLst/>
          </a:prstGeom>
          <a:noFill/>
          <a:ln/>
        </p:spPr>
        <p:txBody>
          <a:bodyPr wrap="square" lIns="0" tIns="0" rIns="0" bIns="0" rtlCol="0" anchor="t"/>
          <a:lstStyle/>
          <a:p>
            <a:pPr indent="0" marL="0">
              <a:buNone/>
            </a:pPr>
            <a:r>
              <a:rPr lang="en-US" sz="1200" dirty="0">
                <a:solidFill>
                  <a:schemeClr val="tx2"/>
                </a:solidFill>
              </a:rPr>
              <a:t>Tick ‘execute’ and changes go live right after the preview — production too</a:t>
            </a:r>
            <a:endParaRPr lang="en-US" sz="1200" dirty="0"/>
          </a:p>
        </p:txBody>
      </p:sp>
      <p:sp>
        <p:nvSpPr>
          <p:cNvPr id="73" name="Shape 60"/>
          <p:cNvSpPr/>
          <p:nvPr/>
        </p:nvSpPr>
        <p:spPr>
          <a:xfrm>
            <a:off x="10602468" y="4764024"/>
            <a:ext cx="914" cy="201168"/>
          </a:xfrm>
          <a:prstGeom prst="line">
            <a:avLst/>
          </a:prstGeom>
          <a:noFill/>
          <a:ln w="15875">
            <a:solidFill>
              <a:schemeClr val="accent3"/>
            </a:solidFill>
            <a:prstDash val="dash"/>
          </a:ln>
        </p:spPr>
      </p:sp>
      <p:sp>
        <p:nvSpPr>
          <p:cNvPr id="74" name="Gap: Outside CloudFormation"/>
          <p:cNvSpPr/>
          <p:nvPr/>
        </p:nvSpPr>
        <p:spPr>
          <a:xfrm>
            <a:off x="9564624" y="4983480"/>
            <a:ext cx="2075688" cy="1280160"/>
          </a:xfrm>
          <a:prstGeom prst="roundRect">
            <a:avLst>
              <a:gd name="adj" fmla="val 7143"/>
            </a:avLst>
          </a:prstGeom>
          <a:solidFill>
            <a:schemeClr val="accent3">
              <a:alpha val="8000"/>
            </a:schemeClr>
          </a:solidFill>
          <a:ln w="15875">
            <a:solidFill>
              <a:schemeClr val="accent3"/>
            </a:solidFill>
            <a:prstDash val="dash"/>
          </a:ln>
        </p:spPr>
      </p:sp>
      <p:sp>
        <p:nvSpPr>
          <p:cNvPr id="75" name="Shape 62"/>
          <p:cNvSpPr/>
          <p:nvPr/>
        </p:nvSpPr>
        <p:spPr>
          <a:xfrm>
            <a:off x="9692640" y="5111496"/>
            <a:ext cx="384048" cy="384048"/>
          </a:xfrm>
          <a:prstGeom prst="ellipse">
            <a:avLst/>
          </a:prstGeom>
          <a:solidFill>
            <a:schemeClr val="accent3"/>
          </a:solidFill>
          <a:ln/>
        </p:spPr>
      </p:sp>
      <p:pic>
        <p:nvPicPr>
          <p:cNvPr id="76" name="Image 11" descr="preencoded.png">    </p:cNvPr>
          <p:cNvPicPr>
            <a:picLocks noChangeAspect="1"/>
          </p:cNvPicPr>
          <p:nvPr/>
        </p:nvPicPr>
        <p:blipFill>
          <a:blip r:embed="rId12"/>
          <a:stretch>
            <a:fillRect/>
          </a:stretch>
        </p:blipFill>
        <p:spPr>
          <a:xfrm>
            <a:off x="9777131" y="5195987"/>
            <a:ext cx="215067" cy="215067"/>
          </a:xfrm>
          <a:prstGeom prst="rect">
            <a:avLst/>
          </a:prstGeom>
        </p:spPr>
      </p:pic>
      <p:sp>
        <p:nvSpPr>
          <p:cNvPr id="77" name="Text 63"/>
          <p:cNvSpPr txBox="1"/>
          <p:nvPr/>
        </p:nvSpPr>
        <p:spPr>
          <a:xfrm>
            <a:off x="10168128" y="5111496"/>
            <a:ext cx="1362456" cy="384048"/>
          </a:xfrm>
          <a:prstGeom prst="rect">
            <a:avLst/>
          </a:prstGeom>
          <a:noFill/>
          <a:ln/>
        </p:spPr>
        <p:txBody>
          <a:bodyPr wrap="square" lIns="0" tIns="0" rIns="0" bIns="0" rtlCol="0" anchor="ctr"/>
          <a:lstStyle/>
          <a:p>
            <a:pPr indent="0" marL="0">
              <a:buNone/>
            </a:pPr>
            <a:r>
              <a:rPr lang="en-US" sz="1300" b="1" dirty="0">
                <a:solidFill>
                  <a:schemeClr val="tx1"/>
                </a:solidFill>
              </a:rPr>
              <a:t>Outside CloudFormation</a:t>
            </a:r>
            <a:endParaRPr lang="en-US" sz="1300" dirty="0"/>
          </a:p>
        </p:txBody>
      </p:sp>
      <p:sp>
        <p:nvSpPr>
          <p:cNvPr id="78" name="Text 64"/>
          <p:cNvSpPr txBox="1"/>
          <p:nvPr/>
        </p:nvSpPr>
        <p:spPr>
          <a:xfrm>
            <a:off x="9692640" y="5586984"/>
            <a:ext cx="1819656" cy="603504"/>
          </a:xfrm>
          <a:prstGeom prst="rect">
            <a:avLst/>
          </a:prstGeom>
          <a:noFill/>
          <a:ln/>
        </p:spPr>
        <p:txBody>
          <a:bodyPr wrap="square" lIns="0" tIns="0" rIns="0" bIns="0" rtlCol="0" anchor="t"/>
          <a:lstStyle/>
          <a:p>
            <a:pPr indent="0" marL="0">
              <a:buNone/>
            </a:pPr>
            <a:r>
              <a:rPr lang="en-US" sz="1200" dirty="0">
                <a:solidFill>
                  <a:schemeClr val="tx2"/>
                </a:solidFill>
              </a:rPr>
              <a:t>No change set, no stack history, separate record files</a:t>
            </a:r>
            <a:endParaRPr lang="en-US" sz="1200" dirty="0"/>
          </a:p>
        </p:txBody>
      </p:sp>
      <p:sp>
        <p:nvSpPr>
          <p:cNvPr id="79" name="Text 65"/>
          <p:cNvSpPr txBox="1"/>
          <p:nvPr/>
        </p:nvSpPr>
        <p:spPr>
          <a:xfrm>
            <a:off x="548640" y="5029200"/>
            <a:ext cx="3931920" cy="914400"/>
          </a:xfrm>
          <a:prstGeom prst="rect">
            <a:avLst/>
          </a:prstGeom>
          <a:noFill/>
          <a:ln/>
        </p:spPr>
        <p:txBody>
          <a:bodyPr wrap="square" lIns="0" tIns="0" rIns="0" bIns="0" rtlCol="0" anchor="t"/>
          <a:lstStyle/>
          <a:p>
            <a:pPr indent="0" marL="0">
              <a:buNone/>
            </a:pPr>
            <a:r>
              <a:rPr lang="en-US" sz="1200" b="1" dirty="0">
                <a:solidFill>
                  <a:schemeClr val="tx1"/>
                </a:solidFill>
              </a:rPr>
              <a:t>How to read this</a:t>
            </a:r>
            <a:endParaRPr lang="en-US" sz="1200" dirty="0"/>
          </a:p>
          <a:p>
            <a:pPr indent="0" marL="0">
              <a:buNone/>
            </a:pPr>
            <a:r>
              <a:rPr lang="en-US" sz="1200" dirty="0">
                <a:solidFill>
                  <a:schemeClr val="tx2"/>
                </a:solidFill>
              </a:rPr>
              <a:t>Red marks gaps compared with the new pipeline. A dashed purple step happens only in some runs.</a:t>
            </a: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WS2 DNS pipelines: strengths and gaps</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Built for bulk DNS record changes — and good at that job</a:t>
            </a:r>
            <a:endParaRPr lang="en-US" sz="1500" dirty="0"/>
          </a:p>
        </p:txBody>
      </p:sp>
      <p:sp>
        <p:nvSpPr>
          <p:cNvPr id="4" name="Text 2"/>
          <p:cNvSpPr txBox="1"/>
          <p:nvPr/>
        </p:nvSpPr>
        <p:spPr>
          <a:xfrm>
            <a:off x="9811512" y="566928"/>
            <a:ext cx="182880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spc="150" kern="0" dirty="0">
                <a:solidFill>
                  <a:schemeClr val="bg1"/>
                </a:solidFill>
              </a:rPr>
              <a:t>WS2 DNS</a:t>
            </a:r>
            <a:endParaRPr lang="en-US" sz="1100" dirty="0"/>
          </a:p>
        </p:txBody>
      </p:sp>
      <p:sp>
        <p:nvSpPr>
          <p:cNvPr id="5" name="Good at"/>
          <p:cNvSpPr/>
          <p:nvPr/>
        </p:nvSpPr>
        <p:spPr>
          <a:xfrm>
            <a:off x="548640" y="1691640"/>
            <a:ext cx="6629400" cy="1783080"/>
          </a:xfrm>
          <a:prstGeom prst="roundRect">
            <a:avLst>
              <a:gd name="adj" fmla="val 6154"/>
            </a:avLst>
          </a:prstGeom>
          <a:solidFill>
            <a:schemeClr val="accent2">
              <a:alpha val="9000"/>
            </a:schemeClr>
          </a:solidFill>
          <a:ln/>
        </p:spPr>
      </p:sp>
      <p:sp>
        <p:nvSpPr>
          <p:cNvPr id="6" name="Shape 4"/>
          <p:cNvSpPr/>
          <p:nvPr/>
        </p:nvSpPr>
        <p:spPr>
          <a:xfrm>
            <a:off x="749808" y="1847088"/>
            <a:ext cx="384048" cy="384048"/>
          </a:xfrm>
          <a:prstGeom prst="ellipse">
            <a:avLst/>
          </a:prstGeom>
          <a:solidFill>
            <a:schemeClr val="accent2"/>
          </a:solidFill>
          <a:ln/>
        </p:spPr>
      </p:sp>
      <p:pic>
        <p:nvPicPr>
          <p:cNvPr id="7" name="Image 0" descr="preencoded.png">    </p:cNvPr>
          <p:cNvPicPr>
            <a:picLocks noChangeAspect="1"/>
          </p:cNvPicPr>
          <p:nvPr/>
        </p:nvPicPr>
        <p:blipFill>
          <a:blip r:embed="rId1"/>
          <a:stretch>
            <a:fillRect/>
          </a:stretch>
        </p:blipFill>
        <p:spPr>
          <a:xfrm>
            <a:off x="834299" y="1931579"/>
            <a:ext cx="215067" cy="215067"/>
          </a:xfrm>
          <a:prstGeom prst="rect">
            <a:avLst/>
          </a:prstGeom>
        </p:spPr>
      </p:pic>
      <p:sp>
        <p:nvSpPr>
          <p:cNvPr id="8" name="Text 5"/>
          <p:cNvSpPr txBox="1"/>
          <p:nvPr/>
        </p:nvSpPr>
        <p:spPr>
          <a:xfrm>
            <a:off x="1261872" y="1847088"/>
            <a:ext cx="4572000" cy="384048"/>
          </a:xfrm>
          <a:prstGeom prst="rect">
            <a:avLst/>
          </a:prstGeom>
          <a:noFill/>
          <a:ln/>
        </p:spPr>
        <p:txBody>
          <a:bodyPr wrap="square" lIns="0" tIns="0" rIns="0" bIns="0" rtlCol="0" anchor="ctr"/>
          <a:lstStyle/>
          <a:p>
            <a:pPr indent="0" marL="0">
              <a:buNone/>
            </a:pPr>
            <a:r>
              <a:rPr lang="en-US" sz="1800" b="1" dirty="0">
                <a:solidFill>
                  <a:schemeClr val="tx1"/>
                </a:solidFill>
              </a:rPr>
              <a:t>Good at</a:t>
            </a:r>
            <a:endParaRPr lang="en-US" sz="1800" dirty="0"/>
          </a:p>
        </p:txBody>
      </p:sp>
      <p:pic>
        <p:nvPicPr>
          <p:cNvPr id="9" name="Image 1" descr="preencoded.png">    </p:cNvPr>
          <p:cNvPicPr>
            <a:picLocks noChangeAspect="1"/>
          </p:cNvPicPr>
          <p:nvPr/>
        </p:nvPicPr>
        <p:blipFill>
          <a:blip r:embed="rId2"/>
          <a:stretch>
            <a:fillRect/>
          </a:stretch>
        </p:blipFill>
        <p:spPr>
          <a:xfrm>
            <a:off x="777240" y="2403602"/>
            <a:ext cx="219456" cy="219456"/>
          </a:xfrm>
          <a:prstGeom prst="rect">
            <a:avLst/>
          </a:prstGeom>
        </p:spPr>
      </p:pic>
      <p:sp>
        <p:nvSpPr>
          <p:cNvPr id="10" name="Text 6"/>
          <p:cNvSpPr txBox="1"/>
          <p:nvPr/>
        </p:nvSpPr>
        <p:spPr>
          <a:xfrm>
            <a:off x="1124712" y="2395728"/>
            <a:ext cx="5916168" cy="271780"/>
          </a:xfrm>
          <a:prstGeom prst="rect">
            <a:avLst/>
          </a:prstGeom>
          <a:noFill/>
          <a:ln/>
        </p:spPr>
        <p:txBody>
          <a:bodyPr wrap="square" lIns="0" tIns="0" rIns="0" bIns="0" rtlCol="0" anchor="t"/>
          <a:lstStyle/>
          <a:p>
            <a:pPr indent="0" marL="0">
              <a:buNone/>
            </a:pPr>
            <a:r>
              <a:rPr lang="en-US" sz="1400" dirty="0">
                <a:solidFill>
                  <a:schemeClr val="tx1"/>
                </a:solidFill>
              </a:rPr>
              <a:t>Bulk edits — a zone’s records exported to a file and changed in one go</a:t>
            </a:r>
            <a:endParaRPr lang="en-US" sz="1400" dirty="0"/>
          </a:p>
        </p:txBody>
      </p:sp>
      <p:pic>
        <p:nvPicPr>
          <p:cNvPr id="11" name="Image 2" descr="preencoded.png">    </p:cNvPr>
          <p:cNvPicPr>
            <a:picLocks noChangeAspect="1"/>
          </p:cNvPicPr>
          <p:nvPr/>
        </p:nvPicPr>
        <p:blipFill>
          <a:blip r:embed="rId3"/>
          <a:stretch>
            <a:fillRect/>
          </a:stretch>
        </p:blipFill>
        <p:spPr>
          <a:xfrm>
            <a:off x="777240" y="2748534"/>
            <a:ext cx="219456" cy="219456"/>
          </a:xfrm>
          <a:prstGeom prst="rect">
            <a:avLst/>
          </a:prstGeom>
        </p:spPr>
      </p:pic>
      <p:sp>
        <p:nvSpPr>
          <p:cNvPr id="12" name="Text 7"/>
          <p:cNvSpPr txBox="1"/>
          <p:nvPr/>
        </p:nvSpPr>
        <p:spPr>
          <a:xfrm>
            <a:off x="1124712" y="2740660"/>
            <a:ext cx="5916168" cy="271780"/>
          </a:xfrm>
          <a:prstGeom prst="rect">
            <a:avLst/>
          </a:prstGeom>
          <a:noFill/>
          <a:ln/>
        </p:spPr>
        <p:txBody>
          <a:bodyPr wrap="square" lIns="0" tIns="0" rIns="0" bIns="0" rtlCol="0" anchor="t"/>
          <a:lstStyle/>
          <a:p>
            <a:pPr indent="0" marL="0">
              <a:buNone/>
            </a:pPr>
            <a:r>
              <a:rPr lang="en-US" sz="1400" dirty="0">
                <a:solidFill>
                  <a:schemeClr val="tx1"/>
                </a:solidFill>
              </a:rPr>
              <a:t>Edits are reviewed as a Pull Request — the export opens one for you</a:t>
            </a:r>
            <a:endParaRPr lang="en-US" sz="1400" dirty="0"/>
          </a:p>
        </p:txBody>
      </p:sp>
      <p:pic>
        <p:nvPicPr>
          <p:cNvPr id="13" name="Image 3" descr="preencoded.png">    </p:cNvPr>
          <p:cNvPicPr>
            <a:picLocks noChangeAspect="1"/>
          </p:cNvPicPr>
          <p:nvPr/>
        </p:nvPicPr>
        <p:blipFill>
          <a:blip r:embed="rId4"/>
          <a:stretch>
            <a:fillRect/>
          </a:stretch>
        </p:blipFill>
        <p:spPr>
          <a:xfrm>
            <a:off x="777240" y="3093466"/>
            <a:ext cx="219456" cy="219456"/>
          </a:xfrm>
          <a:prstGeom prst="rect">
            <a:avLst/>
          </a:prstGeom>
        </p:spPr>
      </p:pic>
      <p:sp>
        <p:nvSpPr>
          <p:cNvPr id="14" name="Text 8"/>
          <p:cNvSpPr txBox="1"/>
          <p:nvPr/>
        </p:nvSpPr>
        <p:spPr>
          <a:xfrm>
            <a:off x="1124712" y="3085592"/>
            <a:ext cx="5916168" cy="271780"/>
          </a:xfrm>
          <a:prstGeom prst="rect">
            <a:avLst/>
          </a:prstGeom>
          <a:noFill/>
          <a:ln/>
        </p:spPr>
        <p:txBody>
          <a:bodyPr wrap="square" lIns="0" tIns="0" rIns="0" bIns="0" rtlCol="0" anchor="t"/>
          <a:lstStyle/>
          <a:p>
            <a:pPr indent="0" marL="0">
              <a:buNone/>
            </a:pPr>
            <a:r>
              <a:rPr lang="en-US" sz="1400" dirty="0">
                <a:solidFill>
                  <a:schemeClr val="tx1"/>
                </a:solidFill>
              </a:rPr>
              <a:t>Preview first; deleting records is off unless someone ticks the box</a:t>
            </a:r>
            <a:endParaRPr lang="en-US" sz="1400" dirty="0"/>
          </a:p>
        </p:txBody>
      </p:sp>
      <p:sp>
        <p:nvSpPr>
          <p:cNvPr id="15" name="What it doesn’t do"/>
          <p:cNvSpPr/>
          <p:nvPr/>
        </p:nvSpPr>
        <p:spPr>
          <a:xfrm>
            <a:off x="548640" y="3639312"/>
            <a:ext cx="6629400" cy="2624328"/>
          </a:xfrm>
          <a:prstGeom prst="roundRect">
            <a:avLst>
              <a:gd name="adj" fmla="val 4181"/>
            </a:avLst>
          </a:prstGeom>
          <a:solidFill>
            <a:schemeClr val="accent3">
              <a:alpha val="8000"/>
            </a:schemeClr>
          </a:solidFill>
          <a:ln/>
        </p:spPr>
      </p:sp>
      <p:sp>
        <p:nvSpPr>
          <p:cNvPr id="16" name="Shape 10"/>
          <p:cNvSpPr/>
          <p:nvPr/>
        </p:nvSpPr>
        <p:spPr>
          <a:xfrm>
            <a:off x="749808" y="3794760"/>
            <a:ext cx="384048" cy="384048"/>
          </a:xfrm>
          <a:prstGeom prst="ellipse">
            <a:avLst/>
          </a:prstGeom>
          <a:solidFill>
            <a:schemeClr val="accent3"/>
          </a:solidFill>
          <a:ln/>
        </p:spPr>
      </p:sp>
      <p:pic>
        <p:nvPicPr>
          <p:cNvPr id="17" name="Image 4" descr="preencoded.png">    </p:cNvPr>
          <p:cNvPicPr>
            <a:picLocks noChangeAspect="1"/>
          </p:cNvPicPr>
          <p:nvPr/>
        </p:nvPicPr>
        <p:blipFill>
          <a:blip r:embed="rId5"/>
          <a:stretch>
            <a:fillRect/>
          </a:stretch>
        </p:blipFill>
        <p:spPr>
          <a:xfrm>
            <a:off x="834299" y="3879251"/>
            <a:ext cx="215067" cy="215067"/>
          </a:xfrm>
          <a:prstGeom prst="rect">
            <a:avLst/>
          </a:prstGeom>
        </p:spPr>
      </p:pic>
      <p:sp>
        <p:nvSpPr>
          <p:cNvPr id="18" name="Text 11"/>
          <p:cNvSpPr txBox="1"/>
          <p:nvPr/>
        </p:nvSpPr>
        <p:spPr>
          <a:xfrm>
            <a:off x="1261872" y="3794760"/>
            <a:ext cx="4572000" cy="384048"/>
          </a:xfrm>
          <a:prstGeom prst="rect">
            <a:avLst/>
          </a:prstGeom>
          <a:noFill/>
          <a:ln/>
        </p:spPr>
        <p:txBody>
          <a:bodyPr wrap="square" lIns="0" tIns="0" rIns="0" bIns="0" rtlCol="0" anchor="ctr"/>
          <a:lstStyle/>
          <a:p>
            <a:pPr indent="0" marL="0">
              <a:buNone/>
            </a:pPr>
            <a:r>
              <a:rPr lang="en-US" sz="1800" b="1" dirty="0">
                <a:solidFill>
                  <a:schemeClr val="tx1"/>
                </a:solidFill>
              </a:rPr>
              <a:t>What it doesn’t do</a:t>
            </a:r>
            <a:endParaRPr lang="en-US" sz="1800" dirty="0"/>
          </a:p>
        </p:txBody>
      </p:sp>
      <p:pic>
        <p:nvPicPr>
          <p:cNvPr id="19" name="Image 5" descr="preencoded.png">    </p:cNvPr>
          <p:cNvPicPr>
            <a:picLocks noChangeAspect="1"/>
          </p:cNvPicPr>
          <p:nvPr/>
        </p:nvPicPr>
        <p:blipFill>
          <a:blip r:embed="rId6"/>
          <a:stretch>
            <a:fillRect/>
          </a:stretch>
        </p:blipFill>
        <p:spPr>
          <a:xfrm>
            <a:off x="777240" y="4351274"/>
            <a:ext cx="219456" cy="219456"/>
          </a:xfrm>
          <a:prstGeom prst="rect">
            <a:avLst/>
          </a:prstGeom>
        </p:spPr>
      </p:pic>
      <p:sp>
        <p:nvSpPr>
          <p:cNvPr id="20" name="Text 12"/>
          <p:cNvSpPr txBox="1"/>
          <p:nvPr/>
        </p:nvSpPr>
        <p:spPr>
          <a:xfrm>
            <a:off x="1124712" y="4343400"/>
            <a:ext cx="5916168" cy="488696"/>
          </a:xfrm>
          <a:prstGeom prst="rect">
            <a:avLst/>
          </a:prstGeom>
          <a:noFill/>
          <a:ln/>
        </p:spPr>
        <p:txBody>
          <a:bodyPr wrap="square" lIns="0" tIns="0" rIns="0" bIns="0" rtlCol="0" anchor="t"/>
          <a:lstStyle/>
          <a:p>
            <a:pPr indent="0" marL="0">
              <a:buNone/>
            </a:pPr>
            <a:r>
              <a:rPr lang="en-US" sz="1400" dirty="0">
                <a:solidFill>
                  <a:schemeClr val="tx1"/>
                </a:solidFill>
              </a:rPr>
              <a:t>No approval gate — the file promises one outside sandbox, but the job is missing: ‘execute’ goes live at once</a:t>
            </a:r>
            <a:endParaRPr lang="en-US" sz="1400" dirty="0"/>
          </a:p>
        </p:txBody>
      </p:sp>
      <p:pic>
        <p:nvPicPr>
          <p:cNvPr id="21" name="Image 6" descr="preencoded.png">    </p:cNvPr>
          <p:cNvPicPr>
            <a:picLocks noChangeAspect="1"/>
          </p:cNvPicPr>
          <p:nvPr/>
        </p:nvPicPr>
        <p:blipFill>
          <a:blip r:embed="rId7"/>
          <a:stretch>
            <a:fillRect/>
          </a:stretch>
        </p:blipFill>
        <p:spPr>
          <a:xfrm>
            <a:off x="777240" y="4913122"/>
            <a:ext cx="219456" cy="219456"/>
          </a:xfrm>
          <a:prstGeom prst="rect">
            <a:avLst/>
          </a:prstGeom>
        </p:spPr>
      </p:pic>
      <p:sp>
        <p:nvSpPr>
          <p:cNvPr id="22" name="Text 13"/>
          <p:cNvSpPr txBox="1"/>
          <p:nvPr/>
        </p:nvSpPr>
        <p:spPr>
          <a:xfrm>
            <a:off x="1124712" y="4905248"/>
            <a:ext cx="5916168" cy="488696"/>
          </a:xfrm>
          <a:prstGeom prst="rect">
            <a:avLst/>
          </a:prstGeom>
          <a:noFill/>
          <a:ln/>
        </p:spPr>
        <p:txBody>
          <a:bodyPr wrap="square" lIns="0" tIns="0" rIns="0" bIns="0" rtlCol="0" anchor="t"/>
          <a:lstStyle/>
          <a:p>
            <a:pPr indent="0" marL="0">
              <a:buNone/>
            </a:pPr>
            <a:r>
              <a:rPr lang="en-US" sz="1400" dirty="0">
                <a:solidFill>
                  <a:schemeClr val="tx1"/>
                </a:solidFill>
              </a:rPr>
              <a:t>DNS records only — not alias records (CloudFront, load balancers), new zones or other AWS resources</a:t>
            </a:r>
            <a:endParaRPr lang="en-US" sz="1400" dirty="0"/>
          </a:p>
        </p:txBody>
      </p:sp>
      <p:pic>
        <p:nvPicPr>
          <p:cNvPr id="23" name="Image 7" descr="preencoded.png">    </p:cNvPr>
          <p:cNvPicPr>
            <a:picLocks noChangeAspect="1"/>
          </p:cNvPicPr>
          <p:nvPr/>
        </p:nvPicPr>
        <p:blipFill>
          <a:blip r:embed="rId8"/>
          <a:stretch>
            <a:fillRect/>
          </a:stretch>
        </p:blipFill>
        <p:spPr>
          <a:xfrm>
            <a:off x="777240" y="5474970"/>
            <a:ext cx="219456" cy="219456"/>
          </a:xfrm>
          <a:prstGeom prst="rect">
            <a:avLst/>
          </a:prstGeom>
        </p:spPr>
      </p:pic>
      <p:sp>
        <p:nvSpPr>
          <p:cNvPr id="24" name="Text 14"/>
          <p:cNvSpPr txBox="1"/>
          <p:nvPr/>
        </p:nvSpPr>
        <p:spPr>
          <a:xfrm>
            <a:off x="1124712" y="5467096"/>
            <a:ext cx="5916168" cy="271780"/>
          </a:xfrm>
          <a:prstGeom prst="rect">
            <a:avLst/>
          </a:prstGeom>
          <a:noFill/>
          <a:ln/>
        </p:spPr>
        <p:txBody>
          <a:bodyPr wrap="square" lIns="0" tIns="0" rIns="0" bIns="0" rtlCol="0" anchor="t"/>
          <a:lstStyle/>
          <a:p>
            <a:pPr indent="0" marL="0">
              <a:buNone/>
            </a:pPr>
            <a:r>
              <a:rPr lang="en-US" sz="1400" dirty="0">
                <a:solidFill>
                  <a:schemeClr val="tx1"/>
                </a:solidFill>
              </a:rPr>
              <a:t>No manual-change alarm — a hand edit is quietly overwritten next time</a:t>
            </a:r>
            <a:endParaRPr lang="en-US" sz="1400" dirty="0"/>
          </a:p>
        </p:txBody>
      </p:sp>
      <p:pic>
        <p:nvPicPr>
          <p:cNvPr id="25" name="Image 8" descr="preencoded.png">    </p:cNvPr>
          <p:cNvPicPr>
            <a:picLocks noChangeAspect="1"/>
          </p:cNvPicPr>
          <p:nvPr/>
        </p:nvPicPr>
        <p:blipFill>
          <a:blip r:embed="rId9"/>
          <a:stretch>
            <a:fillRect/>
          </a:stretch>
        </p:blipFill>
        <p:spPr>
          <a:xfrm>
            <a:off x="777240" y="5819902"/>
            <a:ext cx="219456" cy="219456"/>
          </a:xfrm>
          <a:prstGeom prst="rect">
            <a:avLst/>
          </a:prstGeom>
        </p:spPr>
      </p:pic>
      <p:sp>
        <p:nvSpPr>
          <p:cNvPr id="26" name="Text 15"/>
          <p:cNvSpPr txBox="1"/>
          <p:nvPr/>
        </p:nvSpPr>
        <p:spPr>
          <a:xfrm>
            <a:off x="1124712" y="5812028"/>
            <a:ext cx="5916168" cy="271780"/>
          </a:xfrm>
          <a:prstGeom prst="rect">
            <a:avLst/>
          </a:prstGeom>
          <a:noFill/>
          <a:ln/>
        </p:spPr>
        <p:txBody>
          <a:bodyPr wrap="square" lIns="0" tIns="0" rIns="0" bIns="0" rtlCol="0" anchor="t"/>
          <a:lstStyle/>
          <a:p>
            <a:pPr indent="0" marL="0">
              <a:buNone/>
            </a:pPr>
            <a:r>
              <a:rPr lang="en-US" sz="1400" dirty="0">
                <a:solidFill>
                  <a:schemeClr val="tx1"/>
                </a:solidFill>
              </a:rPr>
              <a:t>Works outside CloudFormation — no change set or stack history</a:t>
            </a:r>
            <a:endParaRPr lang="en-US" sz="1400" dirty="0"/>
          </a:p>
        </p:txBody>
      </p:sp>
      <p:sp>
        <p:nvSpPr>
          <p:cNvPr id="27" name="Screenshot frame"/>
          <p:cNvSpPr/>
          <p:nvPr/>
        </p:nvSpPr>
        <p:spPr>
          <a:xfrm>
            <a:off x="7498080" y="1691640"/>
            <a:ext cx="4142232" cy="3246120"/>
          </a:xfrm>
          <a:prstGeom prst="roundRect">
            <a:avLst>
              <a:gd name="adj" fmla="val 2254"/>
            </a:avLst>
          </a:prstGeom>
          <a:solidFill>
            <a:schemeClr val="bg2"/>
          </a:solidFill>
          <a:ln w="15875">
            <a:solidFill>
              <a:schemeClr val="accent5"/>
            </a:solidFill>
            <a:prstDash val="dash"/>
          </a:ln>
        </p:spPr>
      </p:sp>
      <p:sp>
        <p:nvSpPr>
          <p:cNvPr id="28" name="Shape 17"/>
          <p:cNvSpPr/>
          <p:nvPr/>
        </p:nvSpPr>
        <p:spPr>
          <a:xfrm>
            <a:off x="7626096" y="1819656"/>
            <a:ext cx="365760" cy="365760"/>
          </a:xfrm>
          <a:prstGeom prst="ellipse">
            <a:avLst/>
          </a:prstGeom>
          <a:solidFill>
            <a:schemeClr val="accent5"/>
          </a:solidFill>
          <a:ln/>
        </p:spPr>
      </p:sp>
      <p:pic>
        <p:nvPicPr>
          <p:cNvPr id="29" name="Image 9" descr="preencoded.png">    </p:cNvPr>
          <p:cNvPicPr>
            <a:picLocks noChangeAspect="1"/>
          </p:cNvPicPr>
          <p:nvPr/>
        </p:nvPicPr>
        <p:blipFill>
          <a:blip r:embed="rId10"/>
          <a:stretch>
            <a:fillRect/>
          </a:stretch>
        </p:blipFill>
        <p:spPr>
          <a:xfrm>
            <a:off x="7706563" y="1900123"/>
            <a:ext cx="204826" cy="204826"/>
          </a:xfrm>
          <a:prstGeom prst="rect">
            <a:avLst/>
          </a:prstGeom>
        </p:spPr>
      </p:pic>
      <p:sp>
        <p:nvSpPr>
          <p:cNvPr id="30" name="Text 18"/>
          <p:cNvSpPr txBox="1"/>
          <p:nvPr/>
        </p:nvSpPr>
        <p:spPr>
          <a:xfrm>
            <a:off x="7498080" y="5010912"/>
            <a:ext cx="4142232" cy="548640"/>
          </a:xfrm>
          <a:prstGeom prst="rect">
            <a:avLst/>
          </a:prstGeom>
          <a:noFill/>
          <a:ln/>
        </p:spPr>
        <p:txBody>
          <a:bodyPr wrap="square" lIns="0" tIns="0" rIns="0" bIns="0" rtlCol="0" anchor="t"/>
          <a:lstStyle/>
          <a:p>
            <a:pPr indent="0" marL="0">
              <a:buNone/>
            </a:pPr>
            <a:r>
              <a:rPr lang="en-US" sz="1300" b="1" dirty="0">
                <a:solidFill>
                  <a:schemeClr val="tx1"/>
                </a:solidFill>
              </a:rPr>
              <a:t>The missing approval gate</a:t>
            </a:r>
            <a:pPr indent="0" marL="0">
              <a:buNone/>
            </a:pPr>
            <a:r>
              <a:rPr lang="en-US" sz="1200" dirty="0">
                <a:solidFill>
                  <a:schemeClr val="tx2"/>
                </a:solidFill>
              </a:rPr>
              <a:t>  ws2-dns-records-apply.yml, lines 418–444: described, but never added</a:t>
            </a:r>
            <a:endParaRPr lang="en-US" sz="1400" dirty="0"/>
          </a:p>
        </p:txBody>
      </p:sp>
      <p:sp>
        <p:nvSpPr>
          <p:cNvPr id="32" name="Text 1"/>
          <p:cNvSpPr/>
          <p:nvPr>
            <p:ph idx="103" hasCustomPrompt="1"/>
          </p:nvPr>
        </p:nvSpPr>
        <p:spPr>
          <a:xfrm>
            <a:off x="7498080" y="1691640"/>
            <a:ext cx="4142232" cy="3246120"/>
          </a:xfrm>
          <a:prstGeom prst="rect">
            <a:avLst/>
          </a:prstGeom>
          <a:noFill/>
          <a:ln/>
        </p:spPr>
        <p:txBody>
          <a:bodyPr wrap="square" lIns="558800" tIns="50800" rIns="558800" bIns="50800" rtlCol="0" anchor="ctr"/>
          <a:lstStyle/>
          <a:p>
            <a:pPr algn="ctr" indent="0" marL="0">
              <a:buNone/>
            </a:pP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Side by side: new pipeline vs WS2 DNS</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How they compare on the checks that matter</a:t>
            </a:r>
            <a:endParaRPr lang="en-US" sz="1500" dirty="0"/>
          </a:p>
        </p:txBody>
      </p:sp>
      <p:graphicFrame>
        <p:nvGraphicFramePr>
          <p:cNvPr id="9" name="Comparison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2971800"/>
                <a:gridCol w="4059936"/>
                <a:gridCol w="4059936"/>
              </a:tblGrid>
              <a:tr h="420624">
                <a:tc>
                  <a:txBody>
                    <a:bodyPr/>
                    <a:lstStyle/>
                    <a:p>
                      <a:pPr indent="0" marL="0">
                        <a:buNone/>
                      </a:pPr>
                      <a:r>
                        <a:rPr lang="en-US" sz="1200" b="1" dirty="0">
                          <a:solidFill>
                            <a:schemeClr val="accent1"/>
                          </a:solidFill>
                          <a:latin typeface="Segoe UI Symbol" pitchFamily="34" charset="0"/>
                          <a:ea typeface="Segoe UI Symbol" pitchFamily="34" charset="-122"/>
                          <a:cs typeface="Segoe UI Symbol" pitchFamily="34" charset="-120"/>
                        </a:rPr>
                        <a:t>✓</a:t>
                      </a:r>
                      <a:pPr indent="0" marL="0">
                        <a:buNone/>
                      </a:pPr>
                      <a:r>
                        <a:rPr lang="en-US" sz="1200" dirty="0">
                          <a:solidFill>
                            <a:schemeClr val="tx2"/>
                          </a:solidFill>
                        </a:rPr>
                        <a:t> yes    </a:t>
                      </a:r>
                      <a:pPr indent="0" marL="0">
                        <a:buNone/>
                      </a:pPr>
                      <a:r>
                        <a:rPr lang="en-US" sz="1200" b="1" dirty="0">
                          <a:solidFill>
                            <a:schemeClr val="accent4"/>
                          </a:solidFill>
                          <a:latin typeface="Segoe UI Symbol" pitchFamily="34" charset="0"/>
                          <a:ea typeface="Segoe UI Symbol" pitchFamily="34" charset="-122"/>
                          <a:cs typeface="Segoe UI Symbol" pitchFamily="34" charset="-120"/>
                        </a:rPr>
                        <a:t>◐</a:t>
                      </a:r>
                      <a:pPr indent="0" marL="0">
                        <a:buNone/>
                      </a:pPr>
                      <a:r>
                        <a:rPr lang="en-US" sz="1200" dirty="0">
                          <a:solidFill>
                            <a:schemeClr val="tx2"/>
                          </a:solidFill>
                        </a:rPr>
                        <a:t> partly    </a:t>
                      </a:r>
                      <a:pPr indent="0" marL="0">
                        <a:buNone/>
                      </a:pPr>
                      <a:r>
                        <a:rPr lang="en-US" sz="1200" b="1" dirty="0">
                          <a:solidFill>
                            <a:schemeClr val="accent3"/>
                          </a:solidFill>
                          <a:latin typeface="Segoe UI Symbol" pitchFamily="34" charset="0"/>
                          <a:ea typeface="Segoe UI Symbol" pitchFamily="34" charset="-122"/>
                          <a:cs typeface="Segoe UI Symbol" pitchFamily="34" charset="-120"/>
                        </a:rPr>
                        <a:t>✗</a:t>
                      </a:r>
                      <a:pPr indent="0" marL="0">
                        <a:buNone/>
                      </a:pPr>
                      <a:r>
                        <a:rPr lang="en-US" sz="1200" dirty="0">
                          <a:solidFill>
                            <a:schemeClr val="tx2"/>
                          </a:solidFill>
                        </a:rPr>
                        <a:t> no</a:t>
                      </a:r>
                      <a:endParaRPr lang="en-US" sz="1200" dirty="0"/>
                    </a:p>
                  </a:txBody>
                  <a:tcPr marL="128016" marR="128016" marT="54864" marB="54864" anchor="b">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600" b="1" dirty="0">
                          <a:solidFill>
                            <a:schemeClr val="bg1"/>
                          </a:solidFill>
                        </a:rPr>
                        <a:t>New pipeline</a:t>
                      </a:r>
                      <a:endParaRPr lang="en-US" sz="16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WS2 DNS pipelines</a:t>
                      </a:r>
                      <a:endParaRPr lang="en-US" sz="16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accent2"/>
                    </a:solidFill>
                  </a:tcPr>
                </a:tc>
              </a:tr>
              <a:tr h="493776">
                <a:tc>
                  <a:txBody>
                    <a:bodyPr/>
                    <a:lstStyle/>
                    <a:p>
                      <a:pPr indent="0" marL="0">
                        <a:buNone/>
                      </a:pPr>
                      <a:r>
                        <a:rPr lang="en-US" sz="1400" b="1" dirty="0">
                          <a:solidFill>
                            <a:schemeClr val="tx1"/>
                          </a:solidFill>
                        </a:rPr>
                        <a:t>Spots changes made by hand</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Stops the run and shows what changed*</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3"/>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No alarm — a hand edit is simply overwritten</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r h="493776">
                <a:tc>
                  <a:txBody>
                    <a:bodyPr/>
                    <a:lstStyle/>
                    <a:p>
                      <a:pPr indent="0" marL="0">
                        <a:buNone/>
                      </a:pPr>
                      <a:r>
                        <a:rPr lang="en-US" sz="1400" b="1" dirty="0">
                          <a:solidFill>
                            <a:schemeClr val="tx1"/>
                          </a:solidFill>
                        </a:rPr>
                        <a:t>Itemised preview before go-live</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Change set: every add, change, removal</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Preview list in the run log</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r h="493776">
                <a:tc>
                  <a:txBody>
                    <a:bodyPr/>
                    <a:lstStyle/>
                    <a:p>
                      <a:pPr indent="0" marL="0">
                        <a:buNone/>
                      </a:pPr>
                      <a:r>
                        <a:rPr lang="en-US" sz="1400" b="1" dirty="0">
                          <a:solidFill>
                            <a:schemeClr val="tx1"/>
                          </a:solidFill>
                        </a:rPr>
                        <a:t>Pause for approval before go-live</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By default, waits for someone to click Execute</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3"/>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Promised in the file, but the job is missing</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r h="493776">
                <a:tc>
                  <a:txBody>
                    <a:bodyPr/>
                    <a:lstStyle/>
                    <a:p>
                      <a:pPr indent="0" marL="0">
                        <a:buNone/>
                      </a:pPr>
                      <a:r>
                        <a:rPr lang="en-US" sz="1400" b="1" dirty="0">
                          <a:solidFill>
                            <a:schemeClr val="tx1"/>
                          </a:solidFill>
                        </a:rPr>
                        <a:t>Runs exactly what was approved</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Same change set; out-of-date ones refused</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3"/>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Changes are re-worked at apply time</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r h="493776">
                <a:tc>
                  <a:txBody>
                    <a:bodyPr/>
                    <a:lstStyle/>
                    <a:p>
                      <a:pPr indent="0" marL="0">
                        <a:buNone/>
                      </a:pPr>
                      <a:r>
                        <a:rPr lang="en-US" sz="1400" b="1" dirty="0">
                          <a:solidFill>
                            <a:schemeClr val="tx1"/>
                          </a:solidFill>
                        </a:rPr>
                        <a:t>Backup and rollback</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Every record in Git; revert a commit to undo</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Manual snapshot; alias records left out</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r h="493776">
                <a:tc>
                  <a:txBody>
                    <a:bodyPr/>
                    <a:lstStyle/>
                    <a:p>
                      <a:pPr indent="0" marL="0">
                        <a:buNone/>
                      </a:pPr>
                      <a:r>
                        <a:rPr lang="en-US" sz="1400" b="1" dirty="0">
                          <a:solidFill>
                            <a:schemeClr val="tx1"/>
                          </a:solidFill>
                        </a:rPr>
                        <a:t>What it covers</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Any stack — DNS zones and alias records too</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DNS records only</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r h="493776">
                <a:tc>
                  <a:txBody>
                    <a:bodyPr/>
                    <a:lstStyle/>
                    <a:p>
                      <a:pPr indent="0" marL="0">
                        <a:buNone/>
                      </a:pPr>
                      <a:r>
                        <a:rPr lang="en-US" sz="1400" b="1" dirty="0">
                          <a:solidFill>
                            <a:schemeClr val="tx1"/>
                          </a:solidFill>
                        </a:rPr>
                        <a:t>One source of truth</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CloudFormation templates in Git</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3"/>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Separate files, changed outside CloudFormation</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r h="493776">
                <a:tc>
                  <a:txBody>
                    <a:bodyPr/>
                    <a:lstStyle/>
                    <a:p>
                      <a:pPr indent="0" marL="0">
                        <a:buNone/>
                      </a:pPr>
                      <a:r>
                        <a:rPr lang="en-US" sz="1400" b="1" dirty="0">
                          <a:solidFill>
                            <a:schemeClr val="tx1"/>
                          </a:solidFill>
                        </a:rPr>
                        <a:t>Bulk edits, reviewed in Git</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Edit the template; review a Pull Request</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1"/>
                          </a:solidFill>
                          <a:latin typeface="Segoe UI Symbol" pitchFamily="34" charset="0"/>
                          <a:ea typeface="Segoe UI Symbol" pitchFamily="34" charset="-122"/>
                          <a:cs typeface="Segoe UI Symbol" pitchFamily="34" charset="-120"/>
                        </a:rPr>
                        <a:t>✓  </a:t>
                      </a:r>
                      <a:pPr indent="0" marL="0">
                        <a:buNone/>
                      </a:pPr>
                      <a:r>
                        <a:rPr lang="en-US" sz="1400" dirty="0">
                          <a:solidFill>
                            <a:schemeClr val="tx1"/>
                          </a:solidFill>
                        </a:rPr>
                        <a:t>Export to files; review a Pull Request</a:t>
                      </a:r>
                      <a:endParaRPr lang="en-US" sz="1400" dirty="0"/>
                    </a:p>
                  </a:txBody>
                  <a:tcPr marL="128016" marR="128016"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bl>
          </a:graphicData>
        </a:graphic>
      </p:graphicFrame>
      <p:sp>
        <p:nvSpPr>
          <p:cNvPr id="5" name="Text 2"/>
          <p:cNvSpPr txBox="1"/>
          <p:nvPr/>
        </p:nvSpPr>
        <p:spPr>
          <a:xfrm>
            <a:off x="548640" y="6053328"/>
            <a:ext cx="11091672" cy="274320"/>
          </a:xfrm>
          <a:prstGeom prst="rect">
            <a:avLst/>
          </a:prstGeom>
          <a:noFill/>
          <a:ln/>
        </p:spPr>
        <p:txBody>
          <a:bodyPr wrap="square" lIns="0" tIns="0" rIns="0" bIns="0" rtlCol="0" anchor="t"/>
          <a:lstStyle/>
          <a:p>
            <a:pPr indent="0" marL="0">
              <a:buNone/>
            </a:pPr>
            <a:r>
              <a:rPr lang="en-US" sz="1100" dirty="0">
                <a:solidFill>
                  <a:schemeClr val="tx2"/>
                </a:solidFill>
              </a:rPr>
              <a:t>* Where AWS supports drift checks — not for FMS policies or individual DNS records (see slide 12).</a:t>
            </a:r>
            <a:endParaRPr lang="en-US" sz="11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When DNS breaks: find it, undo it</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WS2’s export is a snapshot — the new pipeline keeps the real record templates in Git</a:t>
            </a:r>
            <a:endParaRPr lang="en-US" sz="1500" dirty="0"/>
          </a:p>
        </p:txBody>
      </p:sp>
      <p:sp>
        <p:nvSpPr>
          <p:cNvPr id="4" name="WS2 DNS EXPORT"/>
          <p:cNvSpPr/>
          <p:nvPr/>
        </p:nvSpPr>
        <p:spPr>
          <a:xfrm>
            <a:off x="548640" y="1691640"/>
            <a:ext cx="3639312" cy="3474720"/>
          </a:xfrm>
          <a:prstGeom prst="roundRect">
            <a:avLst>
              <a:gd name="adj" fmla="val 3158"/>
            </a:avLst>
          </a:prstGeom>
          <a:solidFill>
            <a:schemeClr val="accent2">
              <a:alpha val="9000"/>
            </a:schemeClr>
          </a:solidFill>
          <a:ln/>
        </p:spPr>
      </p:sp>
      <p:sp>
        <p:nvSpPr>
          <p:cNvPr id="5" name="Shape 3"/>
          <p:cNvSpPr/>
          <p:nvPr/>
        </p:nvSpPr>
        <p:spPr>
          <a:xfrm>
            <a:off x="749808" y="1874520"/>
            <a:ext cx="502920" cy="502920"/>
          </a:xfrm>
          <a:prstGeom prst="ellipse">
            <a:avLst/>
          </a:prstGeom>
          <a:solidFill>
            <a:schemeClr val="accent2"/>
          </a:solidFill>
          <a:ln/>
        </p:spPr>
      </p:sp>
      <p:pic>
        <p:nvPicPr>
          <p:cNvPr id="6" name="Image 0" descr="preencoded.png">    </p:cNvPr>
          <p:cNvPicPr>
            <a:picLocks noChangeAspect="1"/>
          </p:cNvPicPr>
          <p:nvPr/>
        </p:nvPicPr>
        <p:blipFill>
          <a:blip r:embed="rId1"/>
          <a:stretch>
            <a:fillRect/>
          </a:stretch>
        </p:blipFill>
        <p:spPr>
          <a:xfrm>
            <a:off x="860450" y="1985162"/>
            <a:ext cx="281635" cy="281635"/>
          </a:xfrm>
          <a:prstGeom prst="rect">
            <a:avLst/>
          </a:prstGeom>
        </p:spPr>
      </p:pic>
      <p:sp>
        <p:nvSpPr>
          <p:cNvPr id="7" name="Text 4"/>
          <p:cNvSpPr txBox="1"/>
          <p:nvPr/>
        </p:nvSpPr>
        <p:spPr>
          <a:xfrm>
            <a:off x="1389888" y="1865376"/>
            <a:ext cx="2651760" cy="219456"/>
          </a:xfrm>
          <a:prstGeom prst="rect">
            <a:avLst/>
          </a:prstGeom>
          <a:noFill/>
          <a:ln/>
        </p:spPr>
        <p:txBody>
          <a:bodyPr wrap="square" lIns="0" tIns="0" rIns="0" bIns="0" rtlCol="0" anchor="t"/>
          <a:lstStyle/>
          <a:p>
            <a:pPr indent="0" marL="0">
              <a:buNone/>
            </a:pPr>
            <a:r>
              <a:rPr lang="en-US" sz="1100" b="1" spc="150" kern="0" dirty="0">
                <a:solidFill>
                  <a:schemeClr val="accent2"/>
                </a:solidFill>
              </a:rPr>
              <a:t>WS2 DNS EXPORT</a:t>
            </a:r>
            <a:endParaRPr lang="en-US" sz="1100" dirty="0"/>
          </a:p>
        </p:txBody>
      </p:sp>
      <p:sp>
        <p:nvSpPr>
          <p:cNvPr id="8" name="Text 5"/>
          <p:cNvSpPr txBox="1"/>
          <p:nvPr/>
        </p:nvSpPr>
        <p:spPr>
          <a:xfrm>
            <a:off x="1389888" y="2075688"/>
            <a:ext cx="2697480" cy="365760"/>
          </a:xfrm>
          <a:prstGeom prst="rect">
            <a:avLst/>
          </a:prstGeom>
          <a:noFill/>
          <a:ln/>
        </p:spPr>
        <p:txBody>
          <a:bodyPr wrap="square" lIns="0" tIns="0" rIns="0" bIns="0" rtlCol="0" anchor="ctr"/>
          <a:lstStyle/>
          <a:p>
            <a:pPr indent="0" marL="0">
              <a:buNone/>
            </a:pPr>
            <a:r>
              <a:rPr lang="en-US" sz="2000" b="1" dirty="0">
                <a:solidFill>
                  <a:schemeClr val="tx1"/>
                </a:solidFill>
              </a:rPr>
              <a:t>A partial snapshot</a:t>
            </a:r>
            <a:endParaRPr lang="en-US" sz="2000" dirty="0"/>
          </a:p>
        </p:txBody>
      </p:sp>
      <p:pic>
        <p:nvPicPr>
          <p:cNvPr id="9" name="Image 1" descr="preencoded.png">    </p:cNvPr>
          <p:cNvPicPr>
            <a:picLocks noChangeAspect="1"/>
          </p:cNvPicPr>
          <p:nvPr/>
        </p:nvPicPr>
        <p:blipFill>
          <a:blip r:embed="rId2"/>
          <a:stretch>
            <a:fillRect/>
          </a:stretch>
        </p:blipFill>
        <p:spPr>
          <a:xfrm>
            <a:off x="777240" y="2705354"/>
            <a:ext cx="219456" cy="219456"/>
          </a:xfrm>
          <a:prstGeom prst="rect">
            <a:avLst/>
          </a:prstGeom>
        </p:spPr>
      </p:pic>
      <p:sp>
        <p:nvSpPr>
          <p:cNvPr id="10" name="Text 6"/>
          <p:cNvSpPr txBox="1"/>
          <p:nvPr/>
        </p:nvSpPr>
        <p:spPr>
          <a:xfrm>
            <a:off x="1124712" y="2697480"/>
            <a:ext cx="2898648" cy="271780"/>
          </a:xfrm>
          <a:prstGeom prst="rect">
            <a:avLst/>
          </a:prstGeom>
          <a:noFill/>
          <a:ln/>
        </p:spPr>
        <p:txBody>
          <a:bodyPr wrap="square" lIns="0" tIns="0" rIns="0" bIns="0" rtlCol="0" anchor="t"/>
          <a:lstStyle/>
          <a:p>
            <a:pPr indent="0" marL="0">
              <a:buNone/>
            </a:pPr>
            <a:r>
              <a:rPr lang="en-US" sz="1400" dirty="0">
                <a:solidFill>
                  <a:schemeClr val="tx1"/>
                </a:solidFill>
              </a:rPr>
              <a:t>Only when someone runs it by hand</a:t>
            </a:r>
            <a:endParaRPr lang="en-US" sz="1400" dirty="0"/>
          </a:p>
        </p:txBody>
      </p:sp>
      <p:pic>
        <p:nvPicPr>
          <p:cNvPr id="11" name="Image 2" descr="preencoded.png">    </p:cNvPr>
          <p:cNvPicPr>
            <a:picLocks noChangeAspect="1"/>
          </p:cNvPicPr>
          <p:nvPr/>
        </p:nvPicPr>
        <p:blipFill>
          <a:blip r:embed="rId3"/>
          <a:stretch>
            <a:fillRect/>
          </a:stretch>
        </p:blipFill>
        <p:spPr>
          <a:xfrm>
            <a:off x="777240" y="3068574"/>
            <a:ext cx="219456" cy="219456"/>
          </a:xfrm>
          <a:prstGeom prst="rect">
            <a:avLst/>
          </a:prstGeom>
        </p:spPr>
      </p:pic>
      <p:sp>
        <p:nvSpPr>
          <p:cNvPr id="12" name="Text 7"/>
          <p:cNvSpPr txBox="1"/>
          <p:nvPr/>
        </p:nvSpPr>
        <p:spPr>
          <a:xfrm>
            <a:off x="1124712" y="3060700"/>
            <a:ext cx="2898648" cy="488696"/>
          </a:xfrm>
          <a:prstGeom prst="rect">
            <a:avLst/>
          </a:prstGeom>
          <a:noFill/>
          <a:ln/>
        </p:spPr>
        <p:txBody>
          <a:bodyPr wrap="square" lIns="0" tIns="0" rIns="0" bIns="0" rtlCol="0" anchor="t"/>
          <a:lstStyle/>
          <a:p>
            <a:pPr indent="0" marL="0">
              <a:buNone/>
            </a:pPr>
            <a:r>
              <a:rPr lang="en-US" sz="1400" dirty="0">
                <a:solidFill>
                  <a:schemeClr val="tx1"/>
                </a:solidFill>
              </a:rPr>
              <a:t>Saved to a side branch, or a download kept for 30 days</a:t>
            </a:r>
            <a:endParaRPr lang="en-US" sz="1400" dirty="0"/>
          </a:p>
        </p:txBody>
      </p:sp>
      <p:pic>
        <p:nvPicPr>
          <p:cNvPr id="13" name="Image 3" descr="preencoded.png">    </p:cNvPr>
          <p:cNvPicPr>
            <a:picLocks noChangeAspect="1"/>
          </p:cNvPicPr>
          <p:nvPr/>
        </p:nvPicPr>
        <p:blipFill>
          <a:blip r:embed="rId4"/>
          <a:stretch>
            <a:fillRect/>
          </a:stretch>
        </p:blipFill>
        <p:spPr>
          <a:xfrm>
            <a:off x="777240" y="3648710"/>
            <a:ext cx="219456" cy="219456"/>
          </a:xfrm>
          <a:prstGeom prst="rect">
            <a:avLst/>
          </a:prstGeom>
        </p:spPr>
      </p:pic>
      <p:sp>
        <p:nvSpPr>
          <p:cNvPr id="14" name="Text 8"/>
          <p:cNvSpPr txBox="1"/>
          <p:nvPr/>
        </p:nvSpPr>
        <p:spPr>
          <a:xfrm>
            <a:off x="1124712" y="3640836"/>
            <a:ext cx="2898648" cy="488696"/>
          </a:xfrm>
          <a:prstGeom prst="rect">
            <a:avLst/>
          </a:prstGeom>
          <a:noFill/>
          <a:ln/>
        </p:spPr>
        <p:txBody>
          <a:bodyPr wrap="square" lIns="0" tIns="0" rIns="0" bIns="0" rtlCol="0" anchor="t"/>
          <a:lstStyle/>
          <a:p>
            <a:pPr indent="0" marL="0">
              <a:buNone/>
            </a:pPr>
            <a:r>
              <a:rPr lang="en-US" sz="1400" dirty="0">
                <a:solidFill>
                  <a:schemeClr val="tx1"/>
                </a:solidFill>
              </a:rPr>
              <a:t>Leaves out alias records (CloudFront, load balancers)</a:t>
            </a:r>
            <a:endParaRPr lang="en-US" sz="1400" dirty="0"/>
          </a:p>
        </p:txBody>
      </p:sp>
      <p:pic>
        <p:nvPicPr>
          <p:cNvPr id="15" name="Image 4" descr="preencoded.png">    </p:cNvPr>
          <p:cNvPicPr>
            <a:picLocks noChangeAspect="1"/>
          </p:cNvPicPr>
          <p:nvPr/>
        </p:nvPicPr>
        <p:blipFill>
          <a:blip r:embed="rId5"/>
          <a:stretch>
            <a:fillRect/>
          </a:stretch>
        </p:blipFill>
        <p:spPr>
          <a:xfrm>
            <a:off x="777240" y="4228846"/>
            <a:ext cx="219456" cy="219456"/>
          </a:xfrm>
          <a:prstGeom prst="rect">
            <a:avLst/>
          </a:prstGeom>
        </p:spPr>
      </p:pic>
      <p:sp>
        <p:nvSpPr>
          <p:cNvPr id="16" name="Text 9"/>
          <p:cNvSpPr txBox="1"/>
          <p:nvPr/>
        </p:nvSpPr>
        <p:spPr>
          <a:xfrm>
            <a:off x="1124712" y="4220972"/>
            <a:ext cx="2898648" cy="705612"/>
          </a:xfrm>
          <a:prstGeom prst="rect">
            <a:avLst/>
          </a:prstGeom>
          <a:noFill/>
          <a:ln/>
        </p:spPr>
        <p:txBody>
          <a:bodyPr wrap="square" lIns="0" tIns="0" rIns="0" bIns="0" rtlCol="0" anchor="t"/>
          <a:lstStyle/>
          <a:p>
            <a:pPr indent="0" marL="0">
              <a:buNone/>
            </a:pPr>
            <a:r>
              <a:rPr lang="en-US" sz="1400" dirty="0">
                <a:solidFill>
                  <a:schemeClr val="tx1"/>
                </a:solidFill>
              </a:rPr>
              <a:t>Undo = re-apply old files; removals need ‘deletes’ ticked, and there’s no approval gate</a:t>
            </a:r>
            <a:endParaRPr lang="en-US" sz="1400" dirty="0"/>
          </a:p>
        </p:txBody>
      </p:sp>
      <p:sp>
        <p:nvSpPr>
          <p:cNvPr id="17" name="NEW PIPELINE"/>
          <p:cNvSpPr/>
          <p:nvPr/>
        </p:nvSpPr>
        <p:spPr>
          <a:xfrm>
            <a:off x="4370832" y="1691640"/>
            <a:ext cx="3639312" cy="3474720"/>
          </a:xfrm>
          <a:prstGeom prst="roundRect">
            <a:avLst>
              <a:gd name="adj" fmla="val 3158"/>
            </a:avLst>
          </a:prstGeom>
          <a:solidFill>
            <a:schemeClr val="accent1">
              <a:alpha val="8000"/>
            </a:schemeClr>
          </a:solidFill>
          <a:ln/>
        </p:spPr>
      </p:sp>
      <p:sp>
        <p:nvSpPr>
          <p:cNvPr id="18" name="Shape 11"/>
          <p:cNvSpPr/>
          <p:nvPr/>
        </p:nvSpPr>
        <p:spPr>
          <a:xfrm>
            <a:off x="4572000" y="1874520"/>
            <a:ext cx="502920" cy="502920"/>
          </a:xfrm>
          <a:prstGeom prst="ellipse">
            <a:avLst/>
          </a:prstGeom>
          <a:solidFill>
            <a:schemeClr val="accent1"/>
          </a:solidFill>
          <a:ln/>
        </p:spPr>
      </p:sp>
      <p:pic>
        <p:nvPicPr>
          <p:cNvPr id="19" name="Image 5" descr="preencoded.png">    </p:cNvPr>
          <p:cNvPicPr>
            <a:picLocks noChangeAspect="1"/>
          </p:cNvPicPr>
          <p:nvPr/>
        </p:nvPicPr>
        <p:blipFill>
          <a:blip r:embed="rId6"/>
          <a:stretch>
            <a:fillRect/>
          </a:stretch>
        </p:blipFill>
        <p:spPr>
          <a:xfrm>
            <a:off x="4682642" y="1985162"/>
            <a:ext cx="281635" cy="281635"/>
          </a:xfrm>
          <a:prstGeom prst="rect">
            <a:avLst/>
          </a:prstGeom>
        </p:spPr>
      </p:pic>
      <p:sp>
        <p:nvSpPr>
          <p:cNvPr id="20" name="Text 12"/>
          <p:cNvSpPr txBox="1"/>
          <p:nvPr/>
        </p:nvSpPr>
        <p:spPr>
          <a:xfrm>
            <a:off x="5212080" y="1865376"/>
            <a:ext cx="2651760" cy="219456"/>
          </a:xfrm>
          <a:prstGeom prst="rect">
            <a:avLst/>
          </a:prstGeom>
          <a:noFill/>
          <a:ln/>
        </p:spPr>
        <p:txBody>
          <a:bodyPr wrap="square" lIns="0" tIns="0" rIns="0" bIns="0" rtlCol="0" anchor="t"/>
          <a:lstStyle/>
          <a:p>
            <a:pPr indent="0" marL="0">
              <a:buNone/>
            </a:pPr>
            <a:r>
              <a:rPr lang="en-US" sz="1100" b="1" spc="150" kern="0" dirty="0">
                <a:solidFill>
                  <a:schemeClr val="accent1"/>
                </a:solidFill>
              </a:rPr>
              <a:t>NEW PIPELINE</a:t>
            </a:r>
            <a:endParaRPr lang="en-US" sz="1100" dirty="0"/>
          </a:p>
        </p:txBody>
      </p:sp>
      <p:sp>
        <p:nvSpPr>
          <p:cNvPr id="21" name="Text 13"/>
          <p:cNvSpPr txBox="1"/>
          <p:nvPr/>
        </p:nvSpPr>
        <p:spPr>
          <a:xfrm>
            <a:off x="5212080" y="2075688"/>
            <a:ext cx="2697480" cy="365760"/>
          </a:xfrm>
          <a:prstGeom prst="rect">
            <a:avLst/>
          </a:prstGeom>
          <a:noFill/>
          <a:ln/>
        </p:spPr>
        <p:txBody>
          <a:bodyPr wrap="square" lIns="0" tIns="0" rIns="0" bIns="0" rtlCol="0" anchor="ctr"/>
          <a:lstStyle/>
          <a:p>
            <a:pPr indent="0" marL="0">
              <a:buNone/>
            </a:pPr>
            <a:r>
              <a:rPr lang="en-US" sz="2000" b="1" dirty="0">
                <a:solidFill>
                  <a:schemeClr val="tx1"/>
                </a:solidFill>
              </a:rPr>
              <a:t>The real templates</a:t>
            </a:r>
            <a:endParaRPr lang="en-US" sz="2000" dirty="0"/>
          </a:p>
        </p:txBody>
      </p:sp>
      <p:pic>
        <p:nvPicPr>
          <p:cNvPr id="22" name="Image 6" descr="preencoded.png">    </p:cNvPr>
          <p:cNvPicPr>
            <a:picLocks noChangeAspect="1"/>
          </p:cNvPicPr>
          <p:nvPr/>
        </p:nvPicPr>
        <p:blipFill>
          <a:blip r:embed="rId7"/>
          <a:stretch>
            <a:fillRect/>
          </a:stretch>
        </p:blipFill>
        <p:spPr>
          <a:xfrm>
            <a:off x="4599432" y="2705354"/>
            <a:ext cx="219456" cy="219456"/>
          </a:xfrm>
          <a:prstGeom prst="rect">
            <a:avLst/>
          </a:prstGeom>
        </p:spPr>
      </p:pic>
      <p:sp>
        <p:nvSpPr>
          <p:cNvPr id="23" name="Text 14"/>
          <p:cNvSpPr txBox="1"/>
          <p:nvPr/>
        </p:nvSpPr>
        <p:spPr>
          <a:xfrm>
            <a:off x="4946904" y="2697480"/>
            <a:ext cx="2898648" cy="488696"/>
          </a:xfrm>
          <a:prstGeom prst="rect">
            <a:avLst/>
          </a:prstGeom>
          <a:noFill/>
          <a:ln/>
        </p:spPr>
        <p:txBody>
          <a:bodyPr wrap="square" lIns="0" tIns="0" rIns="0" bIns="0" rtlCol="0" anchor="t"/>
          <a:lstStyle/>
          <a:p>
            <a:pPr indent="0" marL="0">
              <a:buNone/>
            </a:pPr>
            <a:r>
              <a:rPr lang="en-US" sz="1400" dirty="0">
                <a:solidFill>
                  <a:schemeClr val="tx1"/>
                </a:solidFill>
              </a:rPr>
              <a:t>Every record is a template in Git — alias records too</a:t>
            </a:r>
            <a:endParaRPr lang="en-US" sz="1400" dirty="0"/>
          </a:p>
        </p:txBody>
      </p:sp>
      <p:pic>
        <p:nvPicPr>
          <p:cNvPr id="24" name="Image 7" descr="preencoded.png">    </p:cNvPr>
          <p:cNvPicPr>
            <a:picLocks noChangeAspect="1"/>
          </p:cNvPicPr>
          <p:nvPr/>
        </p:nvPicPr>
        <p:blipFill>
          <a:blip r:embed="rId8"/>
          <a:stretch>
            <a:fillRect/>
          </a:stretch>
        </p:blipFill>
        <p:spPr>
          <a:xfrm>
            <a:off x="4599432" y="3285490"/>
            <a:ext cx="219456" cy="219456"/>
          </a:xfrm>
          <a:prstGeom prst="rect">
            <a:avLst/>
          </a:prstGeom>
        </p:spPr>
      </p:pic>
      <p:sp>
        <p:nvSpPr>
          <p:cNvPr id="25" name="Text 15"/>
          <p:cNvSpPr txBox="1"/>
          <p:nvPr/>
        </p:nvSpPr>
        <p:spPr>
          <a:xfrm>
            <a:off x="4946904" y="3277616"/>
            <a:ext cx="2898648" cy="488696"/>
          </a:xfrm>
          <a:prstGeom prst="rect">
            <a:avLst/>
          </a:prstGeom>
          <a:noFill/>
          <a:ln/>
        </p:spPr>
        <p:txBody>
          <a:bodyPr wrap="square" lIns="0" tIns="0" rIns="0" bIns="0" rtlCol="0" anchor="t"/>
          <a:lstStyle/>
          <a:p>
            <a:pPr indent="0" marL="0">
              <a:buNone/>
            </a:pPr>
            <a:r>
              <a:rPr lang="en-US" sz="1400" dirty="0">
                <a:solidFill>
                  <a:schemeClr val="tx1"/>
                </a:solidFill>
              </a:rPr>
              <a:t>Git shows what changed, when, and who approved it</a:t>
            </a:r>
            <a:endParaRPr lang="en-US" sz="1400" dirty="0"/>
          </a:p>
        </p:txBody>
      </p:sp>
      <p:pic>
        <p:nvPicPr>
          <p:cNvPr id="26" name="Image 8" descr="preencoded.png">    </p:cNvPr>
          <p:cNvPicPr>
            <a:picLocks noChangeAspect="1"/>
          </p:cNvPicPr>
          <p:nvPr/>
        </p:nvPicPr>
        <p:blipFill>
          <a:blip r:embed="rId9"/>
          <a:stretch>
            <a:fillRect/>
          </a:stretch>
        </p:blipFill>
        <p:spPr>
          <a:xfrm>
            <a:off x="4599432" y="3865626"/>
            <a:ext cx="219456" cy="219456"/>
          </a:xfrm>
          <a:prstGeom prst="rect">
            <a:avLst/>
          </a:prstGeom>
        </p:spPr>
      </p:pic>
      <p:sp>
        <p:nvSpPr>
          <p:cNvPr id="27" name="Text 16"/>
          <p:cNvSpPr txBox="1"/>
          <p:nvPr/>
        </p:nvSpPr>
        <p:spPr>
          <a:xfrm>
            <a:off x="4946904" y="3857752"/>
            <a:ext cx="2898648" cy="488696"/>
          </a:xfrm>
          <a:prstGeom prst="rect">
            <a:avLst/>
          </a:prstGeom>
          <a:noFill/>
          <a:ln/>
        </p:spPr>
        <p:txBody>
          <a:bodyPr wrap="square" lIns="0" tIns="0" rIns="0" bIns="0" rtlCol="0" anchor="t"/>
          <a:lstStyle/>
          <a:p>
            <a:pPr indent="0" marL="0">
              <a:buNone/>
            </a:pPr>
            <a:r>
              <a:rPr lang="en-US" sz="1400" dirty="0">
                <a:solidFill>
                  <a:schemeClr val="tx1"/>
                </a:solidFill>
              </a:rPr>
              <a:t>Undo = revert the commit → check the change set → Execute</a:t>
            </a:r>
            <a:endParaRPr lang="en-US" sz="1400" dirty="0"/>
          </a:p>
        </p:txBody>
      </p:sp>
      <p:pic>
        <p:nvPicPr>
          <p:cNvPr id="28" name="Image 9" descr="preencoded.png">    </p:cNvPr>
          <p:cNvPicPr>
            <a:picLocks noChangeAspect="1"/>
          </p:cNvPicPr>
          <p:nvPr/>
        </p:nvPicPr>
        <p:blipFill>
          <a:blip r:embed="rId10"/>
          <a:stretch>
            <a:fillRect/>
          </a:stretch>
        </p:blipFill>
        <p:spPr>
          <a:xfrm>
            <a:off x="4599432" y="4445762"/>
            <a:ext cx="219456" cy="219456"/>
          </a:xfrm>
          <a:prstGeom prst="rect">
            <a:avLst/>
          </a:prstGeom>
        </p:spPr>
      </p:pic>
      <p:sp>
        <p:nvSpPr>
          <p:cNvPr id="29" name="Text 17"/>
          <p:cNvSpPr txBox="1"/>
          <p:nvPr/>
        </p:nvSpPr>
        <p:spPr>
          <a:xfrm>
            <a:off x="4946904" y="4437888"/>
            <a:ext cx="2898648" cy="271780"/>
          </a:xfrm>
          <a:prstGeom prst="rect">
            <a:avLst/>
          </a:prstGeom>
          <a:noFill/>
          <a:ln/>
        </p:spPr>
        <p:txBody>
          <a:bodyPr wrap="square" lIns="0" tIns="0" rIns="0" bIns="0" rtlCol="0" anchor="t"/>
          <a:lstStyle/>
          <a:p>
            <a:pPr indent="0" marL="0">
              <a:buNone/>
            </a:pPr>
            <a:r>
              <a:rPr lang="en-US" sz="1400" dirty="0">
                <a:solidFill>
                  <a:schemeClr val="tx1"/>
                </a:solidFill>
              </a:rPr>
              <a:t>A failed deployment rolls itself back</a:t>
            </a:r>
            <a:endParaRPr lang="en-US" sz="1400" dirty="0"/>
          </a:p>
        </p:txBody>
      </p:sp>
      <p:sp>
        <p:nvSpPr>
          <p:cNvPr id="30" name="Takeaway"/>
          <p:cNvSpPr/>
          <p:nvPr/>
        </p:nvSpPr>
        <p:spPr>
          <a:xfrm>
            <a:off x="548640" y="5349240"/>
            <a:ext cx="7461504" cy="548640"/>
          </a:xfrm>
          <a:prstGeom prst="roundRect">
            <a:avLst>
              <a:gd name="adj" fmla="val 20000"/>
            </a:avLst>
          </a:prstGeom>
          <a:solidFill>
            <a:schemeClr val="tx1"/>
          </a:solidFill>
          <a:ln/>
        </p:spPr>
      </p:sp>
      <p:pic>
        <p:nvPicPr>
          <p:cNvPr id="31" name="Image 10" descr="preencoded.png">    </p:cNvPr>
          <p:cNvPicPr>
            <a:picLocks noChangeAspect="1"/>
          </p:cNvPicPr>
          <p:nvPr/>
        </p:nvPicPr>
        <p:blipFill>
          <a:blip r:embed="rId11"/>
          <a:stretch>
            <a:fillRect/>
          </a:stretch>
        </p:blipFill>
        <p:spPr>
          <a:xfrm>
            <a:off x="768096" y="5486400"/>
            <a:ext cx="274320" cy="274320"/>
          </a:xfrm>
          <a:prstGeom prst="rect">
            <a:avLst/>
          </a:prstGeom>
        </p:spPr>
      </p:pic>
      <p:sp>
        <p:nvSpPr>
          <p:cNvPr id="32" name="Text 19"/>
          <p:cNvSpPr txBox="1"/>
          <p:nvPr/>
        </p:nvSpPr>
        <p:spPr>
          <a:xfrm>
            <a:off x="1188720" y="5349240"/>
            <a:ext cx="6720840" cy="548640"/>
          </a:xfrm>
          <a:prstGeom prst="rect">
            <a:avLst/>
          </a:prstGeom>
          <a:noFill/>
          <a:ln/>
        </p:spPr>
        <p:txBody>
          <a:bodyPr wrap="square" lIns="0" tIns="0" rIns="0" bIns="0" rtlCol="0" anchor="ctr"/>
          <a:lstStyle/>
          <a:p>
            <a:pPr indent="0" marL="0">
              <a:buNone/>
            </a:pPr>
            <a:r>
              <a:rPr lang="en-US" sz="1600" b="1" dirty="0">
                <a:solidFill>
                  <a:schemeClr val="bg1"/>
                </a:solidFill>
              </a:rPr>
              <a:t>In a DNS incident: see what changed, and undo it in one reviewed step.</a:t>
            </a:r>
            <a:endParaRPr lang="en-US" sz="1600" dirty="0"/>
          </a:p>
        </p:txBody>
      </p:sp>
      <p:sp>
        <p:nvSpPr>
          <p:cNvPr id="33" name="Text 20"/>
          <p:cNvSpPr txBox="1"/>
          <p:nvPr/>
        </p:nvSpPr>
        <p:spPr>
          <a:xfrm>
            <a:off x="548640" y="5989320"/>
            <a:ext cx="7461504" cy="384048"/>
          </a:xfrm>
          <a:prstGeom prst="rect">
            <a:avLst/>
          </a:prstGeom>
          <a:noFill/>
          <a:ln/>
        </p:spPr>
        <p:txBody>
          <a:bodyPr wrap="square" lIns="0" tIns="0" rIns="0" bIns="0" rtlCol="0" anchor="t"/>
          <a:lstStyle/>
          <a:p>
            <a:pPr indent="0" marL="0">
              <a:buNone/>
            </a:pPr>
            <a:r>
              <a:rPr lang="en-US" sz="1100" dirty="0">
                <a:solidFill>
                  <a:schemeClr val="tx2"/>
                </a:solidFill>
              </a:rPr>
              <a:t>Git only knows about changes made through the pipeline — hand edits in the AWS console never reach it, so DNS changes should go through the pipeline only.</a:t>
            </a:r>
            <a:endParaRPr lang="en-US" sz="1100" dirty="0"/>
          </a:p>
        </p:txBody>
      </p:sp>
      <p:sp>
        <p:nvSpPr>
          <p:cNvPr id="34" name="Screenshot frame"/>
          <p:cNvSpPr/>
          <p:nvPr/>
        </p:nvSpPr>
        <p:spPr>
          <a:xfrm>
            <a:off x="8275320" y="1691640"/>
            <a:ext cx="3364992" cy="3566160"/>
          </a:xfrm>
          <a:prstGeom prst="roundRect">
            <a:avLst>
              <a:gd name="adj" fmla="val 2174"/>
            </a:avLst>
          </a:prstGeom>
          <a:solidFill>
            <a:schemeClr val="bg2"/>
          </a:solidFill>
          <a:ln w="15875">
            <a:solidFill>
              <a:schemeClr val="accent5"/>
            </a:solidFill>
            <a:prstDash val="dash"/>
          </a:ln>
        </p:spPr>
      </p:sp>
      <p:sp>
        <p:nvSpPr>
          <p:cNvPr id="35" name="Shape 22"/>
          <p:cNvSpPr/>
          <p:nvPr/>
        </p:nvSpPr>
        <p:spPr>
          <a:xfrm>
            <a:off x="8403336" y="1819656"/>
            <a:ext cx="365760" cy="365760"/>
          </a:xfrm>
          <a:prstGeom prst="ellipse">
            <a:avLst/>
          </a:prstGeom>
          <a:solidFill>
            <a:schemeClr val="accent5"/>
          </a:solidFill>
          <a:ln/>
        </p:spPr>
      </p:sp>
      <p:pic>
        <p:nvPicPr>
          <p:cNvPr id="36" name="Image 11" descr="preencoded.png">    </p:cNvPr>
          <p:cNvPicPr>
            <a:picLocks noChangeAspect="1"/>
          </p:cNvPicPr>
          <p:nvPr/>
        </p:nvPicPr>
        <p:blipFill>
          <a:blip r:embed="rId12"/>
          <a:stretch>
            <a:fillRect/>
          </a:stretch>
        </p:blipFill>
        <p:spPr>
          <a:xfrm>
            <a:off x="8483803" y="1900123"/>
            <a:ext cx="204826" cy="204826"/>
          </a:xfrm>
          <a:prstGeom prst="rect">
            <a:avLst/>
          </a:prstGeom>
        </p:spPr>
      </p:pic>
      <p:sp>
        <p:nvSpPr>
          <p:cNvPr id="37" name="Text 23"/>
          <p:cNvSpPr txBox="1"/>
          <p:nvPr/>
        </p:nvSpPr>
        <p:spPr>
          <a:xfrm>
            <a:off x="8275320" y="5330952"/>
            <a:ext cx="3364992" cy="548640"/>
          </a:xfrm>
          <a:prstGeom prst="rect">
            <a:avLst/>
          </a:prstGeom>
          <a:noFill/>
          <a:ln/>
        </p:spPr>
        <p:txBody>
          <a:bodyPr wrap="square" lIns="0" tIns="0" rIns="0" bIns="0" rtlCol="0" anchor="t"/>
          <a:lstStyle/>
          <a:p>
            <a:pPr indent="0" marL="0">
              <a:buNone/>
            </a:pPr>
            <a:r>
              <a:rPr lang="en-US" sz="1300" b="1" dirty="0">
                <a:solidFill>
                  <a:schemeClr val="tx1"/>
                </a:solidFill>
              </a:rPr>
              <a:t>Git history of a DNS template</a:t>
            </a:r>
            <a:pPr indent="0" marL="0">
              <a:buNone/>
            </a:pPr>
            <a:r>
              <a:rPr lang="en-US" sz="1200" dirty="0">
                <a:solidFill>
                  <a:schemeClr val="tx2"/>
                </a:solidFill>
              </a:rPr>
              <a:t>  every record change: what, who and when</a:t>
            </a:r>
            <a:endParaRPr lang="en-US" sz="1400" dirty="0"/>
          </a:p>
        </p:txBody>
      </p:sp>
      <p:sp>
        <p:nvSpPr>
          <p:cNvPr id="39" name="Text 1"/>
          <p:cNvSpPr/>
          <p:nvPr>
            <p:ph idx="103" hasCustomPrompt="1"/>
          </p:nvPr>
        </p:nvSpPr>
        <p:spPr>
          <a:xfrm>
            <a:off x="8275320" y="1691640"/>
            <a:ext cx="3364992" cy="3566160"/>
          </a:xfrm>
          <a:prstGeom prst="rect">
            <a:avLst/>
          </a:prstGeom>
          <a:noFill/>
          <a:ln/>
        </p:spPr>
        <p:txBody>
          <a:bodyPr wrap="square" lIns="558800" tIns="50800" rIns="558800" bIns="50800" rtlCol="0" anchor="ctr"/>
          <a:lstStyle/>
          <a:p>
            <a:pPr algn="ctr" indent="0" marL="0">
              <a:buNone/>
            </a:pP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What each backup actually holds</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WS2 exports a JSON list of records; the new pipeline’s YAML template holds the whole zone</a:t>
            </a:r>
            <a:endParaRPr lang="en-US" sz="1500" dirty="0"/>
          </a:p>
        </p:txBody>
      </p:sp>
      <p:sp>
        <p:nvSpPr>
          <p:cNvPr id="4" name="WS2 export backup"/>
          <p:cNvSpPr/>
          <p:nvPr/>
        </p:nvSpPr>
        <p:spPr>
          <a:xfrm>
            <a:off x="548640" y="1645920"/>
            <a:ext cx="5440680" cy="4645152"/>
          </a:xfrm>
          <a:prstGeom prst="roundRect">
            <a:avLst>
              <a:gd name="adj" fmla="val 2362"/>
            </a:avLst>
          </a:prstGeom>
          <a:solidFill>
            <a:schemeClr val="accent2">
              <a:alpha val="9000"/>
            </a:schemeClr>
          </a:solidFill>
          <a:ln/>
        </p:spPr>
      </p:sp>
      <p:sp>
        <p:nvSpPr>
          <p:cNvPr id="5" name="Shape 3"/>
          <p:cNvSpPr/>
          <p:nvPr/>
        </p:nvSpPr>
        <p:spPr>
          <a:xfrm>
            <a:off x="731520" y="1792224"/>
            <a:ext cx="402336" cy="402336"/>
          </a:xfrm>
          <a:prstGeom prst="ellipse">
            <a:avLst/>
          </a:prstGeom>
          <a:solidFill>
            <a:schemeClr val="accent2"/>
          </a:solidFill>
          <a:ln/>
        </p:spPr>
      </p:sp>
      <p:pic>
        <p:nvPicPr>
          <p:cNvPr id="6" name="Image 0" descr="preencoded.png">    </p:cNvPr>
          <p:cNvPicPr>
            <a:picLocks noChangeAspect="1"/>
          </p:cNvPicPr>
          <p:nvPr/>
        </p:nvPicPr>
        <p:blipFill>
          <a:blip r:embed="rId1"/>
          <a:stretch>
            <a:fillRect/>
          </a:stretch>
        </p:blipFill>
        <p:spPr>
          <a:xfrm>
            <a:off x="820034" y="1880738"/>
            <a:ext cx="225308" cy="225308"/>
          </a:xfrm>
          <a:prstGeom prst="rect">
            <a:avLst/>
          </a:prstGeom>
        </p:spPr>
      </p:pic>
      <p:sp>
        <p:nvSpPr>
          <p:cNvPr id="7" name="Text 4"/>
          <p:cNvSpPr txBox="1"/>
          <p:nvPr/>
        </p:nvSpPr>
        <p:spPr>
          <a:xfrm>
            <a:off x="1280160" y="1764792"/>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WS2 export</a:t>
            </a:r>
            <a:pPr indent="0" marL="0">
              <a:buNone/>
            </a:pPr>
            <a:r>
              <a:rPr lang="en-US" sz="1500" dirty="0">
                <a:solidFill>
                  <a:schemeClr val="tx2"/>
                </a:solidFill>
              </a:rPr>
              <a:t>   JSON written by a Python script</a:t>
            </a:r>
            <a:endParaRPr lang="en-US" sz="1400" dirty="0"/>
          </a:p>
        </p:txBody>
      </p:sp>
      <p:sp>
        <p:nvSpPr>
          <p:cNvPr id="8" name="Screenshot frame"/>
          <p:cNvSpPr/>
          <p:nvPr/>
        </p:nvSpPr>
        <p:spPr>
          <a:xfrm>
            <a:off x="731520" y="2331720"/>
            <a:ext cx="5074920" cy="2468880"/>
          </a:xfrm>
          <a:prstGeom prst="roundRect">
            <a:avLst>
              <a:gd name="adj" fmla="val 2963"/>
            </a:avLst>
          </a:prstGeom>
          <a:solidFill>
            <a:schemeClr val="bg2"/>
          </a:solidFill>
          <a:ln w="15875">
            <a:solidFill>
              <a:schemeClr val="accent5"/>
            </a:solidFill>
            <a:prstDash val="dash"/>
          </a:ln>
        </p:spPr>
      </p:sp>
      <p:sp>
        <p:nvSpPr>
          <p:cNvPr id="9" name="Shape 6"/>
          <p:cNvSpPr/>
          <p:nvPr/>
        </p:nvSpPr>
        <p:spPr>
          <a:xfrm>
            <a:off x="859536" y="2459736"/>
            <a:ext cx="365760" cy="365760"/>
          </a:xfrm>
          <a:prstGeom prst="ellipse">
            <a:avLst/>
          </a:prstGeom>
          <a:solidFill>
            <a:schemeClr val="accent5"/>
          </a:solidFill>
          <a:ln/>
        </p:spPr>
      </p:sp>
      <p:pic>
        <p:nvPicPr>
          <p:cNvPr id="10" name="Image 1" descr="preencoded.png">    </p:cNvPr>
          <p:cNvPicPr>
            <a:picLocks noChangeAspect="1"/>
          </p:cNvPicPr>
          <p:nvPr/>
        </p:nvPicPr>
        <p:blipFill>
          <a:blip r:embed="rId2"/>
          <a:stretch>
            <a:fillRect/>
          </a:stretch>
        </p:blipFill>
        <p:spPr>
          <a:xfrm>
            <a:off x="940003" y="2540203"/>
            <a:ext cx="204826" cy="204826"/>
          </a:xfrm>
          <a:prstGeom prst="rect">
            <a:avLst/>
          </a:prstGeom>
        </p:spPr>
      </p:pic>
      <p:pic>
        <p:nvPicPr>
          <p:cNvPr id="11" name="Image 2" descr="preencoded.png">    </p:cNvPr>
          <p:cNvPicPr>
            <a:picLocks noChangeAspect="1"/>
          </p:cNvPicPr>
          <p:nvPr/>
        </p:nvPicPr>
        <p:blipFill>
          <a:blip r:embed="rId3"/>
          <a:stretch>
            <a:fillRect/>
          </a:stretch>
        </p:blipFill>
        <p:spPr>
          <a:xfrm>
            <a:off x="777240" y="4963922"/>
            <a:ext cx="219456" cy="219456"/>
          </a:xfrm>
          <a:prstGeom prst="rect">
            <a:avLst/>
          </a:prstGeom>
        </p:spPr>
      </p:pic>
      <p:sp>
        <p:nvSpPr>
          <p:cNvPr id="12" name="Text 7"/>
          <p:cNvSpPr txBox="1"/>
          <p:nvPr/>
        </p:nvSpPr>
        <p:spPr>
          <a:xfrm>
            <a:off x="1124712" y="4956048"/>
            <a:ext cx="4636008" cy="271780"/>
          </a:xfrm>
          <a:prstGeom prst="rect">
            <a:avLst/>
          </a:prstGeom>
          <a:noFill/>
          <a:ln/>
        </p:spPr>
        <p:txBody>
          <a:bodyPr wrap="square" lIns="0" tIns="0" rIns="0" bIns="0" rtlCol="0" anchor="t"/>
          <a:lstStyle/>
          <a:p>
            <a:pPr indent="0" marL="0">
              <a:buNone/>
            </a:pPr>
            <a:r>
              <a:rPr lang="en-US" sz="1400" dirty="0">
                <a:solidFill>
                  <a:schemeClr val="tx1"/>
                </a:solidFill>
              </a:rPr>
              <a:t>Ordinary records: A, AAAA, CNAME, MX, TXT and so on</a:t>
            </a:r>
            <a:endParaRPr lang="en-US" sz="1400" dirty="0"/>
          </a:p>
        </p:txBody>
      </p:sp>
      <p:pic>
        <p:nvPicPr>
          <p:cNvPr id="13" name="Image 3" descr="preencoded.png">    </p:cNvPr>
          <p:cNvPicPr>
            <a:picLocks noChangeAspect="1"/>
          </p:cNvPicPr>
          <p:nvPr/>
        </p:nvPicPr>
        <p:blipFill>
          <a:blip r:embed="rId4"/>
          <a:stretch>
            <a:fillRect/>
          </a:stretch>
        </p:blipFill>
        <p:spPr>
          <a:xfrm>
            <a:off x="777240" y="5290566"/>
            <a:ext cx="219456" cy="219456"/>
          </a:xfrm>
          <a:prstGeom prst="rect">
            <a:avLst/>
          </a:prstGeom>
        </p:spPr>
      </p:pic>
      <p:sp>
        <p:nvSpPr>
          <p:cNvPr id="14" name="Text 8"/>
          <p:cNvSpPr txBox="1"/>
          <p:nvPr/>
        </p:nvSpPr>
        <p:spPr>
          <a:xfrm>
            <a:off x="1124712" y="5282692"/>
            <a:ext cx="4636008" cy="271780"/>
          </a:xfrm>
          <a:prstGeom prst="rect">
            <a:avLst/>
          </a:prstGeom>
          <a:noFill/>
          <a:ln/>
        </p:spPr>
        <p:txBody>
          <a:bodyPr wrap="square" lIns="0" tIns="0" rIns="0" bIns="0" rtlCol="0" anchor="t"/>
          <a:lstStyle/>
          <a:p>
            <a:pPr indent="0" marL="0">
              <a:buNone/>
            </a:pPr>
            <a:r>
              <a:rPr lang="en-US" sz="1400" dirty="0">
                <a:solidFill>
                  <a:schemeClr val="tx1"/>
                </a:solidFill>
              </a:rPr>
              <a:t>The hosted zone itself — not defined in the file</a:t>
            </a:r>
            <a:endParaRPr lang="en-US" sz="1400" dirty="0"/>
          </a:p>
        </p:txBody>
      </p:sp>
      <p:pic>
        <p:nvPicPr>
          <p:cNvPr id="15" name="Image 4" descr="preencoded.png">    </p:cNvPr>
          <p:cNvPicPr>
            <a:picLocks noChangeAspect="1"/>
          </p:cNvPicPr>
          <p:nvPr/>
        </p:nvPicPr>
        <p:blipFill>
          <a:blip r:embed="rId5"/>
          <a:stretch>
            <a:fillRect/>
          </a:stretch>
        </p:blipFill>
        <p:spPr>
          <a:xfrm>
            <a:off x="777240" y="5617210"/>
            <a:ext cx="219456" cy="219456"/>
          </a:xfrm>
          <a:prstGeom prst="rect">
            <a:avLst/>
          </a:prstGeom>
        </p:spPr>
      </p:pic>
      <p:sp>
        <p:nvSpPr>
          <p:cNvPr id="16" name="Text 9"/>
          <p:cNvSpPr txBox="1"/>
          <p:nvPr/>
        </p:nvSpPr>
        <p:spPr>
          <a:xfrm>
            <a:off x="1124712" y="5609336"/>
            <a:ext cx="4636008" cy="271780"/>
          </a:xfrm>
          <a:prstGeom prst="rect">
            <a:avLst/>
          </a:prstGeom>
          <a:noFill/>
          <a:ln/>
        </p:spPr>
        <p:txBody>
          <a:bodyPr wrap="square" lIns="0" tIns="0" rIns="0" bIns="0" rtlCol="0" anchor="t"/>
          <a:lstStyle/>
          <a:p>
            <a:pPr indent="0" marL="0">
              <a:buNone/>
            </a:pPr>
            <a:r>
              <a:rPr lang="en-US" sz="1400" dirty="0">
                <a:solidFill>
                  <a:schemeClr val="tx1"/>
                </a:solidFill>
              </a:rPr>
              <a:t>SOA and the zone’s own NS records — skipped</a:t>
            </a:r>
            <a:endParaRPr lang="en-US" sz="1400" dirty="0"/>
          </a:p>
        </p:txBody>
      </p:sp>
      <p:pic>
        <p:nvPicPr>
          <p:cNvPr id="17" name="Image 5" descr="preencoded.png">    </p:cNvPr>
          <p:cNvPicPr>
            <a:picLocks noChangeAspect="1"/>
          </p:cNvPicPr>
          <p:nvPr/>
        </p:nvPicPr>
        <p:blipFill>
          <a:blip r:embed="rId6"/>
          <a:stretch>
            <a:fillRect/>
          </a:stretch>
        </p:blipFill>
        <p:spPr>
          <a:xfrm>
            <a:off x="777240" y="5943854"/>
            <a:ext cx="219456" cy="219456"/>
          </a:xfrm>
          <a:prstGeom prst="rect">
            <a:avLst/>
          </a:prstGeom>
        </p:spPr>
      </p:pic>
      <p:sp>
        <p:nvSpPr>
          <p:cNvPr id="18" name="Text 10"/>
          <p:cNvSpPr txBox="1"/>
          <p:nvPr/>
        </p:nvSpPr>
        <p:spPr>
          <a:xfrm>
            <a:off x="1124712" y="5935980"/>
            <a:ext cx="4636008" cy="271780"/>
          </a:xfrm>
          <a:prstGeom prst="rect">
            <a:avLst/>
          </a:prstGeom>
          <a:noFill/>
          <a:ln/>
        </p:spPr>
        <p:txBody>
          <a:bodyPr wrap="square" lIns="0" tIns="0" rIns="0" bIns="0" rtlCol="0" anchor="t"/>
          <a:lstStyle/>
          <a:p>
            <a:pPr indent="0" marL="0">
              <a:buNone/>
            </a:pPr>
            <a:r>
              <a:rPr lang="en-US" sz="1400" dirty="0">
                <a:solidFill>
                  <a:schemeClr val="tx1"/>
                </a:solidFill>
              </a:rPr>
              <a:t>Alias records (CloudFront, load balancers) — skipped</a:t>
            </a:r>
            <a:endParaRPr lang="en-US" sz="1400" dirty="0"/>
          </a:p>
        </p:txBody>
      </p:sp>
      <p:sp>
        <p:nvSpPr>
          <p:cNvPr id="19" name="New pipeline backup"/>
          <p:cNvSpPr/>
          <p:nvPr/>
        </p:nvSpPr>
        <p:spPr>
          <a:xfrm>
            <a:off x="6199632" y="1645920"/>
            <a:ext cx="5440680" cy="4645152"/>
          </a:xfrm>
          <a:prstGeom prst="roundRect">
            <a:avLst>
              <a:gd name="adj" fmla="val 2362"/>
            </a:avLst>
          </a:prstGeom>
          <a:solidFill>
            <a:schemeClr val="accent1">
              <a:alpha val="8000"/>
            </a:schemeClr>
          </a:solidFill>
          <a:ln/>
        </p:spPr>
      </p:sp>
      <p:sp>
        <p:nvSpPr>
          <p:cNvPr id="20" name="Shape 12"/>
          <p:cNvSpPr/>
          <p:nvPr/>
        </p:nvSpPr>
        <p:spPr>
          <a:xfrm>
            <a:off x="6382512" y="1792224"/>
            <a:ext cx="402336" cy="402336"/>
          </a:xfrm>
          <a:prstGeom prst="ellipse">
            <a:avLst/>
          </a:prstGeom>
          <a:solidFill>
            <a:schemeClr val="accent1"/>
          </a:solidFill>
          <a:ln/>
        </p:spPr>
      </p:sp>
      <p:pic>
        <p:nvPicPr>
          <p:cNvPr id="21" name="Image 6" descr="preencoded.png">    </p:cNvPr>
          <p:cNvPicPr>
            <a:picLocks noChangeAspect="1"/>
          </p:cNvPicPr>
          <p:nvPr/>
        </p:nvPicPr>
        <p:blipFill>
          <a:blip r:embed="rId7"/>
          <a:stretch>
            <a:fillRect/>
          </a:stretch>
        </p:blipFill>
        <p:spPr>
          <a:xfrm>
            <a:off x="6471026" y="1880738"/>
            <a:ext cx="225308" cy="225308"/>
          </a:xfrm>
          <a:prstGeom prst="rect">
            <a:avLst/>
          </a:prstGeom>
        </p:spPr>
      </p:pic>
      <p:sp>
        <p:nvSpPr>
          <p:cNvPr id="22" name="Text 13"/>
          <p:cNvSpPr txBox="1"/>
          <p:nvPr/>
        </p:nvSpPr>
        <p:spPr>
          <a:xfrm>
            <a:off x="6931152" y="1764792"/>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New pipeline</a:t>
            </a:r>
            <a:pPr indent="0" marL="0">
              <a:buNone/>
            </a:pPr>
            <a:r>
              <a:rPr lang="en-US" sz="1500" dirty="0">
                <a:solidFill>
                  <a:schemeClr val="tx2"/>
                </a:solidFill>
              </a:rPr>
              <a:t>   CloudFormation YAML template in Git</a:t>
            </a:r>
            <a:endParaRPr lang="en-US" sz="1400" dirty="0"/>
          </a:p>
        </p:txBody>
      </p:sp>
      <p:sp>
        <p:nvSpPr>
          <p:cNvPr id="23" name="Screenshot frame"/>
          <p:cNvSpPr/>
          <p:nvPr/>
        </p:nvSpPr>
        <p:spPr>
          <a:xfrm>
            <a:off x="6382512" y="2331720"/>
            <a:ext cx="5074920" cy="2468880"/>
          </a:xfrm>
          <a:prstGeom prst="roundRect">
            <a:avLst>
              <a:gd name="adj" fmla="val 2963"/>
            </a:avLst>
          </a:prstGeom>
          <a:solidFill>
            <a:schemeClr val="bg2"/>
          </a:solidFill>
          <a:ln w="15875">
            <a:solidFill>
              <a:schemeClr val="accent5"/>
            </a:solidFill>
            <a:prstDash val="dash"/>
          </a:ln>
        </p:spPr>
      </p:sp>
      <p:sp>
        <p:nvSpPr>
          <p:cNvPr id="24" name="Shape 15"/>
          <p:cNvSpPr/>
          <p:nvPr/>
        </p:nvSpPr>
        <p:spPr>
          <a:xfrm>
            <a:off x="6510528" y="2459736"/>
            <a:ext cx="365760" cy="365760"/>
          </a:xfrm>
          <a:prstGeom prst="ellipse">
            <a:avLst/>
          </a:prstGeom>
          <a:solidFill>
            <a:schemeClr val="accent5"/>
          </a:solidFill>
          <a:ln/>
        </p:spPr>
      </p:sp>
      <p:pic>
        <p:nvPicPr>
          <p:cNvPr id="25" name="Image 7" descr="preencoded.png">    </p:cNvPr>
          <p:cNvPicPr>
            <a:picLocks noChangeAspect="1"/>
          </p:cNvPicPr>
          <p:nvPr/>
        </p:nvPicPr>
        <p:blipFill>
          <a:blip r:embed="rId8"/>
          <a:stretch>
            <a:fillRect/>
          </a:stretch>
        </p:blipFill>
        <p:spPr>
          <a:xfrm>
            <a:off x="6590995" y="2540203"/>
            <a:ext cx="204826" cy="204826"/>
          </a:xfrm>
          <a:prstGeom prst="rect">
            <a:avLst/>
          </a:prstGeom>
        </p:spPr>
      </p:pic>
      <p:pic>
        <p:nvPicPr>
          <p:cNvPr id="26" name="Image 8" descr="preencoded.png">    </p:cNvPr>
          <p:cNvPicPr>
            <a:picLocks noChangeAspect="1"/>
          </p:cNvPicPr>
          <p:nvPr/>
        </p:nvPicPr>
        <p:blipFill>
          <a:blip r:embed="rId9"/>
          <a:stretch>
            <a:fillRect/>
          </a:stretch>
        </p:blipFill>
        <p:spPr>
          <a:xfrm>
            <a:off x="6428232" y="4963922"/>
            <a:ext cx="219456" cy="219456"/>
          </a:xfrm>
          <a:prstGeom prst="rect">
            <a:avLst/>
          </a:prstGeom>
        </p:spPr>
      </p:pic>
      <p:sp>
        <p:nvSpPr>
          <p:cNvPr id="27" name="Text 16"/>
          <p:cNvSpPr txBox="1"/>
          <p:nvPr/>
        </p:nvSpPr>
        <p:spPr>
          <a:xfrm>
            <a:off x="6775704" y="4956048"/>
            <a:ext cx="4636008" cy="271780"/>
          </a:xfrm>
          <a:prstGeom prst="rect">
            <a:avLst/>
          </a:prstGeom>
          <a:noFill/>
          <a:ln/>
        </p:spPr>
        <p:txBody>
          <a:bodyPr wrap="square" lIns="0" tIns="0" rIns="0" bIns="0" rtlCol="0" anchor="t"/>
          <a:lstStyle/>
          <a:p>
            <a:pPr indent="0" marL="0">
              <a:buNone/>
            </a:pPr>
            <a:r>
              <a:rPr lang="en-US" sz="1400" dirty="0">
                <a:solidFill>
                  <a:schemeClr val="tx1"/>
                </a:solidFill>
              </a:rPr>
              <a:t>The hosted zone itself — its SOA and NS come with it</a:t>
            </a:r>
            <a:endParaRPr lang="en-US" sz="1400" dirty="0"/>
          </a:p>
        </p:txBody>
      </p:sp>
      <p:pic>
        <p:nvPicPr>
          <p:cNvPr id="28" name="Image 9" descr="preencoded.png">    </p:cNvPr>
          <p:cNvPicPr>
            <a:picLocks noChangeAspect="1"/>
          </p:cNvPicPr>
          <p:nvPr/>
        </p:nvPicPr>
        <p:blipFill>
          <a:blip r:embed="rId10"/>
          <a:stretch>
            <a:fillRect/>
          </a:stretch>
        </p:blipFill>
        <p:spPr>
          <a:xfrm>
            <a:off x="6428232" y="5290566"/>
            <a:ext cx="219456" cy="219456"/>
          </a:xfrm>
          <a:prstGeom prst="rect">
            <a:avLst/>
          </a:prstGeom>
        </p:spPr>
      </p:pic>
      <p:sp>
        <p:nvSpPr>
          <p:cNvPr id="29" name="Text 17"/>
          <p:cNvSpPr txBox="1"/>
          <p:nvPr/>
        </p:nvSpPr>
        <p:spPr>
          <a:xfrm>
            <a:off x="6775704" y="5282692"/>
            <a:ext cx="4636008" cy="271780"/>
          </a:xfrm>
          <a:prstGeom prst="rect">
            <a:avLst/>
          </a:prstGeom>
          <a:noFill/>
          <a:ln/>
        </p:spPr>
        <p:txBody>
          <a:bodyPr wrap="square" lIns="0" tIns="0" rIns="0" bIns="0" rtlCol="0" anchor="t"/>
          <a:lstStyle/>
          <a:p>
            <a:pPr indent="0" marL="0">
              <a:buNone/>
            </a:pPr>
            <a:r>
              <a:rPr lang="en-US" sz="1400" dirty="0">
                <a:solidFill>
                  <a:schemeClr val="tx1"/>
                </a:solidFill>
              </a:rPr>
              <a:t>Every record, each as its own resource</a:t>
            </a:r>
            <a:endParaRPr lang="en-US" sz="1400" dirty="0"/>
          </a:p>
        </p:txBody>
      </p:sp>
      <p:pic>
        <p:nvPicPr>
          <p:cNvPr id="30" name="Image 10" descr="preencoded.png">    </p:cNvPr>
          <p:cNvPicPr>
            <a:picLocks noChangeAspect="1"/>
          </p:cNvPicPr>
          <p:nvPr/>
        </p:nvPicPr>
        <p:blipFill>
          <a:blip r:embed="rId11"/>
          <a:stretch>
            <a:fillRect/>
          </a:stretch>
        </p:blipFill>
        <p:spPr>
          <a:xfrm>
            <a:off x="6428232" y="5617210"/>
            <a:ext cx="219456" cy="219456"/>
          </a:xfrm>
          <a:prstGeom prst="rect">
            <a:avLst/>
          </a:prstGeom>
        </p:spPr>
      </p:pic>
      <p:sp>
        <p:nvSpPr>
          <p:cNvPr id="31" name="Text 18"/>
          <p:cNvSpPr txBox="1"/>
          <p:nvPr/>
        </p:nvSpPr>
        <p:spPr>
          <a:xfrm>
            <a:off x="6775704" y="5609336"/>
            <a:ext cx="4636008" cy="271780"/>
          </a:xfrm>
          <a:prstGeom prst="rect">
            <a:avLst/>
          </a:prstGeom>
          <a:noFill/>
          <a:ln/>
        </p:spPr>
        <p:txBody>
          <a:bodyPr wrap="square" lIns="0" tIns="0" rIns="0" bIns="0" rtlCol="0" anchor="t"/>
          <a:lstStyle/>
          <a:p>
            <a:pPr indent="0" marL="0">
              <a:buNone/>
            </a:pPr>
            <a:r>
              <a:rPr lang="en-US" sz="1400" dirty="0">
                <a:solidFill>
                  <a:schemeClr val="tx1"/>
                </a:solidFill>
              </a:rPr>
              <a:t>Alias records too (CloudFront, load balancers)</a:t>
            </a:r>
            <a:endParaRPr lang="en-US" sz="1400" dirty="0"/>
          </a:p>
        </p:txBody>
      </p:sp>
      <p:pic>
        <p:nvPicPr>
          <p:cNvPr id="32" name="Image 11" descr="preencoded.png">    </p:cNvPr>
          <p:cNvPicPr>
            <a:picLocks noChangeAspect="1"/>
          </p:cNvPicPr>
          <p:nvPr/>
        </p:nvPicPr>
        <p:blipFill>
          <a:blip r:embed="rId12"/>
          <a:stretch>
            <a:fillRect/>
          </a:stretch>
        </p:blipFill>
        <p:spPr>
          <a:xfrm>
            <a:off x="6428232" y="5943854"/>
            <a:ext cx="219456" cy="219456"/>
          </a:xfrm>
          <a:prstGeom prst="rect">
            <a:avLst/>
          </a:prstGeom>
        </p:spPr>
      </p:pic>
      <p:sp>
        <p:nvSpPr>
          <p:cNvPr id="33" name="Text 19"/>
          <p:cNvSpPr txBox="1"/>
          <p:nvPr/>
        </p:nvSpPr>
        <p:spPr>
          <a:xfrm>
            <a:off x="6775704" y="5935980"/>
            <a:ext cx="4636008" cy="271780"/>
          </a:xfrm>
          <a:prstGeom prst="rect">
            <a:avLst/>
          </a:prstGeom>
          <a:noFill/>
          <a:ln/>
        </p:spPr>
        <p:txBody>
          <a:bodyPr wrap="square" lIns="0" tIns="0" rIns="0" bIns="0" rtlCol="0" anchor="t"/>
          <a:lstStyle/>
          <a:p>
            <a:pPr indent="0" marL="0">
              <a:buNone/>
            </a:pPr>
            <a:r>
              <a:rPr lang="en-US" sz="1400" dirty="0">
                <a:solidFill>
                  <a:schemeClr val="tx1"/>
                </a:solidFill>
              </a:rPr>
              <a:t>One stack per zone: the zone and its records together</a:t>
            </a:r>
            <a:endParaRPr lang="en-US" sz="1400" dirty="0"/>
          </a:p>
        </p:txBody>
      </p:sp>
      <p:sp>
        <p:nvSpPr>
          <p:cNvPr id="35" name="Text 1"/>
          <p:cNvSpPr/>
          <p:nvPr>
            <p:ph idx="103" hasCustomPrompt="1"/>
          </p:nvPr>
        </p:nvSpPr>
        <p:spPr>
          <a:xfrm>
            <a:off x="731520" y="2331720"/>
            <a:ext cx="5074920" cy="2468880"/>
          </a:xfrm>
          <a:prstGeom prst="rect">
            <a:avLst/>
          </a:prstGeom>
          <a:noFill/>
          <a:ln/>
        </p:spPr>
        <p:txBody>
          <a:bodyPr wrap="square" lIns="558800" tIns="50800" rIns="558800" bIns="50800" rtlCol="0" anchor="ctr"/>
          <a:lstStyle/>
          <a:p>
            <a:pPr algn="ctr" indent="0" marL="0">
              <a:buNone/>
            </a:pPr>
            <a:endParaRPr lang="en-US" sz="1200" dirty="0"/>
          </a:p>
        </p:txBody>
      </p:sp>
      <p:sp>
        <p:nvSpPr>
          <p:cNvPr id="36" name="Text 1"/>
          <p:cNvSpPr/>
          <p:nvPr>
            <p:ph idx="104" hasCustomPrompt="1"/>
          </p:nvPr>
        </p:nvSpPr>
        <p:spPr>
          <a:xfrm>
            <a:off x="6382512" y="2331720"/>
            <a:ext cx="5074920" cy="2468880"/>
          </a:xfrm>
          <a:prstGeom prst="rect">
            <a:avLst/>
          </a:prstGeom>
          <a:noFill/>
          <a:ln/>
        </p:spPr>
        <p:txBody>
          <a:bodyPr wrap="square" lIns="558800" tIns="50800" rIns="558800" bIns="50800" rtlCol="0" anchor="ctr"/>
          <a:lstStyle/>
          <a:p>
            <a:pPr algn="ctr" indent="0" marL="0">
              <a:buNone/>
            </a:pP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Old pipeline: deploys straight away</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old-pipeline-firewall.yml — one job from code to AWS</a:t>
            </a:r>
            <a:endParaRPr lang="en-US" sz="1500" dirty="0"/>
          </a:p>
        </p:txBody>
      </p:sp>
      <p:sp>
        <p:nvSpPr>
          <p:cNvPr id="4" name="Text 2"/>
          <p:cNvSpPr txBox="1"/>
          <p:nvPr/>
        </p:nvSpPr>
        <p:spPr>
          <a:xfrm>
            <a:off x="9811512" y="566928"/>
            <a:ext cx="1828800" cy="347472"/>
          </a:xfrm>
          <a:prstGeom prst="roundRect">
            <a:avLst>
              <a:gd name="adj" fmla="val 50000"/>
            </a:avLst>
          </a:prstGeom>
          <a:solidFill>
            <a:schemeClr val="accent5"/>
          </a:solidFill>
          <a:ln/>
        </p:spPr>
        <p:txBody>
          <a:bodyPr wrap="square" lIns="0" tIns="0" rIns="0" bIns="0" rtlCol="0" anchor="ctr"/>
          <a:lstStyle/>
          <a:p>
            <a:pPr algn="ctr" indent="0" marL="0">
              <a:buNone/>
            </a:pPr>
            <a:r>
              <a:rPr lang="en-US" sz="1100" b="1" spc="150" kern="0" dirty="0">
                <a:solidFill>
                  <a:schemeClr val="bg1"/>
                </a:solidFill>
              </a:rPr>
              <a:t>OLD PIPELINE</a:t>
            </a:r>
            <a:endParaRPr lang="en-US" sz="1100" dirty="0"/>
          </a:p>
        </p:txBody>
      </p:sp>
      <p:sp>
        <p:nvSpPr>
          <p:cNvPr id="5" name="Start"/>
          <p:cNvSpPr/>
          <p:nvPr/>
        </p:nvSpPr>
        <p:spPr>
          <a:xfrm>
            <a:off x="548640" y="1691640"/>
            <a:ext cx="1965960" cy="1097280"/>
          </a:xfrm>
          <a:prstGeom prst="roundRect">
            <a:avLst>
              <a:gd name="adj" fmla="val 8333"/>
            </a:avLst>
          </a:prstGeom>
          <a:solidFill>
            <a:schemeClr val="accent5">
              <a:alpha val="8000"/>
            </a:schemeClr>
          </a:solidFill>
          <a:ln w="15875">
            <a:solidFill>
              <a:schemeClr val="accent5"/>
            </a:solidFill>
            <a:prstDash val="solid"/>
          </a:ln>
        </p:spPr>
      </p:sp>
      <p:sp>
        <p:nvSpPr>
          <p:cNvPr id="6" name="Shape 4"/>
          <p:cNvSpPr/>
          <p:nvPr/>
        </p:nvSpPr>
        <p:spPr>
          <a:xfrm>
            <a:off x="676656" y="1819656"/>
            <a:ext cx="384048" cy="384048"/>
          </a:xfrm>
          <a:prstGeom prst="ellipse">
            <a:avLst/>
          </a:prstGeom>
          <a:solidFill>
            <a:schemeClr val="accent5"/>
          </a:solidFill>
          <a:ln/>
        </p:spPr>
      </p:sp>
      <p:pic>
        <p:nvPicPr>
          <p:cNvPr id="7" name="Image 0" descr="preencoded.png">    </p:cNvPr>
          <p:cNvPicPr>
            <a:picLocks noChangeAspect="1"/>
          </p:cNvPicPr>
          <p:nvPr/>
        </p:nvPicPr>
        <p:blipFill>
          <a:blip r:embed="rId1"/>
          <a:stretch>
            <a:fillRect/>
          </a:stretch>
        </p:blipFill>
        <p:spPr>
          <a:xfrm>
            <a:off x="761147" y="1904147"/>
            <a:ext cx="215067" cy="215067"/>
          </a:xfrm>
          <a:prstGeom prst="rect">
            <a:avLst/>
          </a:prstGeom>
        </p:spPr>
      </p:pic>
      <p:sp>
        <p:nvSpPr>
          <p:cNvPr id="8" name="Text 5"/>
          <p:cNvSpPr txBox="1"/>
          <p:nvPr/>
        </p:nvSpPr>
        <p:spPr>
          <a:xfrm>
            <a:off x="1152144" y="1819656"/>
            <a:ext cx="1252728" cy="384048"/>
          </a:xfrm>
          <a:prstGeom prst="rect">
            <a:avLst/>
          </a:prstGeom>
          <a:noFill/>
          <a:ln/>
        </p:spPr>
        <p:txBody>
          <a:bodyPr wrap="square" lIns="0" tIns="0" rIns="0" bIns="0" rtlCol="0" anchor="ctr"/>
          <a:lstStyle/>
          <a:p>
            <a:pPr indent="0" marL="0">
              <a:buNone/>
            </a:pPr>
            <a:r>
              <a:rPr lang="en-US" sz="1400" b="1" dirty="0">
                <a:solidFill>
                  <a:schemeClr val="tx1"/>
                </a:solidFill>
              </a:rPr>
              <a:t>Start</a:t>
            </a:r>
            <a:endParaRPr lang="en-US" sz="1400" dirty="0"/>
          </a:p>
        </p:txBody>
      </p:sp>
      <p:sp>
        <p:nvSpPr>
          <p:cNvPr id="9" name="Text 6"/>
          <p:cNvSpPr txBox="1"/>
          <p:nvPr/>
        </p:nvSpPr>
        <p:spPr>
          <a:xfrm>
            <a:off x="676656" y="2295144"/>
            <a:ext cx="1709928" cy="420624"/>
          </a:xfrm>
          <a:prstGeom prst="rect">
            <a:avLst/>
          </a:prstGeom>
          <a:noFill/>
          <a:ln/>
        </p:spPr>
        <p:txBody>
          <a:bodyPr wrap="square" lIns="0" tIns="0" rIns="0" bIns="0" rtlCol="0" anchor="t"/>
          <a:lstStyle/>
          <a:p>
            <a:pPr indent="0" marL="0">
              <a:buNone/>
            </a:pPr>
            <a:r>
              <a:rPr lang="en-US" sz="1200" dirty="0">
                <a:solidFill>
                  <a:schemeClr val="tx2"/>
                </a:solidFill>
              </a:rPr>
              <a:t>Type the stack, folder and role name by hand</a:t>
            </a:r>
            <a:endParaRPr lang="en-US" sz="1200" dirty="0"/>
          </a:p>
        </p:txBody>
      </p:sp>
      <p:sp>
        <p:nvSpPr>
          <p:cNvPr id="10" name="Shape 7"/>
          <p:cNvSpPr/>
          <p:nvPr/>
        </p:nvSpPr>
        <p:spPr>
          <a:xfrm>
            <a:off x="2551176" y="2240280"/>
            <a:ext cx="242316" cy="914"/>
          </a:xfrm>
          <a:prstGeom prst="line">
            <a:avLst/>
          </a:prstGeom>
          <a:noFill/>
          <a:ln w="22225">
            <a:solidFill>
              <a:schemeClr val="tx2"/>
            </a:solidFill>
            <a:prstDash val="solid"/>
            <a:tailEnd type="triangle"/>
          </a:ln>
        </p:spPr>
      </p:sp>
      <p:sp>
        <p:nvSpPr>
          <p:cNvPr id="11" name="Find files"/>
          <p:cNvSpPr/>
          <p:nvPr/>
        </p:nvSpPr>
        <p:spPr>
          <a:xfrm>
            <a:off x="2830068" y="1691640"/>
            <a:ext cx="1965960" cy="1097280"/>
          </a:xfrm>
          <a:prstGeom prst="roundRect">
            <a:avLst>
              <a:gd name="adj" fmla="val 8333"/>
            </a:avLst>
          </a:prstGeom>
          <a:solidFill>
            <a:schemeClr val="accent5">
              <a:alpha val="8000"/>
            </a:schemeClr>
          </a:solidFill>
          <a:ln w="15875">
            <a:solidFill>
              <a:schemeClr val="accent5"/>
            </a:solidFill>
            <a:prstDash val="solid"/>
          </a:ln>
        </p:spPr>
      </p:sp>
      <p:sp>
        <p:nvSpPr>
          <p:cNvPr id="12" name="Shape 9"/>
          <p:cNvSpPr/>
          <p:nvPr/>
        </p:nvSpPr>
        <p:spPr>
          <a:xfrm>
            <a:off x="2958084" y="1819656"/>
            <a:ext cx="384048" cy="384048"/>
          </a:xfrm>
          <a:prstGeom prst="ellipse">
            <a:avLst/>
          </a:prstGeom>
          <a:solidFill>
            <a:schemeClr val="accent5"/>
          </a:solidFill>
          <a:ln/>
        </p:spPr>
      </p:sp>
      <p:pic>
        <p:nvPicPr>
          <p:cNvPr id="13" name="Image 1" descr="preencoded.png">    </p:cNvPr>
          <p:cNvPicPr>
            <a:picLocks noChangeAspect="1"/>
          </p:cNvPicPr>
          <p:nvPr/>
        </p:nvPicPr>
        <p:blipFill>
          <a:blip r:embed="rId2"/>
          <a:stretch>
            <a:fillRect/>
          </a:stretch>
        </p:blipFill>
        <p:spPr>
          <a:xfrm>
            <a:off x="3042575" y="1904147"/>
            <a:ext cx="215067" cy="215067"/>
          </a:xfrm>
          <a:prstGeom prst="rect">
            <a:avLst/>
          </a:prstGeom>
        </p:spPr>
      </p:pic>
      <p:sp>
        <p:nvSpPr>
          <p:cNvPr id="14" name="Text 10"/>
          <p:cNvSpPr txBox="1"/>
          <p:nvPr/>
        </p:nvSpPr>
        <p:spPr>
          <a:xfrm>
            <a:off x="3433572" y="1819656"/>
            <a:ext cx="1252728" cy="384048"/>
          </a:xfrm>
          <a:prstGeom prst="rect">
            <a:avLst/>
          </a:prstGeom>
          <a:noFill/>
          <a:ln/>
        </p:spPr>
        <p:txBody>
          <a:bodyPr wrap="square" lIns="0" tIns="0" rIns="0" bIns="0" rtlCol="0" anchor="ctr"/>
          <a:lstStyle/>
          <a:p>
            <a:pPr indent="0" marL="0">
              <a:buNone/>
            </a:pPr>
            <a:r>
              <a:rPr lang="en-US" sz="1400" b="1" dirty="0">
                <a:solidFill>
                  <a:schemeClr val="tx1"/>
                </a:solidFill>
              </a:rPr>
              <a:t>Find files</a:t>
            </a:r>
            <a:endParaRPr lang="en-US" sz="1400" dirty="0"/>
          </a:p>
        </p:txBody>
      </p:sp>
      <p:sp>
        <p:nvSpPr>
          <p:cNvPr id="15" name="Text 11"/>
          <p:cNvSpPr txBox="1"/>
          <p:nvPr/>
        </p:nvSpPr>
        <p:spPr>
          <a:xfrm>
            <a:off x="2958084" y="2295144"/>
            <a:ext cx="1709928" cy="420624"/>
          </a:xfrm>
          <a:prstGeom prst="rect">
            <a:avLst/>
          </a:prstGeom>
          <a:noFill/>
          <a:ln/>
        </p:spPr>
        <p:txBody>
          <a:bodyPr wrap="square" lIns="0" tIns="0" rIns="0" bIns="0" rtlCol="0" anchor="t"/>
          <a:lstStyle/>
          <a:p>
            <a:pPr indent="0" marL="0">
              <a:buNone/>
            </a:pPr>
            <a:r>
              <a:rPr lang="en-US" sz="1200" dirty="0">
                <a:solidFill>
                  <a:schemeClr val="tx2"/>
                </a:solidFill>
              </a:rPr>
              <a:t>Template and settings from the chosen folder</a:t>
            </a:r>
            <a:endParaRPr lang="en-US" sz="1200" dirty="0"/>
          </a:p>
        </p:txBody>
      </p:sp>
      <p:sp>
        <p:nvSpPr>
          <p:cNvPr id="16" name="Shape 12"/>
          <p:cNvSpPr/>
          <p:nvPr/>
        </p:nvSpPr>
        <p:spPr>
          <a:xfrm>
            <a:off x="4832604" y="2240280"/>
            <a:ext cx="242316" cy="914"/>
          </a:xfrm>
          <a:prstGeom prst="line">
            <a:avLst/>
          </a:prstGeom>
          <a:noFill/>
          <a:ln w="22225">
            <a:solidFill>
              <a:schemeClr val="tx2"/>
            </a:solidFill>
            <a:prstDash val="solid"/>
            <a:tailEnd type="triangle"/>
          </a:ln>
        </p:spPr>
      </p:sp>
      <p:sp>
        <p:nvSpPr>
          <p:cNvPr id="17" name="Big template?"/>
          <p:cNvSpPr/>
          <p:nvPr/>
        </p:nvSpPr>
        <p:spPr>
          <a:xfrm>
            <a:off x="5111496" y="1691640"/>
            <a:ext cx="1965960" cy="1097280"/>
          </a:xfrm>
          <a:prstGeom prst="roundRect">
            <a:avLst>
              <a:gd name="adj" fmla="val 8333"/>
            </a:avLst>
          </a:prstGeom>
          <a:solidFill>
            <a:schemeClr val="bg1"/>
          </a:solidFill>
          <a:ln w="15875">
            <a:solidFill>
              <a:schemeClr val="accent5"/>
            </a:solidFill>
            <a:prstDash val="dash"/>
          </a:ln>
        </p:spPr>
      </p:sp>
      <p:sp>
        <p:nvSpPr>
          <p:cNvPr id="18" name="Shape 14"/>
          <p:cNvSpPr/>
          <p:nvPr/>
        </p:nvSpPr>
        <p:spPr>
          <a:xfrm>
            <a:off x="5239512" y="1819656"/>
            <a:ext cx="384048" cy="384048"/>
          </a:xfrm>
          <a:prstGeom prst="ellipse">
            <a:avLst/>
          </a:prstGeom>
          <a:solidFill>
            <a:schemeClr val="accent5"/>
          </a:solidFill>
          <a:ln/>
        </p:spPr>
      </p:sp>
      <p:pic>
        <p:nvPicPr>
          <p:cNvPr id="19" name="Image 2" descr="preencoded.png">    </p:cNvPr>
          <p:cNvPicPr>
            <a:picLocks noChangeAspect="1"/>
          </p:cNvPicPr>
          <p:nvPr/>
        </p:nvPicPr>
        <p:blipFill>
          <a:blip r:embed="rId3"/>
          <a:stretch>
            <a:fillRect/>
          </a:stretch>
        </p:blipFill>
        <p:spPr>
          <a:xfrm>
            <a:off x="5324003" y="1904147"/>
            <a:ext cx="215067" cy="215067"/>
          </a:xfrm>
          <a:prstGeom prst="rect">
            <a:avLst/>
          </a:prstGeom>
        </p:spPr>
      </p:pic>
      <p:sp>
        <p:nvSpPr>
          <p:cNvPr id="20" name="Text 15"/>
          <p:cNvSpPr txBox="1"/>
          <p:nvPr/>
        </p:nvSpPr>
        <p:spPr>
          <a:xfrm>
            <a:off x="5715000" y="1819656"/>
            <a:ext cx="1252728" cy="384048"/>
          </a:xfrm>
          <a:prstGeom prst="rect">
            <a:avLst/>
          </a:prstGeom>
          <a:noFill/>
          <a:ln/>
        </p:spPr>
        <p:txBody>
          <a:bodyPr wrap="square" lIns="0" tIns="0" rIns="0" bIns="0" rtlCol="0" anchor="ctr"/>
          <a:lstStyle/>
          <a:p>
            <a:pPr indent="0" marL="0">
              <a:buNone/>
            </a:pPr>
            <a:r>
              <a:rPr lang="en-US" sz="1400" b="1" dirty="0">
                <a:solidFill>
                  <a:schemeClr val="tx1"/>
                </a:solidFill>
              </a:rPr>
              <a:t>Big template?</a:t>
            </a:r>
            <a:endParaRPr lang="en-US" sz="1400" dirty="0"/>
          </a:p>
        </p:txBody>
      </p:sp>
      <p:sp>
        <p:nvSpPr>
          <p:cNvPr id="21" name="Text 16"/>
          <p:cNvSpPr txBox="1"/>
          <p:nvPr/>
        </p:nvSpPr>
        <p:spPr>
          <a:xfrm>
            <a:off x="5239512" y="2295144"/>
            <a:ext cx="1709928" cy="420624"/>
          </a:xfrm>
          <a:prstGeom prst="rect">
            <a:avLst/>
          </a:prstGeom>
          <a:noFill/>
          <a:ln/>
        </p:spPr>
        <p:txBody>
          <a:bodyPr wrap="square" lIns="0" tIns="0" rIns="0" bIns="0" rtlCol="0" anchor="t"/>
          <a:lstStyle/>
          <a:p>
            <a:pPr indent="0" marL="0">
              <a:buNone/>
            </a:pPr>
            <a:r>
              <a:rPr lang="en-US" sz="1200" dirty="0">
                <a:solidFill>
                  <a:schemeClr val="tx2"/>
                </a:solidFill>
              </a:rPr>
              <a:t>Over 50 KB: uploaded to S3 first</a:t>
            </a:r>
            <a:endParaRPr lang="en-US" sz="1200" dirty="0"/>
          </a:p>
        </p:txBody>
      </p:sp>
      <p:sp>
        <p:nvSpPr>
          <p:cNvPr id="22" name="Shape 17"/>
          <p:cNvSpPr/>
          <p:nvPr/>
        </p:nvSpPr>
        <p:spPr>
          <a:xfrm>
            <a:off x="7114032" y="2240280"/>
            <a:ext cx="242316" cy="914"/>
          </a:xfrm>
          <a:prstGeom prst="line">
            <a:avLst/>
          </a:prstGeom>
          <a:noFill/>
          <a:ln w="22225">
            <a:solidFill>
              <a:schemeClr val="tx2"/>
            </a:solidFill>
            <a:prstDash val="solid"/>
            <a:tailEnd type="triangle"/>
          </a:ln>
        </p:spPr>
      </p:sp>
      <p:sp>
        <p:nvSpPr>
          <p:cNvPr id="23" name="Deploy"/>
          <p:cNvSpPr/>
          <p:nvPr/>
        </p:nvSpPr>
        <p:spPr>
          <a:xfrm>
            <a:off x="7392924" y="1691640"/>
            <a:ext cx="1965960" cy="1097280"/>
          </a:xfrm>
          <a:prstGeom prst="roundRect">
            <a:avLst>
              <a:gd name="adj" fmla="val 8333"/>
            </a:avLst>
          </a:prstGeom>
          <a:solidFill>
            <a:schemeClr val="accent5">
              <a:alpha val="8000"/>
            </a:schemeClr>
          </a:solidFill>
          <a:ln w="15875">
            <a:solidFill>
              <a:schemeClr val="accent5"/>
            </a:solidFill>
            <a:prstDash val="solid"/>
          </a:ln>
        </p:spPr>
      </p:sp>
      <p:sp>
        <p:nvSpPr>
          <p:cNvPr id="24" name="Shape 19"/>
          <p:cNvSpPr/>
          <p:nvPr/>
        </p:nvSpPr>
        <p:spPr>
          <a:xfrm>
            <a:off x="7520940" y="1819656"/>
            <a:ext cx="384048" cy="384048"/>
          </a:xfrm>
          <a:prstGeom prst="ellipse">
            <a:avLst/>
          </a:prstGeom>
          <a:solidFill>
            <a:schemeClr val="accent5"/>
          </a:solidFill>
          <a:ln/>
        </p:spPr>
      </p:sp>
      <p:pic>
        <p:nvPicPr>
          <p:cNvPr id="25" name="Image 3" descr="preencoded.png">    </p:cNvPr>
          <p:cNvPicPr>
            <a:picLocks noChangeAspect="1"/>
          </p:cNvPicPr>
          <p:nvPr/>
        </p:nvPicPr>
        <p:blipFill>
          <a:blip r:embed="rId4"/>
          <a:stretch>
            <a:fillRect/>
          </a:stretch>
        </p:blipFill>
        <p:spPr>
          <a:xfrm>
            <a:off x="7605431" y="1904147"/>
            <a:ext cx="215067" cy="215067"/>
          </a:xfrm>
          <a:prstGeom prst="rect">
            <a:avLst/>
          </a:prstGeom>
        </p:spPr>
      </p:pic>
      <p:sp>
        <p:nvSpPr>
          <p:cNvPr id="26" name="Text 20"/>
          <p:cNvSpPr txBox="1"/>
          <p:nvPr/>
        </p:nvSpPr>
        <p:spPr>
          <a:xfrm>
            <a:off x="7996428" y="1819656"/>
            <a:ext cx="1252728" cy="384048"/>
          </a:xfrm>
          <a:prstGeom prst="rect">
            <a:avLst/>
          </a:prstGeom>
          <a:noFill/>
          <a:ln/>
        </p:spPr>
        <p:txBody>
          <a:bodyPr wrap="square" lIns="0" tIns="0" rIns="0" bIns="0" rtlCol="0" anchor="ctr"/>
          <a:lstStyle/>
          <a:p>
            <a:pPr indent="0" marL="0">
              <a:buNone/>
            </a:pPr>
            <a:r>
              <a:rPr lang="en-US" sz="1400" b="1" dirty="0">
                <a:solidFill>
                  <a:schemeClr val="tx1"/>
                </a:solidFill>
              </a:rPr>
              <a:t>Deploy</a:t>
            </a:r>
            <a:endParaRPr lang="en-US" sz="1400" dirty="0"/>
          </a:p>
        </p:txBody>
      </p:sp>
      <p:sp>
        <p:nvSpPr>
          <p:cNvPr id="27" name="Text 21"/>
          <p:cNvSpPr txBox="1"/>
          <p:nvPr/>
        </p:nvSpPr>
        <p:spPr>
          <a:xfrm>
            <a:off x="7520940" y="2295144"/>
            <a:ext cx="1709928" cy="420624"/>
          </a:xfrm>
          <a:prstGeom prst="rect">
            <a:avLst/>
          </a:prstGeom>
          <a:noFill/>
          <a:ln/>
        </p:spPr>
        <p:txBody>
          <a:bodyPr wrap="square" lIns="0" tIns="0" rIns="0" bIns="0" rtlCol="0" anchor="t"/>
          <a:lstStyle/>
          <a:p>
            <a:pPr indent="0" marL="0">
              <a:buNone/>
            </a:pPr>
            <a:r>
              <a:rPr lang="en-US" sz="1200" dirty="0">
                <a:solidFill>
                  <a:schemeClr val="tx2"/>
                </a:solidFill>
              </a:rPr>
              <a:t>Creates or updates the stack straight away</a:t>
            </a:r>
            <a:endParaRPr lang="en-US" sz="1200" dirty="0"/>
          </a:p>
        </p:txBody>
      </p:sp>
      <p:sp>
        <p:nvSpPr>
          <p:cNvPr id="28" name="Shape 22"/>
          <p:cNvSpPr/>
          <p:nvPr/>
        </p:nvSpPr>
        <p:spPr>
          <a:xfrm>
            <a:off x="9395460" y="2240280"/>
            <a:ext cx="242316" cy="914"/>
          </a:xfrm>
          <a:prstGeom prst="line">
            <a:avLst/>
          </a:prstGeom>
          <a:noFill/>
          <a:ln w="22225">
            <a:solidFill>
              <a:schemeClr val="tx2"/>
            </a:solidFill>
            <a:prstDash val="solid"/>
            <a:tailEnd type="triangle"/>
          </a:ln>
        </p:spPr>
      </p:sp>
      <p:sp>
        <p:nvSpPr>
          <p:cNvPr id="29" name="Done"/>
          <p:cNvSpPr/>
          <p:nvPr/>
        </p:nvSpPr>
        <p:spPr>
          <a:xfrm>
            <a:off x="9674352" y="1691640"/>
            <a:ext cx="1965960" cy="1097280"/>
          </a:xfrm>
          <a:prstGeom prst="roundRect">
            <a:avLst>
              <a:gd name="adj" fmla="val 8333"/>
            </a:avLst>
          </a:prstGeom>
          <a:solidFill>
            <a:schemeClr val="accent5">
              <a:alpha val="8000"/>
            </a:schemeClr>
          </a:solidFill>
          <a:ln w="15875">
            <a:solidFill>
              <a:schemeClr val="accent5"/>
            </a:solidFill>
            <a:prstDash val="solid"/>
          </a:ln>
        </p:spPr>
      </p:sp>
      <p:sp>
        <p:nvSpPr>
          <p:cNvPr id="30" name="Shape 24"/>
          <p:cNvSpPr/>
          <p:nvPr/>
        </p:nvSpPr>
        <p:spPr>
          <a:xfrm>
            <a:off x="9802368" y="1819656"/>
            <a:ext cx="384048" cy="384048"/>
          </a:xfrm>
          <a:prstGeom prst="ellipse">
            <a:avLst/>
          </a:prstGeom>
          <a:solidFill>
            <a:schemeClr val="accent5"/>
          </a:solidFill>
          <a:ln/>
        </p:spPr>
      </p:sp>
      <p:pic>
        <p:nvPicPr>
          <p:cNvPr id="31" name="Image 4" descr="preencoded.png">    </p:cNvPr>
          <p:cNvPicPr>
            <a:picLocks noChangeAspect="1"/>
          </p:cNvPicPr>
          <p:nvPr/>
        </p:nvPicPr>
        <p:blipFill>
          <a:blip r:embed="rId5"/>
          <a:stretch>
            <a:fillRect/>
          </a:stretch>
        </p:blipFill>
        <p:spPr>
          <a:xfrm>
            <a:off x="9886859" y="1904147"/>
            <a:ext cx="215067" cy="215067"/>
          </a:xfrm>
          <a:prstGeom prst="rect">
            <a:avLst/>
          </a:prstGeom>
        </p:spPr>
      </p:pic>
      <p:sp>
        <p:nvSpPr>
          <p:cNvPr id="32" name="Text 25"/>
          <p:cNvSpPr txBox="1"/>
          <p:nvPr/>
        </p:nvSpPr>
        <p:spPr>
          <a:xfrm>
            <a:off x="10277856" y="1819656"/>
            <a:ext cx="1252728" cy="384048"/>
          </a:xfrm>
          <a:prstGeom prst="rect">
            <a:avLst/>
          </a:prstGeom>
          <a:noFill/>
          <a:ln/>
        </p:spPr>
        <p:txBody>
          <a:bodyPr wrap="square" lIns="0" tIns="0" rIns="0" bIns="0" rtlCol="0" anchor="ctr"/>
          <a:lstStyle/>
          <a:p>
            <a:pPr indent="0" marL="0">
              <a:buNone/>
            </a:pPr>
            <a:r>
              <a:rPr lang="en-US" sz="1400" b="1" dirty="0">
                <a:solidFill>
                  <a:schemeClr val="tx1"/>
                </a:solidFill>
              </a:rPr>
              <a:t>Done</a:t>
            </a:r>
            <a:endParaRPr lang="en-US" sz="1400" dirty="0"/>
          </a:p>
        </p:txBody>
      </p:sp>
      <p:sp>
        <p:nvSpPr>
          <p:cNvPr id="33" name="Text 26"/>
          <p:cNvSpPr txBox="1"/>
          <p:nvPr/>
        </p:nvSpPr>
        <p:spPr>
          <a:xfrm>
            <a:off x="9802368" y="2295144"/>
            <a:ext cx="1709928" cy="420624"/>
          </a:xfrm>
          <a:prstGeom prst="rect">
            <a:avLst/>
          </a:prstGeom>
          <a:noFill/>
          <a:ln/>
        </p:spPr>
        <p:txBody>
          <a:bodyPr wrap="square" lIns="0" tIns="0" rIns="0" bIns="0" rtlCol="0" anchor="t"/>
          <a:lstStyle/>
          <a:p>
            <a:pPr indent="0" marL="0">
              <a:buNone/>
            </a:pPr>
            <a:r>
              <a:rPr lang="en-US" sz="1200" dirty="0">
                <a:solidFill>
                  <a:schemeClr val="tx2"/>
                </a:solidFill>
              </a:rPr>
              <a:t>Prints the stack’s outputs</a:t>
            </a:r>
            <a:endParaRPr lang="en-US" sz="1200" dirty="0"/>
          </a:p>
        </p:txBody>
      </p:sp>
      <p:sp>
        <p:nvSpPr>
          <p:cNvPr id="34" name="Missing checks"/>
          <p:cNvSpPr/>
          <p:nvPr/>
        </p:nvSpPr>
        <p:spPr>
          <a:xfrm>
            <a:off x="2377440" y="2990088"/>
            <a:ext cx="7434072" cy="457200"/>
          </a:xfrm>
          <a:prstGeom prst="roundRect">
            <a:avLst>
              <a:gd name="adj" fmla="val 50000"/>
            </a:avLst>
          </a:prstGeom>
          <a:solidFill>
            <a:schemeClr val="accent3">
              <a:alpha val="10000"/>
            </a:schemeClr>
          </a:solidFill>
          <a:ln w="12700">
            <a:solidFill>
              <a:schemeClr val="accent3"/>
            </a:solidFill>
            <a:prstDash val="dash"/>
          </a:ln>
        </p:spPr>
      </p:sp>
      <p:pic>
        <p:nvPicPr>
          <p:cNvPr id="35" name="Image 5" descr="preencoded.png">    </p:cNvPr>
          <p:cNvPicPr>
            <a:picLocks noChangeAspect="1"/>
          </p:cNvPicPr>
          <p:nvPr/>
        </p:nvPicPr>
        <p:blipFill>
          <a:blip r:embed="rId6"/>
          <a:stretch>
            <a:fillRect/>
          </a:stretch>
        </p:blipFill>
        <p:spPr>
          <a:xfrm>
            <a:off x="2578608" y="3090672"/>
            <a:ext cx="256032" cy="256032"/>
          </a:xfrm>
          <a:prstGeom prst="rect">
            <a:avLst/>
          </a:prstGeom>
        </p:spPr>
      </p:pic>
      <p:sp>
        <p:nvSpPr>
          <p:cNvPr id="36" name="Text 28"/>
          <p:cNvSpPr txBox="1"/>
          <p:nvPr/>
        </p:nvSpPr>
        <p:spPr>
          <a:xfrm>
            <a:off x="2944368" y="2990088"/>
            <a:ext cx="6766560" cy="457200"/>
          </a:xfrm>
          <a:prstGeom prst="rect">
            <a:avLst/>
          </a:prstGeom>
          <a:noFill/>
          <a:ln/>
        </p:spPr>
        <p:txBody>
          <a:bodyPr wrap="square" lIns="0" tIns="0" rIns="0" bIns="0" rtlCol="0" anchor="ctr"/>
          <a:lstStyle/>
          <a:p>
            <a:pPr indent="0" marL="0">
              <a:buNone/>
            </a:pPr>
            <a:r>
              <a:rPr lang="en-US" sz="1400" b="1" dirty="0">
                <a:solidFill>
                  <a:schemeClr val="tx1"/>
                </a:solidFill>
              </a:rPr>
              <a:t>Never stops to check for manual changes, show a preview, or wait for approval</a:t>
            </a:r>
            <a:endParaRPr lang="en-US" sz="1400" dirty="0"/>
          </a:p>
        </p:txBody>
      </p:sp>
      <p:sp>
        <p:nvSpPr>
          <p:cNvPr id="37" name="Good for"/>
          <p:cNvSpPr/>
          <p:nvPr/>
        </p:nvSpPr>
        <p:spPr>
          <a:xfrm>
            <a:off x="548640" y="3703320"/>
            <a:ext cx="3703320" cy="2468880"/>
          </a:xfrm>
          <a:prstGeom prst="roundRect">
            <a:avLst>
              <a:gd name="adj" fmla="val 4444"/>
            </a:avLst>
          </a:prstGeom>
          <a:solidFill>
            <a:schemeClr val="accent1">
              <a:alpha val="7000"/>
            </a:schemeClr>
          </a:solidFill>
          <a:ln/>
        </p:spPr>
      </p:sp>
      <p:sp>
        <p:nvSpPr>
          <p:cNvPr id="38" name="Shape 30"/>
          <p:cNvSpPr/>
          <p:nvPr/>
        </p:nvSpPr>
        <p:spPr>
          <a:xfrm>
            <a:off x="731520" y="3840480"/>
            <a:ext cx="384048" cy="384048"/>
          </a:xfrm>
          <a:prstGeom prst="ellipse">
            <a:avLst/>
          </a:prstGeom>
          <a:solidFill>
            <a:schemeClr val="accent1"/>
          </a:solidFill>
          <a:ln/>
        </p:spPr>
      </p:sp>
      <p:pic>
        <p:nvPicPr>
          <p:cNvPr id="39" name="Image 6" descr="preencoded.png">    </p:cNvPr>
          <p:cNvPicPr>
            <a:picLocks noChangeAspect="1"/>
          </p:cNvPicPr>
          <p:nvPr/>
        </p:nvPicPr>
        <p:blipFill>
          <a:blip r:embed="rId7"/>
          <a:stretch>
            <a:fillRect/>
          </a:stretch>
        </p:blipFill>
        <p:spPr>
          <a:xfrm>
            <a:off x="816011" y="3924971"/>
            <a:ext cx="215067" cy="215067"/>
          </a:xfrm>
          <a:prstGeom prst="rect">
            <a:avLst/>
          </a:prstGeom>
        </p:spPr>
      </p:pic>
      <p:sp>
        <p:nvSpPr>
          <p:cNvPr id="40" name="Text 31"/>
          <p:cNvSpPr txBox="1"/>
          <p:nvPr/>
        </p:nvSpPr>
        <p:spPr>
          <a:xfrm>
            <a:off x="1225296" y="3840480"/>
            <a:ext cx="2743200" cy="384048"/>
          </a:xfrm>
          <a:prstGeom prst="rect">
            <a:avLst/>
          </a:prstGeom>
          <a:noFill/>
          <a:ln/>
        </p:spPr>
        <p:txBody>
          <a:bodyPr wrap="square" lIns="0" tIns="0" rIns="0" bIns="0" rtlCol="0" anchor="ctr"/>
          <a:lstStyle/>
          <a:p>
            <a:pPr indent="0" marL="0">
              <a:buNone/>
            </a:pPr>
            <a:r>
              <a:rPr lang="en-US" sz="1800" b="1" dirty="0">
                <a:solidFill>
                  <a:schemeClr val="tx1"/>
                </a:solidFill>
              </a:rPr>
              <a:t>Good for</a:t>
            </a:r>
            <a:endParaRPr lang="en-US" sz="1800" dirty="0"/>
          </a:p>
        </p:txBody>
      </p:sp>
      <p:pic>
        <p:nvPicPr>
          <p:cNvPr id="41" name="Image 7" descr="preencoded.png">    </p:cNvPr>
          <p:cNvPicPr>
            <a:picLocks noChangeAspect="1"/>
          </p:cNvPicPr>
          <p:nvPr/>
        </p:nvPicPr>
        <p:blipFill>
          <a:blip r:embed="rId8"/>
          <a:stretch>
            <a:fillRect/>
          </a:stretch>
        </p:blipFill>
        <p:spPr>
          <a:xfrm>
            <a:off x="749808" y="4378706"/>
            <a:ext cx="219456" cy="219456"/>
          </a:xfrm>
          <a:prstGeom prst="rect">
            <a:avLst/>
          </a:prstGeom>
        </p:spPr>
      </p:pic>
      <p:sp>
        <p:nvSpPr>
          <p:cNvPr id="42" name="Text 32"/>
          <p:cNvSpPr txBox="1"/>
          <p:nvPr/>
        </p:nvSpPr>
        <p:spPr>
          <a:xfrm>
            <a:off x="1097280" y="4370832"/>
            <a:ext cx="3035808" cy="271780"/>
          </a:xfrm>
          <a:prstGeom prst="rect">
            <a:avLst/>
          </a:prstGeom>
          <a:noFill/>
          <a:ln/>
        </p:spPr>
        <p:txBody>
          <a:bodyPr wrap="square" lIns="0" tIns="0" rIns="0" bIns="0" rtlCol="0" anchor="t"/>
          <a:lstStyle/>
          <a:p>
            <a:pPr indent="0" marL="0">
              <a:buNone/>
            </a:pPr>
            <a:r>
              <a:rPr lang="en-US" sz="1400" dirty="0">
                <a:solidFill>
                  <a:schemeClr val="tx1"/>
                </a:solidFill>
              </a:rPr>
              <a:t>Simple and quick: one job, end to end</a:t>
            </a:r>
            <a:endParaRPr lang="en-US" sz="1400" dirty="0"/>
          </a:p>
        </p:txBody>
      </p:sp>
      <p:pic>
        <p:nvPicPr>
          <p:cNvPr id="43" name="Image 8" descr="preencoded.png">    </p:cNvPr>
          <p:cNvPicPr>
            <a:picLocks noChangeAspect="1"/>
          </p:cNvPicPr>
          <p:nvPr/>
        </p:nvPicPr>
        <p:blipFill>
          <a:blip r:embed="rId9"/>
          <a:stretch>
            <a:fillRect/>
          </a:stretch>
        </p:blipFill>
        <p:spPr>
          <a:xfrm>
            <a:off x="749808" y="4741926"/>
            <a:ext cx="219456" cy="219456"/>
          </a:xfrm>
          <a:prstGeom prst="rect">
            <a:avLst/>
          </a:prstGeom>
        </p:spPr>
      </p:pic>
      <p:sp>
        <p:nvSpPr>
          <p:cNvPr id="44" name="Text 33"/>
          <p:cNvSpPr txBox="1"/>
          <p:nvPr/>
        </p:nvSpPr>
        <p:spPr>
          <a:xfrm>
            <a:off x="1097280" y="4734052"/>
            <a:ext cx="3035808" cy="488696"/>
          </a:xfrm>
          <a:prstGeom prst="rect">
            <a:avLst/>
          </a:prstGeom>
          <a:noFill/>
          <a:ln/>
        </p:spPr>
        <p:txBody>
          <a:bodyPr wrap="square" lIns="0" tIns="0" rIns="0" bIns="0" rtlCol="0" anchor="t"/>
          <a:lstStyle/>
          <a:p>
            <a:pPr indent="0" marL="0">
              <a:buNone/>
            </a:pPr>
            <a:r>
              <a:rPr lang="en-US" sz="1400" dirty="0">
                <a:solidFill>
                  <a:schemeClr val="tx1"/>
                </a:solidFill>
              </a:rPr>
              <a:t>Works for every resource type, even ones AWS can’t drift-check</a:t>
            </a:r>
            <a:endParaRPr lang="en-US" sz="1400" dirty="0"/>
          </a:p>
        </p:txBody>
      </p:sp>
      <p:pic>
        <p:nvPicPr>
          <p:cNvPr id="45" name="Image 9" descr="preencoded.png">    </p:cNvPr>
          <p:cNvPicPr>
            <a:picLocks noChangeAspect="1"/>
          </p:cNvPicPr>
          <p:nvPr/>
        </p:nvPicPr>
        <p:blipFill>
          <a:blip r:embed="rId10"/>
          <a:stretch>
            <a:fillRect/>
          </a:stretch>
        </p:blipFill>
        <p:spPr>
          <a:xfrm>
            <a:off x="749808" y="5322062"/>
            <a:ext cx="219456" cy="219456"/>
          </a:xfrm>
          <a:prstGeom prst="rect">
            <a:avLst/>
          </a:prstGeom>
        </p:spPr>
      </p:pic>
      <p:sp>
        <p:nvSpPr>
          <p:cNvPr id="46" name="Text 34"/>
          <p:cNvSpPr txBox="1"/>
          <p:nvPr/>
        </p:nvSpPr>
        <p:spPr>
          <a:xfrm>
            <a:off x="1097280" y="5314188"/>
            <a:ext cx="3035808" cy="271780"/>
          </a:xfrm>
          <a:prstGeom prst="rect">
            <a:avLst/>
          </a:prstGeom>
          <a:noFill/>
          <a:ln/>
        </p:spPr>
        <p:txBody>
          <a:bodyPr wrap="square" lIns="0" tIns="0" rIns="0" bIns="0" rtlCol="0" anchor="t"/>
          <a:lstStyle/>
          <a:p>
            <a:pPr indent="0" marL="0">
              <a:buNone/>
            </a:pPr>
            <a:r>
              <a:rPr lang="en-US" sz="1400" dirty="0">
                <a:solidFill>
                  <a:schemeClr val="tx1"/>
                </a:solidFill>
              </a:rPr>
              <a:t>Copes with large templates (via S3)</a:t>
            </a:r>
            <a:endParaRPr lang="en-US" sz="1400" dirty="0"/>
          </a:p>
        </p:txBody>
      </p:sp>
      <p:sp>
        <p:nvSpPr>
          <p:cNvPr id="47" name="What it doesn’t do"/>
          <p:cNvSpPr/>
          <p:nvPr/>
        </p:nvSpPr>
        <p:spPr>
          <a:xfrm>
            <a:off x="4434840" y="3703320"/>
            <a:ext cx="3703320" cy="2468880"/>
          </a:xfrm>
          <a:prstGeom prst="roundRect">
            <a:avLst>
              <a:gd name="adj" fmla="val 4444"/>
            </a:avLst>
          </a:prstGeom>
          <a:solidFill>
            <a:schemeClr val="accent3">
              <a:alpha val="8000"/>
            </a:schemeClr>
          </a:solidFill>
          <a:ln/>
        </p:spPr>
      </p:sp>
      <p:sp>
        <p:nvSpPr>
          <p:cNvPr id="48" name="Shape 36"/>
          <p:cNvSpPr/>
          <p:nvPr/>
        </p:nvSpPr>
        <p:spPr>
          <a:xfrm>
            <a:off x="4617720" y="3840480"/>
            <a:ext cx="384048" cy="384048"/>
          </a:xfrm>
          <a:prstGeom prst="ellipse">
            <a:avLst/>
          </a:prstGeom>
          <a:solidFill>
            <a:schemeClr val="accent3"/>
          </a:solidFill>
          <a:ln/>
        </p:spPr>
      </p:sp>
      <p:pic>
        <p:nvPicPr>
          <p:cNvPr id="49" name="Image 10" descr="preencoded.png">    </p:cNvPr>
          <p:cNvPicPr>
            <a:picLocks noChangeAspect="1"/>
          </p:cNvPicPr>
          <p:nvPr/>
        </p:nvPicPr>
        <p:blipFill>
          <a:blip r:embed="rId11"/>
          <a:stretch>
            <a:fillRect/>
          </a:stretch>
        </p:blipFill>
        <p:spPr>
          <a:xfrm>
            <a:off x="4702211" y="3924971"/>
            <a:ext cx="215067" cy="215067"/>
          </a:xfrm>
          <a:prstGeom prst="rect">
            <a:avLst/>
          </a:prstGeom>
        </p:spPr>
      </p:pic>
      <p:sp>
        <p:nvSpPr>
          <p:cNvPr id="50" name="Text 37"/>
          <p:cNvSpPr txBox="1"/>
          <p:nvPr/>
        </p:nvSpPr>
        <p:spPr>
          <a:xfrm>
            <a:off x="5111496" y="3840480"/>
            <a:ext cx="2926080" cy="384048"/>
          </a:xfrm>
          <a:prstGeom prst="rect">
            <a:avLst/>
          </a:prstGeom>
          <a:noFill/>
          <a:ln/>
        </p:spPr>
        <p:txBody>
          <a:bodyPr wrap="square" lIns="0" tIns="0" rIns="0" bIns="0" rtlCol="0" anchor="ctr"/>
          <a:lstStyle/>
          <a:p>
            <a:pPr indent="0" marL="0">
              <a:buNone/>
            </a:pPr>
            <a:r>
              <a:rPr lang="en-US" sz="1800" b="1" dirty="0">
                <a:solidFill>
                  <a:schemeClr val="tx1"/>
                </a:solidFill>
              </a:rPr>
              <a:t>What it doesn’t do</a:t>
            </a:r>
            <a:endParaRPr lang="en-US" sz="1800" dirty="0"/>
          </a:p>
        </p:txBody>
      </p:sp>
      <p:pic>
        <p:nvPicPr>
          <p:cNvPr id="51" name="Image 11" descr="preencoded.png">    </p:cNvPr>
          <p:cNvPicPr>
            <a:picLocks noChangeAspect="1"/>
          </p:cNvPicPr>
          <p:nvPr/>
        </p:nvPicPr>
        <p:blipFill>
          <a:blip r:embed="rId12"/>
          <a:stretch>
            <a:fillRect/>
          </a:stretch>
        </p:blipFill>
        <p:spPr>
          <a:xfrm>
            <a:off x="4636008" y="4378706"/>
            <a:ext cx="219456" cy="219456"/>
          </a:xfrm>
          <a:prstGeom prst="rect">
            <a:avLst/>
          </a:prstGeom>
        </p:spPr>
      </p:pic>
      <p:sp>
        <p:nvSpPr>
          <p:cNvPr id="52" name="Text 38"/>
          <p:cNvSpPr txBox="1"/>
          <p:nvPr/>
        </p:nvSpPr>
        <p:spPr>
          <a:xfrm>
            <a:off x="4983480" y="4370832"/>
            <a:ext cx="3035808" cy="271780"/>
          </a:xfrm>
          <a:prstGeom prst="rect">
            <a:avLst/>
          </a:prstGeom>
          <a:noFill/>
          <a:ln/>
        </p:spPr>
        <p:txBody>
          <a:bodyPr wrap="square" lIns="0" tIns="0" rIns="0" bIns="0" rtlCol="0" anchor="t"/>
          <a:lstStyle/>
          <a:p>
            <a:pPr indent="0" marL="0">
              <a:buNone/>
            </a:pPr>
            <a:r>
              <a:rPr lang="en-US" sz="1400" dirty="0">
                <a:solidFill>
                  <a:schemeClr val="tx1"/>
                </a:solidFill>
              </a:rPr>
              <a:t>No check for changes made by hand</a:t>
            </a:r>
            <a:endParaRPr lang="en-US" sz="1400" dirty="0"/>
          </a:p>
        </p:txBody>
      </p:sp>
      <p:pic>
        <p:nvPicPr>
          <p:cNvPr id="53" name="Image 12" descr="preencoded.png">    </p:cNvPr>
          <p:cNvPicPr>
            <a:picLocks noChangeAspect="1"/>
          </p:cNvPicPr>
          <p:nvPr/>
        </p:nvPicPr>
        <p:blipFill>
          <a:blip r:embed="rId13"/>
          <a:stretch>
            <a:fillRect/>
          </a:stretch>
        </p:blipFill>
        <p:spPr>
          <a:xfrm>
            <a:off x="4636008" y="4760214"/>
            <a:ext cx="219456" cy="219456"/>
          </a:xfrm>
          <a:prstGeom prst="rect">
            <a:avLst/>
          </a:prstGeom>
        </p:spPr>
      </p:pic>
      <p:sp>
        <p:nvSpPr>
          <p:cNvPr id="54" name="Text 39"/>
          <p:cNvSpPr txBox="1"/>
          <p:nvPr/>
        </p:nvSpPr>
        <p:spPr>
          <a:xfrm>
            <a:off x="4983480" y="4752340"/>
            <a:ext cx="3035808" cy="271780"/>
          </a:xfrm>
          <a:prstGeom prst="rect">
            <a:avLst/>
          </a:prstGeom>
          <a:noFill/>
          <a:ln/>
        </p:spPr>
        <p:txBody>
          <a:bodyPr wrap="square" lIns="0" tIns="0" rIns="0" bIns="0" rtlCol="0" anchor="t"/>
          <a:lstStyle/>
          <a:p>
            <a:pPr indent="0" marL="0">
              <a:buNone/>
            </a:pPr>
            <a:r>
              <a:rPr lang="en-US" sz="1400" dirty="0">
                <a:solidFill>
                  <a:schemeClr val="tx1"/>
                </a:solidFill>
              </a:rPr>
              <a:t>No preview of what will change</a:t>
            </a:r>
            <a:endParaRPr lang="en-US" sz="1400" dirty="0"/>
          </a:p>
        </p:txBody>
      </p:sp>
      <p:pic>
        <p:nvPicPr>
          <p:cNvPr id="55" name="Image 13" descr="preencoded.png">    </p:cNvPr>
          <p:cNvPicPr>
            <a:picLocks noChangeAspect="1"/>
          </p:cNvPicPr>
          <p:nvPr/>
        </p:nvPicPr>
        <p:blipFill>
          <a:blip r:embed="rId14"/>
          <a:stretch>
            <a:fillRect/>
          </a:stretch>
        </p:blipFill>
        <p:spPr>
          <a:xfrm>
            <a:off x="4636008" y="5141722"/>
            <a:ext cx="219456" cy="219456"/>
          </a:xfrm>
          <a:prstGeom prst="rect">
            <a:avLst/>
          </a:prstGeom>
        </p:spPr>
      </p:pic>
      <p:sp>
        <p:nvSpPr>
          <p:cNvPr id="56" name="Text 40"/>
          <p:cNvSpPr txBox="1"/>
          <p:nvPr/>
        </p:nvSpPr>
        <p:spPr>
          <a:xfrm>
            <a:off x="4983480" y="5133848"/>
            <a:ext cx="3035808" cy="271780"/>
          </a:xfrm>
          <a:prstGeom prst="rect">
            <a:avLst/>
          </a:prstGeom>
          <a:noFill/>
          <a:ln/>
        </p:spPr>
        <p:txBody>
          <a:bodyPr wrap="square" lIns="0" tIns="0" rIns="0" bIns="0" rtlCol="0" anchor="t"/>
          <a:lstStyle/>
          <a:p>
            <a:pPr indent="0" marL="0">
              <a:buNone/>
            </a:pPr>
            <a:r>
              <a:rPr lang="en-US" sz="1400" dirty="0">
                <a:solidFill>
                  <a:schemeClr val="tx1"/>
                </a:solidFill>
              </a:rPr>
              <a:t>No pause for a person to approve</a:t>
            </a:r>
            <a:endParaRPr lang="en-US" sz="1400" dirty="0"/>
          </a:p>
        </p:txBody>
      </p:sp>
      <p:pic>
        <p:nvPicPr>
          <p:cNvPr id="57" name="Image 14" descr="preencoded.png">    </p:cNvPr>
          <p:cNvPicPr>
            <a:picLocks noChangeAspect="1"/>
          </p:cNvPicPr>
          <p:nvPr/>
        </p:nvPicPr>
        <p:blipFill>
          <a:blip r:embed="rId15"/>
          <a:stretch>
            <a:fillRect/>
          </a:stretch>
        </p:blipFill>
        <p:spPr>
          <a:xfrm>
            <a:off x="4636008" y="5523230"/>
            <a:ext cx="219456" cy="219456"/>
          </a:xfrm>
          <a:prstGeom prst="rect">
            <a:avLst/>
          </a:prstGeom>
        </p:spPr>
      </p:pic>
      <p:sp>
        <p:nvSpPr>
          <p:cNvPr id="58" name="Text 41"/>
          <p:cNvSpPr txBox="1"/>
          <p:nvPr/>
        </p:nvSpPr>
        <p:spPr>
          <a:xfrm>
            <a:off x="4983480" y="5515356"/>
            <a:ext cx="3035808" cy="271780"/>
          </a:xfrm>
          <a:prstGeom prst="rect">
            <a:avLst/>
          </a:prstGeom>
          <a:noFill/>
          <a:ln/>
        </p:spPr>
        <p:txBody>
          <a:bodyPr wrap="square" lIns="0" tIns="0" rIns="0" bIns="0" rtlCol="0" anchor="t"/>
          <a:lstStyle/>
          <a:p>
            <a:pPr indent="0" marL="0">
              <a:buNone/>
            </a:pPr>
            <a:r>
              <a:rPr lang="en-US" sz="1400" dirty="0">
                <a:solidFill>
                  <a:schemeClr val="tx1"/>
                </a:solidFill>
              </a:rPr>
              <a:t>Typed inputs — a typo means a failed run</a:t>
            </a:r>
            <a:endParaRPr lang="en-US" sz="1400" dirty="0"/>
          </a:p>
        </p:txBody>
      </p:sp>
      <p:sp>
        <p:nvSpPr>
          <p:cNvPr id="59" name="Screenshot frame"/>
          <p:cNvSpPr/>
          <p:nvPr/>
        </p:nvSpPr>
        <p:spPr>
          <a:xfrm>
            <a:off x="8366760" y="3703320"/>
            <a:ext cx="3273552" cy="1828800"/>
          </a:xfrm>
          <a:prstGeom prst="roundRect">
            <a:avLst>
              <a:gd name="adj" fmla="val 4000"/>
            </a:avLst>
          </a:prstGeom>
          <a:solidFill>
            <a:schemeClr val="bg2"/>
          </a:solidFill>
          <a:ln w="15875">
            <a:solidFill>
              <a:schemeClr val="accent5"/>
            </a:solidFill>
            <a:prstDash val="dash"/>
          </a:ln>
        </p:spPr>
      </p:sp>
      <p:sp>
        <p:nvSpPr>
          <p:cNvPr id="60" name="Shape 43"/>
          <p:cNvSpPr/>
          <p:nvPr/>
        </p:nvSpPr>
        <p:spPr>
          <a:xfrm>
            <a:off x="8494776" y="3831336"/>
            <a:ext cx="365760" cy="365760"/>
          </a:xfrm>
          <a:prstGeom prst="ellipse">
            <a:avLst/>
          </a:prstGeom>
          <a:solidFill>
            <a:schemeClr val="accent5"/>
          </a:solidFill>
          <a:ln/>
        </p:spPr>
      </p:sp>
      <p:pic>
        <p:nvPicPr>
          <p:cNvPr id="61" name="Image 15" descr="preencoded.png">    </p:cNvPr>
          <p:cNvPicPr>
            <a:picLocks noChangeAspect="1"/>
          </p:cNvPicPr>
          <p:nvPr/>
        </p:nvPicPr>
        <p:blipFill>
          <a:blip r:embed="rId16"/>
          <a:stretch>
            <a:fillRect/>
          </a:stretch>
        </p:blipFill>
        <p:spPr>
          <a:xfrm>
            <a:off x="8575243" y="3911803"/>
            <a:ext cx="204826" cy="204826"/>
          </a:xfrm>
          <a:prstGeom prst="rect">
            <a:avLst/>
          </a:prstGeom>
        </p:spPr>
      </p:pic>
      <p:sp>
        <p:nvSpPr>
          <p:cNvPr id="62" name="Text 44"/>
          <p:cNvSpPr txBox="1"/>
          <p:nvPr/>
        </p:nvSpPr>
        <p:spPr>
          <a:xfrm>
            <a:off x="8366760" y="5605272"/>
            <a:ext cx="3273552" cy="548640"/>
          </a:xfrm>
          <a:prstGeom prst="rect">
            <a:avLst/>
          </a:prstGeom>
          <a:noFill/>
          <a:ln/>
        </p:spPr>
        <p:txBody>
          <a:bodyPr wrap="square" lIns="0" tIns="0" rIns="0" bIns="0" rtlCol="0" anchor="t"/>
          <a:lstStyle/>
          <a:p>
            <a:pPr indent="0" marL="0">
              <a:buNone/>
            </a:pPr>
            <a:r>
              <a:rPr lang="en-US" sz="1300" b="1" dirty="0">
                <a:solidFill>
                  <a:schemeClr val="tx1"/>
                </a:solidFill>
              </a:rPr>
              <a:t>Old pipeline run</a:t>
            </a:r>
            <a:pPr indent="0" marL="0">
              <a:buNone/>
            </a:pPr>
            <a:r>
              <a:rPr lang="en-US" sz="1200" dirty="0">
                <a:solidFill>
                  <a:schemeClr val="tx2"/>
                </a:solidFill>
              </a:rPr>
              <a:t>  one ‘deploy’ job — compare with the four stages</a:t>
            </a:r>
            <a:endParaRPr lang="en-US" sz="1400" dirty="0"/>
          </a:p>
        </p:txBody>
      </p:sp>
      <p:sp>
        <p:nvSpPr>
          <p:cNvPr id="64" name="Text 1"/>
          <p:cNvSpPr/>
          <p:nvPr>
            <p:ph idx="103" hasCustomPrompt="1"/>
          </p:nvPr>
        </p:nvSpPr>
        <p:spPr>
          <a:xfrm>
            <a:off x="8366760" y="3703320"/>
            <a:ext cx="3273552" cy="1828800"/>
          </a:xfrm>
          <a:prstGeom prst="rect">
            <a:avLst/>
          </a:prstGeom>
          <a:noFill/>
          <a:ln/>
        </p:spPr>
        <p:txBody>
          <a:bodyPr wrap="square" lIns="558800" tIns="50800" rIns="558800" bIns="50800" rtlCol="0" anchor="ctr"/>
          <a:lstStyle/>
          <a:p>
            <a:pPr algn="ctr" indent="0" marL="0">
              <a:buNone/>
            </a:pP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tx1"/>
                </a:solidFill>
              </a:rPr>
              <a:t>Where the old pipeline still fits</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tx2"/>
                </a:solidFill>
              </a:rPr>
              <a:t>AWS can’t drift-check every resource type — for our firewall stacks we keep the old route</a:t>
            </a:r>
            <a:endParaRPr lang="en-US" sz="1500" dirty="0"/>
          </a:p>
        </p:txBody>
      </p:sp>
      <p:sp>
        <p:nvSpPr>
          <p:cNvPr id="4" name="Text 2"/>
          <p:cNvSpPr txBox="1"/>
          <p:nvPr/>
        </p:nvSpPr>
        <p:spPr>
          <a:xfrm>
            <a:off x="9811512" y="566928"/>
            <a:ext cx="1828800" cy="347472"/>
          </a:xfrm>
          <a:prstGeom prst="roundRect">
            <a:avLst>
              <a:gd name="adj" fmla="val 50000"/>
            </a:avLst>
          </a:prstGeom>
          <a:solidFill>
            <a:schemeClr val="accent5"/>
          </a:solidFill>
          <a:ln/>
        </p:spPr>
        <p:txBody>
          <a:bodyPr wrap="square" lIns="0" tIns="0" rIns="0" bIns="0" rtlCol="0" anchor="ctr"/>
          <a:lstStyle/>
          <a:p>
            <a:pPr algn="ctr" indent="0" marL="0">
              <a:buNone/>
            </a:pPr>
            <a:r>
              <a:rPr lang="en-US" sz="1100" b="1" spc="150" kern="0" dirty="0">
                <a:solidFill>
                  <a:schemeClr val="bg1"/>
                </a:solidFill>
              </a:rPr>
              <a:t>OLD PIPELINE</a:t>
            </a:r>
            <a:endParaRPr lang="en-US" sz="1100" dirty="0"/>
          </a:p>
        </p:txBody>
      </p:sp>
      <p:sp>
        <p:nvSpPr>
          <p:cNvPr id="5" name="Text 3"/>
          <p:cNvSpPr txBox="1"/>
          <p:nvPr/>
        </p:nvSpPr>
        <p:spPr>
          <a:xfrm>
            <a:off x="548640" y="1691640"/>
            <a:ext cx="6629400" cy="566928"/>
          </a:xfrm>
          <a:prstGeom prst="rect">
            <a:avLst/>
          </a:prstGeom>
          <a:noFill/>
          <a:ln/>
        </p:spPr>
        <p:txBody>
          <a:bodyPr wrap="square" lIns="0" tIns="0" rIns="0" bIns="0" rtlCol="0" anchor="t"/>
          <a:lstStyle/>
          <a:p>
            <a:pPr indent="0" marL="0">
              <a:buNone/>
            </a:pPr>
            <a:r>
              <a:rPr lang="en-US" sz="1500" dirty="0">
                <a:solidFill>
                  <a:schemeClr val="tx1"/>
                </a:solidFill>
              </a:rPr>
              <a:t>The drift check relies on AWS. For a few resource types, AWS doesn’t support it or can’t give a dependable answer:</a:t>
            </a:r>
            <a:endParaRPr lang="en-US" sz="1500" dirty="0"/>
          </a:p>
        </p:txBody>
      </p:sp>
      <p:sp>
        <p:nvSpPr>
          <p:cNvPr id="6" name="Firewall Manager (FMS) policies"/>
          <p:cNvSpPr/>
          <p:nvPr/>
        </p:nvSpPr>
        <p:spPr>
          <a:xfrm>
            <a:off x="548640" y="2395728"/>
            <a:ext cx="6629400" cy="841248"/>
          </a:xfrm>
          <a:prstGeom prst="roundRect">
            <a:avLst>
              <a:gd name="adj" fmla="val 10870"/>
            </a:avLst>
          </a:prstGeom>
          <a:solidFill>
            <a:schemeClr val="bg2"/>
          </a:solidFill>
          <a:ln/>
        </p:spPr>
      </p:sp>
      <p:sp>
        <p:nvSpPr>
          <p:cNvPr id="7" name="Shape 5"/>
          <p:cNvSpPr/>
          <p:nvPr/>
        </p:nvSpPr>
        <p:spPr>
          <a:xfrm>
            <a:off x="713232" y="2569464"/>
            <a:ext cx="493776" cy="493776"/>
          </a:xfrm>
          <a:prstGeom prst="ellipse">
            <a:avLst/>
          </a:prstGeom>
          <a:solidFill>
            <a:schemeClr val="accent5"/>
          </a:solidFill>
          <a:ln/>
        </p:spPr>
      </p:sp>
      <p:pic>
        <p:nvPicPr>
          <p:cNvPr id="8" name="Image 0" descr="preencoded.png">    </p:cNvPr>
          <p:cNvPicPr>
            <a:picLocks noChangeAspect="1"/>
          </p:cNvPicPr>
          <p:nvPr/>
        </p:nvPicPr>
        <p:blipFill>
          <a:blip r:embed="rId1"/>
          <a:stretch>
            <a:fillRect/>
          </a:stretch>
        </p:blipFill>
        <p:spPr>
          <a:xfrm>
            <a:off x="821863" y="2678095"/>
            <a:ext cx="276515" cy="276515"/>
          </a:xfrm>
          <a:prstGeom prst="rect">
            <a:avLst/>
          </a:prstGeom>
        </p:spPr>
      </p:pic>
      <p:sp>
        <p:nvSpPr>
          <p:cNvPr id="9" name="Text 6"/>
          <p:cNvSpPr txBox="1"/>
          <p:nvPr/>
        </p:nvSpPr>
        <p:spPr>
          <a:xfrm>
            <a:off x="1353312" y="2468880"/>
            <a:ext cx="3794760" cy="713232"/>
          </a:xfrm>
          <a:prstGeom prst="rect">
            <a:avLst/>
          </a:prstGeom>
          <a:noFill/>
          <a:ln/>
        </p:spPr>
        <p:txBody>
          <a:bodyPr wrap="square" lIns="0" tIns="0" rIns="0" bIns="0" rtlCol="0" anchor="ctr"/>
          <a:lstStyle/>
          <a:p>
            <a:pPr indent="0" marL="0">
              <a:buNone/>
            </a:pPr>
            <a:r>
              <a:rPr lang="en-US" sz="1500" b="1" dirty="0">
                <a:solidFill>
                  <a:schemeClr val="tx1"/>
                </a:solidFill>
              </a:rPr>
              <a:t>Firewall Manager (FMS) policies</a:t>
            </a:r>
            <a:endParaRPr lang="en-US" sz="1400" dirty="0"/>
          </a:p>
          <a:p>
            <a:pPr indent="0" marL="0">
              <a:buNone/>
            </a:pPr>
            <a:r>
              <a:rPr lang="en-US" sz="1250" dirty="0">
                <a:solidFill>
                  <a:schemeClr val="tx2"/>
                </a:solidFill>
              </a:rPr>
              <a:t>AWS documentation: drift detection is not supported</a:t>
            </a:r>
            <a:endParaRPr lang="en-US" sz="1400" dirty="0"/>
          </a:p>
        </p:txBody>
      </p:sp>
      <p:sp>
        <p:nvSpPr>
          <p:cNvPr id="10" name="Text 7"/>
          <p:cNvSpPr txBox="1"/>
          <p:nvPr/>
        </p:nvSpPr>
        <p:spPr>
          <a:xfrm>
            <a:off x="5349240" y="2606040"/>
            <a:ext cx="1664208" cy="420624"/>
          </a:xfrm>
          <a:prstGeom prst="roundRect">
            <a:avLst>
              <a:gd name="adj" fmla="val 43478"/>
            </a:avLst>
          </a:prstGeom>
          <a:solidFill>
            <a:schemeClr val="accent5"/>
          </a:solidFill>
          <a:ln/>
        </p:spPr>
        <p:txBody>
          <a:bodyPr wrap="square" lIns="0" tIns="0" rIns="0" bIns="0" rtlCol="0" anchor="ctr"/>
          <a:lstStyle/>
          <a:p>
            <a:pPr algn="ctr" indent="0" marL="0">
              <a:buNone/>
            </a:pPr>
            <a:r>
              <a:rPr lang="en-US" sz="1300" b="1" dirty="0">
                <a:solidFill>
                  <a:schemeClr val="bg1"/>
                </a:solidFill>
              </a:rPr>
              <a:t>→ Old pipeline</a:t>
            </a:r>
            <a:endParaRPr lang="en-US" sz="1300" dirty="0"/>
          </a:p>
        </p:txBody>
      </p:sp>
      <p:sp>
        <p:nvSpPr>
          <p:cNvPr id="11" name="Rule groups (large JSON settings)"/>
          <p:cNvSpPr/>
          <p:nvPr/>
        </p:nvSpPr>
        <p:spPr>
          <a:xfrm>
            <a:off x="548640" y="3337560"/>
            <a:ext cx="6629400" cy="841248"/>
          </a:xfrm>
          <a:prstGeom prst="roundRect">
            <a:avLst>
              <a:gd name="adj" fmla="val 10870"/>
            </a:avLst>
          </a:prstGeom>
          <a:solidFill>
            <a:schemeClr val="bg2"/>
          </a:solidFill>
          <a:ln/>
        </p:spPr>
      </p:sp>
      <p:sp>
        <p:nvSpPr>
          <p:cNvPr id="12" name="Shape 9"/>
          <p:cNvSpPr/>
          <p:nvPr/>
        </p:nvSpPr>
        <p:spPr>
          <a:xfrm>
            <a:off x="713232" y="3511296"/>
            <a:ext cx="493776" cy="493776"/>
          </a:xfrm>
          <a:prstGeom prst="ellipse">
            <a:avLst/>
          </a:prstGeom>
          <a:solidFill>
            <a:schemeClr val="accent5"/>
          </a:solidFill>
          <a:ln/>
        </p:spPr>
      </p:sp>
      <p:pic>
        <p:nvPicPr>
          <p:cNvPr id="13" name="Image 1" descr="preencoded.png">    </p:cNvPr>
          <p:cNvPicPr>
            <a:picLocks noChangeAspect="1"/>
          </p:cNvPicPr>
          <p:nvPr/>
        </p:nvPicPr>
        <p:blipFill>
          <a:blip r:embed="rId2"/>
          <a:stretch>
            <a:fillRect/>
          </a:stretch>
        </p:blipFill>
        <p:spPr>
          <a:xfrm>
            <a:off x="821863" y="3619927"/>
            <a:ext cx="276515" cy="276515"/>
          </a:xfrm>
          <a:prstGeom prst="rect">
            <a:avLst/>
          </a:prstGeom>
        </p:spPr>
      </p:pic>
      <p:sp>
        <p:nvSpPr>
          <p:cNvPr id="14" name="Text 10"/>
          <p:cNvSpPr txBox="1"/>
          <p:nvPr/>
        </p:nvSpPr>
        <p:spPr>
          <a:xfrm>
            <a:off x="1353312" y="3410712"/>
            <a:ext cx="3794760" cy="713232"/>
          </a:xfrm>
          <a:prstGeom prst="rect">
            <a:avLst/>
          </a:prstGeom>
          <a:noFill/>
          <a:ln/>
        </p:spPr>
        <p:txBody>
          <a:bodyPr wrap="square" lIns="0" tIns="0" rIns="0" bIns="0" rtlCol="0" anchor="ctr"/>
          <a:lstStyle/>
          <a:p>
            <a:pPr indent="0" marL="0">
              <a:buNone/>
            </a:pPr>
            <a:r>
              <a:rPr lang="en-US" sz="1500" b="1" dirty="0">
                <a:solidFill>
                  <a:schemeClr val="tx1"/>
                </a:solidFill>
              </a:rPr>
              <a:t>Rule groups (large JSON settings)</a:t>
            </a:r>
            <a:endParaRPr lang="en-US" sz="1400" dirty="0"/>
          </a:p>
          <a:p>
            <a:pPr indent="0" marL="0">
              <a:buNone/>
            </a:pPr>
            <a:r>
              <a:rPr lang="en-US" sz="1250" dirty="0">
                <a:solidFill>
                  <a:schemeClr val="tx2"/>
                </a:solidFill>
              </a:rPr>
              <a:t>Drift results aren’t dependable for big blocks of JSON</a:t>
            </a:r>
            <a:endParaRPr lang="en-US" sz="1400" dirty="0"/>
          </a:p>
        </p:txBody>
      </p:sp>
      <p:sp>
        <p:nvSpPr>
          <p:cNvPr id="15" name="Text 11"/>
          <p:cNvSpPr txBox="1"/>
          <p:nvPr/>
        </p:nvSpPr>
        <p:spPr>
          <a:xfrm>
            <a:off x="5349240" y="3547872"/>
            <a:ext cx="1664208" cy="420624"/>
          </a:xfrm>
          <a:prstGeom prst="roundRect">
            <a:avLst>
              <a:gd name="adj" fmla="val 43478"/>
            </a:avLst>
          </a:prstGeom>
          <a:solidFill>
            <a:schemeClr val="accent5"/>
          </a:solidFill>
          <a:ln/>
        </p:spPr>
        <p:txBody>
          <a:bodyPr wrap="square" lIns="0" tIns="0" rIns="0" bIns="0" rtlCol="0" anchor="ctr"/>
          <a:lstStyle/>
          <a:p>
            <a:pPr algn="ctr" indent="0" marL="0">
              <a:buNone/>
            </a:pPr>
            <a:r>
              <a:rPr lang="en-US" sz="1300" b="1" dirty="0">
                <a:solidFill>
                  <a:schemeClr val="bg1"/>
                </a:solidFill>
              </a:rPr>
              <a:t>→ Old pipeline</a:t>
            </a:r>
            <a:endParaRPr lang="en-US" sz="1300" dirty="0"/>
          </a:p>
        </p:txBody>
      </p:sp>
      <p:sp>
        <p:nvSpPr>
          <p:cNvPr id="16" name="Individual DNS records"/>
          <p:cNvSpPr/>
          <p:nvPr/>
        </p:nvSpPr>
        <p:spPr>
          <a:xfrm>
            <a:off x="548640" y="4279392"/>
            <a:ext cx="6629400" cy="841248"/>
          </a:xfrm>
          <a:prstGeom prst="roundRect">
            <a:avLst>
              <a:gd name="adj" fmla="val 10870"/>
            </a:avLst>
          </a:prstGeom>
          <a:solidFill>
            <a:schemeClr val="bg2"/>
          </a:solidFill>
          <a:ln/>
        </p:spPr>
      </p:sp>
      <p:sp>
        <p:nvSpPr>
          <p:cNvPr id="17" name="Shape 13"/>
          <p:cNvSpPr/>
          <p:nvPr/>
        </p:nvSpPr>
        <p:spPr>
          <a:xfrm>
            <a:off x="713232" y="4453128"/>
            <a:ext cx="493776" cy="493776"/>
          </a:xfrm>
          <a:prstGeom prst="ellipse">
            <a:avLst/>
          </a:prstGeom>
          <a:solidFill>
            <a:schemeClr val="accent1"/>
          </a:solidFill>
          <a:ln/>
        </p:spPr>
      </p:sp>
      <p:pic>
        <p:nvPicPr>
          <p:cNvPr id="18" name="Image 2" descr="preencoded.png">    </p:cNvPr>
          <p:cNvPicPr>
            <a:picLocks noChangeAspect="1"/>
          </p:cNvPicPr>
          <p:nvPr/>
        </p:nvPicPr>
        <p:blipFill>
          <a:blip r:embed="rId3"/>
          <a:stretch>
            <a:fillRect/>
          </a:stretch>
        </p:blipFill>
        <p:spPr>
          <a:xfrm>
            <a:off x="821863" y="4561759"/>
            <a:ext cx="276515" cy="276515"/>
          </a:xfrm>
          <a:prstGeom prst="rect">
            <a:avLst/>
          </a:prstGeom>
        </p:spPr>
      </p:pic>
      <p:sp>
        <p:nvSpPr>
          <p:cNvPr id="19" name="Text 14"/>
          <p:cNvSpPr txBox="1"/>
          <p:nvPr/>
        </p:nvSpPr>
        <p:spPr>
          <a:xfrm>
            <a:off x="1353312" y="4352544"/>
            <a:ext cx="3794760" cy="713232"/>
          </a:xfrm>
          <a:prstGeom prst="rect">
            <a:avLst/>
          </a:prstGeom>
          <a:noFill/>
          <a:ln/>
        </p:spPr>
        <p:txBody>
          <a:bodyPr wrap="square" lIns="0" tIns="0" rIns="0" bIns="0" rtlCol="0" anchor="ctr"/>
          <a:lstStyle/>
          <a:p>
            <a:pPr indent="0" marL="0">
              <a:buNone/>
            </a:pPr>
            <a:r>
              <a:rPr lang="en-US" sz="1500" b="1" dirty="0">
                <a:solidFill>
                  <a:schemeClr val="tx1"/>
                </a:solidFill>
              </a:rPr>
              <a:t>Individual DNS records</a:t>
            </a:r>
            <a:endParaRPr lang="en-US" sz="1400" dirty="0"/>
          </a:p>
          <a:p>
            <a:pPr indent="0" marL="0">
              <a:buNone/>
            </a:pPr>
            <a:r>
              <a:rPr lang="en-US" sz="1250" dirty="0">
                <a:solidFill>
                  <a:schemeClr val="tx2"/>
                </a:solidFill>
              </a:rPr>
              <a:t>AWS checks the zone, not each record — the change set still shows every record change</a:t>
            </a:r>
            <a:endParaRPr lang="en-US" sz="1400" dirty="0"/>
          </a:p>
        </p:txBody>
      </p:sp>
      <p:sp>
        <p:nvSpPr>
          <p:cNvPr id="20" name="Text 15"/>
          <p:cNvSpPr txBox="1"/>
          <p:nvPr/>
        </p:nvSpPr>
        <p:spPr>
          <a:xfrm>
            <a:off x="5349240" y="4489704"/>
            <a:ext cx="1664208" cy="420624"/>
          </a:xfrm>
          <a:prstGeom prst="roundRect">
            <a:avLst>
              <a:gd name="adj" fmla="val 43478"/>
            </a:avLst>
          </a:prstGeom>
          <a:solidFill>
            <a:schemeClr val="accent1"/>
          </a:solidFill>
          <a:ln/>
        </p:spPr>
        <p:txBody>
          <a:bodyPr wrap="square" lIns="0" tIns="0" rIns="0" bIns="0" rtlCol="0" anchor="ctr"/>
          <a:lstStyle/>
          <a:p>
            <a:pPr algn="ctr" indent="0" marL="0">
              <a:buNone/>
            </a:pPr>
            <a:r>
              <a:rPr lang="en-US" sz="1300" b="1" dirty="0">
                <a:solidFill>
                  <a:schemeClr val="bg1"/>
                </a:solidFill>
              </a:rPr>
              <a:t>→ New pipeline</a:t>
            </a:r>
            <a:endParaRPr lang="en-US" sz="1300" dirty="0"/>
          </a:p>
        </p:txBody>
      </p:sp>
      <p:sp>
        <p:nvSpPr>
          <p:cNvPr id="21" name="Everything else"/>
          <p:cNvSpPr/>
          <p:nvPr/>
        </p:nvSpPr>
        <p:spPr>
          <a:xfrm>
            <a:off x="548640" y="5349240"/>
            <a:ext cx="6629400" cy="731520"/>
          </a:xfrm>
          <a:prstGeom prst="roundRect">
            <a:avLst>
              <a:gd name="adj" fmla="val 15000"/>
            </a:avLst>
          </a:prstGeom>
          <a:solidFill>
            <a:schemeClr val="accent1">
              <a:alpha val="10000"/>
            </a:schemeClr>
          </a:solidFill>
          <a:ln/>
        </p:spPr>
      </p:sp>
      <p:pic>
        <p:nvPicPr>
          <p:cNvPr id="22" name="Image 3" descr="preencoded.png">    </p:cNvPr>
          <p:cNvPicPr>
            <a:picLocks noChangeAspect="1"/>
          </p:cNvPicPr>
          <p:nvPr/>
        </p:nvPicPr>
        <p:blipFill>
          <a:blip r:embed="rId4"/>
          <a:stretch>
            <a:fillRect/>
          </a:stretch>
        </p:blipFill>
        <p:spPr>
          <a:xfrm>
            <a:off x="749808" y="5550408"/>
            <a:ext cx="329184" cy="329184"/>
          </a:xfrm>
          <a:prstGeom prst="rect">
            <a:avLst/>
          </a:prstGeom>
        </p:spPr>
      </p:pic>
      <p:sp>
        <p:nvSpPr>
          <p:cNvPr id="23" name="Text 17"/>
          <p:cNvSpPr txBox="1"/>
          <p:nvPr/>
        </p:nvSpPr>
        <p:spPr>
          <a:xfrm>
            <a:off x="1225296" y="5349240"/>
            <a:ext cx="5806440" cy="731520"/>
          </a:xfrm>
          <a:prstGeom prst="rect">
            <a:avLst/>
          </a:prstGeom>
          <a:noFill/>
          <a:ln/>
        </p:spPr>
        <p:txBody>
          <a:bodyPr wrap="square" lIns="0" tIns="0" rIns="0" bIns="0" rtlCol="0" anchor="ctr"/>
          <a:lstStyle/>
          <a:p>
            <a:pPr indent="0" marL="0">
              <a:buNone/>
            </a:pPr>
            <a:r>
              <a:rPr lang="en-US" sz="1500" b="1" dirty="0">
                <a:solidFill>
                  <a:schemeClr val="tx1"/>
                </a:solidFill>
              </a:rPr>
              <a:t>Everything else goes through the new pipeline — drift check and change set included.</a:t>
            </a:r>
            <a:endParaRPr lang="en-US" sz="1500" dirty="0"/>
          </a:p>
        </p:txBody>
      </p:sp>
      <p:sp>
        <p:nvSpPr>
          <p:cNvPr id="24" name="Screenshot frame"/>
          <p:cNvSpPr/>
          <p:nvPr/>
        </p:nvSpPr>
        <p:spPr>
          <a:xfrm>
            <a:off x="7498080" y="1691640"/>
            <a:ext cx="4142232" cy="3246120"/>
          </a:xfrm>
          <a:prstGeom prst="roundRect">
            <a:avLst>
              <a:gd name="adj" fmla="val 2254"/>
            </a:avLst>
          </a:prstGeom>
          <a:solidFill>
            <a:schemeClr val="bg2"/>
          </a:solidFill>
          <a:ln w="15875">
            <a:solidFill>
              <a:schemeClr val="accent5"/>
            </a:solidFill>
            <a:prstDash val="dash"/>
          </a:ln>
        </p:spPr>
      </p:sp>
      <p:sp>
        <p:nvSpPr>
          <p:cNvPr id="25" name="Shape 19"/>
          <p:cNvSpPr/>
          <p:nvPr/>
        </p:nvSpPr>
        <p:spPr>
          <a:xfrm>
            <a:off x="7626096" y="1819656"/>
            <a:ext cx="365760" cy="365760"/>
          </a:xfrm>
          <a:prstGeom prst="ellipse">
            <a:avLst/>
          </a:prstGeom>
          <a:solidFill>
            <a:schemeClr val="accent5"/>
          </a:solidFill>
          <a:ln/>
        </p:spPr>
      </p:sp>
      <p:pic>
        <p:nvPicPr>
          <p:cNvPr id="26" name="Image 4" descr="preencoded.png">    </p:cNvPr>
          <p:cNvPicPr>
            <a:picLocks noChangeAspect="1"/>
          </p:cNvPicPr>
          <p:nvPr/>
        </p:nvPicPr>
        <p:blipFill>
          <a:blip r:embed="rId5"/>
          <a:stretch>
            <a:fillRect/>
          </a:stretch>
        </p:blipFill>
        <p:spPr>
          <a:xfrm>
            <a:off x="7706563" y="1900123"/>
            <a:ext cx="204826" cy="204826"/>
          </a:xfrm>
          <a:prstGeom prst="rect">
            <a:avLst/>
          </a:prstGeom>
        </p:spPr>
      </p:pic>
      <p:sp>
        <p:nvSpPr>
          <p:cNvPr id="27" name="Text 20"/>
          <p:cNvSpPr txBox="1"/>
          <p:nvPr/>
        </p:nvSpPr>
        <p:spPr>
          <a:xfrm>
            <a:off x="7498080" y="5010912"/>
            <a:ext cx="4142232" cy="548640"/>
          </a:xfrm>
          <a:prstGeom prst="rect">
            <a:avLst/>
          </a:prstGeom>
          <a:noFill/>
          <a:ln/>
        </p:spPr>
        <p:txBody>
          <a:bodyPr wrap="square" lIns="0" tIns="0" rIns="0" bIns="0" rtlCol="0" anchor="t"/>
          <a:lstStyle/>
          <a:p>
            <a:pPr indent="0" marL="0">
              <a:buNone/>
            </a:pPr>
            <a:r>
              <a:rPr lang="en-US" sz="1300" b="1" dirty="0">
                <a:solidFill>
                  <a:schemeClr val="tx1"/>
                </a:solidFill>
              </a:rPr>
              <a:t>AWS documentation</a:t>
            </a:r>
            <a:pPr indent="0" marL="0">
              <a:buNone/>
            </a:pPr>
            <a:r>
              <a:rPr lang="en-US" sz="1200" dirty="0">
                <a:solidFill>
                  <a:schemeClr val="tx2"/>
                </a:solidFill>
              </a:rPr>
              <a:t>  “Resource type support” table — AWS::FMS::Policy shows Drift detection: No</a:t>
            </a:r>
            <a:endParaRPr lang="en-US" sz="1400" dirty="0"/>
          </a:p>
        </p:txBody>
      </p:sp>
      <p:sp>
        <p:nvSpPr>
          <p:cNvPr id="28" name="Text 21"/>
          <p:cNvSpPr txBox="1"/>
          <p:nvPr/>
        </p:nvSpPr>
        <p:spPr>
          <a:xfrm>
            <a:off x="7498080" y="5577840"/>
            <a:ext cx="4142232" cy="457200"/>
          </a:xfrm>
          <a:prstGeom prst="rect">
            <a:avLst/>
          </a:prstGeom>
          <a:noFill/>
          <a:ln/>
        </p:spPr>
        <p:txBody>
          <a:bodyPr wrap="square" lIns="0" tIns="0" rIns="0" bIns="0" rtlCol="0" anchor="t"/>
          <a:lstStyle/>
          <a:p>
            <a:pPr indent="0" marL="0">
              <a:buNone/>
            </a:pPr>
            <a:r>
              <a:rPr lang="en-US" sz="1100" dirty="0">
                <a:solidFill>
                  <a:schemeClr val="tx2"/>
                </a:solidFill>
              </a:rPr>
              <a:t>Source: AWS CloudFormation User Guide › Resource type support (checked 24 Oct 2026)</a:t>
            </a:r>
            <a:endParaRPr lang="en-US" sz="1100" dirty="0"/>
          </a:p>
        </p:txBody>
      </p:sp>
      <p:sp>
        <p:nvSpPr>
          <p:cNvPr id="30" name="Text 1"/>
          <p:cNvSpPr/>
          <p:nvPr>
            <p:ph idx="103" hasCustomPrompt="1"/>
          </p:nvPr>
        </p:nvSpPr>
        <p:spPr>
          <a:xfrm>
            <a:off x="7498080" y="1691640"/>
            <a:ext cx="4142232" cy="3246120"/>
          </a:xfrm>
          <a:prstGeom prst="rect">
            <a:avLst/>
          </a:prstGeom>
          <a:noFill/>
          <a:ln/>
        </p:spPr>
        <p:txBody>
          <a:bodyPr wrap="square" lIns="558800" tIns="50800" rIns="558800" bIns="50800" rtlCol="0" anchor="ctr"/>
          <a:lstStyle/>
          <a:p>
            <a:pPr algn="ctr" indent="0" marL="0">
              <a:buNone/>
            </a:pPr>
            <a:endParaRPr lang="en-US" sz="12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9144000" cy="713232"/>
          </a:xfrm>
          <a:prstGeom prst="rect">
            <a:avLst/>
          </a:prstGeom>
          <a:noFill/>
          <a:ln/>
        </p:spPr>
        <p:txBody>
          <a:bodyPr wrap="square" lIns="0" tIns="0" rIns="0" bIns="0" rtlCol="0" anchor="ctr"/>
          <a:lstStyle/>
          <a:p>
            <a:pPr algn="l" indent="0" marL="0">
              <a:buNone/>
            </a:pPr>
            <a:r>
              <a:rPr lang="en-US" sz="3400" b="1" dirty="0">
                <a:solidFill>
                  <a:schemeClr val="bg1"/>
                </a:solidFill>
              </a:rPr>
              <a:t>Our recommendation</a:t>
            </a:r>
            <a:endParaRPr lang="en-US" sz="34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t"/>
          <a:lstStyle/>
          <a:p>
            <a:pPr indent="0" marL="0">
              <a:buNone/>
            </a:pPr>
            <a:r>
              <a:rPr lang="en-US" sz="1500" dirty="0">
                <a:solidFill>
                  <a:schemeClr val="accent6"/>
                </a:solidFill>
              </a:rPr>
              <a:t>One safe path for almost everything — and a clear rule for the exceptions</a:t>
            </a:r>
            <a:endParaRPr lang="en-US" sz="1500" dirty="0"/>
          </a:p>
        </p:txBody>
      </p:sp>
      <p:sp>
        <p:nvSpPr>
          <p:cNvPr id="4" name="NEW PIPELINE"/>
          <p:cNvSpPr/>
          <p:nvPr/>
        </p:nvSpPr>
        <p:spPr>
          <a:xfrm>
            <a:off x="548640" y="1737360"/>
            <a:ext cx="5440680" cy="2423160"/>
          </a:xfrm>
          <a:prstGeom prst="roundRect">
            <a:avLst>
              <a:gd name="adj" fmla="val 5660"/>
            </a:avLst>
          </a:prstGeom>
          <a:solidFill>
            <a:schemeClr val="accent1"/>
          </a:solidFill>
          <a:ln/>
        </p:spPr>
      </p:sp>
      <p:sp>
        <p:nvSpPr>
          <p:cNvPr id="5" name="Shape 3"/>
          <p:cNvSpPr/>
          <p:nvPr/>
        </p:nvSpPr>
        <p:spPr>
          <a:xfrm>
            <a:off x="5120640" y="1965960"/>
            <a:ext cx="640080" cy="640080"/>
          </a:xfrm>
          <a:prstGeom prst="ellipse">
            <a:avLst/>
          </a:prstGeom>
          <a:solidFill>
            <a:schemeClr val="bg1">
              <a:alpha val="20000"/>
            </a:schemeClr>
          </a:solidFill>
          <a:ln/>
        </p:spPr>
      </p:sp>
      <p:pic>
        <p:nvPicPr>
          <p:cNvPr id="6" name="Image 0" descr="preencoded.png">    </p:cNvPr>
          <p:cNvPicPr>
            <a:picLocks noChangeAspect="1"/>
          </p:cNvPicPr>
          <p:nvPr/>
        </p:nvPicPr>
        <p:blipFill>
          <a:blip r:embed="rId1"/>
          <a:stretch>
            <a:fillRect/>
          </a:stretch>
        </p:blipFill>
        <p:spPr>
          <a:xfrm>
            <a:off x="5261458" y="2106778"/>
            <a:ext cx="358445" cy="358445"/>
          </a:xfrm>
          <a:prstGeom prst="rect">
            <a:avLst/>
          </a:prstGeom>
        </p:spPr>
      </p:pic>
      <p:sp>
        <p:nvSpPr>
          <p:cNvPr id="7" name="Text 4"/>
          <p:cNvSpPr txBox="1"/>
          <p:nvPr/>
        </p:nvSpPr>
        <p:spPr>
          <a:xfrm>
            <a:off x="914400" y="2011680"/>
            <a:ext cx="4023360" cy="274320"/>
          </a:xfrm>
          <a:prstGeom prst="rect">
            <a:avLst/>
          </a:prstGeom>
          <a:noFill/>
          <a:ln/>
        </p:spPr>
        <p:txBody>
          <a:bodyPr wrap="square" lIns="0" tIns="0" rIns="0" bIns="0" rtlCol="0" anchor="t"/>
          <a:lstStyle/>
          <a:p>
            <a:pPr indent="0" marL="0">
              <a:buNone/>
            </a:pPr>
            <a:r>
              <a:rPr lang="en-US" sz="1200" b="1" spc="200" kern="0" dirty="0">
                <a:solidFill>
                  <a:schemeClr val="bg1"/>
                </a:solidFill>
              </a:rPr>
              <a:t>NEW PIPELINE</a:t>
            </a:r>
            <a:endParaRPr lang="en-US" sz="1200" dirty="0"/>
          </a:p>
        </p:txBody>
      </p:sp>
      <p:sp>
        <p:nvSpPr>
          <p:cNvPr id="8" name="Text 5"/>
          <p:cNvSpPr txBox="1"/>
          <p:nvPr/>
        </p:nvSpPr>
        <p:spPr>
          <a:xfrm>
            <a:off x="914400" y="2359152"/>
            <a:ext cx="4206240" cy="548640"/>
          </a:xfrm>
          <a:prstGeom prst="rect">
            <a:avLst/>
          </a:prstGeom>
          <a:noFill/>
          <a:ln/>
        </p:spPr>
        <p:txBody>
          <a:bodyPr wrap="square" lIns="0" tIns="0" rIns="0" bIns="0" rtlCol="0" anchor="ctr"/>
          <a:lstStyle/>
          <a:p>
            <a:pPr indent="0" marL="0">
              <a:buNone/>
            </a:pPr>
            <a:r>
              <a:rPr lang="en-US" sz="2600" b="1" dirty="0">
                <a:solidFill>
                  <a:schemeClr val="bg1"/>
                </a:solidFill>
              </a:rPr>
              <a:t>Every change, by default</a:t>
            </a:r>
            <a:endParaRPr lang="en-US" sz="2600" dirty="0"/>
          </a:p>
        </p:txBody>
      </p:sp>
      <p:sp>
        <p:nvSpPr>
          <p:cNvPr id="9" name="Text 6"/>
          <p:cNvSpPr txBox="1"/>
          <p:nvPr/>
        </p:nvSpPr>
        <p:spPr>
          <a:xfrm>
            <a:off x="914400" y="3017520"/>
            <a:ext cx="4754880" cy="365760"/>
          </a:xfrm>
          <a:prstGeom prst="rect">
            <a:avLst/>
          </a:prstGeom>
          <a:noFill/>
          <a:ln/>
        </p:spPr>
        <p:txBody>
          <a:bodyPr wrap="square" lIns="0" tIns="0" rIns="0" bIns="0" rtlCol="0" anchor="t"/>
          <a:lstStyle/>
          <a:p>
            <a:pPr indent="0" marL="0">
              <a:buNone/>
            </a:pPr>
            <a:r>
              <a:rPr lang="en-US" sz="1500" dirty="0">
                <a:solidFill>
                  <a:schemeClr val="bg1"/>
                </a:solidFill>
              </a:rPr>
              <a:t>Network · security · access · monitoring · DNS</a:t>
            </a:r>
            <a:endParaRPr lang="en-US" sz="1500" dirty="0"/>
          </a:p>
        </p:txBody>
      </p:sp>
      <p:sp>
        <p:nvSpPr>
          <p:cNvPr id="10" name="Text 7"/>
          <p:cNvSpPr txBox="1"/>
          <p:nvPr/>
        </p:nvSpPr>
        <p:spPr>
          <a:xfrm>
            <a:off x="914400" y="3474720"/>
            <a:ext cx="4754880" cy="365760"/>
          </a:xfrm>
          <a:prstGeom prst="rect">
            <a:avLst/>
          </a:prstGeom>
          <a:noFill/>
          <a:ln/>
        </p:spPr>
        <p:txBody>
          <a:bodyPr wrap="square" lIns="0" tIns="0" rIns="0" bIns="0" rtlCol="0" anchor="t"/>
          <a:lstStyle/>
          <a:p>
            <a:pPr indent="0" marL="0">
              <a:buNone/>
            </a:pPr>
            <a:r>
              <a:rPr lang="en-US" sz="1500" i="1" dirty="0">
                <a:solidFill>
                  <a:schemeClr val="bg1"/>
                </a:solidFill>
              </a:rPr>
              <a:t>Drift check · change set · a person decides · easy undo</a:t>
            </a:r>
            <a:endParaRPr lang="en-US" sz="1500" dirty="0"/>
          </a:p>
        </p:txBody>
      </p:sp>
      <p:sp>
        <p:nvSpPr>
          <p:cNvPr id="11" name="OLD PIPELINE"/>
          <p:cNvSpPr/>
          <p:nvPr/>
        </p:nvSpPr>
        <p:spPr>
          <a:xfrm>
            <a:off x="6199632" y="1737360"/>
            <a:ext cx="5440680" cy="2423160"/>
          </a:xfrm>
          <a:prstGeom prst="roundRect">
            <a:avLst>
              <a:gd name="adj" fmla="val 5660"/>
            </a:avLst>
          </a:prstGeom>
          <a:solidFill>
            <a:schemeClr val="accent5"/>
          </a:solidFill>
          <a:ln/>
        </p:spPr>
      </p:sp>
      <p:sp>
        <p:nvSpPr>
          <p:cNvPr id="12" name="Shape 9"/>
          <p:cNvSpPr/>
          <p:nvPr/>
        </p:nvSpPr>
        <p:spPr>
          <a:xfrm>
            <a:off x="10771632" y="1965960"/>
            <a:ext cx="640080" cy="640080"/>
          </a:xfrm>
          <a:prstGeom prst="ellipse">
            <a:avLst/>
          </a:prstGeom>
          <a:solidFill>
            <a:schemeClr val="bg1">
              <a:alpha val="20000"/>
            </a:schemeClr>
          </a:solidFill>
          <a:ln/>
        </p:spPr>
      </p:sp>
      <p:pic>
        <p:nvPicPr>
          <p:cNvPr id="13" name="Image 1" descr="preencoded.png">    </p:cNvPr>
          <p:cNvPicPr>
            <a:picLocks noChangeAspect="1"/>
          </p:cNvPicPr>
          <p:nvPr/>
        </p:nvPicPr>
        <p:blipFill>
          <a:blip r:embed="rId2"/>
          <a:stretch>
            <a:fillRect/>
          </a:stretch>
        </p:blipFill>
        <p:spPr>
          <a:xfrm>
            <a:off x="10912450" y="2106778"/>
            <a:ext cx="358445" cy="358445"/>
          </a:xfrm>
          <a:prstGeom prst="rect">
            <a:avLst/>
          </a:prstGeom>
        </p:spPr>
      </p:pic>
      <p:sp>
        <p:nvSpPr>
          <p:cNvPr id="14" name="Text 10"/>
          <p:cNvSpPr txBox="1"/>
          <p:nvPr/>
        </p:nvSpPr>
        <p:spPr>
          <a:xfrm>
            <a:off x="6565392" y="2011680"/>
            <a:ext cx="4023360" cy="274320"/>
          </a:xfrm>
          <a:prstGeom prst="rect">
            <a:avLst/>
          </a:prstGeom>
          <a:noFill/>
          <a:ln/>
        </p:spPr>
        <p:txBody>
          <a:bodyPr wrap="square" lIns="0" tIns="0" rIns="0" bIns="0" rtlCol="0" anchor="t"/>
          <a:lstStyle/>
          <a:p>
            <a:pPr indent="0" marL="0">
              <a:buNone/>
            </a:pPr>
            <a:r>
              <a:rPr lang="en-US" sz="1200" b="1" spc="200" kern="0" dirty="0">
                <a:solidFill>
                  <a:schemeClr val="bg1"/>
                </a:solidFill>
              </a:rPr>
              <a:t>OLD PIPELINE</a:t>
            </a:r>
            <a:endParaRPr lang="en-US" sz="1200" dirty="0"/>
          </a:p>
        </p:txBody>
      </p:sp>
      <p:sp>
        <p:nvSpPr>
          <p:cNvPr id="15" name="Text 11"/>
          <p:cNvSpPr txBox="1"/>
          <p:nvPr/>
        </p:nvSpPr>
        <p:spPr>
          <a:xfrm>
            <a:off x="6565392" y="2359152"/>
            <a:ext cx="4206240" cy="548640"/>
          </a:xfrm>
          <a:prstGeom prst="rect">
            <a:avLst/>
          </a:prstGeom>
          <a:noFill/>
          <a:ln/>
        </p:spPr>
        <p:txBody>
          <a:bodyPr wrap="square" lIns="0" tIns="0" rIns="0" bIns="0" rtlCol="0" anchor="ctr"/>
          <a:lstStyle/>
          <a:p>
            <a:pPr indent="0" marL="0">
              <a:buNone/>
            </a:pPr>
            <a:r>
              <a:rPr lang="en-US" sz="2600" b="1" dirty="0">
                <a:solidFill>
                  <a:schemeClr val="bg1"/>
                </a:solidFill>
              </a:rPr>
              <a:t>Only the exceptions</a:t>
            </a:r>
            <a:endParaRPr lang="en-US" sz="2600" dirty="0"/>
          </a:p>
        </p:txBody>
      </p:sp>
      <p:sp>
        <p:nvSpPr>
          <p:cNvPr id="16" name="Text 12"/>
          <p:cNvSpPr txBox="1"/>
          <p:nvPr/>
        </p:nvSpPr>
        <p:spPr>
          <a:xfrm>
            <a:off x="6565392" y="3017520"/>
            <a:ext cx="4754880" cy="365760"/>
          </a:xfrm>
          <a:prstGeom prst="rect">
            <a:avLst/>
          </a:prstGeom>
          <a:noFill/>
          <a:ln/>
        </p:spPr>
        <p:txBody>
          <a:bodyPr wrap="square" lIns="0" tIns="0" rIns="0" bIns="0" rtlCol="0" anchor="t"/>
          <a:lstStyle/>
          <a:p>
            <a:pPr indent="0" marL="0">
              <a:buNone/>
            </a:pPr>
            <a:r>
              <a:rPr lang="en-US" sz="1500" dirty="0">
                <a:solidFill>
                  <a:schemeClr val="bg1"/>
                </a:solidFill>
              </a:rPr>
              <a:t>Firewall Manager (FMS) policies and rule groups</a:t>
            </a:r>
            <a:endParaRPr lang="en-US" sz="1500" dirty="0"/>
          </a:p>
        </p:txBody>
      </p:sp>
      <p:sp>
        <p:nvSpPr>
          <p:cNvPr id="17" name="Text 13"/>
          <p:cNvSpPr txBox="1"/>
          <p:nvPr/>
        </p:nvSpPr>
        <p:spPr>
          <a:xfrm>
            <a:off x="6565392" y="3474720"/>
            <a:ext cx="4754880" cy="365760"/>
          </a:xfrm>
          <a:prstGeom prst="rect">
            <a:avLst/>
          </a:prstGeom>
          <a:noFill/>
          <a:ln/>
        </p:spPr>
        <p:txBody>
          <a:bodyPr wrap="square" lIns="0" tIns="0" rIns="0" bIns="0" rtlCol="0" anchor="t"/>
          <a:lstStyle/>
          <a:p>
            <a:pPr indent="0" marL="0">
              <a:buNone/>
            </a:pPr>
            <a:r>
              <a:rPr lang="en-US" sz="1500" i="1" dirty="0">
                <a:solidFill>
                  <a:schemeClr val="bg1"/>
                </a:solidFill>
              </a:rPr>
              <a:t>Where AWS’s drift check can’t help</a:t>
            </a:r>
            <a:endParaRPr lang="en-US" sz="1500" dirty="0"/>
          </a:p>
        </p:txBody>
      </p:sp>
      <p:sp>
        <p:nvSpPr>
          <p:cNvPr id="18" name="Text 14"/>
          <p:cNvSpPr txBox="1"/>
          <p:nvPr/>
        </p:nvSpPr>
        <p:spPr>
          <a:xfrm>
            <a:off x="548640" y="4480560"/>
            <a:ext cx="7315200" cy="365760"/>
          </a:xfrm>
          <a:prstGeom prst="rect">
            <a:avLst/>
          </a:prstGeom>
          <a:noFill/>
          <a:ln/>
        </p:spPr>
        <p:txBody>
          <a:bodyPr wrap="square" lIns="0" tIns="0" rIns="0" bIns="0" rtlCol="0" anchor="t"/>
          <a:lstStyle/>
          <a:p>
            <a:pPr indent="0" marL="0">
              <a:buNone/>
            </a:pPr>
            <a:r>
              <a:rPr lang="en-US" sz="1800" b="1" dirty="0">
                <a:solidFill>
                  <a:schemeClr val="accent6"/>
                </a:solidFill>
              </a:rPr>
              <a:t>What we’re asking for today</a:t>
            </a:r>
            <a:endParaRPr lang="en-US" sz="1800" dirty="0"/>
          </a:p>
        </p:txBody>
      </p:sp>
      <p:sp>
        <p:nvSpPr>
          <p:cNvPr id="19" name="Ask 1"/>
          <p:cNvSpPr/>
          <p:nvPr/>
        </p:nvSpPr>
        <p:spPr>
          <a:xfrm>
            <a:off x="548640" y="4983480"/>
            <a:ext cx="3545129" cy="1097280"/>
          </a:xfrm>
          <a:prstGeom prst="roundRect">
            <a:avLst>
              <a:gd name="adj" fmla="val 10000"/>
            </a:avLst>
          </a:prstGeom>
          <a:solidFill>
            <a:schemeClr val="bg1">
              <a:alpha val="8000"/>
            </a:schemeClr>
          </a:solidFill>
          <a:ln/>
        </p:spPr>
      </p:sp>
      <p:sp>
        <p:nvSpPr>
          <p:cNvPr id="20" name="Text 16"/>
          <p:cNvSpPr txBox="1"/>
          <p:nvPr/>
        </p:nvSpPr>
        <p:spPr>
          <a:xfrm>
            <a:off x="749808" y="5257800"/>
            <a:ext cx="548640" cy="548640"/>
          </a:xfrm>
          <a:prstGeom prst="ellipse">
            <a:avLst/>
          </a:prstGeom>
          <a:solidFill>
            <a:schemeClr val="accent6"/>
          </a:solidFill>
          <a:ln/>
        </p:spPr>
        <p:txBody>
          <a:bodyPr wrap="square" lIns="0" tIns="0" rIns="0" bIns="0" rtlCol="0" anchor="ctr"/>
          <a:lstStyle/>
          <a:p>
            <a:pPr algn="ctr" indent="0" marL="0">
              <a:buNone/>
            </a:pPr>
            <a:r>
              <a:rPr lang="en-US" sz="2000" b="1" dirty="0">
                <a:solidFill>
                  <a:schemeClr val="tx1"/>
                </a:solidFill>
              </a:rPr>
              <a:t>1</a:t>
            </a:r>
            <a:endParaRPr lang="en-US" sz="2000" dirty="0"/>
          </a:p>
        </p:txBody>
      </p:sp>
      <p:sp>
        <p:nvSpPr>
          <p:cNvPr id="21" name="Text 17"/>
          <p:cNvSpPr txBox="1"/>
          <p:nvPr/>
        </p:nvSpPr>
        <p:spPr>
          <a:xfrm>
            <a:off x="1463040" y="4983480"/>
            <a:ext cx="2487168" cy="1097280"/>
          </a:xfrm>
          <a:prstGeom prst="rect">
            <a:avLst/>
          </a:prstGeom>
          <a:noFill/>
          <a:ln/>
        </p:spPr>
        <p:txBody>
          <a:bodyPr wrap="square" lIns="0" tIns="0" rIns="0" bIns="0" rtlCol="0" anchor="ctr"/>
          <a:lstStyle/>
          <a:p>
            <a:pPr indent="0" marL="0">
              <a:buNone/>
            </a:pPr>
            <a:r>
              <a:rPr lang="en-US" sz="1500" dirty="0">
                <a:solidFill>
                  <a:schemeClr val="bg1"/>
                </a:solidFill>
              </a:rPr>
              <a:t>Agree the new pipeline as the standard way to change AWS</a:t>
            </a:r>
            <a:endParaRPr lang="en-US" sz="1500" dirty="0"/>
          </a:p>
        </p:txBody>
      </p:sp>
      <p:sp>
        <p:nvSpPr>
          <p:cNvPr id="22" name="Ask 2"/>
          <p:cNvSpPr/>
          <p:nvPr/>
        </p:nvSpPr>
        <p:spPr>
          <a:xfrm>
            <a:off x="4322369" y="4983480"/>
            <a:ext cx="3545129" cy="1097280"/>
          </a:xfrm>
          <a:prstGeom prst="roundRect">
            <a:avLst>
              <a:gd name="adj" fmla="val 10000"/>
            </a:avLst>
          </a:prstGeom>
          <a:solidFill>
            <a:schemeClr val="bg1">
              <a:alpha val="8000"/>
            </a:schemeClr>
          </a:solidFill>
          <a:ln/>
        </p:spPr>
      </p:sp>
      <p:sp>
        <p:nvSpPr>
          <p:cNvPr id="23" name="Text 19"/>
          <p:cNvSpPr txBox="1"/>
          <p:nvPr/>
        </p:nvSpPr>
        <p:spPr>
          <a:xfrm>
            <a:off x="4523537" y="5257800"/>
            <a:ext cx="548640" cy="548640"/>
          </a:xfrm>
          <a:prstGeom prst="ellipse">
            <a:avLst/>
          </a:prstGeom>
          <a:solidFill>
            <a:schemeClr val="accent6"/>
          </a:solidFill>
          <a:ln/>
        </p:spPr>
        <p:txBody>
          <a:bodyPr wrap="square" lIns="0" tIns="0" rIns="0" bIns="0" rtlCol="0" anchor="ctr"/>
          <a:lstStyle/>
          <a:p>
            <a:pPr algn="ctr" indent="0" marL="0">
              <a:buNone/>
            </a:pPr>
            <a:r>
              <a:rPr lang="en-US" sz="2000" b="1" dirty="0">
                <a:solidFill>
                  <a:schemeClr val="tx1"/>
                </a:solidFill>
              </a:rPr>
              <a:t>2</a:t>
            </a:r>
            <a:endParaRPr lang="en-US" sz="2000" dirty="0"/>
          </a:p>
        </p:txBody>
      </p:sp>
      <p:sp>
        <p:nvSpPr>
          <p:cNvPr id="24" name="Text 20"/>
          <p:cNvSpPr txBox="1"/>
          <p:nvPr/>
        </p:nvSpPr>
        <p:spPr>
          <a:xfrm>
            <a:off x="5236769" y="4983480"/>
            <a:ext cx="2487168" cy="1097280"/>
          </a:xfrm>
          <a:prstGeom prst="rect">
            <a:avLst/>
          </a:prstGeom>
          <a:noFill/>
          <a:ln/>
        </p:spPr>
        <p:txBody>
          <a:bodyPr wrap="square" lIns="0" tIns="0" rIns="0" bIns="0" rtlCol="0" anchor="ctr"/>
          <a:lstStyle/>
          <a:p>
            <a:pPr indent="0" marL="0">
              <a:buNone/>
            </a:pPr>
            <a:r>
              <a:rPr lang="en-US" sz="1500" dirty="0">
                <a:solidFill>
                  <a:schemeClr val="bg1"/>
                </a:solidFill>
              </a:rPr>
              <a:t>Keep the old pipeline only for FMS policies and rule groups</a:t>
            </a:r>
            <a:endParaRPr lang="en-US" sz="1500" dirty="0"/>
          </a:p>
        </p:txBody>
      </p:sp>
      <p:sp>
        <p:nvSpPr>
          <p:cNvPr id="25" name="Ask 3"/>
          <p:cNvSpPr/>
          <p:nvPr/>
        </p:nvSpPr>
        <p:spPr>
          <a:xfrm>
            <a:off x="8096098" y="4983480"/>
            <a:ext cx="3545129" cy="1097280"/>
          </a:xfrm>
          <a:prstGeom prst="roundRect">
            <a:avLst>
              <a:gd name="adj" fmla="val 10000"/>
            </a:avLst>
          </a:prstGeom>
          <a:solidFill>
            <a:schemeClr val="bg1">
              <a:alpha val="8000"/>
            </a:schemeClr>
          </a:solidFill>
          <a:ln/>
        </p:spPr>
      </p:sp>
      <p:sp>
        <p:nvSpPr>
          <p:cNvPr id="26" name="Text 22"/>
          <p:cNvSpPr txBox="1"/>
          <p:nvPr/>
        </p:nvSpPr>
        <p:spPr>
          <a:xfrm>
            <a:off x="8297266" y="5257800"/>
            <a:ext cx="548640" cy="548640"/>
          </a:xfrm>
          <a:prstGeom prst="ellipse">
            <a:avLst/>
          </a:prstGeom>
          <a:solidFill>
            <a:schemeClr val="accent6"/>
          </a:solidFill>
          <a:ln/>
        </p:spPr>
        <p:txBody>
          <a:bodyPr wrap="square" lIns="0" tIns="0" rIns="0" bIns="0" rtlCol="0" anchor="ctr"/>
          <a:lstStyle/>
          <a:p>
            <a:pPr algn="ctr" indent="0" marL="0">
              <a:buNone/>
            </a:pPr>
            <a:r>
              <a:rPr lang="en-US" sz="2000" b="1" dirty="0">
                <a:solidFill>
                  <a:schemeClr val="tx1"/>
                </a:solidFill>
              </a:rPr>
              <a:t>3</a:t>
            </a:r>
            <a:endParaRPr lang="en-US" sz="2000" dirty="0"/>
          </a:p>
        </p:txBody>
      </p:sp>
      <p:sp>
        <p:nvSpPr>
          <p:cNvPr id="27" name="Text 23"/>
          <p:cNvSpPr txBox="1"/>
          <p:nvPr/>
        </p:nvSpPr>
        <p:spPr>
          <a:xfrm>
            <a:off x="9010498" y="4983480"/>
            <a:ext cx="2487168" cy="1097280"/>
          </a:xfrm>
          <a:prstGeom prst="rect">
            <a:avLst/>
          </a:prstGeom>
          <a:noFill/>
          <a:ln/>
        </p:spPr>
        <p:txBody>
          <a:bodyPr wrap="square" lIns="0" tIns="0" rIns="0" bIns="0" rtlCol="0" anchor="ctr"/>
          <a:lstStyle/>
          <a:p>
            <a:pPr indent="0" marL="0">
              <a:buNone/>
            </a:pPr>
            <a:r>
              <a:rPr lang="en-US" sz="1500" dirty="0">
                <a:solidFill>
                  <a:schemeClr val="bg1"/>
                </a:solidFill>
              </a:rPr>
              <a:t>Move DNS record changes onto the new pipeline too</a:t>
            </a:r>
            <a:endParaRPr lang="en-US" sz="1500" dirty="0"/>
          </a:p>
        </p:txBody>
      </p:sp>
      <p:sp>
        <p:nvSpPr>
          <p:cNvPr id="25" name="Slide Number Placeholder 0"/>
          <p:cNvSpPr>
            <a:spLocks noGrp="1"/>
          </p:cNvSpPr>
          <p:nvPr>
            <p:ph type="sldNum" sz="quarter" idx="4294967295"/>
          </p:nvPr>
        </p:nvSpPr>
        <p:spPr>
          <a:xfrm>
            <a:off x="11000232" y="6473952"/>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Pipeline Review">
  <a:themeElements>
    <a:clrScheme name="Pipeline Review">
      <a:dk1>
        <a:srgbClr val="1B2433"/>
      </a:dk1>
      <a:lt1>
        <a:srgbClr val="FFFFFF"/>
      </a:lt1>
      <a:dk2>
        <a:srgbClr val="4A5568"/>
      </a:dk2>
      <a:lt2>
        <a:srgbClr val="F1F4F7"/>
      </a:lt2>
      <a:accent1>
        <a:srgbClr val="0F7B6C"/>
      </a:accent1>
      <a:accent2>
        <a:srgbClr val="5B4B9A"/>
      </a:accent2>
      <a:accent3>
        <a:srgbClr val="C8443F"/>
      </a:accent3>
      <a:accent4>
        <a:srgbClr val="B7791F"/>
      </a:accent4>
      <a:accent5>
        <a:srgbClr val="6B7785"/>
      </a:accent5>
      <a:accent6>
        <a:srgbClr val="7FD8C6"/>
      </a:accent6>
      <a:hlink>
        <a:srgbClr val="0F7B6C"/>
      </a:hlink>
      <a:folHlink>
        <a:srgbClr val="5B4B9A"/>
      </a:folHlink>
    </a:clrScheme>
    <a:fontScheme name="Pipeline Revie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Making AWS changes safely</dc:title>
  <dc:subject>Deployment pipelines review</dc:subject>
  <dc:creator>Kunal Shrivastava</dc:creator>
  <cp:lastModifiedBy>Kunal Shrivastava</cp:lastModifiedBy>
  <cp:revision>1</cp:revision>
  <dcterms:created xsi:type="dcterms:W3CDTF">2026-10-24T16:53:58Z</dcterms:created>
  <dcterms:modified xsi:type="dcterms:W3CDTF">2026-10-24T16:53:58Z</dcterms:modified>
</cp:coreProperties>
</file>